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시장규모(억$)</c:v>
                </c:pt>
              </c:strCache>
            </c:strRef>
          </c:tx>
          <c:spPr>
            <a:solidFill>
              <a:srgbClr val="F5A623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7233B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</c:v>
                  </c:pt>
                  <c:pt idx="2">
                    <c:v>2031(E)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274.8</c:v>
                </c:pt>
                <c:pt idx="1">
                  <c:v>291.3</c:v>
                </c:pt>
                <c:pt idx="2">
                  <c:v>389.9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7233B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33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저장소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bubble3D val="0"/>
            <c:spPr>
              <a:solidFill>
                <a:srgbClr val="4C6EA0"/>
              </a:solidFill>
              <a:effectLst/>
            </c:spPr>
          </c:dPt>
          <c:dPt>
            <c:idx val="3"/>
            <c:bubble3D val="0"/>
            <c:spPr>
              <a:solidFill>
                <a:srgbClr val="6FA8C7"/>
              </a:solidFill>
              <a:effectLst/>
            </c:spPr>
          </c:dPt>
          <c:dPt>
            <c:idx val="4"/>
            <c:bubble3D val="0"/>
            <c:spPr>
              <a:solidFill>
                <a:srgbClr val="A9573C"/>
              </a:solidFill>
              <a:effectLst/>
            </c:spPr>
          </c:dPt>
          <c:dPt>
            <c:idx val="5"/>
            <c:bubble3D val="0"/>
            <c:spPr>
              <a:solidFill>
                <a:srgbClr val="D9A441"/>
              </a:solidFill>
              <a:effectLst/>
            </c:spPr>
          </c:dPt>
          <c:dPt>
            <c:idx val="6"/>
            <c:bubble3D val="0"/>
            <c:spPr>
              <a:solidFill>
                <a:srgbClr val="CCCCC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옥외탱크저장소</c:v>
                </c:pt>
                <c:pt idx="1">
                  <c:v>이동탱크(탱크로리)</c:v>
                </c:pt>
                <c:pt idx="2">
                  <c:v>옥내탱크저장소</c:v>
                </c:pt>
                <c:pt idx="3">
                  <c:v>옥내저장소(창고)</c:v>
                </c:pt>
                <c:pt idx="4">
                  <c:v>지하탱크저장소</c:v>
                </c:pt>
                <c:pt idx="5">
                  <c:v>옥외저장소</c:v>
                </c:pt>
                <c:pt idx="6">
                  <c:v>기타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29523</c:v>
                </c:pt>
                <c:pt idx="1">
                  <c:v>22836</c:v>
                </c:pt>
                <c:pt idx="2">
                  <c:v>9456</c:v>
                </c:pt>
                <c:pt idx="3">
                  <c:v>8702</c:v>
                </c:pt>
                <c:pt idx="4">
                  <c:v>5813</c:v>
                </c:pt>
                <c:pt idx="5">
                  <c:v>5183</c:v>
                </c:pt>
                <c:pt idx="6">
                  <c:v>60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개소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7233B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영남권</c:v>
                  </c:pt>
                  <c:pt idx="1">
                    <c:v>수도권</c:v>
                  </c:pt>
                  <c:pt idx="2">
                    <c:v>충청권</c:v>
                  </c:pt>
                  <c:pt idx="3">
                    <c:v>호남권</c:v>
                  </c:pt>
                  <c:pt idx="4">
                    <c:v>강원</c:v>
                  </c:pt>
                  <c:pt idx="5">
                    <c:v>제주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32789</c:v>
                </c:pt>
                <c:pt idx="1">
                  <c:v>30126</c:v>
                </c:pt>
                <c:pt idx="2">
                  <c:v>19573</c:v>
                </c:pt>
                <c:pt idx="3">
                  <c:v>17887</c:v>
                </c:pt>
                <c:pt idx="4">
                  <c:v>6890</c:v>
                </c:pt>
                <c:pt idx="5">
                  <c:v>1564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7233B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33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화학사고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C0392B"/>
                    </a:solidFill>
                    <a:latin typeface="Malgun Gothi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238</c:v>
                </c:pt>
                <c:pt idx="1">
                  <c:v>237</c:v>
                </c:pt>
                <c:pt idx="2">
                  <c:v>218</c:v>
                </c:pt>
                <c:pt idx="3">
                  <c:v>216</c:v>
                </c:pt>
                <c:pt idx="4">
                  <c:v>195</c:v>
                </c:pt>
                <c:pt idx="5">
                  <c:v>282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C0392B"/>
                  </a:solidFill>
                  <a:latin typeface="Malgun Gothic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33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하한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FP 방식</c:v>
                  </c:pt>
                  <c:pt idx="1">
                    <c:v>투입공수(M/M)</c:v>
                  </c:pt>
                  <c:pt idx="2">
                    <c:v>시장 사례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13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상한 추가</c:v>
                </c:pt>
              </c:strCache>
            </c:strRef>
          </c:tx>
          <c:spPr>
            <a:solidFill>
              <a:srgbClr val="CBD9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FP 방식</c:v>
                  </c:pt>
                  <c:pt idx="1">
                    <c:v>투입공수(M/M)</c:v>
                  </c:pt>
                  <c:pt idx="2">
                    <c:v>시장 사례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7</c:v>
                </c:pt>
                <c:pt idx="2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33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초기 구축비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5년 TCO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유지관리(연 12%×5)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5년 TCO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클라우드(연 0.6억×5)</c:v>
                </c:pt>
              </c:strCache>
            </c:strRef>
          </c:tx>
          <c:spPr>
            <a:solidFill>
              <a:srgbClr val="E863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5년 TCO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운영 인력·기타</c:v>
                </c:pt>
              </c:strCache>
            </c:strRef>
          </c:tx>
          <c:spPr>
            <a:solidFill>
              <a:srgbClr val="B7C2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5년 TCO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33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7233B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매출 규모(지수)</c:v>
                </c:pt>
              </c:strCache>
            </c:strRef>
          </c:tx>
          <c:spPr>
            <a:solidFill>
              <a:srgbClr val="2E9E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7233B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초기 (1~2년)</c:v>
                  </c:pt>
                  <c:pt idx="1">
                    <c:v>중기 (3~4년)</c:v>
                  </c:pt>
                  <c:pt idx="2">
                    <c:v>중장기 (5~6년)</c:v>
                  </c:pt>
                  <c:pt idx="3">
                    <c:v>후기 (7년~)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35</c:v>
                </c:pt>
                <c:pt idx="2">
                  <c:v>75</c:v>
                </c:pt>
                <c:pt idx="3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7233B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7233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표지. 핵심 메시지: 매칭에 그치지 않고 운송까지 통합. 위험물 물류의 디지털 인프라.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시장 규모는 정의에 따라 협의 275억$ / 광의 2,511억$로 9배 차이 — 반드시 병기. 공통 스토리는 연 6~8% 성장, APAC 최고 성장, 화학·석유화학 최대 수요처.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소방청 국가승인통계 확정 수치. 108,829개소 중 저장소 75%. 위험물 물류 인프라의 대부분이 저장·보관에 집중.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제4류 인화성액체 96.8% — 위험물 물류는 사실상 석유류 물류. 사고는 연 200~280건, 운송 중 21%가 발생하는 것이 물류업 관점 핵심 소재.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구축비 3각 검증(FP·M/M·시장사례)이 15~20억 구간에서 수렴. 인건비는 KOSA 2026 공표 직무별 평균임금 사용. 등급별은 민간 추정 매핑임을 명시.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초기 적자 감내→BEP→네트워크 효과→수익 다각화. PwC 투자단계론과 정합. 매출 지수는 예시적 성장 곡선.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3B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0058400" y="822960"/>
            <a:ext cx="1051560" cy="1051560"/>
          </a:xfrm>
          <a:prstGeom prst="rect">
            <a:avLst/>
          </a:prstGeom>
          <a:ln w="1905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10744200" y="1600200"/>
            <a:ext cx="640080" cy="640080"/>
          </a:xfrm>
          <a:prstGeom prst="rect">
            <a:avLst/>
          </a:prstGeom>
          <a:ln w="19050">
            <a:solidFill>
              <a:srgbClr val="E86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9646920" y="1874520"/>
            <a:ext cx="411480" cy="411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DANGEROUS GOODS  ·  INTEGRATED LOGISTICS 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위험물 물류 통합 플랫폼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04672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매칭을 넘어 </a:t>
            </a:r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운송까지</a:t>
            </a:r>
            <a:pPr indent="0" marL="0">
              <a:buNone/>
            </a:pPr>
            <a:r>
              <a:rPr lang="en-US" sz="1800" dirty="0">
                <a:solidFill>
                  <a:srgbClr val="C7D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화주·창고·운송사를 잇는 위험물 물류 통합 인프라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526280"/>
            <a:ext cx="292608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기획 발표자료  · 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9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TWL Control Tower · 태웅로직스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순서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75688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286000" y="21031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황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286000" y="2514600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규모 · 국내 인프라 · 권역/유별 · 안전 리스크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2700000">
            <a:off x="10744200" y="2276856"/>
            <a:ext cx="329184" cy="32918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063240"/>
            <a:ext cx="105156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3172968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6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286000" y="3200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문제점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286000" y="3611880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위험물 물류 현장의 구조적 4대 문제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rot="2700000">
            <a:off x="10744200" y="3374136"/>
            <a:ext cx="329184" cy="329184"/>
          </a:xfrm>
          <a:prstGeom prst="rect">
            <a:avLst/>
          </a:prstGeom>
          <a:solidFill>
            <a:srgbClr val="E8631A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160520"/>
            <a:ext cx="105156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4270248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2286000" y="4297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해결책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286000" y="4709160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+ 운송 통합 플랫폼 · 비즈니스 모델 · 구축비용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 rot="2700000">
            <a:off x="10744200" y="4471416"/>
            <a:ext cx="329184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5257800"/>
            <a:ext cx="105156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" y="5367528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9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2286000" y="53949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타당성·확장성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2286000" y="5806440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TCO/BEP · 단계별 수익 로드맵 · 인접시장 확장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 rot="2700000">
            <a:off x="10744200" y="5568696"/>
            <a:ext cx="329184" cy="329184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960120" y="3200400"/>
            <a:ext cx="219456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황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96112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49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LANDSCAPE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rot="2700000">
            <a:off x="7772400" y="2057400"/>
            <a:ext cx="201168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성장 시장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2700000">
            <a:off x="7772400" y="2624328"/>
            <a:ext cx="201168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8183880" y="25328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인프라 10.9만 개소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rot="2700000">
            <a:off x="7772400" y="3191256"/>
            <a:ext cx="201168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309981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권역·유별 편중 구조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rot="2700000">
            <a:off x="7772400" y="3758184"/>
            <a:ext cx="201168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36667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200~280건 화학사고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rot="2700000">
            <a:off x="10698480" y="5394960"/>
            <a:ext cx="914400" cy="914400"/>
          </a:xfrm>
          <a:prstGeom prst="rect">
            <a:avLst/>
          </a:prstGeom>
          <a:ln w="1905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현황 — 시장 규모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위험물 물류, 연 6~8% 성장하는 글로벌 시장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아시아·태평양이 최고 성장 · 화학·석유화학이 최대 수요처(35~36%)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9436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011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위험물 물류 시장 (협의, 억 USD)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60120" y="242316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051560" y="5623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CAGR 6.0% (2026–2031, Mordor Intelligence)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995160" y="1828800"/>
            <a:ext cx="434340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23760" y="201168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2,511</a:t>
            </a:r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억$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242048" y="26700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광의 시장 규모 (2025)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242048" y="296265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CAGR 8.1% · 위험물 운송·보관·부가 전체 (TBRC)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95160" y="3291840"/>
            <a:ext cx="434340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223760" y="347472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2,417</a:t>
            </a:r>
            <a:pPr indent="0" marL="0">
              <a:buNone/>
            </a:pPr>
            <a:r>
              <a:rPr lang="en-US" sz="1500" b="1" dirty="0">
                <a:solidFill>
                  <a:srgbClr val="E86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억$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7242048" y="41330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인접 화학물류 시장 (2023)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242048" y="44256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2031년 3,120억$ 전망 · APAC 최대(38%) (Kings Research)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995160" y="4754880"/>
            <a:ext cx="43434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223760" y="493776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9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10%+</a:t>
            </a:r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/년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7242048" y="55961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성장 수요처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242048" y="58887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이차전지·제약 부문 연 10.25% 성장 견인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6928" y="6437376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Mordor Intelligence(협의), The Business Research Company(광의), Kings Research(화학물류) — 정의 범위에 따라 규모 상이, 병기 표기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현황 — 국내 인프라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위험물 시설 10.9만 개소, 75%가 저장·보관 인프라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소방청 「2025 위험물 통계자료」 (2024.12.31 기준, 국가승인통계)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794760" cy="4160520"/>
          </a:xfrm>
          <a:prstGeom prst="roundRect">
            <a:avLst>
              <a:gd name="adj" fmla="val 2169"/>
            </a:avLst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위험물 제조소등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51460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108,829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32688" y="331012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794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148840" y="37947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81,573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38221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75.0%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42519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취급소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148840" y="4251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24,599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42793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22.6%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47091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제조소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148840" y="47091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2,657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11880" y="47365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525780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시설(지정수량 3천배↑) 3,760개소 = 자체소방대·정기검사 대상 핵심 물류거점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874520"/>
            <a:ext cx="6537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20574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81,573개소 — 유형별 구성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892040" y="2423160"/>
          <a:ext cx="35661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8686800" y="263347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8915400" y="25694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옥외탱크저장소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515600" y="256946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29,523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686800" y="3145536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3"/>
          <p:cNvSpPr/>
          <p:nvPr/>
        </p:nvSpPr>
        <p:spPr>
          <a:xfrm>
            <a:off x="8915400" y="30815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이동탱크(탱크로리)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515600" y="308152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22,836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686800" y="3657600"/>
            <a:ext cx="146304" cy="146304"/>
          </a:xfrm>
          <a:prstGeom prst="ellipse">
            <a:avLst/>
          </a:prstGeom>
          <a:solidFill>
            <a:srgbClr val="4C6EA0"/>
          </a:solidFill>
          <a:ln/>
        </p:spPr>
      </p:sp>
      <p:sp>
        <p:nvSpPr>
          <p:cNvPr id="29" name="Text 26"/>
          <p:cNvSpPr/>
          <p:nvPr/>
        </p:nvSpPr>
        <p:spPr>
          <a:xfrm>
            <a:off x="8915400" y="35935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옥내탱크저장소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515600" y="35935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6E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9,456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686800" y="4169664"/>
            <a:ext cx="146304" cy="146304"/>
          </a:xfrm>
          <a:prstGeom prst="ellipse">
            <a:avLst/>
          </a:prstGeom>
          <a:solidFill>
            <a:srgbClr val="6FA8C7"/>
          </a:solidFill>
          <a:ln/>
        </p:spPr>
      </p:sp>
      <p:sp>
        <p:nvSpPr>
          <p:cNvPr id="32" name="Text 29"/>
          <p:cNvSpPr/>
          <p:nvPr/>
        </p:nvSpPr>
        <p:spPr>
          <a:xfrm>
            <a:off x="8915400" y="41056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옥내저장소(창고)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515600" y="410565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FA8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8,702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686800" y="4681728"/>
            <a:ext cx="146304" cy="146304"/>
          </a:xfrm>
          <a:prstGeom prst="ellipse">
            <a:avLst/>
          </a:prstGeom>
          <a:solidFill>
            <a:srgbClr val="A9573C"/>
          </a:solidFill>
          <a:ln/>
        </p:spPr>
      </p:sp>
      <p:sp>
        <p:nvSpPr>
          <p:cNvPr id="35" name="Text 32"/>
          <p:cNvSpPr/>
          <p:nvPr/>
        </p:nvSpPr>
        <p:spPr>
          <a:xfrm>
            <a:off x="8915400" y="4617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지하탱크저장소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0515600" y="46177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57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5,813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686800" y="5193792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8" name="Text 35"/>
          <p:cNvSpPr/>
          <p:nvPr/>
        </p:nvSpPr>
        <p:spPr>
          <a:xfrm>
            <a:off x="8915400" y="51297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옥외저장소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10515600" y="512978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5,183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66928" y="6437376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소방청 「2025 위험물 통계자료」 표1-1 (2024.12.31 기준) · 위험물 탱크로리는 이동탱크저장소로 등록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현황 — 지역 분포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영남·수도권에 58% 집중 — 석유화학단지 + 소비지 물류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시도 1위는 경기남부 15,892개소(14.6%)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667512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057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권역별 위험물 시설 분포 (개소)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" y="2377440"/>
          <a:ext cx="6446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80960" y="1874520"/>
            <a:ext cx="3657600" cy="4160520"/>
          </a:xfrm>
          <a:prstGeom prst="roundRect">
            <a:avLst>
              <a:gd name="adj" fmla="val 225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입지 유형별 위험물 창고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 rot="2700000">
            <a:off x="7909560" y="2569464"/>
            <a:ext cx="201168" cy="20116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1" name="Text 8"/>
          <p:cNvSpPr/>
          <p:nvPr/>
        </p:nvSpPr>
        <p:spPr>
          <a:xfrm>
            <a:off x="8275320" y="24963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내륙 산업단지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75320" y="280720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울산·여수·대산 등 석유화학단지 인접 — 대다수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 rot="2700000">
            <a:off x="7909560" y="3666744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8275320" y="35935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항만 배후단지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75320" y="390448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부산항·인천항 보세구역 내 IMDG 위험물 저장(별표2 제7호)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 rot="2700000">
            <a:off x="7909560" y="4764024"/>
            <a:ext cx="201168" cy="201168"/>
          </a:xfrm>
          <a:prstGeom prst="rect">
            <a:avLst/>
          </a:prstGeom>
          <a:solidFill>
            <a:srgbClr val="E8631A"/>
          </a:solidFill>
          <a:ln/>
        </p:spPr>
      </p:sp>
      <p:sp>
        <p:nvSpPr>
          <p:cNvPr id="17" name="Text 14"/>
          <p:cNvSpPr/>
          <p:nvPr/>
        </p:nvSpPr>
        <p:spPr>
          <a:xfrm>
            <a:off x="8275320" y="46908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공항 배후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75320" y="500176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인천공항 자유무역지역 복합물류센터(2023 준공) 등 소수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63840" y="5623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내륙/항만/공항 구분 전국 공식 통계는 부재 — 법령·사례 기반 (대용치)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66928" y="6437376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소방청 「2025 위험물 통계자료」 시도별 원자료 합산 · 항만/공항 배후는 해수부·국토부 고시 및 준공 사례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현황 — 품목 편중 · 안전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위험물 물류 = 사실상 석유류 물류, 그리고 상존하는 사고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제4류 인화성액체가 유별의 96.8% · 화학사고는 연 200~280건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749040" cy="4160520"/>
          </a:xfrm>
          <a:prstGeom prst="roundRect">
            <a:avLst>
              <a:gd name="adj" fmla="val 2195"/>
            </a:avLst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제4류 인화성액체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96.8%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6012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유별 허가의 절대 다수 (106,954개소)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434340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5개 유별 합계 3.2%
</a:t>
            </a:r>
            <a:pPr algn="ctr" indent="0" marL="0">
              <a:buNone/>
            </a:pPr>
            <a:r>
              <a:rPr lang="en-US" sz="1000" dirty="0">
                <a:solidFill>
                  <a:srgbClr val="7E9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제1류 906 · 제2류 874 · 제5류 771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E9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제3류 576 · 제6류 451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74520"/>
            <a:ext cx="65836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20116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화학사고 발생 건수 (건)</a:t>
            </a:r>
            <a:endParaRPr lang="en-US" sz="12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2286000"/>
          <a:ext cx="64008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754880" y="438912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37760" y="4526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956048" y="50749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화학사고 5건 중 1건은 운송 중 발생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56048" y="559612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운송사고의 54%가 탱크로리 (2014–2019)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138160" y="438912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321040" y="4526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6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</a:t>
            </a:r>
            <a:pPr indent="0" marL="0">
              <a:buNone/>
            </a:pPr>
            <a:r>
              <a:rPr lang="en-US" sz="1500" b="1" dirty="0">
                <a:solidFill>
                  <a:srgbClr val="E86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8339328" y="50749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화학사고 인명피해 (사망 5·부상 115)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39328" y="559612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5~8월 하절기 집중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66928" y="6437376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소방청 「2025 위험물 통계자료」 표1-4(유별) · 국립소방연구원 화학사고 통계분석 · 한국화재소방학회 운송차량 사고분석(2014–2019)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6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960120" y="3200400"/>
            <a:ext cx="2194560" cy="0"/>
          </a:xfrm>
          <a:prstGeom prst="line">
            <a:avLst/>
          </a:prstGeom>
          <a:noFill/>
          <a:ln w="38100">
            <a:solidFill>
              <a:srgbClr val="E86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문제점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96112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49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 POINTS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rot="2700000">
            <a:off x="7772400" y="2057400"/>
            <a:ext cx="201168" cy="201168"/>
          </a:xfrm>
          <a:prstGeom prst="rect">
            <a:avLst/>
          </a:prstGeom>
          <a:solidFill>
            <a:srgbClr val="E8631A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비대칭·수배송 단절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2700000">
            <a:off x="7772400" y="2624328"/>
            <a:ext cx="201168" cy="201168"/>
          </a:xfrm>
          <a:prstGeom prst="rect">
            <a:avLst/>
          </a:prstGeom>
          <a:solidFill>
            <a:srgbClr val="E8631A"/>
          </a:solidFill>
          <a:ln/>
        </p:spPr>
      </p:sp>
      <p:sp>
        <p:nvSpPr>
          <p:cNvPr id="9" name="Text 7"/>
          <p:cNvSpPr/>
          <p:nvPr/>
        </p:nvSpPr>
        <p:spPr>
          <a:xfrm>
            <a:off x="8183880" y="25328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허가 창고의 만성 공급난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rot="2700000">
            <a:off x="7772400" y="3191256"/>
            <a:ext cx="201168" cy="201168"/>
          </a:xfrm>
          <a:prstGeom prst="rect">
            <a:avLst/>
          </a:prstGeom>
          <a:solidFill>
            <a:srgbClr val="E8631A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309981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안전·규제 이중 부담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rot="2700000">
            <a:off x="7772400" y="3758184"/>
            <a:ext cx="201168" cy="201168"/>
          </a:xfrm>
          <a:prstGeom prst="rect">
            <a:avLst/>
          </a:prstGeom>
          <a:solidFill>
            <a:srgbClr val="E8631A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36667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영세·수기 기반 운영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rot="2700000">
            <a:off x="10698480" y="5394960"/>
            <a:ext cx="914400" cy="914400"/>
          </a:xfrm>
          <a:prstGeom prst="rect">
            <a:avLst/>
          </a:prstGeom>
          <a:ln w="19050">
            <a:solidFill>
              <a:srgbClr val="E8631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문제점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위험물 물류 현장의 구조적 4대 문제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화주·창고·운송사 모두가 겪는 비효율과 리스크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74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286000"/>
            <a:ext cx="822960" cy="8229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7685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⚑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2103120" y="22585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부재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03120" y="2715768"/>
            <a:ext cx="3611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위험물 적재 가능 창고·차량을 찾는 공식 채널이 없어 전화·인맥에 의존. 유별·등급별 적재 적합성 판단도 수작업.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074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286000"/>
            <a:ext cx="822960" cy="822960"/>
          </a:xfrm>
          <a:prstGeom prst="ellipse">
            <a:avLst/>
          </a:prstGeom>
          <a:solidFill>
            <a:srgbClr val="E8631A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27685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▦</a:t>
            </a:r>
            <a:endParaRPr lang="en-US" sz="1980" dirty="0"/>
          </a:p>
        </p:txBody>
      </p:sp>
      <p:sp>
        <p:nvSpPr>
          <p:cNvPr id="13" name="Text 11"/>
          <p:cNvSpPr/>
          <p:nvPr/>
        </p:nvSpPr>
        <p:spPr>
          <a:xfrm>
            <a:off x="7452360" y="22585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 희소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52360" y="2715768"/>
            <a:ext cx="3611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허가 옥내저장소는 전국 8,702개소뿐. 이차전지 수요는 연 18.5% 성장(2023–2035)하나 신규 허가는 높은 진입장벽으로 정체.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069080"/>
            <a:ext cx="5074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7280" y="438912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37997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1980" dirty="0"/>
          </a:p>
        </p:txBody>
      </p:sp>
      <p:sp>
        <p:nvSpPr>
          <p:cNvPr id="18" name="Text 16"/>
          <p:cNvSpPr/>
          <p:nvPr/>
        </p:nvSpPr>
        <p:spPr>
          <a:xfrm>
            <a:off x="2103120" y="43616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안전·규제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03120" y="4818888"/>
            <a:ext cx="3611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위험물안전관리법(소방청)·화학물질관리법(환경부) 이원 규제. 운송 중 사고 21%, 위반 시 형사처벌 — 컴플라이언스 부담 과중.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4069080"/>
            <a:ext cx="5074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43891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37997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980" dirty="0"/>
          </a:p>
        </p:txBody>
      </p:sp>
      <p:sp>
        <p:nvSpPr>
          <p:cNvPr id="23" name="Text 21"/>
          <p:cNvSpPr/>
          <p:nvPr/>
        </p:nvSpPr>
        <p:spPr>
          <a:xfrm>
            <a:off x="7452360" y="43616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단절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52360" y="4818888"/>
            <a:ext cx="3611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 재고·차량 위치·통관 상태가 각 사에 흩어져 있어 실시간 가시성 부재. 대부분 수기·엑셀 기반 운영으로 추적 불가.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960120" y="3200400"/>
            <a:ext cx="21945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해결책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96112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49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rot="2700000">
            <a:off x="7772400" y="2057400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+ 운송 통합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2700000">
            <a:off x="7772400" y="2624328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183880" y="25328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3면 네트워크 플랫폼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rot="2700000">
            <a:off x="7772400" y="3191256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309981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안전·규제 자동화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rot="2700000">
            <a:off x="7772400" y="3758184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36667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데이터·물류금융 확장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rot="2700000">
            <a:off x="10698480" y="5394960"/>
            <a:ext cx="914400" cy="914400"/>
          </a:xfrm>
          <a:prstGeom prst="rect">
            <a:avLst/>
          </a:prstGeom>
          <a:ln w="1905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해결책 — 플랫폼 개념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매칭에 그치지 않고 운송까지 잇는 통합 플랫폼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화주 · 위험물 창고 · 운송사를 하나의 네트워크로 연결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228600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E8631A"/>
          </a:solidFill>
          <a:ln/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4871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화주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9077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위험물 보관·운송 수요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228600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24871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위험물 창고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46320" y="29077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허가 저장능력·유별 적합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823960" y="228600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2E9E5B"/>
          </a:solidFill>
          <a:ln/>
          <a:effectLst>
            <a:outerShdw sx="100000" sy="100000" kx="0" ky="0" algn="bl" rotWithShape="0" blurRad="76200" dist="25400" dir="5400000">
              <a:srgbClr val="9AA5B5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23960" y="24871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운송사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823960" y="29077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탱크로리·전문 배차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397764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17233B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422452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플랫폼 (매칭 · 배차 · 안전 · 정산)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103120" y="3429000"/>
            <a:ext cx="0" cy="548640"/>
          </a:xfrm>
          <a:prstGeom prst="line">
            <a:avLst/>
          </a:prstGeom>
          <a:noFill/>
          <a:ln w="25400">
            <a:solidFill>
              <a:srgbClr val="E3E7E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080760" y="3429000"/>
            <a:ext cx="0" cy="548640"/>
          </a:xfrm>
          <a:prstGeom prst="line">
            <a:avLst/>
          </a:prstGeom>
          <a:noFill/>
          <a:ln w="25400">
            <a:solidFill>
              <a:srgbClr val="E3E7EE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058400" y="3429000"/>
            <a:ext cx="0" cy="548640"/>
          </a:xfrm>
          <a:prstGeom prst="line">
            <a:avLst/>
          </a:prstGeom>
          <a:noFill/>
          <a:ln w="25400">
            <a:solidFill>
              <a:srgbClr val="E3E7EE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126480" y="3977640"/>
            <a:ext cx="0" cy="-54864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25780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5349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스마트 매칭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05840" y="56692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유별·등급·입지 기반 창고/차량 자동 추천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11880" y="525780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49040" y="5349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운송 실행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749040" y="56692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배차→실시간 위치(AIS/GPS)→전자인수증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55080" y="525780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5349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안전·규제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92240" y="56692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 적합성·법규 체크리스트·사고 알림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98280" y="525780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235440" y="5349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정산·금융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235440" y="56692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정산·운송보험·담보 대출 중개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해결책 — 비즈니스 모델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수익원 — 중개에서 데이터·금융으로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PwC 플랫폼 수익모델 6유형 중 물류 적합 모델 채택 (삼일PwC, 2025.12)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2606040" cy="822960"/>
          </a:xfrm>
          <a:prstGeom prst="roundRect">
            <a:avLst>
              <a:gd name="adj" fmla="val 10000"/>
            </a:avLst>
          </a:prstGeom>
          <a:solidFill>
            <a:srgbClr val="2E9E5B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20848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1214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중개 수수료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487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거래액 기반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매칭·배차 성사 건별 수수료. 초기엔 국내 화물중개 관행(월 정액회비)과 병행해 진입장벽↓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93592" y="196596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93592" y="1965960"/>
            <a:ext cx="2606040" cy="82296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376672" y="20848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76472" y="21214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(SaaS)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76472" y="2487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정액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76472" y="297180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 재고관리·안전 컴플라이언스·리포트 등 관리도구 구독. Freemium(기본 무료+고급 유료)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64224" y="196596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1965960"/>
            <a:ext cx="2606040" cy="82296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8147304" y="20848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47104" y="21214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데이터·광고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47104" y="2487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부가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47104" y="297180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위험물 물동·수급·요율 데이터 판매, 창고·차량 노출 광고. 성숙기 고마진 수익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34856" y="196596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34856" y="1965960"/>
            <a:ext cx="2606040" cy="822960"/>
          </a:xfrm>
          <a:prstGeom prst="roundRect">
            <a:avLst>
              <a:gd name="adj" fmla="val 10000"/>
            </a:avLst>
          </a:prstGeom>
          <a:solidFill>
            <a:srgbClr val="E8631A"/>
          </a:solidFill>
          <a:ln/>
        </p:spPr>
      </p:sp>
      <p:sp>
        <p:nvSpPr>
          <p:cNvPr id="25" name="Text 23"/>
          <p:cNvSpPr/>
          <p:nvPr/>
        </p:nvSpPr>
        <p:spPr>
          <a:xfrm>
            <a:off x="10917936" y="20848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17736" y="21214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물류금융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17736" y="2487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정산·보험·대출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317736" y="297180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정산 수수료(결제 PG 구조), 운송보험 중개, 매출채권 담보 대출 중개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수수료율 벤치마크 (PwC): 모빌리티 20~30% · 결제 PG 0.3~2% · 앱스토어 30% — 물류 매칭은 초기 저율/정액으로 시장 형성 후 단계적 요율화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해결책 — 초기 구축비용(SI)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3각 검증으로 산출한 1차 구축비 15억~20억 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FP·투입공수·시장사례 세 방법이 동일 구간에서 수렴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61264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057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방법별 개발원가 (억 원)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" y="237744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051560" y="56235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FP: 1,500~2,500FP × 605,784원 · M/M: 직접인건비×2.9~3.5배 · 시장: 국토부 디지털물류 실증 과제당 10~32억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086600" y="1874520"/>
            <a:ext cx="4251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69480" y="2057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투입 인건비 (KOSA 2026 적용)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269480" y="2487168"/>
            <a:ext cx="3886200" cy="384048"/>
          </a:xfrm>
          <a:prstGeom prst="rect">
            <a:avLst/>
          </a:prstGeom>
          <a:solidFill>
            <a:srgbClr val="17233B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2514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32688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단가 (원)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06640" y="296265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IT기획자(PM)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326880" y="296265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578,206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269480" y="3328416"/>
            <a:ext cx="388620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34015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IT아키텍트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326880" y="34015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541,621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69480" y="3767328"/>
            <a:ext cx="388620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06640" y="3840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응용SW개발자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326880" y="3840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378,250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269480" y="4206240"/>
            <a:ext cx="388620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06640" y="42793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시스템SW개발자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9326880" y="42793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284,888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269480" y="4645152"/>
            <a:ext cx="388620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06640" y="47183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IT테스터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9326880" y="471830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197,714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269480" y="5084064"/>
            <a:ext cx="3886200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69480" y="53492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규제·안전 검증 비중이 큰 도메인이라 기획·품질 등 고단가 직무 투입 비율이 높음 (인건비 +10~15% 반영 권장)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66928" y="6437376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SW사업 대가산정 가이드(FP단가 605,784원) · KOSA 2026년 SW기술자 평균임금 · 국토부 디지털 물류실증 사업 · 등급별은 민간 추정 매핑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E9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960120" y="3200400"/>
            <a:ext cx="2194560" cy="0"/>
          </a:xfrm>
          <a:prstGeom prst="line">
            <a:avLst/>
          </a:prstGeom>
          <a:noFill/>
          <a:ln w="38100">
            <a:solidFill>
              <a:srgbClr val="2E9E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타당성·확장성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96112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49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FEASIBILITY &amp; SCALE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rot="2700000">
            <a:off x="7772400" y="2057400"/>
            <a:ext cx="201168" cy="20116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TCO = 구축비의 약 2배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2700000">
            <a:off x="7772400" y="2624328"/>
            <a:ext cx="201168" cy="20116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9" name="Text 7"/>
          <p:cNvSpPr/>
          <p:nvPr/>
        </p:nvSpPr>
        <p:spPr>
          <a:xfrm>
            <a:off x="8183880" y="25328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수익 로드맵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rot="2700000">
            <a:off x="7772400" y="3191256"/>
            <a:ext cx="201168" cy="20116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309981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효과·승자독식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rot="2700000">
            <a:off x="7772400" y="3758184"/>
            <a:ext cx="201168" cy="20116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36667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인접시장 확장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rot="2700000">
            <a:off x="10698480" y="5394960"/>
            <a:ext cx="914400" cy="914400"/>
          </a:xfrm>
          <a:prstGeom prst="rect">
            <a:avLst/>
          </a:prstGeom>
          <a:ln w="19050">
            <a:solidFill>
              <a:srgbClr val="2E9E5B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타당성 — 총소유비용·손익분기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구축비만 보면 안 된다 — 5년 TCO와 BEP 관점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유지관리·클라우드 포함 시 5년 총비용은 구축비의 약 1.8~2.1배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61264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0574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총소유비용(TCO) 구성 — 구축비 15억 기준 (억 원)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" y="2468880"/>
          <a:ext cx="5943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051560" y="559612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총소유비용 합계  </a:t>
            </a:r>
            <a:pPr indent="0" marL="0">
              <a:buNone/>
            </a:pPr>
            <a:r>
              <a:rPr lang="en-US" sz="17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29억 원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86600" y="1874520"/>
            <a:ext cx="42519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0" y="205740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~10</a:t>
            </a:r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년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33488" y="27157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BEP 도달 기준선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33488" y="30083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토스: 2013 창업→2024 첫 연간 흑자(영업수익 1.96조) — 플랫폼 BEP 장기성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086600" y="3291840"/>
            <a:ext cx="42519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15200" y="34747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9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2조</a:t>
            </a:r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원+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7333488" y="413308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플랫폼·결제 VC 신규투자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33488" y="442569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2.07조원(+42% YoY) — 성장 자본 유입 활발 (PwC)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086600" y="4709160"/>
            <a:ext cx="4251960" cy="1325880"/>
          </a:xfrm>
          <a:prstGeom prst="roundRect">
            <a:avLst>
              <a:gd name="adj" fmla="val 6207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269480" y="48280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 vs Buy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269480" y="513892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구축 15~20억 vs 완성 플랫폼 인수 수백억(티맵–YLP 790억, 트레드링스 누적 118억) → 자체 구축의 비용 우위 명확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66928" y="6437376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SW 유지관리 요율 10~15% 관행 · 클라우드 IaaS 실측 · 삼일PwC 플랫폼·결제 Business Guidebook(2025.12) · 언론 보도(M&amp;A가)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타당성 — 단계별 수익 로드맵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→ 중기 → 중장기 → 후기 수익 다각화 로드맵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PwC 투자단계론(시드→B→C→Pre-IPO)과 정합 · 네트워크 효과로 후반 가속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1560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960120" y="1965960"/>
          <a:ext cx="102412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457200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4736592"/>
            <a:ext cx="457200" cy="457200"/>
          </a:xfrm>
          <a:prstGeom prst="ellipse">
            <a:avLst/>
          </a:prstGeom>
          <a:solidFill>
            <a:srgbClr val="E8631A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4727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00200" y="4754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05840" y="52303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공급자 확보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05840" y="5532120"/>
            <a:ext cx="2240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창고·운송사 온보딩, 매칭 무료/저율. 거래 데이터 축적. 적자 감내 단계.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3502152" y="457200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85032" y="4736592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2"/>
          <p:cNvSpPr/>
          <p:nvPr/>
        </p:nvSpPr>
        <p:spPr>
          <a:xfrm>
            <a:off x="3685032" y="4727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279392" y="4754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중기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685032" y="52303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수익화 개시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685032" y="5532120"/>
            <a:ext cx="2240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BEP 진입. 중개 수수료 + SaaS 구독 본격화. 안전 컴플라이언스 유료화.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181344" y="457200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64224" y="47365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6364224" y="4727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958584" y="4754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중장기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364224" y="52303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효과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364224" y="5532120"/>
            <a:ext cx="2240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양면 규모 확대→승자독식. 데이터·광고 고마진 추가. 물류금융 파일럿.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8860536" y="457200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043416" y="4736592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7" name="Text 24"/>
          <p:cNvSpPr/>
          <p:nvPr/>
        </p:nvSpPr>
        <p:spPr>
          <a:xfrm>
            <a:off x="9043416" y="4727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637776" y="4754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후기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043416" y="52303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다각화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9043416" y="5532120"/>
            <a:ext cx="2240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정산·보험·담보대출 물류금융 본격화. 인접시장·해외 확장. 플랫폼 락인.</a:t>
            </a:r>
            <a:endParaRPr lang="en-US" sz="930" dirty="0"/>
          </a:p>
        </p:txBody>
      </p:sp>
      <p:sp>
        <p:nvSpPr>
          <p:cNvPr id="31" name="Text 28"/>
          <p:cNvSpPr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확장성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위험물을 발판으로 인접 물류·데이터 시장으로 확장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진입장벽이 곧 해자(moat) — 후발주자 진입 곤란(승자독식)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74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221992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585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 확장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2700000">
            <a:off x="2651760" y="235000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907792" y="22585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화물·상온·냉장 물류로 품목 확대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2700000">
            <a:off x="2651760" y="2834640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907792" y="2743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3PL 풀필먼트·WMS 연계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2700000">
            <a:off x="2651760" y="3319272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2907792" y="32278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항만·공항 배후 통합 운영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965960"/>
            <a:ext cx="5074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2221992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2585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사업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 rot="2700000">
            <a:off x="8001000" y="2350008"/>
            <a:ext cx="118872" cy="1188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8257032" y="22585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위험물 수급·요율 지수화 판매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2700000">
            <a:off x="8001000" y="2834640"/>
            <a:ext cx="118872" cy="1188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8257032" y="2743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보험·금융사 리스크 스코어링 제공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2700000">
            <a:off x="8001000" y="3319272"/>
            <a:ext cx="118872" cy="1188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8257032" y="32278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정부·지자체 안전 정책 데이터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4069080"/>
            <a:ext cx="5074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51560" y="4325112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E8631A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436168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결합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 rot="2700000">
            <a:off x="2651760" y="4453128"/>
            <a:ext cx="118872" cy="118872"/>
          </a:xfrm>
          <a:prstGeom prst="rect">
            <a:avLst/>
          </a:prstGeom>
          <a:solidFill>
            <a:srgbClr val="E8631A"/>
          </a:solidFill>
          <a:ln/>
        </p:spPr>
      </p:sp>
      <p:sp>
        <p:nvSpPr>
          <p:cNvPr id="27" name="Text 25"/>
          <p:cNvSpPr/>
          <p:nvPr/>
        </p:nvSpPr>
        <p:spPr>
          <a:xfrm>
            <a:off x="2907792" y="43616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운송보험 임베디드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rot="2700000">
            <a:off x="2651760" y="4937760"/>
            <a:ext cx="118872" cy="118872"/>
          </a:xfrm>
          <a:prstGeom prst="rect">
            <a:avLst/>
          </a:prstGeom>
          <a:solidFill>
            <a:srgbClr val="E8631A"/>
          </a:solidFill>
          <a:ln/>
        </p:spPr>
      </p:sp>
      <p:sp>
        <p:nvSpPr>
          <p:cNvPr id="29" name="Text 27"/>
          <p:cNvSpPr/>
          <p:nvPr/>
        </p:nvSpPr>
        <p:spPr>
          <a:xfrm>
            <a:off x="2907792" y="4846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매출채권 담보 대출 중개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rot="2700000">
            <a:off x="2651760" y="5422392"/>
            <a:ext cx="118872" cy="118872"/>
          </a:xfrm>
          <a:prstGeom prst="rect">
            <a:avLst/>
          </a:prstGeom>
          <a:solidFill>
            <a:srgbClr val="E8631A"/>
          </a:solidFill>
          <a:ln/>
        </p:spPr>
      </p:sp>
      <p:sp>
        <p:nvSpPr>
          <p:cNvPr id="31" name="Text 29"/>
          <p:cNvSpPr/>
          <p:nvPr/>
        </p:nvSpPr>
        <p:spPr>
          <a:xfrm>
            <a:off x="2907792" y="53309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정산·에스크로 수수료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4069080"/>
            <a:ext cx="5074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5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4325112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2E9E5B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36168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확장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 rot="2700000">
            <a:off x="8001000" y="4453128"/>
            <a:ext cx="118872" cy="118872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36" name="Text 34"/>
          <p:cNvSpPr/>
          <p:nvPr/>
        </p:nvSpPr>
        <p:spPr>
          <a:xfrm>
            <a:off x="8257032" y="43616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IMDG·항공위험물 국제표준 기반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 rot="2700000">
            <a:off x="8001000" y="4937760"/>
            <a:ext cx="118872" cy="118872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38" name="Text 36"/>
          <p:cNvSpPr/>
          <p:nvPr/>
        </p:nvSpPr>
        <p:spPr>
          <a:xfrm>
            <a:off x="8257032" y="4846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동남아 화학물류 성장시장 진출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 rot="2700000">
            <a:off x="8001000" y="5422392"/>
            <a:ext cx="118872" cy="118872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40" name="Text 38"/>
          <p:cNvSpPr/>
          <p:nvPr/>
        </p:nvSpPr>
        <p:spPr>
          <a:xfrm>
            <a:off x="8257032" y="53309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6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포워더 연계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966960" y="4389120"/>
            <a:ext cx="1143000" cy="1143000"/>
          </a:xfrm>
          <a:prstGeom prst="rect">
            <a:avLst/>
          </a:prstGeom>
          <a:ln w="1905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10698480" y="5212080"/>
            <a:ext cx="658368" cy="658368"/>
          </a:xfrm>
          <a:prstGeom prst="rect">
            <a:avLst/>
          </a:prstGeom>
          <a:ln w="19050">
            <a:solidFill>
              <a:srgbClr val="2E9E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NOW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규제는 강해지고, 시장은 커지며, 인프라는 아직 아날로그입니다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 rot="2700000">
            <a:off x="914400" y="3392424"/>
            <a:ext cx="219456" cy="21945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3291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시장  </a:t>
            </a:r>
            <a:pPr indent="0" marL="0">
              <a:buNone/>
            </a:pPr>
            <a:r>
              <a:rPr lang="en-US" sz="15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위험물 물류 연 6~8% 성장, APAC 최고 성장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 rot="2700000">
            <a:off x="914400" y="4105656"/>
            <a:ext cx="219456" cy="21945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40050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확실한 페인  </a:t>
            </a:r>
            <a:pPr indent="0" marL="0">
              <a:buNone/>
            </a:pPr>
            <a:r>
              <a:rPr lang="en-US" sz="15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허가 창고 8,702개소 희소 · 운송사고 21% · 정보 단절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rot="2700000">
            <a:off x="914400" y="4818888"/>
            <a:ext cx="219456" cy="21945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47183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BM  </a:t>
            </a:r>
            <a:pPr indent="0" marL="0">
              <a:buNone/>
            </a:pPr>
            <a:r>
              <a:rPr lang="en-US" sz="15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PwC 플랫폼 6모델 · 중개→구독→데이터→금융 4단계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 rot="2700000">
            <a:off x="914400" y="5532120"/>
            <a:ext cx="219456" cy="21945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54315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합리적 투자  </a:t>
            </a:r>
            <a:pPr indent="0" marL="0">
              <a:buNone/>
            </a:pPr>
            <a:r>
              <a:rPr lang="en-US" sz="1500" dirty="0">
                <a:solidFill>
                  <a:srgbClr val="D5D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15~20억 / 5년 TCO ~29억 — Buy 대비 우위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6355080"/>
            <a:ext cx="10424160" cy="0"/>
          </a:xfrm>
          <a:prstGeom prst="line">
            <a:avLst/>
          </a:prstGeom>
          <a:noFill/>
          <a:ln w="12700">
            <a:solidFill>
              <a:srgbClr val="2433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9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위험물 물류 통합 플랫폼  ·  TWL Control Tower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0" y="6446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itt@twsc.co.kr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위험물 물류 통합 플랫폼</dc:title>
  <dc:subject>PptxGenJS Presentation</dc:subject>
  <dc:creator>TWL Control Tower</dc:creator>
  <cp:lastModifiedBy>TWL Control Tower</cp:lastModifiedBy>
  <cp:revision>1</cp:revision>
  <dcterms:created xsi:type="dcterms:W3CDTF">2026-07-28T01:39:51Z</dcterms:created>
  <dcterms:modified xsi:type="dcterms:W3CDTF">2026-07-28T01:39:51Z</dcterms:modified>
</cp:coreProperties>
</file>