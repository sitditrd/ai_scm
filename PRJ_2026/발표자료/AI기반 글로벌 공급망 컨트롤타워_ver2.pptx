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지금부터 「AI 기반 글로벌 공급망 컨트롤타워」 구축 사업을 보고드리겠습니다. 핵심 메시지는 하나입니다 — 흩어져 있는 항만·선박·운임·통관 정보를 실데이터로 한 화면에 모으고, 단순 조회를 넘어 리스크 예측과 실행까지 잇는 컨트롤타워를 만들겠다는 것입니다. 특별한 점은, 이 시스템을 단 5일 만에 상용 수준으로 구축해 이미 운영 중이라는 것입니다. 오늘은 현황, 문제점, 해결책, 그리고 타당성과 확장성까지 순서대로 검증해 보시겠습니다.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네 단계입니다. 먼저 매일 아침 담당자가 겪는 취합의 현실과 파편화된 데이터 지형으로 현황을 짚고, 컨트롤타워 부재가 낳는 구조적 문제점을 정의합니다. 이어 8개 화면을 실데이터로 통합한 해결책과 무료 오픈API 기반 운영 모델을 제시하고, 마지막으로 제로에 가까운 인프라 비용과 개발 성과·검증, 확장 로드맵까지 타당성을 확인합니다. '정보는 흩어져 있고, 취합은 수작업이며, 데이터는 아직 데모다' — 이 한 문장이 오늘의 논지입니다.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현황입니다. 지금부터 말씀드리는 내용은 전부 5일간 실제로 구축·운영한 시스템의 데이터와 담당자 피드백에 근거합니다. 외부 수치는 IMF PortWatch·Open-Meteo 같은 공개 소스를 실호출로 검증했고, 추정치는 명확히 구분해 표기했습니다. 먼저 담당자의 하루입니다. 수출입 운영 담당자는 매일 아침 부산신항·광양·인천 9개 터미널 사이트에 하나씩 접속해 선석배정 현황을 확인합니다. 터미널마다 화면과 컬럼이 모두 달라 취합에만 매일 30분에서 1시간이 걸리고, 그 결과는 개인 엑셀에 갇혀 팀 공유도 이력 관리도 안 됩니다. 결정적으로 반입마감시한을 놓치면 곧바로 선적 실패, 즉 롤오버로 이어집니다. 그리고 필요한 정보가 한 곳에 없습니다 — 선석·혼잡·선박·운임·기상·통관이 여섯 갈래로 소스도 포맷도 갱신주기도 제각각이라, 판단 하나를 위해 여러 화면을 오가야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신뢰성입니다. 화면이 아무리 그럴듯해도 데이터가 데모면 현업은 쓰지 않습니다. 그래서 전 파일 89건을 전수 감사해 가짜 난수와 데모 문구를 걷어내고 실서비스 기준으로 개편했습니다. 오픈데이터 41건을 조사해 무료·무인증 소스를 선별했고, 혼잡도 API는 6종을 실제로 호출해 비교한 끝에 IMF PortWatch를 채택했습니다. 그리고 왜 지금이냐 — 전 세계 항만은 붐비고 운임은 출렁이며 ETA는 불확실합니다. 위성 데이터로 93개 항만 혼잡도를 매일 산출하고, 사전계산한 8,556개 해상 구간으로 소요일을 몬테카를로로 추정합니다. 공개 데이터의 7~10일 지연은 국내 실측 선석으로 보정했습니다. 변동성이 클수록 이 통합 가시성의 가치는 커집니다.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현장의 문제점입니다. 방금 본 현황을 네 가지 구조적 문제로 압축했습니다. 첫째, 17개 터미널과 6개 데이터 소스를 잇는 단일 조회 채널이 없어 매일 수작업으로 여러 화면을 오갑니다. 둘째, 소스도 포맷도 주기도 달라 실시간 통합 가시성이 없고 크로스 조회가 안 됩니다. 셋째, 데모·가짜 데이터가 섞여 현업 신뢰가 떨어지는데 검증 절차가 표준화돼 있지 않습니다. 넷째, 취합 결과가 개인 엑셀에 갇혀 팀 자산으로 축적되지 않습니다. 이 네 가지가 서로 맞물려 물류 운영을 아날로그에 묶어둡니다.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저희의 해결책은 흩어진 것을 하나로 잇는 것입니다. 핵심은 조회에서 끝나지 않는다는 점입니다. 왼쪽의 여섯 외부 소스를 자동 파이프라인이 수집·정규화해 Supabase에 적재하고, 오른쪽 여덟 화면으로 뿌립니다. 단순 실데이터 조회를 넘어 PCI 혼잡도와 ETA 지연, 경로 소요일로 리스크를 정량화하고, 반입마감 임박 강조와 화물 추적으로 실행을 지원하며, 매일 자동수집과 신선도 보드로 운영까지 자동화합니다. 수집·저장·표현 세 계층이 사람 손 없이 도는 구조가 경쟁력입니다.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화면은 여덟 개이고 전부 실데이터입니다. Port Insight는 글로벌 93개 항만 혼잡도를 게이지와 지도로 보여주고, 선석배정은 9개 터미널을 통합해 반입마감 임박을 강조합니다. 선박 위치는 실시간 AIS 지도, 화물 추적은 유니패스 통관 타임라인, 경로 분석은 소요일을 몬테카를로로 분포까지 냅니다. 운임지수·항만 기상·데이터 현황 보드까지 — 데모나 가짜 난수 없이 공개·실측 데이터만 씁니다. 이것이 현업이 신뢰하고 쓰는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운영·비용 모델은 단순합니다. 데이터는 IMF PortWatch, Open-Meteo, VesselFinder, 상하이 운임지수, 유니패스, searoute까지 전부 무료 공개 소스입니다. 저장은 Supabase 무료 티어, 배포는 GitHub Pages 자동배포로 인프라 비용이 사실상 0원입니다. 자동화는 키가 필요 없는 스케줄 세 종이 매일 무인으로 돌고, 프런트는 오픈소스 스택에 지금 React·타입스크립트로 이관 중입니다. 상용 가시성 솔루션이 유료·로그인인 것과 달리, 데이터와 코드가 그대로 사내 자산으로 남는다는 점이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타당성과 확장성입니다. 먼저 비용입니다. 데이터, 저장, 배포, 라이선스 — 전 구간을 무료로 구성해 월 인프라·데이터 비용이 사실상 0원입니다. 만약 상용으로 구성했다면 항만 혼잡 데이터는 구독, 지도는 종량 API, DB와 호스팅은 클라우드 요금, 가시성은 tradlinx 같은 SaaS 구독이 필요했을 겁니다. 저희는 이 전부를 IMF PortWatch, Leaflet, Supabase 무료 티어, 공개 데이터 통합으로 대체했습니다. 유일한 비용은 개발 인건비뿐이고, 나중에 확장하더라도 종량 과금으로 점진 대응이 가능해 초기 고정비 부담이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비용이 제로라면 품질은 어떠냐 — 성과와 검증입니다. 2026년 7월 24일부터 28일까지 단 5일, 11단계에 걸쳐 8개 화면을 전부 실데이터로 구현하고 배포까지 마쳤습니다. 검증도 숫자로 남겼습니다. 선석배정 224건을 정규화해 E2E로 통과했고, PortWatch 실데이터 1만212행으로 93개 항만 PCI를 산출했으며, 14일치 3,218건을 백필했습니다. 콘솔 오류와 보안 어드바이저는 0건입니다. 완성 솔루션을 구독하는 대신 5일·0원으로 자체 구축했고, 무엇보다 데이터와 코드가 그대로 사내 자산으로 남았습니다.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화면이 저희 방법론의 핵심입니다. 항만 혼잡도 지수 PCI는 세 요소를 가중합합니다 — 활동량 60퍼센트, 물동량 25퍼센트, 모멘텀 15퍼센트. 활동량은 최근 7일 평균 기항수가 120일 분포에서 차지하는 백분위이고, 모멘텀은 최근 7일과 직전 7일의 변화율을 시그모이드로 매핑합니다. IMF PortWatch 위성 데이터 1만212행으로 Focus 93개 항만을 100퍼센트 매핑해 산출했고, 공개 데이터의 7~10일 지연은 국내 부산·광양·인천의 실측 선석으로 보정했습니다. 그리고 이 지표는 우리 주장이 아니라 공개 기관 데이터로 뒷받침됩니다. v3 생산성 지표는 UNCTAD 선석점유율과 Erlang C 대기시간으로 부산 PNIT 사례까지 사전 검증했고, 기상·선박 위치는 Open-Meteo와 VesselFinder를 실제로 호출해 200 응답을 확인했으며, 통관·항로는 관세청 유니패스와 오픈소스 searoute를 씁니다. 시장·방법론·실시간·공공, 네 갈래 공개 소스가 모두 같은 방향을 가리킵니다.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확장은 단계적입니다. 1단계 v1은 이미 8개 화면으로 운영 중입니다. M1 핵심 단계에서는 담당자 피드백을 반영해 포트 검색, 국내·해외 탭 분리, 터미널 8곳 확대, 가장 요청이 많았던 Ship Schedule 3뷰를 붙입니다. M2에서는 해외 터미널로 넓히고 성능을 3초 이내로 끌어올립니다. M3에서는 UNCTAD 선석점유율과 Erlang C 대기시간 같은 v3 지표와 React 완전 이관까지 갑니다. 무료·표준 기반 파이프라인이 그대로 확장 자산이 됩니다. 정리하겠습니다 — 정보는 흩어져 있고 취합은 수작업이며 데이터는 아직 데모입니다. 저희는 이 셋을 정면으로 풀어, 8개 화면을 실데이터로 이미 운영 중이고 인프라 비용은 월 0원이며 해외와 v3로 가는 로드맵이 있습니다. 담당자 피드백을 확보한 지금이 선점 시점입니다. 단순 조회를 넘어 실행까지 잇는 '실행하는 컨트롤타워'가 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14400"/>
            <a:ext cx="7150894"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88" kern="0" dirty="0">
                <a:solidFill>
                  <a:srgbClr val="AE1800"/>
                </a:solidFill>
                <a:latin typeface="Arial" pitchFamily="34" charset="0"/>
                <a:ea typeface="Arial" pitchFamily="34" charset="-122"/>
                <a:cs typeface="Arial" pitchFamily="34" charset="-120"/>
              </a:rPr>
              <a:t>GLOBAL SUPPLY CHAIN · AI CONTROL TOWER</a:t>
            </a:r>
            <a:endParaRPr lang="en-US" sz="1800" dirty="0"/>
          </a:p>
        </p:txBody>
      </p:sp>
      <p:sp>
        <p:nvSpPr>
          <p:cNvPr id="3" name="Text 1"/>
          <p:cNvSpPr/>
          <p:nvPr/>
        </p:nvSpPr>
        <p:spPr>
          <a:xfrm>
            <a:off x="16414433" y="914400"/>
            <a:ext cx="806768"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108" kern="0" dirty="0">
                <a:solidFill>
                  <a:srgbClr val="211D1D">
                    <a:alpha val="55000"/>
                  </a:srgbClr>
                </a:solidFill>
                <a:latin typeface="Arial" pitchFamily="34" charset="0"/>
                <a:ea typeface="Arial" pitchFamily="34" charset="-122"/>
                <a:cs typeface="Arial" pitchFamily="34" charset="-120"/>
              </a:rPr>
              <a:t>· 2026</a:t>
            </a:r>
            <a:endParaRPr lang="en-US" sz="1800" dirty="0"/>
          </a:p>
        </p:txBody>
      </p:sp>
      <p:sp>
        <p:nvSpPr>
          <p:cNvPr id="4" name="Shape 2"/>
          <p:cNvSpPr/>
          <p:nvPr/>
        </p:nvSpPr>
        <p:spPr>
          <a:xfrm>
            <a:off x="1143000" y="2830592"/>
            <a:ext cx="571500" cy="571500"/>
          </a:xfrm>
          <a:prstGeom prst="rect">
            <a:avLst/>
          </a:prstGeom>
          <a:solidFill>
            <a:srgbClr val="EC3013"/>
          </a:solidFill>
          <a:ln/>
        </p:spPr>
      </p:sp>
      <p:sp>
        <p:nvSpPr>
          <p:cNvPr id="5" name="Text 3"/>
          <p:cNvSpPr/>
          <p:nvPr/>
        </p:nvSpPr>
        <p:spPr>
          <a:xfrm>
            <a:off x="1143000" y="3821192"/>
            <a:ext cx="16482060" cy="2203609"/>
          </a:xfrm>
          <a:prstGeom prst="rect">
            <a:avLst/>
          </a:prstGeom>
          <a:noFill/>
          <a:ln/>
        </p:spPr>
        <p:txBody>
          <a:bodyPr wrap="square" lIns="25400" tIns="25400" rIns="25400" bIns="25400" rtlCol="0" anchor="t">
            <a:normAutofit/>
          </a:bodyPr>
          <a:lstStyle/>
          <a:p>
            <a:pPr algn="l" indent="0" marL="0">
              <a:lnSpc>
                <a:spcPct val="69317"/>
              </a:lnSpc>
              <a:buNone/>
            </a:pPr>
            <a:r>
              <a:rPr lang="en-US" sz="8700" b="1" spc="-261" kern="0" dirty="0">
                <a:solidFill>
                  <a:srgbClr val="201E1D"/>
                </a:solidFill>
                <a:latin typeface="Arial" pitchFamily="34" charset="0"/>
                <a:ea typeface="Arial" pitchFamily="34" charset="-122"/>
                <a:cs typeface="Arial" pitchFamily="34" charset="-120"/>
              </a:rPr>
              <a:t>AI 기반 글로벌 공급망 컨트롤타워</a:t>
            </a:r>
            <a:endParaRPr lang="en-US" sz="8700" dirty="0"/>
          </a:p>
        </p:txBody>
      </p:sp>
      <p:sp>
        <p:nvSpPr>
          <p:cNvPr id="6" name="Text 4"/>
          <p:cNvSpPr/>
          <p:nvPr/>
        </p:nvSpPr>
        <p:spPr>
          <a:xfrm>
            <a:off x="1143000" y="6367701"/>
            <a:ext cx="7420483" cy="944880"/>
          </a:xfrm>
          <a:prstGeom prst="rect">
            <a:avLst/>
          </a:prstGeom>
          <a:noFill/>
          <a:ln/>
        </p:spPr>
        <p:txBody>
          <a:bodyPr wrap="square" lIns="25400" tIns="25400" rIns="25400" bIns="25400" rtlCol="0" anchor="t">
            <a:normAutofit/>
          </a:bodyPr>
          <a:lstStyle/>
          <a:p>
            <a:pPr algn="l" indent="0" marL="0">
              <a:lnSpc>
                <a:spcPct val="123958"/>
              </a:lnSpc>
              <a:buNone/>
            </a:pPr>
            <a:r>
              <a:rPr lang="en-US" sz="2550" spc="-25" kern="0" dirty="0">
                <a:solidFill>
                  <a:srgbClr val="201E1D">
                    <a:alpha val="72000"/>
                  </a:srgbClr>
                </a:solidFill>
                <a:latin typeface="Arial" pitchFamily="34" charset="0"/>
                <a:ea typeface="Arial" pitchFamily="34" charset="-122"/>
                <a:cs typeface="Arial" pitchFamily="34" charset="-120"/>
              </a:rPr>
              <a:t>'가시성'을 넘어 실행까지 — 조달·생산·물류·리스크를 하나로 잇는 공급망 통합 인프라</a:t>
            </a:r>
            <a:endParaRPr lang="en-US" sz="2550" dirty="0"/>
          </a:p>
        </p:txBody>
      </p:sp>
      <p:sp>
        <p:nvSpPr>
          <p:cNvPr id="7" name="Shape 5"/>
          <p:cNvSpPr/>
          <p:nvPr/>
        </p:nvSpPr>
        <p:spPr>
          <a:xfrm>
            <a:off x="1143000" y="8836343"/>
            <a:ext cx="16002000" cy="19050"/>
          </a:xfrm>
          <a:prstGeom prst="rect">
            <a:avLst/>
          </a:prstGeom>
          <a:solidFill>
            <a:srgbClr val="201E1E">
              <a:alpha val="40000"/>
            </a:srgbClr>
          </a:solidFill>
          <a:ln/>
        </p:spPr>
      </p:sp>
      <p:sp>
        <p:nvSpPr>
          <p:cNvPr id="8" name="Text 6"/>
          <p:cNvSpPr/>
          <p:nvPr/>
        </p:nvSpPr>
        <p:spPr>
          <a:xfrm>
            <a:off x="1143000" y="9103043"/>
            <a:ext cx="4646248"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01E1D"/>
                </a:solidFill>
                <a:latin typeface="Arial" pitchFamily="34" charset="0"/>
                <a:ea typeface="Arial" pitchFamily="34" charset="-122"/>
                <a:cs typeface="Arial" pitchFamily="34" charset="-120"/>
              </a:rPr>
              <a:t>TWL CONTROL TOWER · 태웅로직스</a:t>
            </a:r>
            <a:endParaRPr lang="en-US" sz="1950" dirty="0"/>
          </a:p>
        </p:txBody>
      </p:sp>
      <p:sp>
        <p:nvSpPr>
          <p:cNvPr id="9" name="Text 7"/>
          <p:cNvSpPr/>
          <p:nvPr/>
        </p:nvSpPr>
        <p:spPr>
          <a:xfrm>
            <a:off x="14063067" y="9103043"/>
            <a:ext cx="3390126"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11D1D">
                    <a:alpha val="55000"/>
                  </a:srgbClr>
                </a:solidFill>
                <a:latin typeface="Arial" pitchFamily="34" charset="0"/>
                <a:ea typeface="Arial" pitchFamily="34" charset="-122"/>
                <a:cs typeface="Arial" pitchFamily="34" charset="-120"/>
              </a:rPr>
              <a:t>데이터 분석 · 공급망 최적화</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838200"/>
            <a:ext cx="9090148"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52" kern="0" dirty="0">
                <a:solidFill>
                  <a:srgbClr val="AE1800"/>
                </a:solidFill>
                <a:latin typeface="Arial" pitchFamily="34" charset="0"/>
                <a:ea typeface="Arial" pitchFamily="34" charset="-122"/>
                <a:cs typeface="Arial" pitchFamily="34" charset="-120"/>
              </a:rPr>
              <a:t>CONTENTS · 발표 순서</a:t>
            </a:r>
            <a:endParaRPr lang="en-US" sz="1800" dirty="0"/>
          </a:p>
        </p:txBody>
      </p:sp>
      <p:sp>
        <p:nvSpPr>
          <p:cNvPr id="3" name="Text 1"/>
          <p:cNvSpPr/>
          <p:nvPr/>
        </p:nvSpPr>
        <p:spPr>
          <a:xfrm>
            <a:off x="1143000" y="1344930"/>
            <a:ext cx="8511684" cy="1087993"/>
          </a:xfrm>
          <a:prstGeom prst="rect">
            <a:avLst/>
          </a:prstGeom>
          <a:noFill/>
          <a:ln/>
        </p:spPr>
        <p:txBody>
          <a:bodyPr wrap="square" lIns="25400" tIns="25400" rIns="25400" bIns="25400" rtlCol="0" anchor="t">
            <a:normAutofit/>
          </a:bodyPr>
          <a:lstStyle/>
          <a:p>
            <a:pPr algn="l" indent="0" marL="0">
              <a:lnSpc>
                <a:spcPct val="74891"/>
              </a:lnSpc>
              <a:buNone/>
            </a:pPr>
            <a:r>
              <a:rPr lang="en-US" sz="3900" b="1" spc="-39" kern="0" dirty="0">
                <a:solidFill>
                  <a:srgbClr val="201E1D"/>
                </a:solidFill>
                <a:latin typeface="Arial" pitchFamily="34" charset="0"/>
                <a:ea typeface="Arial" pitchFamily="34" charset="-122"/>
                <a:cs typeface="Arial" pitchFamily="34" charset="-120"/>
              </a:rPr>
              <a:t>정보는 흩어져 있고, 취합은 수작업이며, 데이터는 아직 데모입니다</a:t>
            </a:r>
            <a:endParaRPr lang="en-US" sz="3900" dirty="0"/>
          </a:p>
        </p:txBody>
      </p:sp>
      <p:sp>
        <p:nvSpPr>
          <p:cNvPr id="4" name="Text 2"/>
          <p:cNvSpPr/>
          <p:nvPr/>
        </p:nvSpPr>
        <p:spPr>
          <a:xfrm>
            <a:off x="16869490" y="2010966"/>
            <a:ext cx="351711"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AE1800"/>
                </a:solidFill>
                <a:latin typeface="Arial" pitchFamily="34" charset="0"/>
                <a:ea typeface="Arial" pitchFamily="34" charset="-122"/>
                <a:cs typeface="Arial" pitchFamily="34" charset="-120"/>
              </a:rPr>
              <a:t>02</a:t>
            </a:r>
            <a:endParaRPr lang="en-US" sz="1950" dirty="0"/>
          </a:p>
        </p:txBody>
      </p:sp>
      <p:sp>
        <p:nvSpPr>
          <p:cNvPr id="5" name="Shape 3"/>
          <p:cNvSpPr/>
          <p:nvPr/>
        </p:nvSpPr>
        <p:spPr>
          <a:xfrm>
            <a:off x="1143000" y="2642473"/>
            <a:ext cx="16002000" cy="19050"/>
          </a:xfrm>
          <a:prstGeom prst="rect">
            <a:avLst/>
          </a:prstGeom>
          <a:solidFill>
            <a:srgbClr val="201E1E">
              <a:alpha val="40000"/>
            </a:srgbClr>
          </a:solidFill>
          <a:ln/>
        </p:spPr>
      </p:sp>
      <p:sp>
        <p:nvSpPr>
          <p:cNvPr id="6" name="Shape 4"/>
          <p:cNvSpPr/>
          <p:nvPr/>
        </p:nvSpPr>
        <p:spPr>
          <a:xfrm>
            <a:off x="1143000" y="4554022"/>
            <a:ext cx="16002000" cy="3268980"/>
          </a:xfrm>
          <a:prstGeom prst="rect">
            <a:avLst/>
          </a:prstGeom>
          <a:solidFill>
            <a:srgbClr val="201E1E">
              <a:alpha val="40000"/>
            </a:srgbClr>
          </a:solidFill>
          <a:ln w="15240">
            <a:solidFill>
              <a:srgbClr val="201E1E">
                <a:alpha val="40000"/>
              </a:srgbClr>
            </a:solidFill>
            <a:prstDash val="solid"/>
          </a:ln>
        </p:spPr>
      </p:sp>
      <p:sp>
        <p:nvSpPr>
          <p:cNvPr id="7" name="Shape 5"/>
          <p:cNvSpPr/>
          <p:nvPr/>
        </p:nvSpPr>
        <p:spPr>
          <a:xfrm>
            <a:off x="1158240" y="4569262"/>
            <a:ext cx="3978593" cy="3238500"/>
          </a:xfrm>
          <a:prstGeom prst="rect">
            <a:avLst/>
          </a:prstGeom>
          <a:solidFill>
            <a:srgbClr val="F3F2F2"/>
          </a:solidFill>
          <a:ln/>
        </p:spPr>
      </p:sp>
      <p:sp>
        <p:nvSpPr>
          <p:cNvPr id="8" name="Text 6"/>
          <p:cNvSpPr/>
          <p:nvPr/>
        </p:nvSpPr>
        <p:spPr>
          <a:xfrm>
            <a:off x="1482090" y="4950262"/>
            <a:ext cx="3663982" cy="647700"/>
          </a:xfrm>
          <a:prstGeom prst="rect">
            <a:avLst/>
          </a:prstGeom>
          <a:noFill/>
          <a:ln/>
        </p:spPr>
        <p:txBody>
          <a:bodyPr wrap="square" lIns="25400" tIns="25400" rIns="25400" bIns="25400" rtlCol="0" anchor="t">
            <a:normAutofit/>
          </a:bodyPr>
          <a:lstStyle/>
          <a:p>
            <a:pPr algn="l" indent="0" marL="0">
              <a:lnSpc>
                <a:spcPct val="70796"/>
              </a:lnSpc>
              <a:buNone/>
            </a:pPr>
            <a:r>
              <a:rPr lang="en-US" sz="4800" b="1" dirty="0">
                <a:solidFill>
                  <a:srgbClr val="EC3013"/>
                </a:solidFill>
                <a:latin typeface="Arial" pitchFamily="34" charset="0"/>
                <a:ea typeface="Arial" pitchFamily="34" charset="-122"/>
                <a:cs typeface="Arial" pitchFamily="34" charset="-120"/>
              </a:rPr>
              <a:t>01</a:t>
            </a:r>
            <a:endParaRPr lang="en-US" sz="4800" dirty="0"/>
          </a:p>
        </p:txBody>
      </p:sp>
      <p:sp>
        <p:nvSpPr>
          <p:cNvPr id="9" name="Text 7"/>
          <p:cNvSpPr/>
          <p:nvPr/>
        </p:nvSpPr>
        <p:spPr>
          <a:xfrm>
            <a:off x="1482090" y="5750362"/>
            <a:ext cx="3663982" cy="400764"/>
          </a:xfrm>
          <a:prstGeom prst="rect">
            <a:avLst/>
          </a:prstGeom>
          <a:noFill/>
          <a:ln/>
        </p:spPr>
        <p:txBody>
          <a:bodyPr wrap="square" lIns="25400" tIns="25400" rIns="25400" bIns="25400" rtlCol="0" anchor="t">
            <a:normAutofit/>
          </a:bodyPr>
          <a:lstStyle/>
          <a:p>
            <a:pPr algn="l" indent="0" marL="0">
              <a:lnSpc>
                <a:spcPct val="79333"/>
              </a:lnSpc>
              <a:buNone/>
            </a:pPr>
            <a:r>
              <a:rPr lang="en-US" sz="2550" b="1" spc="-38" kern="0" dirty="0">
                <a:solidFill>
                  <a:srgbClr val="201E1D"/>
                </a:solidFill>
                <a:latin typeface="Arial" pitchFamily="34" charset="0"/>
                <a:ea typeface="Arial" pitchFamily="34" charset="-122"/>
                <a:cs typeface="Arial" pitchFamily="34" charset="-120"/>
              </a:rPr>
              <a:t>현황</a:t>
            </a:r>
            <a:endParaRPr lang="en-US" sz="2550" dirty="0"/>
          </a:p>
        </p:txBody>
      </p:sp>
      <p:sp>
        <p:nvSpPr>
          <p:cNvPr id="10" name="Text 8"/>
          <p:cNvSpPr/>
          <p:nvPr/>
        </p:nvSpPr>
        <p:spPr>
          <a:xfrm>
            <a:off x="1482090" y="6791444"/>
            <a:ext cx="3430819"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1F1E1C">
                    <a:alpha val="70000"/>
                  </a:srgbClr>
                </a:solidFill>
                <a:latin typeface="Arial" pitchFamily="34" charset="0"/>
                <a:ea typeface="Arial" pitchFamily="34" charset="-122"/>
                <a:cs typeface="Arial" pitchFamily="34" charset="-120"/>
              </a:rPr>
              <a:t>수작업 취합 · 파편화된 데이터 · 데모의 한계 · 국내 터미널 지형</a:t>
            </a:r>
            <a:endParaRPr lang="en-US" sz="1725" dirty="0"/>
          </a:p>
        </p:txBody>
      </p:sp>
      <p:sp>
        <p:nvSpPr>
          <p:cNvPr id="11" name="Shape 9"/>
          <p:cNvSpPr/>
          <p:nvPr/>
        </p:nvSpPr>
        <p:spPr>
          <a:xfrm>
            <a:off x="5155882" y="4569262"/>
            <a:ext cx="3978593" cy="3238500"/>
          </a:xfrm>
          <a:prstGeom prst="rect">
            <a:avLst/>
          </a:prstGeom>
          <a:solidFill>
            <a:srgbClr val="F3F2F2"/>
          </a:solidFill>
          <a:ln/>
        </p:spPr>
      </p:sp>
      <p:sp>
        <p:nvSpPr>
          <p:cNvPr id="12" name="Text 10"/>
          <p:cNvSpPr/>
          <p:nvPr/>
        </p:nvSpPr>
        <p:spPr>
          <a:xfrm>
            <a:off x="5479732" y="4950262"/>
            <a:ext cx="3663982" cy="647700"/>
          </a:xfrm>
          <a:prstGeom prst="rect">
            <a:avLst/>
          </a:prstGeom>
          <a:noFill/>
          <a:ln/>
        </p:spPr>
        <p:txBody>
          <a:bodyPr wrap="square" lIns="25400" tIns="25400" rIns="25400" bIns="25400" rtlCol="0" anchor="t">
            <a:normAutofit/>
          </a:bodyPr>
          <a:lstStyle/>
          <a:p>
            <a:pPr algn="l" indent="0" marL="0">
              <a:lnSpc>
                <a:spcPct val="70796"/>
              </a:lnSpc>
              <a:buNone/>
            </a:pPr>
            <a:r>
              <a:rPr lang="en-US" sz="4800" b="1" dirty="0">
                <a:solidFill>
                  <a:srgbClr val="EC3013"/>
                </a:solidFill>
                <a:latin typeface="Arial" pitchFamily="34" charset="0"/>
                <a:ea typeface="Arial" pitchFamily="34" charset="-122"/>
                <a:cs typeface="Arial" pitchFamily="34" charset="-120"/>
              </a:rPr>
              <a:t>02</a:t>
            </a:r>
            <a:endParaRPr lang="en-US" sz="4800" dirty="0"/>
          </a:p>
        </p:txBody>
      </p:sp>
      <p:sp>
        <p:nvSpPr>
          <p:cNvPr id="13" name="Text 11"/>
          <p:cNvSpPr/>
          <p:nvPr/>
        </p:nvSpPr>
        <p:spPr>
          <a:xfrm>
            <a:off x="5479732" y="5750362"/>
            <a:ext cx="3663982" cy="400764"/>
          </a:xfrm>
          <a:prstGeom prst="rect">
            <a:avLst/>
          </a:prstGeom>
          <a:noFill/>
          <a:ln/>
        </p:spPr>
        <p:txBody>
          <a:bodyPr wrap="square" lIns="25400" tIns="25400" rIns="25400" bIns="25400" rtlCol="0" anchor="t">
            <a:normAutofit/>
          </a:bodyPr>
          <a:lstStyle/>
          <a:p>
            <a:pPr algn="l" indent="0" marL="0">
              <a:lnSpc>
                <a:spcPct val="79333"/>
              </a:lnSpc>
              <a:buNone/>
            </a:pPr>
            <a:r>
              <a:rPr lang="en-US" sz="2550" b="1" spc="-38" kern="0" dirty="0">
                <a:solidFill>
                  <a:srgbClr val="201E1D"/>
                </a:solidFill>
                <a:latin typeface="Arial" pitchFamily="34" charset="0"/>
                <a:ea typeface="Arial" pitchFamily="34" charset="-122"/>
                <a:cs typeface="Arial" pitchFamily="34" charset="-120"/>
              </a:rPr>
              <a:t>문제점</a:t>
            </a:r>
            <a:endParaRPr lang="en-US" sz="2550" dirty="0"/>
          </a:p>
        </p:txBody>
      </p:sp>
      <p:sp>
        <p:nvSpPr>
          <p:cNvPr id="14" name="Text 12"/>
          <p:cNvSpPr/>
          <p:nvPr/>
        </p:nvSpPr>
        <p:spPr>
          <a:xfrm>
            <a:off x="5479732" y="6791444"/>
            <a:ext cx="3430819"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1F1E1C">
                    <a:alpha val="70000"/>
                  </a:srgbClr>
                </a:solidFill>
                <a:latin typeface="Arial" pitchFamily="34" charset="0"/>
                <a:ea typeface="Arial" pitchFamily="34" charset="-122"/>
                <a:cs typeface="Arial" pitchFamily="34" charset="-120"/>
              </a:rPr>
              <a:t>컨트롤타워 부재가 낳는 구조적 4대 문제</a:t>
            </a:r>
            <a:endParaRPr lang="en-US" sz="1725" dirty="0"/>
          </a:p>
        </p:txBody>
      </p:sp>
      <p:sp>
        <p:nvSpPr>
          <p:cNvPr id="15" name="Shape 13"/>
          <p:cNvSpPr/>
          <p:nvPr/>
        </p:nvSpPr>
        <p:spPr>
          <a:xfrm>
            <a:off x="9153525" y="4569262"/>
            <a:ext cx="3978593" cy="3238500"/>
          </a:xfrm>
          <a:prstGeom prst="rect">
            <a:avLst/>
          </a:prstGeom>
          <a:solidFill>
            <a:srgbClr val="F3F2F2"/>
          </a:solidFill>
          <a:ln/>
        </p:spPr>
      </p:sp>
      <p:sp>
        <p:nvSpPr>
          <p:cNvPr id="16" name="Text 14"/>
          <p:cNvSpPr/>
          <p:nvPr/>
        </p:nvSpPr>
        <p:spPr>
          <a:xfrm>
            <a:off x="9477375" y="4950262"/>
            <a:ext cx="3663982" cy="647700"/>
          </a:xfrm>
          <a:prstGeom prst="rect">
            <a:avLst/>
          </a:prstGeom>
          <a:noFill/>
          <a:ln/>
        </p:spPr>
        <p:txBody>
          <a:bodyPr wrap="square" lIns="25400" tIns="25400" rIns="25400" bIns="25400" rtlCol="0" anchor="t">
            <a:normAutofit/>
          </a:bodyPr>
          <a:lstStyle/>
          <a:p>
            <a:pPr algn="l" indent="0" marL="0">
              <a:lnSpc>
                <a:spcPct val="70796"/>
              </a:lnSpc>
              <a:buNone/>
            </a:pPr>
            <a:r>
              <a:rPr lang="en-US" sz="4800" b="1" dirty="0">
                <a:solidFill>
                  <a:srgbClr val="EC3013"/>
                </a:solidFill>
                <a:latin typeface="Arial" pitchFamily="34" charset="0"/>
                <a:ea typeface="Arial" pitchFamily="34" charset="-122"/>
                <a:cs typeface="Arial" pitchFamily="34" charset="-120"/>
              </a:rPr>
              <a:t>03</a:t>
            </a:r>
            <a:endParaRPr lang="en-US" sz="4800" dirty="0"/>
          </a:p>
        </p:txBody>
      </p:sp>
      <p:sp>
        <p:nvSpPr>
          <p:cNvPr id="17" name="Text 15"/>
          <p:cNvSpPr/>
          <p:nvPr/>
        </p:nvSpPr>
        <p:spPr>
          <a:xfrm>
            <a:off x="9477375" y="5750362"/>
            <a:ext cx="3663982" cy="400764"/>
          </a:xfrm>
          <a:prstGeom prst="rect">
            <a:avLst/>
          </a:prstGeom>
          <a:noFill/>
          <a:ln/>
        </p:spPr>
        <p:txBody>
          <a:bodyPr wrap="square" lIns="25400" tIns="25400" rIns="25400" bIns="25400" rtlCol="0" anchor="t">
            <a:normAutofit/>
          </a:bodyPr>
          <a:lstStyle/>
          <a:p>
            <a:pPr algn="l" indent="0" marL="0">
              <a:lnSpc>
                <a:spcPct val="79333"/>
              </a:lnSpc>
              <a:buNone/>
            </a:pPr>
            <a:r>
              <a:rPr lang="en-US" sz="2550" b="1" spc="-38" kern="0" dirty="0">
                <a:solidFill>
                  <a:srgbClr val="201E1D"/>
                </a:solidFill>
                <a:latin typeface="Arial" pitchFamily="34" charset="0"/>
                <a:ea typeface="Arial" pitchFamily="34" charset="-122"/>
                <a:cs typeface="Arial" pitchFamily="34" charset="-120"/>
              </a:rPr>
              <a:t>해결책</a:t>
            </a:r>
            <a:endParaRPr lang="en-US" sz="2550" dirty="0"/>
          </a:p>
        </p:txBody>
      </p:sp>
      <p:sp>
        <p:nvSpPr>
          <p:cNvPr id="18" name="Text 16"/>
          <p:cNvSpPr/>
          <p:nvPr/>
        </p:nvSpPr>
        <p:spPr>
          <a:xfrm>
            <a:off x="9477375" y="6791444"/>
            <a:ext cx="3430819"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1F1E1C">
                    <a:alpha val="70000"/>
                  </a:srgbClr>
                </a:solidFill>
                <a:latin typeface="Arial" pitchFamily="34" charset="0"/>
                <a:ea typeface="Arial" pitchFamily="34" charset="-122"/>
                <a:cs typeface="Arial" pitchFamily="34" charset="-120"/>
              </a:rPr>
              <a:t>8개 화면 실데이터 컨트롤타워 · 오픈API 스택 · PCI 방법론</a:t>
            </a:r>
            <a:endParaRPr lang="en-US" sz="1725" dirty="0"/>
          </a:p>
        </p:txBody>
      </p:sp>
      <p:sp>
        <p:nvSpPr>
          <p:cNvPr id="19" name="Shape 17"/>
          <p:cNvSpPr/>
          <p:nvPr/>
        </p:nvSpPr>
        <p:spPr>
          <a:xfrm>
            <a:off x="13151168" y="4569262"/>
            <a:ext cx="3978593" cy="3238500"/>
          </a:xfrm>
          <a:prstGeom prst="rect">
            <a:avLst/>
          </a:prstGeom>
          <a:solidFill>
            <a:srgbClr val="F3F2F2"/>
          </a:solidFill>
          <a:ln/>
        </p:spPr>
      </p:sp>
      <p:sp>
        <p:nvSpPr>
          <p:cNvPr id="20" name="Text 18"/>
          <p:cNvSpPr/>
          <p:nvPr/>
        </p:nvSpPr>
        <p:spPr>
          <a:xfrm>
            <a:off x="13475018" y="4950262"/>
            <a:ext cx="3663982" cy="647700"/>
          </a:xfrm>
          <a:prstGeom prst="rect">
            <a:avLst/>
          </a:prstGeom>
          <a:noFill/>
          <a:ln/>
        </p:spPr>
        <p:txBody>
          <a:bodyPr wrap="square" lIns="25400" tIns="25400" rIns="25400" bIns="25400" rtlCol="0" anchor="t">
            <a:normAutofit/>
          </a:bodyPr>
          <a:lstStyle/>
          <a:p>
            <a:pPr algn="l" indent="0" marL="0">
              <a:lnSpc>
                <a:spcPct val="70796"/>
              </a:lnSpc>
              <a:buNone/>
            </a:pPr>
            <a:r>
              <a:rPr lang="en-US" sz="4800" b="1" dirty="0">
                <a:solidFill>
                  <a:srgbClr val="EC3013"/>
                </a:solidFill>
                <a:latin typeface="Arial" pitchFamily="34" charset="0"/>
                <a:ea typeface="Arial" pitchFamily="34" charset="-122"/>
                <a:cs typeface="Arial" pitchFamily="34" charset="-120"/>
              </a:rPr>
              <a:t>04</a:t>
            </a:r>
            <a:endParaRPr lang="en-US" sz="4800" dirty="0"/>
          </a:p>
        </p:txBody>
      </p:sp>
      <p:sp>
        <p:nvSpPr>
          <p:cNvPr id="21" name="Text 19"/>
          <p:cNvSpPr/>
          <p:nvPr/>
        </p:nvSpPr>
        <p:spPr>
          <a:xfrm>
            <a:off x="13475018" y="5750362"/>
            <a:ext cx="3663982" cy="400764"/>
          </a:xfrm>
          <a:prstGeom prst="rect">
            <a:avLst/>
          </a:prstGeom>
          <a:noFill/>
          <a:ln/>
        </p:spPr>
        <p:txBody>
          <a:bodyPr wrap="square" lIns="25400" tIns="25400" rIns="25400" bIns="25400" rtlCol="0" anchor="t">
            <a:normAutofit/>
          </a:bodyPr>
          <a:lstStyle/>
          <a:p>
            <a:pPr algn="l" indent="0" marL="0">
              <a:lnSpc>
                <a:spcPct val="79333"/>
              </a:lnSpc>
              <a:buNone/>
            </a:pPr>
            <a:r>
              <a:rPr lang="en-US" sz="2550" b="1" spc="-38" kern="0" dirty="0">
                <a:solidFill>
                  <a:srgbClr val="201E1D"/>
                </a:solidFill>
                <a:latin typeface="Arial" pitchFamily="34" charset="0"/>
                <a:ea typeface="Arial" pitchFamily="34" charset="-122"/>
                <a:cs typeface="Arial" pitchFamily="34" charset="-120"/>
              </a:rPr>
              <a:t>타당성 · 확장성</a:t>
            </a:r>
            <a:endParaRPr lang="en-US" sz="2550" dirty="0"/>
          </a:p>
        </p:txBody>
      </p:sp>
      <p:sp>
        <p:nvSpPr>
          <p:cNvPr id="22" name="Text 20"/>
          <p:cNvSpPr/>
          <p:nvPr/>
        </p:nvSpPr>
        <p:spPr>
          <a:xfrm>
            <a:off x="13475018" y="6791444"/>
            <a:ext cx="3430819"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1F1E1C">
                    <a:alpha val="70000"/>
                  </a:srgbClr>
                </a:solidFill>
                <a:latin typeface="Arial" pitchFamily="34" charset="0"/>
                <a:ea typeface="Arial" pitchFamily="34" charset="-122"/>
                <a:cs typeface="Arial" pitchFamily="34" charset="-120"/>
              </a:rPr>
              <a:t>제로 인프라 비용 · 개발 성과 · 확장 로드맵 · 외부 검증</a:t>
            </a:r>
            <a:endParaRPr lang="en-US" sz="17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838200"/>
            <a:ext cx="10640163"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52" kern="0" dirty="0">
                <a:solidFill>
                  <a:srgbClr val="AE1800"/>
                </a:solidFill>
                <a:latin typeface="Arial" pitchFamily="34" charset="0"/>
                <a:ea typeface="Arial" pitchFamily="34" charset="-122"/>
                <a:cs typeface="Arial" pitchFamily="34" charset="-120"/>
              </a:rPr>
              <a:t>01 현황 · CURRENT LANDSCAPE</a:t>
            </a:r>
            <a:endParaRPr lang="en-US" sz="1800" dirty="0"/>
          </a:p>
        </p:txBody>
      </p:sp>
      <p:sp>
        <p:nvSpPr>
          <p:cNvPr id="3" name="Text 1"/>
          <p:cNvSpPr/>
          <p:nvPr/>
        </p:nvSpPr>
        <p:spPr>
          <a:xfrm>
            <a:off x="1143000" y="1344930"/>
            <a:ext cx="10640163" cy="563047"/>
          </a:xfrm>
          <a:prstGeom prst="rect">
            <a:avLst/>
          </a:prstGeom>
          <a:noFill/>
          <a:ln/>
        </p:spPr>
        <p:txBody>
          <a:bodyPr wrap="square" lIns="25400" tIns="25400" rIns="25400" bIns="25400" rtlCol="0" anchor="t">
            <a:normAutofit/>
          </a:bodyPr>
          <a:lstStyle/>
          <a:p>
            <a:pPr algn="l" indent="0" marL="0">
              <a:lnSpc>
                <a:spcPct val="74891"/>
              </a:lnSpc>
              <a:buNone/>
            </a:pPr>
            <a:r>
              <a:rPr lang="en-US" sz="3900" b="1" spc="-39" kern="0" dirty="0">
                <a:solidFill>
                  <a:srgbClr val="201E1D"/>
                </a:solidFill>
                <a:latin typeface="Arial" pitchFamily="34" charset="0"/>
                <a:ea typeface="Arial" pitchFamily="34" charset="-122"/>
                <a:cs typeface="Arial" pitchFamily="34" charset="-120"/>
              </a:rPr>
              <a:t>아침마다 17개 사이트, 손으로 취합하는 현실</a:t>
            </a:r>
            <a:endParaRPr lang="en-US" sz="3900" dirty="0"/>
          </a:p>
        </p:txBody>
      </p:sp>
      <p:sp>
        <p:nvSpPr>
          <p:cNvPr id="4" name="Text 2"/>
          <p:cNvSpPr/>
          <p:nvPr/>
        </p:nvSpPr>
        <p:spPr>
          <a:xfrm>
            <a:off x="16869490" y="1486019"/>
            <a:ext cx="351711"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AE1800"/>
                </a:solidFill>
                <a:latin typeface="Arial" pitchFamily="34" charset="0"/>
                <a:ea typeface="Arial" pitchFamily="34" charset="-122"/>
                <a:cs typeface="Arial" pitchFamily="34" charset="-120"/>
              </a:rPr>
              <a:t>03</a:t>
            </a:r>
            <a:endParaRPr lang="en-US" sz="1950" dirty="0"/>
          </a:p>
        </p:txBody>
      </p:sp>
      <p:sp>
        <p:nvSpPr>
          <p:cNvPr id="5" name="Shape 3"/>
          <p:cNvSpPr/>
          <p:nvPr/>
        </p:nvSpPr>
        <p:spPr>
          <a:xfrm>
            <a:off x="1143000" y="2117527"/>
            <a:ext cx="16002000" cy="19050"/>
          </a:xfrm>
          <a:prstGeom prst="rect">
            <a:avLst/>
          </a:prstGeom>
          <a:solidFill>
            <a:srgbClr val="201E1E">
              <a:alpha val="40000"/>
            </a:srgbClr>
          </a:solidFill>
          <a:ln/>
        </p:spPr>
      </p:sp>
      <p:sp>
        <p:nvSpPr>
          <p:cNvPr id="6" name="Text 4"/>
          <p:cNvSpPr/>
          <p:nvPr/>
        </p:nvSpPr>
        <p:spPr>
          <a:xfrm>
            <a:off x="1143000" y="3529727"/>
            <a:ext cx="7054763"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spc="165" kern="0" dirty="0">
                <a:solidFill>
                  <a:srgbClr val="201E1C">
                    <a:alpha val="60000"/>
                  </a:srgbClr>
                </a:solidFill>
                <a:latin typeface="Arial" pitchFamily="34" charset="0"/>
                <a:ea typeface="Arial" pitchFamily="34" charset="-122"/>
                <a:cs typeface="Arial" pitchFamily="34" charset="-120"/>
              </a:rPr>
              <a:t>수작업 취합의 비용</a:t>
            </a:r>
            <a:endParaRPr lang="en-US" sz="1650" dirty="0"/>
          </a:p>
        </p:txBody>
      </p:sp>
      <p:sp>
        <p:nvSpPr>
          <p:cNvPr id="7" name="Shape 5"/>
          <p:cNvSpPr/>
          <p:nvPr/>
        </p:nvSpPr>
        <p:spPr>
          <a:xfrm>
            <a:off x="1143000" y="4121230"/>
            <a:ext cx="6413421" cy="3590449"/>
          </a:xfrm>
          <a:prstGeom prst="rect">
            <a:avLst/>
          </a:prstGeom>
          <a:solidFill>
            <a:srgbClr val="201E1E">
              <a:alpha val="40000"/>
            </a:srgbClr>
          </a:solidFill>
          <a:ln w="15240">
            <a:solidFill>
              <a:srgbClr val="201E1E">
                <a:alpha val="40000"/>
              </a:srgbClr>
            </a:solidFill>
            <a:prstDash val="solid"/>
          </a:ln>
        </p:spPr>
      </p:sp>
      <p:sp>
        <p:nvSpPr>
          <p:cNvPr id="8" name="Shape 6"/>
          <p:cNvSpPr/>
          <p:nvPr/>
        </p:nvSpPr>
        <p:spPr>
          <a:xfrm>
            <a:off x="1158240" y="4136469"/>
            <a:ext cx="3181945" cy="1600676"/>
          </a:xfrm>
          <a:prstGeom prst="rect">
            <a:avLst/>
          </a:prstGeom>
          <a:solidFill>
            <a:srgbClr val="F3F2F2"/>
          </a:solidFill>
          <a:ln/>
        </p:spPr>
      </p:sp>
      <p:sp>
        <p:nvSpPr>
          <p:cNvPr id="9" name="Text 7"/>
          <p:cNvSpPr/>
          <p:nvPr/>
        </p:nvSpPr>
        <p:spPr>
          <a:xfrm>
            <a:off x="1424940" y="4384119"/>
            <a:ext cx="2913400" cy="689610"/>
          </a:xfrm>
          <a:prstGeom prst="rect">
            <a:avLst/>
          </a:prstGeom>
          <a:noFill/>
          <a:ln/>
        </p:spPr>
        <p:txBody>
          <a:bodyPr wrap="square" lIns="25400" tIns="25400" rIns="25400" bIns="25400" rtlCol="0" anchor="t">
            <a:normAutofit/>
          </a:bodyPr>
          <a:lstStyle/>
          <a:p>
            <a:pPr algn="l" indent="0" marL="0">
              <a:lnSpc>
                <a:spcPct val="63806"/>
              </a:lnSpc>
              <a:buNone/>
            </a:pPr>
            <a:r>
              <a:rPr lang="en-US" sz="5700" b="1" dirty="0">
                <a:solidFill>
                  <a:srgbClr val="EC3013"/>
                </a:solidFill>
                <a:latin typeface="Arial" pitchFamily="34" charset="0"/>
                <a:ea typeface="Arial" pitchFamily="34" charset="-122"/>
                <a:cs typeface="Arial" pitchFamily="34" charset="-120"/>
              </a:rPr>
              <a:t>17</a:t>
            </a:r>
            <a:endParaRPr lang="en-US" sz="5700" dirty="0"/>
          </a:p>
        </p:txBody>
      </p:sp>
      <p:sp>
        <p:nvSpPr>
          <p:cNvPr id="10" name="Text 8"/>
          <p:cNvSpPr/>
          <p:nvPr/>
        </p:nvSpPr>
        <p:spPr>
          <a:xfrm>
            <a:off x="1424940" y="5149929"/>
            <a:ext cx="2913400" cy="377666"/>
          </a:xfrm>
          <a:prstGeom prst="rect">
            <a:avLst/>
          </a:prstGeom>
          <a:noFill/>
          <a:ln/>
        </p:spPr>
        <p:txBody>
          <a:bodyPr wrap="square" lIns="25400" tIns="25400" rIns="25400" bIns="25400" rtlCol="0" anchor="t">
            <a:normAutofit/>
          </a:bodyPr>
          <a:lstStyle/>
          <a:p>
            <a:pPr algn="l" indent="0" marL="0">
              <a:lnSpc>
                <a:spcPct val="135038"/>
              </a:lnSpc>
              <a:buNone/>
            </a:pPr>
            <a:r>
              <a:rPr lang="en-US" sz="1725" dirty="0">
                <a:solidFill>
                  <a:srgbClr val="201E1D">
                    <a:alpha val="72000"/>
                  </a:srgbClr>
                </a:solidFill>
                <a:latin typeface="Arial" pitchFamily="34" charset="0"/>
                <a:ea typeface="Arial" pitchFamily="34" charset="-122"/>
                <a:cs typeface="Arial" pitchFamily="34" charset="-120"/>
              </a:rPr>
              <a:t>개 터미널을 개별 접속</a:t>
            </a:r>
            <a:endParaRPr lang="en-US" sz="1725" dirty="0"/>
          </a:p>
        </p:txBody>
      </p:sp>
      <p:sp>
        <p:nvSpPr>
          <p:cNvPr id="11" name="Shape 9"/>
          <p:cNvSpPr/>
          <p:nvPr/>
        </p:nvSpPr>
        <p:spPr>
          <a:xfrm>
            <a:off x="4359235" y="4136469"/>
            <a:ext cx="3181945" cy="1600676"/>
          </a:xfrm>
          <a:prstGeom prst="rect">
            <a:avLst/>
          </a:prstGeom>
          <a:solidFill>
            <a:srgbClr val="F3F2F2"/>
          </a:solidFill>
          <a:ln/>
        </p:spPr>
      </p:sp>
      <p:sp>
        <p:nvSpPr>
          <p:cNvPr id="12" name="Text 10"/>
          <p:cNvSpPr/>
          <p:nvPr/>
        </p:nvSpPr>
        <p:spPr>
          <a:xfrm>
            <a:off x="4625935" y="4384119"/>
            <a:ext cx="2913400" cy="689610"/>
          </a:xfrm>
          <a:prstGeom prst="rect">
            <a:avLst/>
          </a:prstGeom>
          <a:noFill/>
          <a:ln/>
        </p:spPr>
        <p:txBody>
          <a:bodyPr wrap="square" lIns="25400" tIns="25400" rIns="25400" bIns="25400" rtlCol="0" anchor="t">
            <a:normAutofit/>
          </a:bodyPr>
          <a:lstStyle/>
          <a:p>
            <a:pPr algn="l" indent="0" marL="0">
              <a:lnSpc>
                <a:spcPct val="63806"/>
              </a:lnSpc>
              <a:buNone/>
            </a:pPr>
            <a:r>
              <a:rPr lang="en-US" sz="5700" b="1" dirty="0">
                <a:solidFill>
                  <a:srgbClr val="EC3013"/>
                </a:solidFill>
                <a:latin typeface="Arial" pitchFamily="34" charset="0"/>
                <a:ea typeface="Arial" pitchFamily="34" charset="-122"/>
                <a:cs typeface="Arial" pitchFamily="34" charset="-120"/>
              </a:rPr>
              <a:t>30~60</a:t>
            </a:r>
            <a:pPr algn="l" indent="0" marL="0">
              <a:lnSpc>
                <a:spcPct val="63806"/>
              </a:lnSpc>
              <a:buNone/>
            </a:pPr>
            <a:r>
              <a:rPr lang="en-US" sz="2550" b="1" dirty="0">
                <a:solidFill>
                  <a:srgbClr val="EC3013"/>
                </a:solidFill>
                <a:latin typeface="Arial" pitchFamily="34" charset="0"/>
                <a:ea typeface="Arial" pitchFamily="34" charset="-122"/>
                <a:cs typeface="Arial" pitchFamily="34" charset="-120"/>
              </a:rPr>
              <a:t>분</a:t>
            </a:r>
            <a:endParaRPr lang="en-US" sz="5700" dirty="0"/>
          </a:p>
        </p:txBody>
      </p:sp>
      <p:sp>
        <p:nvSpPr>
          <p:cNvPr id="13" name="Text 11"/>
          <p:cNvSpPr/>
          <p:nvPr/>
        </p:nvSpPr>
        <p:spPr>
          <a:xfrm>
            <a:off x="4625935" y="5149929"/>
            <a:ext cx="2913400" cy="377666"/>
          </a:xfrm>
          <a:prstGeom prst="rect">
            <a:avLst/>
          </a:prstGeom>
          <a:noFill/>
          <a:ln/>
        </p:spPr>
        <p:txBody>
          <a:bodyPr wrap="square" lIns="25400" tIns="25400" rIns="25400" bIns="25400" rtlCol="0" anchor="t">
            <a:normAutofit/>
          </a:bodyPr>
          <a:lstStyle/>
          <a:p>
            <a:pPr algn="l" indent="0" marL="0">
              <a:lnSpc>
                <a:spcPct val="135038"/>
              </a:lnSpc>
              <a:buNone/>
            </a:pPr>
            <a:r>
              <a:rPr lang="en-US" sz="1725" dirty="0">
                <a:solidFill>
                  <a:srgbClr val="201E1D">
                    <a:alpha val="72000"/>
                  </a:srgbClr>
                </a:solidFill>
                <a:latin typeface="Arial" pitchFamily="34" charset="0"/>
                <a:ea typeface="Arial" pitchFamily="34" charset="-122"/>
                <a:cs typeface="Arial" pitchFamily="34" charset="-120"/>
              </a:rPr>
              <a:t>일일 취합 소요 · 1인</a:t>
            </a:r>
            <a:endParaRPr lang="en-US" sz="1725" dirty="0"/>
          </a:p>
        </p:txBody>
      </p:sp>
      <p:sp>
        <p:nvSpPr>
          <p:cNvPr id="14" name="Shape 12"/>
          <p:cNvSpPr/>
          <p:nvPr/>
        </p:nvSpPr>
        <p:spPr>
          <a:xfrm>
            <a:off x="1158240" y="5756196"/>
            <a:ext cx="3181945" cy="1940242"/>
          </a:xfrm>
          <a:prstGeom prst="rect">
            <a:avLst/>
          </a:prstGeom>
          <a:solidFill>
            <a:srgbClr val="F3F2F2"/>
          </a:solidFill>
          <a:ln/>
        </p:spPr>
      </p:sp>
      <p:sp>
        <p:nvSpPr>
          <p:cNvPr id="15" name="Text 13"/>
          <p:cNvSpPr/>
          <p:nvPr/>
        </p:nvSpPr>
        <p:spPr>
          <a:xfrm>
            <a:off x="1424940" y="6003846"/>
            <a:ext cx="2913400" cy="689610"/>
          </a:xfrm>
          <a:prstGeom prst="rect">
            <a:avLst/>
          </a:prstGeom>
          <a:noFill/>
          <a:ln/>
        </p:spPr>
        <p:txBody>
          <a:bodyPr wrap="square" lIns="25400" tIns="25400" rIns="25400" bIns="25400" rtlCol="0" anchor="t">
            <a:normAutofit/>
          </a:bodyPr>
          <a:lstStyle/>
          <a:p>
            <a:pPr algn="l" indent="0" marL="0">
              <a:lnSpc>
                <a:spcPct val="63806"/>
              </a:lnSpc>
              <a:buNone/>
            </a:pPr>
            <a:r>
              <a:rPr lang="en-US" sz="5700" b="1" dirty="0">
                <a:solidFill>
                  <a:srgbClr val="EC3013"/>
                </a:solidFill>
                <a:latin typeface="Arial" pitchFamily="34" charset="0"/>
                <a:ea typeface="Arial" pitchFamily="34" charset="-122"/>
                <a:cs typeface="Arial" pitchFamily="34" charset="-120"/>
              </a:rPr>
              <a:t>224</a:t>
            </a:r>
            <a:pPr algn="l" indent="0" marL="0">
              <a:lnSpc>
                <a:spcPct val="63806"/>
              </a:lnSpc>
              <a:buNone/>
            </a:pPr>
            <a:r>
              <a:rPr lang="en-US" sz="2550" b="1" dirty="0">
                <a:solidFill>
                  <a:srgbClr val="EC3013"/>
                </a:solidFill>
                <a:latin typeface="Arial" pitchFamily="34" charset="0"/>
                <a:ea typeface="Arial" pitchFamily="34" charset="-122"/>
                <a:cs typeface="Arial" pitchFamily="34" charset="-120"/>
              </a:rPr>
              <a:t>건</a:t>
            </a:r>
            <a:endParaRPr lang="en-US" sz="5700" dirty="0"/>
          </a:p>
        </p:txBody>
      </p:sp>
      <p:sp>
        <p:nvSpPr>
          <p:cNvPr id="16" name="Text 14"/>
          <p:cNvSpPr/>
          <p:nvPr/>
        </p:nvSpPr>
        <p:spPr>
          <a:xfrm>
            <a:off x="1424940" y="6769656"/>
            <a:ext cx="2913400" cy="377666"/>
          </a:xfrm>
          <a:prstGeom prst="rect">
            <a:avLst/>
          </a:prstGeom>
          <a:noFill/>
          <a:ln/>
        </p:spPr>
        <p:txBody>
          <a:bodyPr wrap="square" lIns="25400" tIns="25400" rIns="25400" bIns="25400" rtlCol="0" anchor="t">
            <a:normAutofit/>
          </a:bodyPr>
          <a:lstStyle/>
          <a:p>
            <a:pPr algn="l" indent="0" marL="0">
              <a:lnSpc>
                <a:spcPct val="135038"/>
              </a:lnSpc>
              <a:buNone/>
            </a:pPr>
            <a:r>
              <a:rPr lang="en-US" sz="1725" dirty="0">
                <a:solidFill>
                  <a:srgbClr val="201E1D">
                    <a:alpha val="72000"/>
                  </a:srgbClr>
                </a:solidFill>
                <a:latin typeface="Arial" pitchFamily="34" charset="0"/>
                <a:ea typeface="Arial" pitchFamily="34" charset="-122"/>
                <a:cs typeface="Arial" pitchFamily="34" charset="-120"/>
              </a:rPr>
              <a:t>일일 정규화 물량</a:t>
            </a:r>
            <a:endParaRPr lang="en-US" sz="1725" dirty="0"/>
          </a:p>
        </p:txBody>
      </p:sp>
      <p:sp>
        <p:nvSpPr>
          <p:cNvPr id="17" name="Shape 15"/>
          <p:cNvSpPr/>
          <p:nvPr/>
        </p:nvSpPr>
        <p:spPr>
          <a:xfrm>
            <a:off x="4359235" y="5756196"/>
            <a:ext cx="3181945" cy="1940242"/>
          </a:xfrm>
          <a:prstGeom prst="rect">
            <a:avLst/>
          </a:prstGeom>
          <a:solidFill>
            <a:srgbClr val="F3F2F2"/>
          </a:solidFill>
          <a:ln/>
        </p:spPr>
      </p:sp>
      <p:sp>
        <p:nvSpPr>
          <p:cNvPr id="18" name="Text 16"/>
          <p:cNvSpPr/>
          <p:nvPr/>
        </p:nvSpPr>
        <p:spPr>
          <a:xfrm>
            <a:off x="4625935" y="6003846"/>
            <a:ext cx="2913400" cy="689610"/>
          </a:xfrm>
          <a:prstGeom prst="rect">
            <a:avLst/>
          </a:prstGeom>
          <a:noFill/>
          <a:ln/>
        </p:spPr>
        <p:txBody>
          <a:bodyPr wrap="square" lIns="25400" tIns="25400" rIns="25400" bIns="25400" rtlCol="0" anchor="t">
            <a:normAutofit/>
          </a:bodyPr>
          <a:lstStyle/>
          <a:p>
            <a:pPr algn="l" indent="0" marL="0">
              <a:lnSpc>
                <a:spcPct val="63806"/>
              </a:lnSpc>
              <a:buNone/>
            </a:pPr>
            <a:r>
              <a:rPr lang="en-US" sz="5700" b="1" dirty="0">
                <a:solidFill>
                  <a:srgbClr val="EC3013"/>
                </a:solidFill>
                <a:latin typeface="Arial" pitchFamily="34" charset="0"/>
                <a:ea typeface="Arial" pitchFamily="34" charset="-122"/>
                <a:cs typeface="Arial" pitchFamily="34" charset="-120"/>
              </a:rPr>
              <a:t>0</a:t>
            </a:r>
            <a:endParaRPr lang="en-US" sz="5700" dirty="0"/>
          </a:p>
        </p:txBody>
      </p:sp>
      <p:sp>
        <p:nvSpPr>
          <p:cNvPr id="19" name="Text 17"/>
          <p:cNvSpPr/>
          <p:nvPr/>
        </p:nvSpPr>
        <p:spPr>
          <a:xfrm>
            <a:off x="4625935" y="6769656"/>
            <a:ext cx="2728002" cy="717233"/>
          </a:xfrm>
          <a:prstGeom prst="rect">
            <a:avLst/>
          </a:prstGeom>
          <a:noFill/>
          <a:ln/>
        </p:spPr>
        <p:txBody>
          <a:bodyPr wrap="square" lIns="25400" tIns="25400" rIns="25400" bIns="25400" rtlCol="0" anchor="t">
            <a:normAutofit/>
          </a:bodyPr>
          <a:lstStyle/>
          <a:p>
            <a:pPr algn="l" indent="0" marL="0">
              <a:lnSpc>
                <a:spcPct val="135038"/>
              </a:lnSpc>
              <a:buNone/>
            </a:pPr>
            <a:r>
              <a:rPr lang="en-US" sz="1725" dirty="0">
                <a:solidFill>
                  <a:srgbClr val="201E1D">
                    <a:alpha val="72000"/>
                  </a:srgbClr>
                </a:solidFill>
                <a:latin typeface="Arial" pitchFamily="34" charset="0"/>
                <a:ea typeface="Arial" pitchFamily="34" charset="-122"/>
                <a:cs typeface="Arial" pitchFamily="34" charset="-120"/>
              </a:rPr>
              <a:t>팀 공유·이력 (개인 엑셀 정체)</a:t>
            </a:r>
            <a:endParaRPr lang="en-US" sz="1725" dirty="0"/>
          </a:p>
        </p:txBody>
      </p:sp>
      <p:sp>
        <p:nvSpPr>
          <p:cNvPr id="20" name="Text 18"/>
          <p:cNvSpPr/>
          <p:nvPr/>
        </p:nvSpPr>
        <p:spPr>
          <a:xfrm>
            <a:off x="8166021" y="3291364"/>
            <a:ext cx="9876747"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spc="165" kern="0" dirty="0">
                <a:solidFill>
                  <a:srgbClr val="201E1C">
                    <a:alpha val="60000"/>
                  </a:srgbClr>
                </a:solidFill>
                <a:latin typeface="Arial" pitchFamily="34" charset="0"/>
                <a:ea typeface="Arial" pitchFamily="34" charset="-122"/>
                <a:cs typeface="Arial" pitchFamily="34" charset="-120"/>
              </a:rPr>
              <a:t>여섯 갈래로 흩어진 데이터 — 소스·포맷·주기 제각각</a:t>
            </a:r>
            <a:endParaRPr lang="en-US" sz="1650" dirty="0"/>
          </a:p>
        </p:txBody>
      </p:sp>
      <p:sp>
        <p:nvSpPr>
          <p:cNvPr id="21" name="Shape 19"/>
          <p:cNvSpPr/>
          <p:nvPr/>
        </p:nvSpPr>
        <p:spPr>
          <a:xfrm>
            <a:off x="8166021" y="3825716"/>
            <a:ext cx="8978861" cy="15240"/>
          </a:xfrm>
          <a:prstGeom prst="rect">
            <a:avLst/>
          </a:prstGeom>
          <a:solidFill>
            <a:srgbClr val="201E1E">
              <a:alpha val="40000"/>
            </a:srgbClr>
          </a:solidFill>
          <a:ln/>
        </p:spPr>
      </p:sp>
      <p:sp>
        <p:nvSpPr>
          <p:cNvPr id="22" name="Shape 20"/>
          <p:cNvSpPr/>
          <p:nvPr/>
        </p:nvSpPr>
        <p:spPr>
          <a:xfrm>
            <a:off x="8166021" y="4510564"/>
            <a:ext cx="8978861" cy="15240"/>
          </a:xfrm>
          <a:prstGeom prst="rect">
            <a:avLst/>
          </a:prstGeom>
          <a:solidFill>
            <a:srgbClr val="201E1E">
              <a:alpha val="40000"/>
            </a:srgbClr>
          </a:solidFill>
          <a:ln/>
        </p:spPr>
      </p:sp>
      <p:sp>
        <p:nvSpPr>
          <p:cNvPr id="23" name="Text 21"/>
          <p:cNvSpPr/>
          <p:nvPr/>
        </p:nvSpPr>
        <p:spPr>
          <a:xfrm>
            <a:off x="8166021" y="3983831"/>
            <a:ext cx="3481673"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01E1D"/>
                </a:solidFill>
                <a:latin typeface="Arial" pitchFamily="34" charset="0"/>
                <a:ea typeface="Arial" pitchFamily="34" charset="-122"/>
                <a:cs typeface="Arial" pitchFamily="34" charset="-120"/>
              </a:rPr>
              <a:t>선석배정</a:t>
            </a:r>
            <a:endParaRPr lang="en-US" sz="1950" dirty="0"/>
          </a:p>
        </p:txBody>
      </p:sp>
      <p:sp>
        <p:nvSpPr>
          <p:cNvPr id="24" name="Text 22"/>
          <p:cNvSpPr/>
          <p:nvPr/>
        </p:nvSpPr>
        <p:spPr>
          <a:xfrm>
            <a:off x="11559778" y="4029551"/>
            <a:ext cx="1874687"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AE1800"/>
                </a:solidFill>
                <a:latin typeface="Arial" pitchFamily="34" charset="0"/>
                <a:ea typeface="Arial" pitchFamily="34" charset="-122"/>
                <a:cs typeface="Arial" pitchFamily="34" charset="-120"/>
              </a:rPr>
              <a:t>매일 06:00</a:t>
            </a:r>
            <a:endParaRPr lang="en-US" sz="1650" dirty="0"/>
          </a:p>
        </p:txBody>
      </p:sp>
      <p:sp>
        <p:nvSpPr>
          <p:cNvPr id="25" name="Text 23"/>
          <p:cNvSpPr/>
          <p:nvPr/>
        </p:nvSpPr>
        <p:spPr>
          <a:xfrm>
            <a:off x="13492639" y="4029551"/>
            <a:ext cx="4017336"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터미널 9곳 공표 · 이질 스키마 엑셀</a:t>
            </a:r>
            <a:endParaRPr lang="en-US" sz="1650" dirty="0"/>
          </a:p>
        </p:txBody>
      </p:sp>
      <p:sp>
        <p:nvSpPr>
          <p:cNvPr id="26" name="Shape 24"/>
          <p:cNvSpPr/>
          <p:nvPr/>
        </p:nvSpPr>
        <p:spPr>
          <a:xfrm>
            <a:off x="8166021" y="5195411"/>
            <a:ext cx="8978861" cy="15240"/>
          </a:xfrm>
          <a:prstGeom prst="rect">
            <a:avLst/>
          </a:prstGeom>
          <a:solidFill>
            <a:srgbClr val="201E1E">
              <a:alpha val="40000"/>
            </a:srgbClr>
          </a:solidFill>
          <a:ln/>
        </p:spPr>
      </p:sp>
      <p:sp>
        <p:nvSpPr>
          <p:cNvPr id="27" name="Text 25"/>
          <p:cNvSpPr/>
          <p:nvPr/>
        </p:nvSpPr>
        <p:spPr>
          <a:xfrm>
            <a:off x="8166021" y="4668679"/>
            <a:ext cx="3481673"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01E1D"/>
                </a:solidFill>
                <a:latin typeface="Arial" pitchFamily="34" charset="0"/>
                <a:ea typeface="Arial" pitchFamily="34" charset="-122"/>
                <a:cs typeface="Arial" pitchFamily="34" charset="-120"/>
              </a:rPr>
              <a:t>항만 혼잡도</a:t>
            </a:r>
            <a:endParaRPr lang="en-US" sz="1950" dirty="0"/>
          </a:p>
        </p:txBody>
      </p:sp>
      <p:sp>
        <p:nvSpPr>
          <p:cNvPr id="28" name="Text 26"/>
          <p:cNvSpPr/>
          <p:nvPr/>
        </p:nvSpPr>
        <p:spPr>
          <a:xfrm>
            <a:off x="11559778" y="4714399"/>
            <a:ext cx="1874687"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AE1800"/>
                </a:solidFill>
                <a:latin typeface="Arial" pitchFamily="34" charset="0"/>
                <a:ea typeface="Arial" pitchFamily="34" charset="-122"/>
                <a:cs typeface="Arial" pitchFamily="34" charset="-120"/>
              </a:rPr>
              <a:t>주 1회</a:t>
            </a:r>
            <a:endParaRPr lang="en-US" sz="1650" dirty="0"/>
          </a:p>
        </p:txBody>
      </p:sp>
      <p:sp>
        <p:nvSpPr>
          <p:cNvPr id="29" name="Text 27"/>
          <p:cNvSpPr/>
          <p:nvPr/>
        </p:nvSpPr>
        <p:spPr>
          <a:xfrm>
            <a:off x="13492639" y="4714399"/>
            <a:ext cx="4017336"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IMF PortWatch 위성 AIS · JSON</a:t>
            </a:r>
            <a:endParaRPr lang="en-US" sz="1650" dirty="0"/>
          </a:p>
        </p:txBody>
      </p:sp>
      <p:sp>
        <p:nvSpPr>
          <p:cNvPr id="30" name="Shape 28"/>
          <p:cNvSpPr/>
          <p:nvPr/>
        </p:nvSpPr>
        <p:spPr>
          <a:xfrm>
            <a:off x="8166021" y="5880259"/>
            <a:ext cx="8978861" cy="15240"/>
          </a:xfrm>
          <a:prstGeom prst="rect">
            <a:avLst/>
          </a:prstGeom>
          <a:solidFill>
            <a:srgbClr val="201E1E">
              <a:alpha val="40000"/>
            </a:srgbClr>
          </a:solidFill>
          <a:ln/>
        </p:spPr>
      </p:sp>
      <p:sp>
        <p:nvSpPr>
          <p:cNvPr id="31" name="Text 29"/>
          <p:cNvSpPr/>
          <p:nvPr/>
        </p:nvSpPr>
        <p:spPr>
          <a:xfrm>
            <a:off x="8166021" y="5353526"/>
            <a:ext cx="3481673"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01E1D"/>
                </a:solidFill>
                <a:latin typeface="Arial" pitchFamily="34" charset="0"/>
                <a:ea typeface="Arial" pitchFamily="34" charset="-122"/>
                <a:cs typeface="Arial" pitchFamily="34" charset="-120"/>
              </a:rPr>
              <a:t>선박 위치</a:t>
            </a:r>
            <a:endParaRPr lang="en-US" sz="1950" dirty="0"/>
          </a:p>
        </p:txBody>
      </p:sp>
      <p:sp>
        <p:nvSpPr>
          <p:cNvPr id="32" name="Text 30"/>
          <p:cNvSpPr/>
          <p:nvPr/>
        </p:nvSpPr>
        <p:spPr>
          <a:xfrm>
            <a:off x="11559778" y="5399247"/>
            <a:ext cx="1874687"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AE1800"/>
                </a:solidFill>
                <a:latin typeface="Arial" pitchFamily="34" charset="0"/>
                <a:ea typeface="Arial" pitchFamily="34" charset="-122"/>
                <a:cs typeface="Arial" pitchFamily="34" charset="-120"/>
              </a:rPr>
              <a:t>실시간</a:t>
            </a:r>
            <a:endParaRPr lang="en-US" sz="1650" dirty="0"/>
          </a:p>
        </p:txBody>
      </p:sp>
      <p:sp>
        <p:nvSpPr>
          <p:cNvPr id="33" name="Text 31"/>
          <p:cNvSpPr/>
          <p:nvPr/>
        </p:nvSpPr>
        <p:spPr>
          <a:xfrm>
            <a:off x="13492639" y="5399247"/>
            <a:ext cx="4017336"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VesselFinder AIS · 4개 항만 전환</a:t>
            </a:r>
            <a:endParaRPr lang="en-US" sz="1650" dirty="0"/>
          </a:p>
        </p:txBody>
      </p:sp>
      <p:sp>
        <p:nvSpPr>
          <p:cNvPr id="34" name="Shape 32"/>
          <p:cNvSpPr/>
          <p:nvPr/>
        </p:nvSpPr>
        <p:spPr>
          <a:xfrm>
            <a:off x="8166021" y="6565106"/>
            <a:ext cx="8978861" cy="15240"/>
          </a:xfrm>
          <a:prstGeom prst="rect">
            <a:avLst/>
          </a:prstGeom>
          <a:solidFill>
            <a:srgbClr val="201E1E">
              <a:alpha val="40000"/>
            </a:srgbClr>
          </a:solidFill>
          <a:ln/>
        </p:spPr>
      </p:sp>
      <p:sp>
        <p:nvSpPr>
          <p:cNvPr id="35" name="Text 33"/>
          <p:cNvSpPr/>
          <p:nvPr/>
        </p:nvSpPr>
        <p:spPr>
          <a:xfrm>
            <a:off x="8166021" y="6038374"/>
            <a:ext cx="3481673"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01E1D"/>
                </a:solidFill>
                <a:latin typeface="Arial" pitchFamily="34" charset="0"/>
                <a:ea typeface="Arial" pitchFamily="34" charset="-122"/>
                <a:cs typeface="Arial" pitchFamily="34" charset="-120"/>
              </a:rPr>
              <a:t>운임지수</a:t>
            </a:r>
            <a:endParaRPr lang="en-US" sz="1950" dirty="0"/>
          </a:p>
        </p:txBody>
      </p:sp>
      <p:sp>
        <p:nvSpPr>
          <p:cNvPr id="36" name="Text 34"/>
          <p:cNvSpPr/>
          <p:nvPr/>
        </p:nvSpPr>
        <p:spPr>
          <a:xfrm>
            <a:off x="11559778" y="6084094"/>
            <a:ext cx="1874687"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AE1800"/>
                </a:solidFill>
                <a:latin typeface="Arial" pitchFamily="34" charset="0"/>
                <a:ea typeface="Arial" pitchFamily="34" charset="-122"/>
                <a:cs typeface="Arial" pitchFamily="34" charset="-120"/>
              </a:rPr>
              <a:t>주간</a:t>
            </a:r>
            <a:endParaRPr lang="en-US" sz="1650" dirty="0"/>
          </a:p>
        </p:txBody>
      </p:sp>
      <p:sp>
        <p:nvSpPr>
          <p:cNvPr id="37" name="Text 35"/>
          <p:cNvSpPr/>
          <p:nvPr/>
        </p:nvSpPr>
        <p:spPr>
          <a:xfrm>
            <a:off x="13492639" y="6084094"/>
            <a:ext cx="4017336"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상하이거래소 SCFI/CCFI · 종합·항로별</a:t>
            </a:r>
            <a:endParaRPr lang="en-US" sz="1650" dirty="0"/>
          </a:p>
        </p:txBody>
      </p:sp>
      <p:sp>
        <p:nvSpPr>
          <p:cNvPr id="38" name="Shape 36"/>
          <p:cNvSpPr/>
          <p:nvPr/>
        </p:nvSpPr>
        <p:spPr>
          <a:xfrm>
            <a:off x="8166021" y="7249954"/>
            <a:ext cx="8978861" cy="15240"/>
          </a:xfrm>
          <a:prstGeom prst="rect">
            <a:avLst/>
          </a:prstGeom>
          <a:solidFill>
            <a:srgbClr val="201E1E">
              <a:alpha val="40000"/>
            </a:srgbClr>
          </a:solidFill>
          <a:ln/>
        </p:spPr>
      </p:sp>
      <p:sp>
        <p:nvSpPr>
          <p:cNvPr id="39" name="Text 37"/>
          <p:cNvSpPr/>
          <p:nvPr/>
        </p:nvSpPr>
        <p:spPr>
          <a:xfrm>
            <a:off x="8166021" y="6723222"/>
            <a:ext cx="3481673"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01E1D"/>
                </a:solidFill>
                <a:latin typeface="Arial" pitchFamily="34" charset="0"/>
                <a:ea typeface="Arial" pitchFamily="34" charset="-122"/>
                <a:cs typeface="Arial" pitchFamily="34" charset="-120"/>
              </a:rPr>
              <a:t>항만 기상</a:t>
            </a:r>
            <a:endParaRPr lang="en-US" sz="1950" dirty="0"/>
          </a:p>
        </p:txBody>
      </p:sp>
      <p:sp>
        <p:nvSpPr>
          <p:cNvPr id="40" name="Text 38"/>
          <p:cNvSpPr/>
          <p:nvPr/>
        </p:nvSpPr>
        <p:spPr>
          <a:xfrm>
            <a:off x="11559778" y="6768941"/>
            <a:ext cx="1874687"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AE1800"/>
                </a:solidFill>
                <a:latin typeface="Arial" pitchFamily="34" charset="0"/>
                <a:ea typeface="Arial" pitchFamily="34" charset="-122"/>
                <a:cs typeface="Arial" pitchFamily="34" charset="-120"/>
              </a:rPr>
              <a:t>30분</a:t>
            </a:r>
            <a:endParaRPr lang="en-US" sz="1650" dirty="0"/>
          </a:p>
        </p:txBody>
      </p:sp>
      <p:sp>
        <p:nvSpPr>
          <p:cNvPr id="41" name="Text 39"/>
          <p:cNvSpPr/>
          <p:nvPr/>
        </p:nvSpPr>
        <p:spPr>
          <a:xfrm>
            <a:off x="13492639" y="6768941"/>
            <a:ext cx="4017336"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Open-Meteo Marine · 무인증 fetch</a:t>
            </a:r>
            <a:endParaRPr lang="en-US" sz="1650" dirty="0"/>
          </a:p>
        </p:txBody>
      </p:sp>
      <p:sp>
        <p:nvSpPr>
          <p:cNvPr id="42" name="Shape 40"/>
          <p:cNvSpPr/>
          <p:nvPr/>
        </p:nvSpPr>
        <p:spPr>
          <a:xfrm>
            <a:off x="8166021" y="7934801"/>
            <a:ext cx="8978861" cy="15240"/>
          </a:xfrm>
          <a:prstGeom prst="rect">
            <a:avLst/>
          </a:prstGeom>
          <a:solidFill>
            <a:srgbClr val="201E1E">
              <a:alpha val="40000"/>
            </a:srgbClr>
          </a:solidFill>
          <a:ln/>
        </p:spPr>
      </p:sp>
      <p:sp>
        <p:nvSpPr>
          <p:cNvPr id="43" name="Text 41"/>
          <p:cNvSpPr/>
          <p:nvPr/>
        </p:nvSpPr>
        <p:spPr>
          <a:xfrm>
            <a:off x="8166021" y="7408069"/>
            <a:ext cx="3481673"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01E1D"/>
                </a:solidFill>
                <a:latin typeface="Arial" pitchFamily="34" charset="0"/>
                <a:ea typeface="Arial" pitchFamily="34" charset="-122"/>
                <a:cs typeface="Arial" pitchFamily="34" charset="-120"/>
              </a:rPr>
              <a:t>화물 통관</a:t>
            </a:r>
            <a:endParaRPr lang="en-US" sz="1950" dirty="0"/>
          </a:p>
        </p:txBody>
      </p:sp>
      <p:sp>
        <p:nvSpPr>
          <p:cNvPr id="44" name="Text 42"/>
          <p:cNvSpPr/>
          <p:nvPr/>
        </p:nvSpPr>
        <p:spPr>
          <a:xfrm>
            <a:off x="11559778" y="7453789"/>
            <a:ext cx="1874687"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AE1800"/>
                </a:solidFill>
                <a:latin typeface="Arial" pitchFamily="34" charset="0"/>
                <a:ea typeface="Arial" pitchFamily="34" charset="-122"/>
                <a:cs typeface="Arial" pitchFamily="34" charset="-120"/>
              </a:rPr>
              <a:t>조회 시</a:t>
            </a:r>
            <a:endParaRPr lang="en-US" sz="1650" dirty="0"/>
          </a:p>
        </p:txBody>
      </p:sp>
      <p:sp>
        <p:nvSpPr>
          <p:cNvPr id="45" name="Text 43"/>
          <p:cNvSpPr/>
          <p:nvPr/>
        </p:nvSpPr>
        <p:spPr>
          <a:xfrm>
            <a:off x="13492639" y="7453789"/>
            <a:ext cx="4017336"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관세청 유니패스 · XML OpenAPI</a:t>
            </a:r>
            <a:endParaRPr lang="en-US" sz="1650" dirty="0"/>
          </a:p>
        </p:txBody>
      </p:sp>
      <p:sp>
        <p:nvSpPr>
          <p:cNvPr id="46" name="Text 44"/>
          <p:cNvSpPr/>
          <p:nvPr/>
        </p:nvSpPr>
        <p:spPr>
          <a:xfrm>
            <a:off x="1143000" y="9390698"/>
            <a:ext cx="2791730"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211D1D">
                    <a:alpha val="55000"/>
                  </a:srgbClr>
                </a:solidFill>
                <a:latin typeface="Arial" pitchFamily="34" charset="0"/>
                <a:ea typeface="Arial" pitchFamily="34" charset="-122"/>
                <a:cs typeface="Arial" pitchFamily="34" charset="-120"/>
              </a:rPr>
              <a:t>AI 컨트롤타워 · 태웅로직스</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838200"/>
            <a:ext cx="14112669"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52" kern="0" dirty="0">
                <a:solidFill>
                  <a:srgbClr val="AE1800"/>
                </a:solidFill>
                <a:latin typeface="Arial" pitchFamily="34" charset="0"/>
                <a:ea typeface="Arial" pitchFamily="34" charset="-122"/>
                <a:cs typeface="Arial" pitchFamily="34" charset="-120"/>
              </a:rPr>
              <a:t>01 현황 · RELIABILITY &amp; DEMAND</a:t>
            </a:r>
            <a:endParaRPr lang="en-US" sz="1800" dirty="0"/>
          </a:p>
        </p:txBody>
      </p:sp>
      <p:sp>
        <p:nvSpPr>
          <p:cNvPr id="3" name="Text 1"/>
          <p:cNvSpPr/>
          <p:nvPr/>
        </p:nvSpPr>
        <p:spPr>
          <a:xfrm>
            <a:off x="1143000" y="1344930"/>
            <a:ext cx="14112669" cy="563047"/>
          </a:xfrm>
          <a:prstGeom prst="rect">
            <a:avLst/>
          </a:prstGeom>
          <a:noFill/>
          <a:ln/>
        </p:spPr>
        <p:txBody>
          <a:bodyPr wrap="square" lIns="25400" tIns="25400" rIns="25400" bIns="25400" rtlCol="0" anchor="t">
            <a:normAutofit/>
          </a:bodyPr>
          <a:lstStyle/>
          <a:p>
            <a:pPr algn="l" indent="0" marL="0">
              <a:lnSpc>
                <a:spcPct val="74891"/>
              </a:lnSpc>
              <a:buNone/>
            </a:pPr>
            <a:r>
              <a:rPr lang="en-US" sz="3900" b="1" spc="-39" kern="0" dirty="0">
                <a:solidFill>
                  <a:srgbClr val="201E1D"/>
                </a:solidFill>
                <a:latin typeface="Arial" pitchFamily="34" charset="0"/>
                <a:ea typeface="Arial" pitchFamily="34" charset="-122"/>
                <a:cs typeface="Arial" pitchFamily="34" charset="-120"/>
              </a:rPr>
              <a:t>데이터가 데모면 쓸 수 없다 — 그리고 변동성은 상시화됐다</a:t>
            </a:r>
            <a:endParaRPr lang="en-US" sz="3900" dirty="0"/>
          </a:p>
        </p:txBody>
      </p:sp>
      <p:sp>
        <p:nvSpPr>
          <p:cNvPr id="4" name="Text 2"/>
          <p:cNvSpPr/>
          <p:nvPr/>
        </p:nvSpPr>
        <p:spPr>
          <a:xfrm>
            <a:off x="16869490" y="1486019"/>
            <a:ext cx="351711"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AE1800"/>
                </a:solidFill>
                <a:latin typeface="Arial" pitchFamily="34" charset="0"/>
                <a:ea typeface="Arial" pitchFamily="34" charset="-122"/>
                <a:cs typeface="Arial" pitchFamily="34" charset="-120"/>
              </a:rPr>
              <a:t>04</a:t>
            </a:r>
            <a:endParaRPr lang="en-US" sz="1950" dirty="0"/>
          </a:p>
        </p:txBody>
      </p:sp>
      <p:sp>
        <p:nvSpPr>
          <p:cNvPr id="5" name="Shape 3"/>
          <p:cNvSpPr/>
          <p:nvPr/>
        </p:nvSpPr>
        <p:spPr>
          <a:xfrm>
            <a:off x="1143000" y="2117527"/>
            <a:ext cx="16002000" cy="19050"/>
          </a:xfrm>
          <a:prstGeom prst="rect">
            <a:avLst/>
          </a:prstGeom>
          <a:solidFill>
            <a:srgbClr val="201E1E">
              <a:alpha val="40000"/>
            </a:srgbClr>
          </a:solidFill>
          <a:ln/>
        </p:spPr>
      </p:sp>
      <p:sp>
        <p:nvSpPr>
          <p:cNvPr id="6" name="Text 4"/>
          <p:cNvSpPr/>
          <p:nvPr/>
        </p:nvSpPr>
        <p:spPr>
          <a:xfrm>
            <a:off x="1143000" y="3854768"/>
            <a:ext cx="8465820" cy="392430"/>
          </a:xfrm>
          <a:prstGeom prst="rect">
            <a:avLst/>
          </a:prstGeom>
          <a:noFill/>
          <a:ln/>
        </p:spPr>
        <p:txBody>
          <a:bodyPr wrap="square" lIns="25400" tIns="25400" rIns="25400" bIns="25400" rtlCol="0" anchor="t">
            <a:normAutofit/>
          </a:bodyPr>
          <a:lstStyle/>
          <a:p>
            <a:pPr algn="l" indent="0" marL="0">
              <a:lnSpc>
                <a:spcPct val="110714"/>
              </a:lnSpc>
              <a:buNone/>
            </a:pPr>
            <a:r>
              <a:rPr lang="en-US" sz="1800" b="1" spc="36" kern="0" dirty="0">
                <a:solidFill>
                  <a:srgbClr val="201E1D"/>
                </a:solidFill>
                <a:latin typeface="Arial" pitchFamily="34" charset="0"/>
                <a:ea typeface="Arial" pitchFamily="34" charset="-122"/>
                <a:cs typeface="Arial" pitchFamily="34" charset="-120"/>
              </a:rPr>
              <a:t>신뢰성의 벽 — 실데이터로 재정비</a:t>
            </a:r>
            <a:endParaRPr lang="en-US" sz="1800" dirty="0"/>
          </a:p>
        </p:txBody>
      </p:sp>
      <p:sp>
        <p:nvSpPr>
          <p:cNvPr id="7" name="Shape 5"/>
          <p:cNvSpPr/>
          <p:nvPr/>
        </p:nvSpPr>
        <p:spPr>
          <a:xfrm>
            <a:off x="1143000" y="5554027"/>
            <a:ext cx="7696200" cy="15240"/>
          </a:xfrm>
          <a:prstGeom prst="rect">
            <a:avLst/>
          </a:prstGeom>
          <a:solidFill>
            <a:srgbClr val="201E1E">
              <a:alpha val="40000"/>
            </a:srgbClr>
          </a:solidFill>
          <a:ln/>
        </p:spPr>
      </p:sp>
      <p:sp>
        <p:nvSpPr>
          <p:cNvPr id="8" name="Text 6"/>
          <p:cNvSpPr/>
          <p:nvPr/>
        </p:nvSpPr>
        <p:spPr>
          <a:xfrm>
            <a:off x="1143000" y="4456747"/>
            <a:ext cx="2095500" cy="603885"/>
          </a:xfrm>
          <a:prstGeom prst="rect">
            <a:avLst/>
          </a:prstGeom>
          <a:noFill/>
          <a:ln/>
        </p:spPr>
        <p:txBody>
          <a:bodyPr wrap="square" lIns="25400" tIns="25400" rIns="25400" bIns="25400" rtlCol="0" anchor="t">
            <a:normAutofit/>
          </a:bodyPr>
          <a:lstStyle/>
          <a:p>
            <a:pPr algn="l" indent="0" marL="0">
              <a:lnSpc>
                <a:spcPct val="63462"/>
              </a:lnSpc>
              <a:buNone/>
            </a:pPr>
            <a:r>
              <a:rPr lang="en-US" sz="4950" b="1" dirty="0">
                <a:solidFill>
                  <a:srgbClr val="EC3013"/>
                </a:solidFill>
                <a:latin typeface="Arial" pitchFamily="34" charset="0"/>
                <a:ea typeface="Arial" pitchFamily="34" charset="-122"/>
                <a:cs typeface="Arial" pitchFamily="34" charset="-120"/>
              </a:rPr>
              <a:t>89</a:t>
            </a:r>
            <a:pPr algn="l" indent="0" marL="0">
              <a:lnSpc>
                <a:spcPct val="63462"/>
              </a:lnSpc>
              <a:buNone/>
            </a:pPr>
            <a:r>
              <a:rPr lang="en-US" sz="2250" b="1" dirty="0">
                <a:solidFill>
                  <a:srgbClr val="EC3013"/>
                </a:solidFill>
                <a:latin typeface="Arial" pitchFamily="34" charset="0"/>
                <a:ea typeface="Arial" pitchFamily="34" charset="-122"/>
                <a:cs typeface="Arial" pitchFamily="34" charset="-120"/>
              </a:rPr>
              <a:t>건</a:t>
            </a:r>
            <a:endParaRPr lang="en-US" sz="4950" dirty="0"/>
          </a:p>
        </p:txBody>
      </p:sp>
      <p:sp>
        <p:nvSpPr>
          <p:cNvPr id="9" name="Text 7"/>
          <p:cNvSpPr/>
          <p:nvPr/>
        </p:nvSpPr>
        <p:spPr>
          <a:xfrm>
            <a:off x="3295650" y="4723447"/>
            <a:ext cx="5709857" cy="67818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201E1C">
                    <a:alpha val="74000"/>
                  </a:srgbClr>
                </a:solidFill>
                <a:latin typeface="Arial" pitchFamily="34" charset="0"/>
                <a:ea typeface="Arial" pitchFamily="34" charset="-122"/>
                <a:cs typeface="Arial" pitchFamily="34" charset="-120"/>
              </a:rPr>
              <a:t>데모 문구·가짜 난수 제거 → 실서비스 기준 재가공 (전수 감사)</a:t>
            </a:r>
            <a:endParaRPr lang="en-US" sz="1800" dirty="0"/>
          </a:p>
        </p:txBody>
      </p:sp>
      <p:sp>
        <p:nvSpPr>
          <p:cNvPr id="10" name="Shape 8"/>
          <p:cNvSpPr/>
          <p:nvPr/>
        </p:nvSpPr>
        <p:spPr>
          <a:xfrm>
            <a:off x="1143000" y="6556058"/>
            <a:ext cx="7696200" cy="15240"/>
          </a:xfrm>
          <a:prstGeom prst="rect">
            <a:avLst/>
          </a:prstGeom>
          <a:solidFill>
            <a:srgbClr val="201E1E">
              <a:alpha val="40000"/>
            </a:srgbClr>
          </a:solidFill>
          <a:ln/>
        </p:spPr>
      </p:sp>
      <p:sp>
        <p:nvSpPr>
          <p:cNvPr id="11" name="Text 9"/>
          <p:cNvSpPr/>
          <p:nvPr/>
        </p:nvSpPr>
        <p:spPr>
          <a:xfrm>
            <a:off x="1143000" y="5778818"/>
            <a:ext cx="2095500" cy="603885"/>
          </a:xfrm>
          <a:prstGeom prst="rect">
            <a:avLst/>
          </a:prstGeom>
          <a:noFill/>
          <a:ln/>
        </p:spPr>
        <p:txBody>
          <a:bodyPr wrap="square" lIns="25400" tIns="25400" rIns="25400" bIns="25400" rtlCol="0" anchor="t">
            <a:normAutofit/>
          </a:bodyPr>
          <a:lstStyle/>
          <a:p>
            <a:pPr algn="l" indent="0" marL="0">
              <a:lnSpc>
                <a:spcPct val="63462"/>
              </a:lnSpc>
              <a:buNone/>
            </a:pPr>
            <a:r>
              <a:rPr lang="en-US" sz="4950" b="1" dirty="0">
                <a:solidFill>
                  <a:srgbClr val="EC3013"/>
                </a:solidFill>
                <a:latin typeface="Arial" pitchFamily="34" charset="0"/>
                <a:ea typeface="Arial" pitchFamily="34" charset="-122"/>
                <a:cs typeface="Arial" pitchFamily="34" charset="-120"/>
              </a:rPr>
              <a:t>41</a:t>
            </a:r>
            <a:pPr algn="l" indent="0" marL="0">
              <a:lnSpc>
                <a:spcPct val="63462"/>
              </a:lnSpc>
              <a:buNone/>
            </a:pPr>
            <a:r>
              <a:rPr lang="en-US" sz="2250" b="1" dirty="0">
                <a:solidFill>
                  <a:srgbClr val="EC3013"/>
                </a:solidFill>
                <a:latin typeface="Arial" pitchFamily="34" charset="0"/>
                <a:ea typeface="Arial" pitchFamily="34" charset="-122"/>
                <a:cs typeface="Arial" pitchFamily="34" charset="-120"/>
              </a:rPr>
              <a:t>건</a:t>
            </a:r>
            <a:endParaRPr lang="en-US" sz="4950" dirty="0"/>
          </a:p>
        </p:txBody>
      </p:sp>
      <p:sp>
        <p:nvSpPr>
          <p:cNvPr id="12" name="Text 10"/>
          <p:cNvSpPr/>
          <p:nvPr/>
        </p:nvSpPr>
        <p:spPr>
          <a:xfrm>
            <a:off x="3295650" y="6045518"/>
            <a:ext cx="5657850"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201E1C">
                    <a:alpha val="74000"/>
                  </a:srgbClr>
                </a:solidFill>
                <a:latin typeface="Arial" pitchFamily="34" charset="0"/>
                <a:ea typeface="Arial" pitchFamily="34" charset="-122"/>
                <a:cs typeface="Arial" pitchFamily="34" charset="-120"/>
              </a:rPr>
              <a:t>오픈데이터 전수조사 · 6개 영역 · 무료·무인증 우선</a:t>
            </a:r>
            <a:endParaRPr lang="en-US" sz="1800" dirty="0"/>
          </a:p>
        </p:txBody>
      </p:sp>
      <p:sp>
        <p:nvSpPr>
          <p:cNvPr id="13" name="Text 11"/>
          <p:cNvSpPr/>
          <p:nvPr/>
        </p:nvSpPr>
        <p:spPr>
          <a:xfrm>
            <a:off x="1143000" y="6780848"/>
            <a:ext cx="2095500" cy="603885"/>
          </a:xfrm>
          <a:prstGeom prst="rect">
            <a:avLst/>
          </a:prstGeom>
          <a:noFill/>
          <a:ln/>
        </p:spPr>
        <p:txBody>
          <a:bodyPr wrap="square" lIns="25400" tIns="25400" rIns="25400" bIns="25400" rtlCol="0" anchor="t">
            <a:normAutofit/>
          </a:bodyPr>
          <a:lstStyle/>
          <a:p>
            <a:pPr algn="l" indent="0" marL="0">
              <a:lnSpc>
                <a:spcPct val="63462"/>
              </a:lnSpc>
              <a:buNone/>
            </a:pPr>
            <a:r>
              <a:rPr lang="en-US" sz="4950" b="1" dirty="0">
                <a:solidFill>
                  <a:srgbClr val="EC3013"/>
                </a:solidFill>
                <a:latin typeface="Arial" pitchFamily="34" charset="0"/>
                <a:ea typeface="Arial" pitchFamily="34" charset="-122"/>
                <a:cs typeface="Arial" pitchFamily="34" charset="-120"/>
              </a:rPr>
              <a:t>6</a:t>
            </a:r>
            <a:pPr algn="l" indent="0" marL="0">
              <a:lnSpc>
                <a:spcPct val="63462"/>
              </a:lnSpc>
              <a:buNone/>
            </a:pPr>
            <a:r>
              <a:rPr lang="en-US" sz="2250" b="1" dirty="0">
                <a:solidFill>
                  <a:srgbClr val="EC3013"/>
                </a:solidFill>
                <a:latin typeface="Arial" pitchFamily="34" charset="0"/>
                <a:ea typeface="Arial" pitchFamily="34" charset="-122"/>
                <a:cs typeface="Arial" pitchFamily="34" charset="-120"/>
              </a:rPr>
              <a:t>종</a:t>
            </a:r>
            <a:endParaRPr lang="en-US" sz="4950" dirty="0"/>
          </a:p>
        </p:txBody>
      </p:sp>
      <p:sp>
        <p:nvSpPr>
          <p:cNvPr id="14" name="Text 12"/>
          <p:cNvSpPr/>
          <p:nvPr/>
        </p:nvSpPr>
        <p:spPr>
          <a:xfrm>
            <a:off x="3295650" y="7047548"/>
            <a:ext cx="5257872"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201E1C">
                    <a:alpha val="74000"/>
                  </a:srgbClr>
                </a:solidFill>
                <a:latin typeface="Arial" pitchFamily="34" charset="0"/>
                <a:ea typeface="Arial" pitchFamily="34" charset="-122"/>
                <a:cs typeface="Arial" pitchFamily="34" charset="-120"/>
              </a:rPr>
              <a:t>혼잡도 API 실호출 비교 → IMF PortWatch 채택</a:t>
            </a:r>
            <a:endParaRPr lang="en-US" sz="1800" dirty="0"/>
          </a:p>
        </p:txBody>
      </p:sp>
      <p:sp>
        <p:nvSpPr>
          <p:cNvPr id="15" name="Text 13"/>
          <p:cNvSpPr/>
          <p:nvPr/>
        </p:nvSpPr>
        <p:spPr>
          <a:xfrm>
            <a:off x="9448800" y="3694747"/>
            <a:ext cx="8465820" cy="392430"/>
          </a:xfrm>
          <a:prstGeom prst="rect">
            <a:avLst/>
          </a:prstGeom>
          <a:noFill/>
          <a:ln/>
        </p:spPr>
        <p:txBody>
          <a:bodyPr wrap="square" lIns="25400" tIns="25400" rIns="25400" bIns="25400" rtlCol="0" anchor="t">
            <a:normAutofit/>
          </a:bodyPr>
          <a:lstStyle/>
          <a:p>
            <a:pPr algn="l" indent="0" marL="0">
              <a:lnSpc>
                <a:spcPct val="110714"/>
              </a:lnSpc>
              <a:buNone/>
            </a:pPr>
            <a:r>
              <a:rPr lang="en-US" sz="1800" b="1" spc="36" kern="0" dirty="0">
                <a:solidFill>
                  <a:srgbClr val="201E1D"/>
                </a:solidFill>
                <a:latin typeface="Arial" pitchFamily="34" charset="0"/>
                <a:ea typeface="Arial" pitchFamily="34" charset="-122"/>
                <a:cs typeface="Arial" pitchFamily="34" charset="-120"/>
              </a:rPr>
              <a:t>가시성 수요 — 변동성이 곧 경쟁력</a:t>
            </a:r>
            <a:endParaRPr lang="en-US" sz="1800" dirty="0"/>
          </a:p>
        </p:txBody>
      </p:sp>
      <p:sp>
        <p:nvSpPr>
          <p:cNvPr id="16" name="Shape 14"/>
          <p:cNvSpPr/>
          <p:nvPr/>
        </p:nvSpPr>
        <p:spPr>
          <a:xfrm>
            <a:off x="9448800" y="5394008"/>
            <a:ext cx="7696200" cy="15240"/>
          </a:xfrm>
          <a:prstGeom prst="rect">
            <a:avLst/>
          </a:prstGeom>
          <a:solidFill>
            <a:srgbClr val="201E1E">
              <a:alpha val="40000"/>
            </a:srgbClr>
          </a:solidFill>
          <a:ln/>
        </p:spPr>
      </p:sp>
      <p:sp>
        <p:nvSpPr>
          <p:cNvPr id="17" name="Text 15"/>
          <p:cNvSpPr/>
          <p:nvPr/>
        </p:nvSpPr>
        <p:spPr>
          <a:xfrm>
            <a:off x="9448800" y="4296728"/>
            <a:ext cx="2514600" cy="603885"/>
          </a:xfrm>
          <a:prstGeom prst="rect">
            <a:avLst/>
          </a:prstGeom>
          <a:noFill/>
          <a:ln/>
        </p:spPr>
        <p:txBody>
          <a:bodyPr wrap="square" lIns="25400" tIns="25400" rIns="25400" bIns="25400" rtlCol="0" anchor="t">
            <a:normAutofit/>
          </a:bodyPr>
          <a:lstStyle/>
          <a:p>
            <a:pPr algn="l" indent="0" marL="0">
              <a:lnSpc>
                <a:spcPct val="63462"/>
              </a:lnSpc>
              <a:buNone/>
            </a:pPr>
            <a:r>
              <a:rPr lang="en-US" sz="4950" b="1" dirty="0">
                <a:solidFill>
                  <a:srgbClr val="EC3013"/>
                </a:solidFill>
                <a:latin typeface="Arial" pitchFamily="34" charset="0"/>
                <a:ea typeface="Arial" pitchFamily="34" charset="-122"/>
                <a:cs typeface="Arial" pitchFamily="34" charset="-120"/>
              </a:rPr>
              <a:t>93</a:t>
            </a:r>
            <a:pPr algn="l" indent="0" marL="0">
              <a:lnSpc>
                <a:spcPct val="63462"/>
              </a:lnSpc>
              <a:buNone/>
            </a:pPr>
            <a:r>
              <a:rPr lang="en-US" sz="2250" b="1" dirty="0">
                <a:solidFill>
                  <a:srgbClr val="EC3013"/>
                </a:solidFill>
                <a:latin typeface="Arial" pitchFamily="34" charset="0"/>
                <a:ea typeface="Arial" pitchFamily="34" charset="-122"/>
                <a:cs typeface="Arial" pitchFamily="34" charset="-120"/>
              </a:rPr>
              <a:t>개 항만</a:t>
            </a:r>
            <a:endParaRPr lang="en-US" sz="4950" dirty="0"/>
          </a:p>
        </p:txBody>
      </p:sp>
      <p:sp>
        <p:nvSpPr>
          <p:cNvPr id="18" name="Text 16"/>
          <p:cNvSpPr/>
          <p:nvPr/>
        </p:nvSpPr>
        <p:spPr>
          <a:xfrm>
            <a:off x="11982450" y="4563428"/>
            <a:ext cx="5317426" cy="67818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201E1C">
                    <a:alpha val="74000"/>
                  </a:srgbClr>
                </a:solidFill>
                <a:latin typeface="Arial" pitchFamily="34" charset="0"/>
                <a:ea typeface="Arial" pitchFamily="34" charset="-122"/>
                <a:cs typeface="Arial" pitchFamily="34" charset="-120"/>
              </a:rPr>
              <a:t>IMF PortWatch Focus Port · 매일 PCI 산출 (10,212행)</a:t>
            </a:r>
            <a:endParaRPr lang="en-US" sz="1800" dirty="0"/>
          </a:p>
        </p:txBody>
      </p:sp>
      <p:sp>
        <p:nvSpPr>
          <p:cNvPr id="19" name="Shape 17"/>
          <p:cNvSpPr/>
          <p:nvPr/>
        </p:nvSpPr>
        <p:spPr>
          <a:xfrm>
            <a:off x="9448800" y="6716078"/>
            <a:ext cx="7696200" cy="15240"/>
          </a:xfrm>
          <a:prstGeom prst="rect">
            <a:avLst/>
          </a:prstGeom>
          <a:solidFill>
            <a:srgbClr val="201E1E">
              <a:alpha val="40000"/>
            </a:srgbClr>
          </a:solidFill>
          <a:ln/>
        </p:spPr>
      </p:sp>
      <p:sp>
        <p:nvSpPr>
          <p:cNvPr id="20" name="Text 18"/>
          <p:cNvSpPr/>
          <p:nvPr/>
        </p:nvSpPr>
        <p:spPr>
          <a:xfrm>
            <a:off x="9448800" y="5618798"/>
            <a:ext cx="2514600" cy="603885"/>
          </a:xfrm>
          <a:prstGeom prst="rect">
            <a:avLst/>
          </a:prstGeom>
          <a:noFill/>
          <a:ln/>
        </p:spPr>
        <p:txBody>
          <a:bodyPr wrap="square" lIns="25400" tIns="25400" rIns="25400" bIns="25400" rtlCol="0" anchor="t">
            <a:normAutofit/>
          </a:bodyPr>
          <a:lstStyle/>
          <a:p>
            <a:pPr algn="l" indent="0" marL="0">
              <a:lnSpc>
                <a:spcPct val="63462"/>
              </a:lnSpc>
              <a:buNone/>
            </a:pPr>
            <a:r>
              <a:rPr lang="en-US" sz="4950" b="1" dirty="0">
                <a:solidFill>
                  <a:srgbClr val="EC3013"/>
                </a:solidFill>
                <a:latin typeface="Arial" pitchFamily="34" charset="0"/>
                <a:ea typeface="Arial" pitchFamily="34" charset="-122"/>
                <a:cs typeface="Arial" pitchFamily="34" charset="-120"/>
              </a:rPr>
              <a:t>8,556</a:t>
            </a:r>
            <a:endParaRPr lang="en-US" sz="4950" dirty="0"/>
          </a:p>
        </p:txBody>
      </p:sp>
      <p:sp>
        <p:nvSpPr>
          <p:cNvPr id="21" name="Text 19"/>
          <p:cNvSpPr/>
          <p:nvPr/>
        </p:nvSpPr>
        <p:spPr>
          <a:xfrm>
            <a:off x="11982450" y="5885498"/>
            <a:ext cx="5317426" cy="67818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201E1C">
                    <a:alpha val="74000"/>
                  </a:srgbClr>
                </a:solidFill>
                <a:latin typeface="Arial" pitchFamily="34" charset="0"/>
                <a:ea typeface="Arial" pitchFamily="34" charset="-122"/>
                <a:cs typeface="Arial" pitchFamily="34" charset="-120"/>
              </a:rPr>
              <a:t>사전계산 해상 항로 구간 · 부산→로테르담 P50 28.9일</a:t>
            </a:r>
            <a:endParaRPr lang="en-US" sz="1800" dirty="0"/>
          </a:p>
        </p:txBody>
      </p:sp>
      <p:sp>
        <p:nvSpPr>
          <p:cNvPr id="22" name="Text 20"/>
          <p:cNvSpPr/>
          <p:nvPr/>
        </p:nvSpPr>
        <p:spPr>
          <a:xfrm>
            <a:off x="9448800" y="6940868"/>
            <a:ext cx="2514600" cy="603885"/>
          </a:xfrm>
          <a:prstGeom prst="rect">
            <a:avLst/>
          </a:prstGeom>
          <a:noFill/>
          <a:ln/>
        </p:spPr>
        <p:txBody>
          <a:bodyPr wrap="square" lIns="25400" tIns="25400" rIns="25400" bIns="25400" rtlCol="0" anchor="t">
            <a:normAutofit/>
          </a:bodyPr>
          <a:lstStyle/>
          <a:p>
            <a:pPr algn="l" indent="0" marL="0">
              <a:lnSpc>
                <a:spcPct val="63462"/>
              </a:lnSpc>
              <a:buNone/>
            </a:pPr>
            <a:r>
              <a:rPr lang="en-US" sz="4950" b="1" dirty="0">
                <a:solidFill>
                  <a:srgbClr val="EC3013"/>
                </a:solidFill>
                <a:latin typeface="Arial" pitchFamily="34" charset="0"/>
                <a:ea typeface="Arial" pitchFamily="34" charset="-122"/>
                <a:cs typeface="Arial" pitchFamily="34" charset="-120"/>
              </a:rPr>
              <a:t>2</a:t>
            </a:r>
            <a:pPr algn="l" indent="0" marL="0">
              <a:lnSpc>
                <a:spcPct val="63462"/>
              </a:lnSpc>
              <a:buNone/>
            </a:pPr>
            <a:r>
              <a:rPr lang="en-US" sz="2250" b="1" dirty="0">
                <a:solidFill>
                  <a:srgbClr val="EC3013"/>
                </a:solidFill>
                <a:latin typeface="Arial" pitchFamily="34" charset="0"/>
                <a:ea typeface="Arial" pitchFamily="34" charset="-122"/>
                <a:cs typeface="Arial" pitchFamily="34" charset="-120"/>
              </a:rPr>
              <a:t>대 지수</a:t>
            </a:r>
            <a:endParaRPr lang="en-US" sz="4950" dirty="0"/>
          </a:p>
        </p:txBody>
      </p:sp>
      <p:sp>
        <p:nvSpPr>
          <p:cNvPr id="23" name="Text 21"/>
          <p:cNvSpPr/>
          <p:nvPr/>
        </p:nvSpPr>
        <p:spPr>
          <a:xfrm>
            <a:off x="11982450" y="7207568"/>
            <a:ext cx="5643967"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201E1C">
                    <a:alpha val="74000"/>
                  </a:srgbClr>
                </a:solidFill>
                <a:latin typeface="Arial" pitchFamily="34" charset="0"/>
                <a:ea typeface="Arial" pitchFamily="34" charset="-122"/>
                <a:cs typeface="Arial" pitchFamily="34" charset="-120"/>
              </a:rPr>
              <a:t>SCFI · CCFI 주간 실데이터 — 운임 급변 조기 감지</a:t>
            </a:r>
            <a:endParaRPr lang="en-US" sz="1800" dirty="0"/>
          </a:p>
        </p:txBody>
      </p:sp>
      <p:sp>
        <p:nvSpPr>
          <p:cNvPr id="24" name="Text 22"/>
          <p:cNvSpPr/>
          <p:nvPr/>
        </p:nvSpPr>
        <p:spPr>
          <a:xfrm>
            <a:off x="1143000" y="9390698"/>
            <a:ext cx="2791730"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211D1D">
                    <a:alpha val="55000"/>
                  </a:srgbClr>
                </a:solidFill>
                <a:latin typeface="Arial" pitchFamily="34" charset="0"/>
                <a:ea typeface="Arial" pitchFamily="34" charset="-122"/>
                <a:cs typeface="Arial" pitchFamily="34" charset="-120"/>
              </a:rPr>
              <a:t>AI 컨트롤타워 · 태웅로직스</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838200"/>
            <a:ext cx="9657374"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52" kern="0" dirty="0">
                <a:solidFill>
                  <a:srgbClr val="AE1800"/>
                </a:solidFill>
                <a:latin typeface="Arial" pitchFamily="34" charset="0"/>
                <a:ea typeface="Arial" pitchFamily="34" charset="-122"/>
                <a:cs typeface="Arial" pitchFamily="34" charset="-120"/>
              </a:rPr>
              <a:t>02 문제점 · PAIN POINTS</a:t>
            </a:r>
            <a:endParaRPr lang="en-US" sz="1800" dirty="0"/>
          </a:p>
        </p:txBody>
      </p:sp>
      <p:sp>
        <p:nvSpPr>
          <p:cNvPr id="3" name="Text 1"/>
          <p:cNvSpPr/>
          <p:nvPr/>
        </p:nvSpPr>
        <p:spPr>
          <a:xfrm>
            <a:off x="1143000" y="1344930"/>
            <a:ext cx="9657374" cy="563047"/>
          </a:xfrm>
          <a:prstGeom prst="rect">
            <a:avLst/>
          </a:prstGeom>
          <a:noFill/>
          <a:ln/>
        </p:spPr>
        <p:txBody>
          <a:bodyPr wrap="square" lIns="25400" tIns="25400" rIns="25400" bIns="25400" rtlCol="0" anchor="t">
            <a:normAutofit/>
          </a:bodyPr>
          <a:lstStyle/>
          <a:p>
            <a:pPr algn="l" indent="0" marL="0">
              <a:lnSpc>
                <a:spcPct val="74891"/>
              </a:lnSpc>
              <a:buNone/>
            </a:pPr>
            <a:r>
              <a:rPr lang="en-US" sz="3900" b="1" spc="-39" kern="0" dirty="0">
                <a:solidFill>
                  <a:srgbClr val="201E1D"/>
                </a:solidFill>
                <a:latin typeface="Arial" pitchFamily="34" charset="0"/>
                <a:ea typeface="Arial" pitchFamily="34" charset="-122"/>
                <a:cs typeface="Arial" pitchFamily="34" charset="-120"/>
              </a:rPr>
              <a:t>컨트롤타워 부재가 낳는 구조적 4대 문제</a:t>
            </a:r>
            <a:endParaRPr lang="en-US" sz="3900" dirty="0"/>
          </a:p>
        </p:txBody>
      </p:sp>
      <p:sp>
        <p:nvSpPr>
          <p:cNvPr id="4" name="Text 2"/>
          <p:cNvSpPr/>
          <p:nvPr/>
        </p:nvSpPr>
        <p:spPr>
          <a:xfrm>
            <a:off x="16869490" y="1486019"/>
            <a:ext cx="351711"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AE1800"/>
                </a:solidFill>
                <a:latin typeface="Arial" pitchFamily="34" charset="0"/>
                <a:ea typeface="Arial" pitchFamily="34" charset="-122"/>
                <a:cs typeface="Arial" pitchFamily="34" charset="-120"/>
              </a:rPr>
              <a:t>05</a:t>
            </a:r>
            <a:endParaRPr lang="en-US" sz="1950" dirty="0"/>
          </a:p>
        </p:txBody>
      </p:sp>
      <p:sp>
        <p:nvSpPr>
          <p:cNvPr id="5" name="Shape 3"/>
          <p:cNvSpPr/>
          <p:nvPr/>
        </p:nvSpPr>
        <p:spPr>
          <a:xfrm>
            <a:off x="1143000" y="2117527"/>
            <a:ext cx="16002000" cy="19050"/>
          </a:xfrm>
          <a:prstGeom prst="rect">
            <a:avLst/>
          </a:prstGeom>
          <a:solidFill>
            <a:srgbClr val="201E1E">
              <a:alpha val="40000"/>
            </a:srgbClr>
          </a:solidFill>
          <a:ln/>
        </p:spPr>
      </p:sp>
      <p:sp>
        <p:nvSpPr>
          <p:cNvPr id="6" name="Shape 4"/>
          <p:cNvSpPr/>
          <p:nvPr/>
        </p:nvSpPr>
        <p:spPr>
          <a:xfrm>
            <a:off x="1143000" y="3791545"/>
            <a:ext cx="16002000" cy="3658314"/>
          </a:xfrm>
          <a:prstGeom prst="rect">
            <a:avLst/>
          </a:prstGeom>
          <a:solidFill>
            <a:srgbClr val="201E1E">
              <a:alpha val="40000"/>
            </a:srgbClr>
          </a:solidFill>
          <a:ln w="15240">
            <a:solidFill>
              <a:srgbClr val="201E1E">
                <a:alpha val="40000"/>
              </a:srgbClr>
            </a:solidFill>
            <a:prstDash val="solid"/>
          </a:ln>
        </p:spPr>
      </p:sp>
      <p:sp>
        <p:nvSpPr>
          <p:cNvPr id="7" name="Shape 5"/>
          <p:cNvSpPr/>
          <p:nvPr/>
        </p:nvSpPr>
        <p:spPr>
          <a:xfrm>
            <a:off x="1158240" y="3806785"/>
            <a:ext cx="7976235" cy="1804392"/>
          </a:xfrm>
          <a:prstGeom prst="rect">
            <a:avLst/>
          </a:prstGeom>
          <a:solidFill>
            <a:srgbClr val="F3F2F2"/>
          </a:solidFill>
          <a:ln/>
        </p:spPr>
      </p:sp>
      <p:sp>
        <p:nvSpPr>
          <p:cNvPr id="8" name="Text 6"/>
          <p:cNvSpPr/>
          <p:nvPr/>
        </p:nvSpPr>
        <p:spPr>
          <a:xfrm>
            <a:off x="1539240" y="4149685"/>
            <a:ext cx="669607" cy="1156692"/>
          </a:xfrm>
          <a:prstGeom prst="rect">
            <a:avLst/>
          </a:prstGeom>
          <a:noFill/>
          <a:ln/>
        </p:spPr>
        <p:txBody>
          <a:bodyPr wrap="square" lIns="25400" tIns="25400" rIns="25400" bIns="25400" rtlCol="0" anchor="t">
            <a:normAutofit/>
          </a:bodyPr>
          <a:lstStyle/>
          <a:p>
            <a:pPr algn="l" indent="0" marL="0">
              <a:lnSpc>
                <a:spcPct val="70707"/>
              </a:lnSpc>
              <a:buNone/>
            </a:pPr>
            <a:r>
              <a:rPr lang="en-US" sz="4200" b="1" dirty="0">
                <a:solidFill>
                  <a:srgbClr val="EC3013"/>
                </a:solidFill>
                <a:latin typeface="Arial" pitchFamily="34" charset="0"/>
                <a:ea typeface="Arial" pitchFamily="34" charset="-122"/>
                <a:cs typeface="Arial" pitchFamily="34" charset="-120"/>
              </a:rPr>
              <a:t>01</a:t>
            </a:r>
            <a:endParaRPr lang="en-US" sz="4200" dirty="0"/>
          </a:p>
        </p:txBody>
      </p:sp>
      <p:sp>
        <p:nvSpPr>
          <p:cNvPr id="9" name="Text 7"/>
          <p:cNvSpPr/>
          <p:nvPr/>
        </p:nvSpPr>
        <p:spPr>
          <a:xfrm>
            <a:off x="2399348" y="4149685"/>
            <a:ext cx="6989541" cy="379452"/>
          </a:xfrm>
          <a:prstGeom prst="rect">
            <a:avLst/>
          </a:prstGeom>
          <a:noFill/>
          <a:ln/>
        </p:spPr>
        <p:txBody>
          <a:bodyPr wrap="square" lIns="25400" tIns="25400" rIns="25400" bIns="25400" rtlCol="0" anchor="t">
            <a:normAutofit/>
          </a:bodyPr>
          <a:lstStyle/>
          <a:p>
            <a:pPr algn="l" indent="0" marL="0">
              <a:lnSpc>
                <a:spcPct val="80000"/>
              </a:lnSpc>
              <a:buNone/>
            </a:pPr>
            <a:r>
              <a:rPr lang="en-US" sz="2400" b="1" spc="-36" kern="0" dirty="0">
                <a:solidFill>
                  <a:srgbClr val="201E1D"/>
                </a:solidFill>
                <a:latin typeface="Arial" pitchFamily="34" charset="0"/>
                <a:ea typeface="Arial" pitchFamily="34" charset="-122"/>
                <a:cs typeface="Arial" pitchFamily="34" charset="-120"/>
              </a:rPr>
              <a:t>통합 채널 부재</a:t>
            </a:r>
            <a:endParaRPr lang="en-US" sz="2400" dirty="0"/>
          </a:p>
        </p:txBody>
      </p:sp>
      <p:sp>
        <p:nvSpPr>
          <p:cNvPr id="10" name="Text 8"/>
          <p:cNvSpPr/>
          <p:nvPr/>
        </p:nvSpPr>
        <p:spPr>
          <a:xfrm>
            <a:off x="2399348" y="4605338"/>
            <a:ext cx="6544752" cy="70104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201E1D">
                    <a:alpha val="72000"/>
                  </a:srgbClr>
                </a:solidFill>
                <a:latin typeface="Arial" pitchFamily="34" charset="0"/>
                <a:ea typeface="Arial" pitchFamily="34" charset="-122"/>
                <a:cs typeface="Arial" pitchFamily="34" charset="-120"/>
              </a:rPr>
              <a:t>17개 터미널·6개 소스를 잇는 단일 조회 채널이 없어 매일 여러 사이트를 수작업으로 오간다. 취합에만 30~60분/일.</a:t>
            </a:r>
            <a:endParaRPr lang="en-US" sz="1800" dirty="0"/>
          </a:p>
        </p:txBody>
      </p:sp>
      <p:sp>
        <p:nvSpPr>
          <p:cNvPr id="11" name="Shape 9"/>
          <p:cNvSpPr/>
          <p:nvPr/>
        </p:nvSpPr>
        <p:spPr>
          <a:xfrm>
            <a:off x="9153525" y="3806785"/>
            <a:ext cx="7976235" cy="1804392"/>
          </a:xfrm>
          <a:prstGeom prst="rect">
            <a:avLst/>
          </a:prstGeom>
          <a:solidFill>
            <a:srgbClr val="F3F2F2"/>
          </a:solidFill>
          <a:ln/>
        </p:spPr>
      </p:sp>
      <p:sp>
        <p:nvSpPr>
          <p:cNvPr id="12" name="Text 10"/>
          <p:cNvSpPr/>
          <p:nvPr/>
        </p:nvSpPr>
        <p:spPr>
          <a:xfrm>
            <a:off x="9534525" y="4149685"/>
            <a:ext cx="669607" cy="1156692"/>
          </a:xfrm>
          <a:prstGeom prst="rect">
            <a:avLst/>
          </a:prstGeom>
          <a:noFill/>
          <a:ln/>
        </p:spPr>
        <p:txBody>
          <a:bodyPr wrap="square" lIns="25400" tIns="25400" rIns="25400" bIns="25400" rtlCol="0" anchor="t">
            <a:normAutofit/>
          </a:bodyPr>
          <a:lstStyle/>
          <a:p>
            <a:pPr algn="l" indent="0" marL="0">
              <a:lnSpc>
                <a:spcPct val="70707"/>
              </a:lnSpc>
              <a:buNone/>
            </a:pPr>
            <a:r>
              <a:rPr lang="en-US" sz="4200" b="1" dirty="0">
                <a:solidFill>
                  <a:srgbClr val="EC3013"/>
                </a:solidFill>
                <a:latin typeface="Arial" pitchFamily="34" charset="0"/>
                <a:ea typeface="Arial" pitchFamily="34" charset="-122"/>
                <a:cs typeface="Arial" pitchFamily="34" charset="-120"/>
              </a:rPr>
              <a:t>02</a:t>
            </a:r>
            <a:endParaRPr lang="en-US" sz="4200" dirty="0"/>
          </a:p>
        </p:txBody>
      </p:sp>
      <p:sp>
        <p:nvSpPr>
          <p:cNvPr id="13" name="Text 11"/>
          <p:cNvSpPr/>
          <p:nvPr/>
        </p:nvSpPr>
        <p:spPr>
          <a:xfrm>
            <a:off x="10394633" y="4149685"/>
            <a:ext cx="6989541" cy="379452"/>
          </a:xfrm>
          <a:prstGeom prst="rect">
            <a:avLst/>
          </a:prstGeom>
          <a:noFill/>
          <a:ln/>
        </p:spPr>
        <p:txBody>
          <a:bodyPr wrap="square" lIns="25400" tIns="25400" rIns="25400" bIns="25400" rtlCol="0" anchor="t">
            <a:normAutofit/>
          </a:bodyPr>
          <a:lstStyle/>
          <a:p>
            <a:pPr algn="l" indent="0" marL="0">
              <a:lnSpc>
                <a:spcPct val="80000"/>
              </a:lnSpc>
              <a:buNone/>
            </a:pPr>
            <a:r>
              <a:rPr lang="en-US" sz="2400" b="1" spc="-36" kern="0" dirty="0">
                <a:solidFill>
                  <a:srgbClr val="201E1D"/>
                </a:solidFill>
                <a:latin typeface="Arial" pitchFamily="34" charset="0"/>
                <a:ea typeface="Arial" pitchFamily="34" charset="-122"/>
                <a:cs typeface="Arial" pitchFamily="34" charset="-120"/>
              </a:rPr>
              <a:t>데이터 파편화</a:t>
            </a:r>
            <a:endParaRPr lang="en-US" sz="2400" dirty="0"/>
          </a:p>
        </p:txBody>
      </p:sp>
      <p:sp>
        <p:nvSpPr>
          <p:cNvPr id="14" name="Text 12"/>
          <p:cNvSpPr/>
          <p:nvPr/>
        </p:nvSpPr>
        <p:spPr>
          <a:xfrm>
            <a:off x="10394633" y="4605338"/>
            <a:ext cx="6544752" cy="70104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201E1D">
                    <a:alpha val="72000"/>
                  </a:srgbClr>
                </a:solidFill>
                <a:latin typeface="Arial" pitchFamily="34" charset="0"/>
                <a:ea typeface="Arial" pitchFamily="34" charset="-122"/>
                <a:cs typeface="Arial" pitchFamily="34" charset="-120"/>
              </a:rPr>
              <a:t>선석·혼잡·선박·운임·기상·통관이 각기 다른 소스·포맷·주기로 흩어져 실시간 통합 가시성 부재. 크로스 조회 불가.</a:t>
            </a:r>
            <a:endParaRPr lang="en-US" sz="1800" dirty="0"/>
          </a:p>
        </p:txBody>
      </p:sp>
      <p:sp>
        <p:nvSpPr>
          <p:cNvPr id="15" name="Shape 13"/>
          <p:cNvSpPr/>
          <p:nvPr/>
        </p:nvSpPr>
        <p:spPr>
          <a:xfrm>
            <a:off x="1158240" y="5630228"/>
            <a:ext cx="7976235" cy="1804392"/>
          </a:xfrm>
          <a:prstGeom prst="rect">
            <a:avLst/>
          </a:prstGeom>
          <a:solidFill>
            <a:srgbClr val="F3F2F2"/>
          </a:solidFill>
          <a:ln/>
        </p:spPr>
      </p:sp>
      <p:sp>
        <p:nvSpPr>
          <p:cNvPr id="16" name="Text 14"/>
          <p:cNvSpPr/>
          <p:nvPr/>
        </p:nvSpPr>
        <p:spPr>
          <a:xfrm>
            <a:off x="1539240" y="5973128"/>
            <a:ext cx="669607" cy="1156692"/>
          </a:xfrm>
          <a:prstGeom prst="rect">
            <a:avLst/>
          </a:prstGeom>
          <a:noFill/>
          <a:ln/>
        </p:spPr>
        <p:txBody>
          <a:bodyPr wrap="square" lIns="25400" tIns="25400" rIns="25400" bIns="25400" rtlCol="0" anchor="t">
            <a:normAutofit/>
          </a:bodyPr>
          <a:lstStyle/>
          <a:p>
            <a:pPr algn="l" indent="0" marL="0">
              <a:lnSpc>
                <a:spcPct val="70707"/>
              </a:lnSpc>
              <a:buNone/>
            </a:pPr>
            <a:r>
              <a:rPr lang="en-US" sz="4200" b="1" dirty="0">
                <a:solidFill>
                  <a:srgbClr val="EC3013"/>
                </a:solidFill>
                <a:latin typeface="Arial" pitchFamily="34" charset="0"/>
                <a:ea typeface="Arial" pitchFamily="34" charset="-122"/>
                <a:cs typeface="Arial" pitchFamily="34" charset="-120"/>
              </a:rPr>
              <a:t>03</a:t>
            </a:r>
            <a:endParaRPr lang="en-US" sz="4200" dirty="0"/>
          </a:p>
        </p:txBody>
      </p:sp>
      <p:sp>
        <p:nvSpPr>
          <p:cNvPr id="17" name="Text 15"/>
          <p:cNvSpPr/>
          <p:nvPr/>
        </p:nvSpPr>
        <p:spPr>
          <a:xfrm>
            <a:off x="2399348" y="5973128"/>
            <a:ext cx="6989541" cy="379452"/>
          </a:xfrm>
          <a:prstGeom prst="rect">
            <a:avLst/>
          </a:prstGeom>
          <a:noFill/>
          <a:ln/>
        </p:spPr>
        <p:txBody>
          <a:bodyPr wrap="square" lIns="25400" tIns="25400" rIns="25400" bIns="25400" rtlCol="0" anchor="t">
            <a:normAutofit/>
          </a:bodyPr>
          <a:lstStyle/>
          <a:p>
            <a:pPr algn="l" indent="0" marL="0">
              <a:lnSpc>
                <a:spcPct val="80000"/>
              </a:lnSpc>
              <a:buNone/>
            </a:pPr>
            <a:r>
              <a:rPr lang="en-US" sz="2400" b="1" spc="-36" kern="0" dirty="0">
                <a:solidFill>
                  <a:srgbClr val="201E1D"/>
                </a:solidFill>
                <a:latin typeface="Arial" pitchFamily="34" charset="0"/>
                <a:ea typeface="Arial" pitchFamily="34" charset="-122"/>
                <a:cs typeface="Arial" pitchFamily="34" charset="-120"/>
              </a:rPr>
              <a:t>신뢰성 공백</a:t>
            </a:r>
            <a:endParaRPr lang="en-US" sz="2400" dirty="0"/>
          </a:p>
        </p:txBody>
      </p:sp>
      <p:sp>
        <p:nvSpPr>
          <p:cNvPr id="18" name="Text 16"/>
          <p:cNvSpPr/>
          <p:nvPr/>
        </p:nvSpPr>
        <p:spPr>
          <a:xfrm>
            <a:off x="2399348" y="6428780"/>
            <a:ext cx="6544752" cy="70104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201E1D">
                    <a:alpha val="72000"/>
                  </a:srgbClr>
                </a:solidFill>
                <a:latin typeface="Arial" pitchFamily="34" charset="0"/>
                <a:ea typeface="Arial" pitchFamily="34" charset="-122"/>
                <a:cs typeface="Arial" pitchFamily="34" charset="-120"/>
              </a:rPr>
              <a:t>데모 문구·가짜 난수가 섞여 현업 신뢰 저하. 원본 대비 검증·이상치 탐지·변경 감지 절차가 표준화되지 않음.</a:t>
            </a:r>
            <a:endParaRPr lang="en-US" sz="1800" dirty="0"/>
          </a:p>
        </p:txBody>
      </p:sp>
      <p:sp>
        <p:nvSpPr>
          <p:cNvPr id="19" name="Shape 17"/>
          <p:cNvSpPr/>
          <p:nvPr/>
        </p:nvSpPr>
        <p:spPr>
          <a:xfrm>
            <a:off x="9153525" y="5630228"/>
            <a:ext cx="7976235" cy="1804392"/>
          </a:xfrm>
          <a:prstGeom prst="rect">
            <a:avLst/>
          </a:prstGeom>
          <a:solidFill>
            <a:srgbClr val="F3F2F2"/>
          </a:solidFill>
          <a:ln/>
        </p:spPr>
      </p:sp>
      <p:sp>
        <p:nvSpPr>
          <p:cNvPr id="20" name="Text 18"/>
          <p:cNvSpPr/>
          <p:nvPr/>
        </p:nvSpPr>
        <p:spPr>
          <a:xfrm>
            <a:off x="9534525" y="5973128"/>
            <a:ext cx="669607" cy="1156692"/>
          </a:xfrm>
          <a:prstGeom prst="rect">
            <a:avLst/>
          </a:prstGeom>
          <a:noFill/>
          <a:ln/>
        </p:spPr>
        <p:txBody>
          <a:bodyPr wrap="square" lIns="25400" tIns="25400" rIns="25400" bIns="25400" rtlCol="0" anchor="t">
            <a:normAutofit/>
          </a:bodyPr>
          <a:lstStyle/>
          <a:p>
            <a:pPr algn="l" indent="0" marL="0">
              <a:lnSpc>
                <a:spcPct val="70707"/>
              </a:lnSpc>
              <a:buNone/>
            </a:pPr>
            <a:r>
              <a:rPr lang="en-US" sz="4200" b="1" dirty="0">
                <a:solidFill>
                  <a:srgbClr val="EC3013"/>
                </a:solidFill>
                <a:latin typeface="Arial" pitchFamily="34" charset="0"/>
                <a:ea typeface="Arial" pitchFamily="34" charset="-122"/>
                <a:cs typeface="Arial" pitchFamily="34" charset="-120"/>
              </a:rPr>
              <a:t>04</a:t>
            </a:r>
            <a:endParaRPr lang="en-US" sz="4200" dirty="0"/>
          </a:p>
        </p:txBody>
      </p:sp>
      <p:sp>
        <p:nvSpPr>
          <p:cNvPr id="21" name="Text 19"/>
          <p:cNvSpPr/>
          <p:nvPr/>
        </p:nvSpPr>
        <p:spPr>
          <a:xfrm>
            <a:off x="10394633" y="5973128"/>
            <a:ext cx="6989541" cy="379452"/>
          </a:xfrm>
          <a:prstGeom prst="rect">
            <a:avLst/>
          </a:prstGeom>
          <a:noFill/>
          <a:ln/>
        </p:spPr>
        <p:txBody>
          <a:bodyPr wrap="square" lIns="25400" tIns="25400" rIns="25400" bIns="25400" rtlCol="0" anchor="t">
            <a:normAutofit/>
          </a:bodyPr>
          <a:lstStyle/>
          <a:p>
            <a:pPr algn="l" indent="0" marL="0">
              <a:lnSpc>
                <a:spcPct val="80000"/>
              </a:lnSpc>
              <a:buNone/>
            </a:pPr>
            <a:r>
              <a:rPr lang="en-US" sz="2400" b="1" spc="-36" kern="0" dirty="0">
                <a:solidFill>
                  <a:srgbClr val="201E1D"/>
                </a:solidFill>
                <a:latin typeface="Arial" pitchFamily="34" charset="0"/>
                <a:ea typeface="Arial" pitchFamily="34" charset="-122"/>
                <a:cs typeface="Arial" pitchFamily="34" charset="-120"/>
              </a:rPr>
              <a:t>이력·공유 단절</a:t>
            </a:r>
            <a:endParaRPr lang="en-US" sz="2400" dirty="0"/>
          </a:p>
        </p:txBody>
      </p:sp>
      <p:sp>
        <p:nvSpPr>
          <p:cNvPr id="22" name="Text 20"/>
          <p:cNvSpPr/>
          <p:nvPr/>
        </p:nvSpPr>
        <p:spPr>
          <a:xfrm>
            <a:off x="10394633" y="6428780"/>
            <a:ext cx="6544752" cy="70104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201E1D">
                    <a:alpha val="72000"/>
                  </a:srgbClr>
                </a:solidFill>
                <a:latin typeface="Arial" pitchFamily="34" charset="0"/>
                <a:ea typeface="Arial" pitchFamily="34" charset="-122"/>
                <a:cs typeface="Arial" pitchFamily="34" charset="-120"/>
              </a:rPr>
              <a:t>취합 결과가 개인 엑셀에 정체되어 팀 공유·이력 비교·지연 통계 불가. 조직 지식으로 축적되지 않음.</a:t>
            </a:r>
            <a:endParaRPr lang="en-US" sz="1800" dirty="0"/>
          </a:p>
        </p:txBody>
      </p:sp>
      <p:sp>
        <p:nvSpPr>
          <p:cNvPr id="23" name="Text 21"/>
          <p:cNvSpPr/>
          <p:nvPr/>
        </p:nvSpPr>
        <p:spPr>
          <a:xfrm>
            <a:off x="1143000" y="9390698"/>
            <a:ext cx="2791730"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211D1D">
                    <a:alpha val="55000"/>
                  </a:srgbClr>
                </a:solidFill>
                <a:latin typeface="Arial" pitchFamily="34" charset="0"/>
                <a:ea typeface="Arial" pitchFamily="34" charset="-122"/>
                <a:cs typeface="Arial" pitchFamily="34" charset="-120"/>
              </a:rPr>
              <a:t>AI 컨트롤타워 · 태웅로직스</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838200"/>
            <a:ext cx="12202621"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52" kern="0" dirty="0">
                <a:solidFill>
                  <a:srgbClr val="AE1800"/>
                </a:solidFill>
                <a:latin typeface="Arial" pitchFamily="34" charset="0"/>
                <a:ea typeface="Arial" pitchFamily="34" charset="-122"/>
                <a:cs typeface="Arial" pitchFamily="34" charset="-120"/>
              </a:rPr>
              <a:t>03 해결책 · THE SOLUTION</a:t>
            </a:r>
            <a:endParaRPr lang="en-US" sz="1800" dirty="0"/>
          </a:p>
        </p:txBody>
      </p:sp>
      <p:sp>
        <p:nvSpPr>
          <p:cNvPr id="3" name="Text 1"/>
          <p:cNvSpPr/>
          <p:nvPr/>
        </p:nvSpPr>
        <p:spPr>
          <a:xfrm>
            <a:off x="1143000" y="1344930"/>
            <a:ext cx="12202621" cy="563047"/>
          </a:xfrm>
          <a:prstGeom prst="rect">
            <a:avLst/>
          </a:prstGeom>
          <a:noFill/>
          <a:ln/>
        </p:spPr>
        <p:txBody>
          <a:bodyPr wrap="square" lIns="25400" tIns="25400" rIns="25400" bIns="25400" rtlCol="0" anchor="t">
            <a:normAutofit/>
          </a:bodyPr>
          <a:lstStyle/>
          <a:p>
            <a:pPr algn="l" indent="0" marL="0">
              <a:lnSpc>
                <a:spcPct val="74891"/>
              </a:lnSpc>
              <a:buNone/>
            </a:pPr>
            <a:r>
              <a:rPr lang="en-US" sz="3900" b="1" spc="-39" kern="0" dirty="0">
                <a:solidFill>
                  <a:srgbClr val="201E1D"/>
                </a:solidFill>
                <a:latin typeface="Arial" pitchFamily="34" charset="0"/>
                <a:ea typeface="Arial" pitchFamily="34" charset="-122"/>
                <a:cs typeface="Arial" pitchFamily="34" charset="-120"/>
              </a:rPr>
              <a:t>조회에 그치지 않고 실행까지 잇는 통합 컨트롤타워</a:t>
            </a:r>
            <a:endParaRPr lang="en-US" sz="3900" dirty="0"/>
          </a:p>
        </p:txBody>
      </p:sp>
      <p:sp>
        <p:nvSpPr>
          <p:cNvPr id="4" name="Text 2"/>
          <p:cNvSpPr/>
          <p:nvPr/>
        </p:nvSpPr>
        <p:spPr>
          <a:xfrm>
            <a:off x="16869490" y="1486019"/>
            <a:ext cx="351711"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AE1800"/>
                </a:solidFill>
                <a:latin typeface="Arial" pitchFamily="34" charset="0"/>
                <a:ea typeface="Arial" pitchFamily="34" charset="-122"/>
                <a:cs typeface="Arial" pitchFamily="34" charset="-120"/>
              </a:rPr>
              <a:t>06</a:t>
            </a:r>
            <a:endParaRPr lang="en-US" sz="1950" dirty="0"/>
          </a:p>
        </p:txBody>
      </p:sp>
      <p:sp>
        <p:nvSpPr>
          <p:cNvPr id="5" name="Shape 3"/>
          <p:cNvSpPr/>
          <p:nvPr/>
        </p:nvSpPr>
        <p:spPr>
          <a:xfrm>
            <a:off x="1143000" y="2117527"/>
            <a:ext cx="16002000" cy="19050"/>
          </a:xfrm>
          <a:prstGeom prst="rect">
            <a:avLst/>
          </a:prstGeom>
          <a:solidFill>
            <a:srgbClr val="201E1E">
              <a:alpha val="40000"/>
            </a:srgbClr>
          </a:solidFill>
          <a:ln/>
        </p:spPr>
      </p:sp>
      <p:sp>
        <p:nvSpPr>
          <p:cNvPr id="6" name="Shape 4"/>
          <p:cNvSpPr/>
          <p:nvPr/>
        </p:nvSpPr>
        <p:spPr>
          <a:xfrm>
            <a:off x="1143000" y="3034189"/>
            <a:ext cx="16002000" cy="1204913"/>
          </a:xfrm>
          <a:prstGeom prst="rect">
            <a:avLst/>
          </a:prstGeom>
          <a:solidFill>
            <a:srgbClr val="201E1E">
              <a:alpha val="40000"/>
            </a:srgbClr>
          </a:solidFill>
          <a:ln w="15240">
            <a:solidFill>
              <a:srgbClr val="201E1E">
                <a:alpha val="40000"/>
              </a:srgbClr>
            </a:solidFill>
            <a:prstDash val="solid"/>
          </a:ln>
        </p:spPr>
      </p:sp>
      <p:sp>
        <p:nvSpPr>
          <p:cNvPr id="7" name="Shape 5"/>
          <p:cNvSpPr/>
          <p:nvPr/>
        </p:nvSpPr>
        <p:spPr>
          <a:xfrm>
            <a:off x="1158240" y="3049429"/>
            <a:ext cx="5311140" cy="1174433"/>
          </a:xfrm>
          <a:prstGeom prst="rect">
            <a:avLst/>
          </a:prstGeom>
          <a:solidFill>
            <a:srgbClr val="F3F2F2"/>
          </a:solidFill>
          <a:ln/>
        </p:spPr>
      </p:sp>
      <p:sp>
        <p:nvSpPr>
          <p:cNvPr id="8" name="Text 6"/>
          <p:cNvSpPr/>
          <p:nvPr/>
        </p:nvSpPr>
        <p:spPr>
          <a:xfrm>
            <a:off x="1405890" y="3258979"/>
            <a:ext cx="5297424"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dirty="0">
                <a:solidFill>
                  <a:srgbClr val="201E1D"/>
                </a:solidFill>
                <a:latin typeface="Arial" pitchFamily="34" charset="0"/>
                <a:ea typeface="Arial" pitchFamily="34" charset="-122"/>
                <a:cs typeface="Arial" pitchFamily="34" charset="-120"/>
              </a:rPr>
              <a:t>터미널 공표</a:t>
            </a:r>
            <a:endParaRPr lang="en-US" sz="1800" dirty="0"/>
          </a:p>
        </p:txBody>
      </p:sp>
      <p:sp>
        <p:nvSpPr>
          <p:cNvPr id="9" name="Text 7"/>
          <p:cNvSpPr/>
          <p:nvPr/>
        </p:nvSpPr>
        <p:spPr>
          <a:xfrm>
            <a:off x="1405890" y="3689509"/>
            <a:ext cx="5297424"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선석배정 9곳 · 시트별 엑셀 (매일 06:00)</a:t>
            </a:r>
            <a:endParaRPr lang="en-US" sz="1650" dirty="0"/>
          </a:p>
        </p:txBody>
      </p:sp>
      <p:sp>
        <p:nvSpPr>
          <p:cNvPr id="10" name="Shape 8"/>
          <p:cNvSpPr/>
          <p:nvPr/>
        </p:nvSpPr>
        <p:spPr>
          <a:xfrm>
            <a:off x="6488430" y="3049429"/>
            <a:ext cx="5311140" cy="1174433"/>
          </a:xfrm>
          <a:prstGeom prst="rect">
            <a:avLst/>
          </a:prstGeom>
          <a:solidFill>
            <a:srgbClr val="F3F2F2"/>
          </a:solidFill>
          <a:ln/>
        </p:spPr>
      </p:sp>
      <p:sp>
        <p:nvSpPr>
          <p:cNvPr id="11" name="Text 9"/>
          <p:cNvSpPr/>
          <p:nvPr/>
        </p:nvSpPr>
        <p:spPr>
          <a:xfrm>
            <a:off x="6736080" y="3258979"/>
            <a:ext cx="5297424"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dirty="0">
                <a:solidFill>
                  <a:srgbClr val="201E1D"/>
                </a:solidFill>
                <a:latin typeface="Arial" pitchFamily="34" charset="0"/>
                <a:ea typeface="Arial" pitchFamily="34" charset="-122"/>
                <a:cs typeface="Arial" pitchFamily="34" charset="-120"/>
              </a:rPr>
              <a:t>위성 · AIS</a:t>
            </a:r>
            <a:endParaRPr lang="en-US" sz="1800" dirty="0"/>
          </a:p>
        </p:txBody>
      </p:sp>
      <p:sp>
        <p:nvSpPr>
          <p:cNvPr id="12" name="Text 10"/>
          <p:cNvSpPr/>
          <p:nvPr/>
        </p:nvSpPr>
        <p:spPr>
          <a:xfrm>
            <a:off x="6736080" y="3689509"/>
            <a:ext cx="5297424"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PortWatch 혼잡도 · VesselFinder 위치</a:t>
            </a:r>
            <a:endParaRPr lang="en-US" sz="1650" dirty="0"/>
          </a:p>
        </p:txBody>
      </p:sp>
      <p:sp>
        <p:nvSpPr>
          <p:cNvPr id="13" name="Shape 11"/>
          <p:cNvSpPr/>
          <p:nvPr/>
        </p:nvSpPr>
        <p:spPr>
          <a:xfrm>
            <a:off x="11818620" y="3049429"/>
            <a:ext cx="5311140" cy="1174433"/>
          </a:xfrm>
          <a:prstGeom prst="rect">
            <a:avLst/>
          </a:prstGeom>
          <a:solidFill>
            <a:srgbClr val="F3F2F2"/>
          </a:solidFill>
          <a:ln/>
        </p:spPr>
      </p:sp>
      <p:sp>
        <p:nvSpPr>
          <p:cNvPr id="14" name="Text 12"/>
          <p:cNvSpPr/>
          <p:nvPr/>
        </p:nvSpPr>
        <p:spPr>
          <a:xfrm>
            <a:off x="12066270" y="3258979"/>
            <a:ext cx="5297424"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dirty="0">
                <a:solidFill>
                  <a:srgbClr val="201E1D"/>
                </a:solidFill>
                <a:latin typeface="Arial" pitchFamily="34" charset="0"/>
                <a:ea typeface="Arial" pitchFamily="34" charset="-122"/>
                <a:cs typeface="Arial" pitchFamily="34" charset="-120"/>
              </a:rPr>
              <a:t>지수 · 통관 · 기상</a:t>
            </a:r>
            <a:endParaRPr lang="en-US" sz="1800" dirty="0"/>
          </a:p>
        </p:txBody>
      </p:sp>
      <p:sp>
        <p:nvSpPr>
          <p:cNvPr id="15" name="Text 13"/>
          <p:cNvSpPr/>
          <p:nvPr/>
        </p:nvSpPr>
        <p:spPr>
          <a:xfrm>
            <a:off x="12066270" y="3689509"/>
            <a:ext cx="5297424"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SCFI·CCFI · 유니패스 · Open-Meteo</a:t>
            </a:r>
            <a:endParaRPr lang="en-US" sz="1650" dirty="0"/>
          </a:p>
        </p:txBody>
      </p:sp>
      <p:sp>
        <p:nvSpPr>
          <p:cNvPr id="16" name="Text 14"/>
          <p:cNvSpPr/>
          <p:nvPr/>
        </p:nvSpPr>
        <p:spPr>
          <a:xfrm>
            <a:off x="342900" y="4448651"/>
            <a:ext cx="17602200" cy="451485"/>
          </a:xfrm>
          <a:prstGeom prst="rect">
            <a:avLst/>
          </a:prstGeom>
          <a:noFill/>
          <a:ln/>
        </p:spPr>
        <p:txBody>
          <a:bodyPr wrap="square" lIns="25400" tIns="25400" rIns="25400" bIns="25400" rtlCol="0" anchor="t">
            <a:normAutofit/>
          </a:bodyPr>
          <a:lstStyle/>
          <a:p>
            <a:pPr algn="ctr" indent="0" marL="0">
              <a:lnSpc>
                <a:spcPct val="108500"/>
              </a:lnSpc>
              <a:buNone/>
            </a:pPr>
            <a:r>
              <a:rPr lang="en-US" sz="2100" b="1" dirty="0">
                <a:solidFill>
                  <a:srgbClr val="EC3013"/>
                </a:solidFill>
                <a:latin typeface="Arial" pitchFamily="34" charset="0"/>
                <a:ea typeface="Arial" pitchFamily="34" charset="-122"/>
                <a:cs typeface="Arial" pitchFamily="34" charset="-120"/>
              </a:rPr>
              <a:t>↓</a:t>
            </a:r>
            <a:endParaRPr lang="en-US" sz="2100" dirty="0"/>
          </a:p>
        </p:txBody>
      </p:sp>
      <p:sp>
        <p:nvSpPr>
          <p:cNvPr id="17" name="Shape 15"/>
          <p:cNvSpPr/>
          <p:nvPr/>
        </p:nvSpPr>
        <p:spPr>
          <a:xfrm>
            <a:off x="1143000" y="5071586"/>
            <a:ext cx="16002000" cy="841058"/>
          </a:xfrm>
          <a:prstGeom prst="rect">
            <a:avLst/>
          </a:prstGeom>
          <a:solidFill>
            <a:srgbClr val="EC3013"/>
          </a:solidFill>
          <a:ln/>
        </p:spPr>
      </p:sp>
      <p:sp>
        <p:nvSpPr>
          <p:cNvPr id="18" name="Text 16"/>
          <p:cNvSpPr/>
          <p:nvPr/>
        </p:nvSpPr>
        <p:spPr>
          <a:xfrm>
            <a:off x="1447800" y="5314950"/>
            <a:ext cx="1870365" cy="392430"/>
          </a:xfrm>
          <a:prstGeom prst="rect">
            <a:avLst/>
          </a:prstGeom>
          <a:noFill/>
          <a:ln/>
        </p:spPr>
        <p:txBody>
          <a:bodyPr wrap="square" lIns="25400" tIns="25400" rIns="25400" bIns="25400" rtlCol="0" anchor="t">
            <a:normAutofit/>
          </a:bodyPr>
          <a:lstStyle/>
          <a:p>
            <a:pPr algn="l" indent="0" marL="0">
              <a:lnSpc>
                <a:spcPct val="110714"/>
              </a:lnSpc>
              <a:buNone/>
            </a:pPr>
            <a:r>
              <a:rPr lang="en-US" sz="1800" b="1" spc="36" kern="0" dirty="0">
                <a:solidFill>
                  <a:srgbClr val="F3F2F2"/>
                </a:solidFill>
                <a:latin typeface="Arial" pitchFamily="34" charset="0"/>
                <a:ea typeface="Arial" pitchFamily="34" charset="-122"/>
                <a:cs typeface="Arial" pitchFamily="34" charset="-120"/>
              </a:rPr>
              <a:t>자동 파이프라인</a:t>
            </a:r>
            <a:endParaRPr lang="en-US" sz="1800" dirty="0"/>
          </a:p>
        </p:txBody>
      </p:sp>
      <p:sp>
        <p:nvSpPr>
          <p:cNvPr id="19" name="Text 17"/>
          <p:cNvSpPr/>
          <p:nvPr/>
        </p:nvSpPr>
        <p:spPr>
          <a:xfrm>
            <a:off x="3338632" y="5300186"/>
            <a:ext cx="6750653"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F3F2F2"/>
                </a:solidFill>
                <a:latin typeface="Arial" pitchFamily="34" charset="0"/>
                <a:ea typeface="Arial" pitchFamily="34" charset="-122"/>
                <a:cs typeface="Arial" pitchFamily="34" charset="-120"/>
              </a:rPr>
              <a:t>수집 → 정규화(공통 스키마) → 적재(Supabase) → 표현</a:t>
            </a:r>
            <a:endParaRPr lang="en-US" sz="1950" dirty="0"/>
          </a:p>
        </p:txBody>
      </p:sp>
      <p:sp>
        <p:nvSpPr>
          <p:cNvPr id="20" name="Text 18"/>
          <p:cNvSpPr/>
          <p:nvPr/>
        </p:nvSpPr>
        <p:spPr>
          <a:xfrm>
            <a:off x="342900" y="6122194"/>
            <a:ext cx="17602200" cy="451485"/>
          </a:xfrm>
          <a:prstGeom prst="rect">
            <a:avLst/>
          </a:prstGeom>
          <a:noFill/>
          <a:ln/>
        </p:spPr>
        <p:txBody>
          <a:bodyPr wrap="square" lIns="25400" tIns="25400" rIns="25400" bIns="25400" rtlCol="0" anchor="t">
            <a:normAutofit/>
          </a:bodyPr>
          <a:lstStyle/>
          <a:p>
            <a:pPr algn="ctr" indent="0" marL="0">
              <a:lnSpc>
                <a:spcPct val="108500"/>
              </a:lnSpc>
              <a:buNone/>
            </a:pPr>
            <a:r>
              <a:rPr lang="en-US" sz="2100" b="1" dirty="0">
                <a:solidFill>
                  <a:srgbClr val="EC3013"/>
                </a:solidFill>
                <a:latin typeface="Arial" pitchFamily="34" charset="0"/>
                <a:ea typeface="Arial" pitchFamily="34" charset="-122"/>
                <a:cs typeface="Arial" pitchFamily="34" charset="-120"/>
              </a:rPr>
              <a:t>↓</a:t>
            </a:r>
            <a:endParaRPr lang="en-US" sz="2100" dirty="0"/>
          </a:p>
        </p:txBody>
      </p:sp>
      <p:sp>
        <p:nvSpPr>
          <p:cNvPr id="21" name="Shape 19"/>
          <p:cNvSpPr/>
          <p:nvPr/>
        </p:nvSpPr>
        <p:spPr>
          <a:xfrm>
            <a:off x="1143000" y="6745129"/>
            <a:ext cx="16002000" cy="1500188"/>
          </a:xfrm>
          <a:prstGeom prst="rect">
            <a:avLst/>
          </a:prstGeom>
          <a:solidFill>
            <a:srgbClr val="201E1E">
              <a:alpha val="40000"/>
            </a:srgbClr>
          </a:solidFill>
          <a:ln w="15240">
            <a:solidFill>
              <a:srgbClr val="201E1E">
                <a:alpha val="40000"/>
              </a:srgbClr>
            </a:solidFill>
            <a:prstDash val="solid"/>
          </a:ln>
        </p:spPr>
      </p:sp>
      <p:sp>
        <p:nvSpPr>
          <p:cNvPr id="22" name="Shape 20"/>
          <p:cNvSpPr/>
          <p:nvPr/>
        </p:nvSpPr>
        <p:spPr>
          <a:xfrm>
            <a:off x="1158240" y="6760369"/>
            <a:ext cx="3978593" cy="1469708"/>
          </a:xfrm>
          <a:prstGeom prst="rect">
            <a:avLst/>
          </a:prstGeom>
          <a:solidFill>
            <a:srgbClr val="F3F2F2"/>
          </a:solidFill>
          <a:ln/>
        </p:spPr>
      </p:sp>
      <p:sp>
        <p:nvSpPr>
          <p:cNvPr id="23" name="Text 21"/>
          <p:cNvSpPr/>
          <p:nvPr/>
        </p:nvSpPr>
        <p:spPr>
          <a:xfrm>
            <a:off x="1386840" y="6969919"/>
            <a:ext cx="3873532" cy="39243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① 실데이터 조회</a:t>
            </a:r>
            <a:endParaRPr lang="en-US" sz="1800" dirty="0"/>
          </a:p>
        </p:txBody>
      </p:sp>
      <p:sp>
        <p:nvSpPr>
          <p:cNvPr id="24" name="Text 22"/>
          <p:cNvSpPr/>
          <p:nvPr/>
        </p:nvSpPr>
        <p:spPr>
          <a:xfrm>
            <a:off x="1386840" y="7400449"/>
            <a:ext cx="3873532" cy="348139"/>
          </a:xfrm>
          <a:prstGeom prst="rect">
            <a:avLst/>
          </a:prstGeom>
          <a:noFill/>
          <a:ln/>
        </p:spPr>
        <p:txBody>
          <a:bodyPr wrap="square" lIns="25400" tIns="25400" rIns="25400" bIns="25400" rtlCol="0" anchor="t">
            <a:normAutofit/>
          </a:bodyPr>
          <a:lstStyle/>
          <a:p>
            <a:pPr algn="l" indent="0" marL="0">
              <a:lnSpc>
                <a:spcPct val="131250"/>
              </a:lnSpc>
              <a:buNone/>
            </a:pPr>
            <a:r>
              <a:rPr lang="en-US" sz="1575" dirty="0">
                <a:solidFill>
                  <a:srgbClr val="201D1D">
                    <a:alpha val="68000"/>
                  </a:srgbClr>
                </a:solidFill>
                <a:latin typeface="Arial" pitchFamily="34" charset="0"/>
                <a:ea typeface="Arial" pitchFamily="34" charset="-122"/>
                <a:cs typeface="Arial" pitchFamily="34" charset="-120"/>
              </a:rPr>
              <a:t>선석·혼잡·선박·운임·기상·통관 한 화면</a:t>
            </a:r>
            <a:endParaRPr lang="en-US" sz="1575" dirty="0"/>
          </a:p>
        </p:txBody>
      </p:sp>
      <p:sp>
        <p:nvSpPr>
          <p:cNvPr id="25" name="Shape 23"/>
          <p:cNvSpPr/>
          <p:nvPr/>
        </p:nvSpPr>
        <p:spPr>
          <a:xfrm>
            <a:off x="5155882" y="6760369"/>
            <a:ext cx="3978593" cy="1469708"/>
          </a:xfrm>
          <a:prstGeom prst="rect">
            <a:avLst/>
          </a:prstGeom>
          <a:solidFill>
            <a:srgbClr val="F3F2F2"/>
          </a:solidFill>
          <a:ln/>
        </p:spPr>
      </p:sp>
      <p:sp>
        <p:nvSpPr>
          <p:cNvPr id="26" name="Text 24"/>
          <p:cNvSpPr/>
          <p:nvPr/>
        </p:nvSpPr>
        <p:spPr>
          <a:xfrm>
            <a:off x="5384482" y="6969919"/>
            <a:ext cx="3873532" cy="39243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② 리스크 분석</a:t>
            </a:r>
            <a:endParaRPr lang="en-US" sz="1800" dirty="0"/>
          </a:p>
        </p:txBody>
      </p:sp>
      <p:sp>
        <p:nvSpPr>
          <p:cNvPr id="27" name="Text 25"/>
          <p:cNvSpPr/>
          <p:nvPr/>
        </p:nvSpPr>
        <p:spPr>
          <a:xfrm>
            <a:off x="5384482" y="7400449"/>
            <a:ext cx="3873532" cy="348139"/>
          </a:xfrm>
          <a:prstGeom prst="rect">
            <a:avLst/>
          </a:prstGeom>
          <a:noFill/>
          <a:ln/>
        </p:spPr>
        <p:txBody>
          <a:bodyPr wrap="square" lIns="25400" tIns="25400" rIns="25400" bIns="25400" rtlCol="0" anchor="t">
            <a:normAutofit/>
          </a:bodyPr>
          <a:lstStyle/>
          <a:p>
            <a:pPr algn="l" indent="0" marL="0">
              <a:lnSpc>
                <a:spcPct val="131250"/>
              </a:lnSpc>
              <a:buNone/>
            </a:pPr>
            <a:r>
              <a:rPr lang="en-US" sz="1575" dirty="0">
                <a:solidFill>
                  <a:srgbClr val="201D1D">
                    <a:alpha val="68000"/>
                  </a:srgbClr>
                </a:solidFill>
                <a:latin typeface="Arial" pitchFamily="34" charset="0"/>
                <a:ea typeface="Arial" pitchFamily="34" charset="-122"/>
                <a:cs typeface="Arial" pitchFamily="34" charset="-120"/>
              </a:rPr>
              <a:t>PCI 혼잡도 · ETA 지연 · 경로 소요일</a:t>
            </a:r>
            <a:endParaRPr lang="en-US" sz="1575" dirty="0"/>
          </a:p>
        </p:txBody>
      </p:sp>
      <p:sp>
        <p:nvSpPr>
          <p:cNvPr id="28" name="Shape 26"/>
          <p:cNvSpPr/>
          <p:nvPr/>
        </p:nvSpPr>
        <p:spPr>
          <a:xfrm>
            <a:off x="9153525" y="6760369"/>
            <a:ext cx="3978593" cy="1469708"/>
          </a:xfrm>
          <a:prstGeom prst="rect">
            <a:avLst/>
          </a:prstGeom>
          <a:solidFill>
            <a:srgbClr val="F3F2F2"/>
          </a:solidFill>
          <a:ln/>
        </p:spPr>
      </p:sp>
      <p:sp>
        <p:nvSpPr>
          <p:cNvPr id="29" name="Text 27"/>
          <p:cNvSpPr/>
          <p:nvPr/>
        </p:nvSpPr>
        <p:spPr>
          <a:xfrm>
            <a:off x="9382125" y="6969919"/>
            <a:ext cx="3873532" cy="39243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③ 실행 지원</a:t>
            </a:r>
            <a:endParaRPr lang="en-US" sz="1800" dirty="0"/>
          </a:p>
        </p:txBody>
      </p:sp>
      <p:sp>
        <p:nvSpPr>
          <p:cNvPr id="30" name="Text 28"/>
          <p:cNvSpPr/>
          <p:nvPr/>
        </p:nvSpPr>
        <p:spPr>
          <a:xfrm>
            <a:off x="9382125" y="7400449"/>
            <a:ext cx="3873532" cy="348139"/>
          </a:xfrm>
          <a:prstGeom prst="rect">
            <a:avLst/>
          </a:prstGeom>
          <a:noFill/>
          <a:ln/>
        </p:spPr>
        <p:txBody>
          <a:bodyPr wrap="square" lIns="25400" tIns="25400" rIns="25400" bIns="25400" rtlCol="0" anchor="t">
            <a:normAutofit/>
          </a:bodyPr>
          <a:lstStyle/>
          <a:p>
            <a:pPr algn="l" indent="0" marL="0">
              <a:lnSpc>
                <a:spcPct val="131250"/>
              </a:lnSpc>
              <a:buNone/>
            </a:pPr>
            <a:r>
              <a:rPr lang="en-US" sz="1575" dirty="0">
                <a:solidFill>
                  <a:srgbClr val="201D1D">
                    <a:alpha val="68000"/>
                  </a:srgbClr>
                </a:solidFill>
                <a:latin typeface="Arial" pitchFamily="34" charset="0"/>
                <a:ea typeface="Arial" pitchFamily="34" charset="-122"/>
                <a:cs typeface="Arial" pitchFamily="34" charset="-120"/>
              </a:rPr>
              <a:t>반입마감 임박 · 통관 추적 · 경로 시뮬</a:t>
            </a:r>
            <a:endParaRPr lang="en-US" sz="1575" dirty="0"/>
          </a:p>
        </p:txBody>
      </p:sp>
      <p:sp>
        <p:nvSpPr>
          <p:cNvPr id="31" name="Shape 29"/>
          <p:cNvSpPr/>
          <p:nvPr/>
        </p:nvSpPr>
        <p:spPr>
          <a:xfrm>
            <a:off x="13151168" y="6760369"/>
            <a:ext cx="3978593" cy="1469708"/>
          </a:xfrm>
          <a:prstGeom prst="rect">
            <a:avLst/>
          </a:prstGeom>
          <a:solidFill>
            <a:srgbClr val="F3F2F2"/>
          </a:solidFill>
          <a:ln/>
        </p:spPr>
      </p:sp>
      <p:sp>
        <p:nvSpPr>
          <p:cNvPr id="32" name="Text 30"/>
          <p:cNvSpPr/>
          <p:nvPr/>
        </p:nvSpPr>
        <p:spPr>
          <a:xfrm>
            <a:off x="13379768" y="6969919"/>
            <a:ext cx="3873532" cy="392430"/>
          </a:xfrm>
          <a:prstGeom prst="rect">
            <a:avLst/>
          </a:prstGeom>
          <a:noFill/>
          <a:ln/>
        </p:spPr>
        <p:txBody>
          <a:bodyPr wrap="square" lIns="25400" tIns="25400" rIns="25400" bIns="25400" rtlCol="0" anchor="t">
            <a:normAutofit/>
          </a:bodyPr>
          <a:lstStyle/>
          <a:p>
            <a:pPr algn="l" indent="0" marL="0">
              <a:lnSpc>
                <a:spcPct val="110714"/>
              </a:lnSpc>
              <a:buNone/>
            </a:pPr>
            <a:r>
              <a:rPr lang="en-US" sz="1800" b="1" dirty="0">
                <a:solidFill>
                  <a:srgbClr val="AE1800"/>
                </a:solidFill>
                <a:latin typeface="Arial" pitchFamily="34" charset="0"/>
                <a:ea typeface="Arial" pitchFamily="34" charset="-122"/>
                <a:cs typeface="Arial" pitchFamily="34" charset="-120"/>
              </a:rPr>
              <a:t>④ 운영 · 자동화</a:t>
            </a:r>
            <a:endParaRPr lang="en-US" sz="1800" dirty="0"/>
          </a:p>
        </p:txBody>
      </p:sp>
      <p:sp>
        <p:nvSpPr>
          <p:cNvPr id="33" name="Text 31"/>
          <p:cNvSpPr/>
          <p:nvPr/>
        </p:nvSpPr>
        <p:spPr>
          <a:xfrm>
            <a:off x="13379768" y="7400449"/>
            <a:ext cx="3627034" cy="658177"/>
          </a:xfrm>
          <a:prstGeom prst="rect">
            <a:avLst/>
          </a:prstGeom>
          <a:noFill/>
          <a:ln/>
        </p:spPr>
        <p:txBody>
          <a:bodyPr wrap="square" lIns="25400" tIns="25400" rIns="25400" bIns="25400" rtlCol="0" anchor="t">
            <a:normAutofit/>
          </a:bodyPr>
          <a:lstStyle/>
          <a:p>
            <a:pPr algn="l" indent="0" marL="0">
              <a:lnSpc>
                <a:spcPct val="131250"/>
              </a:lnSpc>
              <a:buNone/>
            </a:pPr>
            <a:r>
              <a:rPr lang="en-US" sz="1575" dirty="0">
                <a:solidFill>
                  <a:srgbClr val="201D1D">
                    <a:alpha val="68000"/>
                  </a:srgbClr>
                </a:solidFill>
                <a:latin typeface="Arial" pitchFamily="34" charset="0"/>
                <a:ea typeface="Arial" pitchFamily="34" charset="-122"/>
                <a:cs typeface="Arial" pitchFamily="34" charset="-120"/>
              </a:rPr>
              <a:t>매일 자동수집 · 신선도 보드 · 장애 폴백</a:t>
            </a:r>
            <a:endParaRPr lang="en-US" sz="1575" dirty="0"/>
          </a:p>
        </p:txBody>
      </p:sp>
      <p:sp>
        <p:nvSpPr>
          <p:cNvPr id="34" name="Text 32"/>
          <p:cNvSpPr/>
          <p:nvPr/>
        </p:nvSpPr>
        <p:spPr>
          <a:xfrm>
            <a:off x="1143000" y="9390698"/>
            <a:ext cx="2791730"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211D1D">
                    <a:alpha val="55000"/>
                  </a:srgbClr>
                </a:solidFill>
                <a:latin typeface="Arial" pitchFamily="34" charset="0"/>
                <a:ea typeface="Arial" pitchFamily="34" charset="-122"/>
                <a:cs typeface="Arial" pitchFamily="34" charset="-120"/>
              </a:rPr>
              <a:t>AI 컨트롤타워 · 태웅로직스</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838200"/>
            <a:ext cx="12791980"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52" kern="0" dirty="0">
                <a:solidFill>
                  <a:srgbClr val="AE1800"/>
                </a:solidFill>
                <a:latin typeface="Arial" pitchFamily="34" charset="0"/>
                <a:ea typeface="Arial" pitchFamily="34" charset="-122"/>
                <a:cs typeface="Arial" pitchFamily="34" charset="-120"/>
              </a:rPr>
              <a:t>03 해결책 · CORE SCREENS</a:t>
            </a:r>
            <a:endParaRPr lang="en-US" sz="1800" dirty="0"/>
          </a:p>
        </p:txBody>
      </p:sp>
      <p:sp>
        <p:nvSpPr>
          <p:cNvPr id="3" name="Text 1"/>
          <p:cNvSpPr/>
          <p:nvPr/>
        </p:nvSpPr>
        <p:spPr>
          <a:xfrm>
            <a:off x="1143000" y="1344930"/>
            <a:ext cx="12791980" cy="563047"/>
          </a:xfrm>
          <a:prstGeom prst="rect">
            <a:avLst/>
          </a:prstGeom>
          <a:noFill/>
          <a:ln/>
        </p:spPr>
        <p:txBody>
          <a:bodyPr wrap="square" lIns="25400" tIns="25400" rIns="25400" bIns="25400" rtlCol="0" anchor="t">
            <a:normAutofit/>
          </a:bodyPr>
          <a:lstStyle/>
          <a:p>
            <a:pPr algn="l" indent="0" marL="0">
              <a:lnSpc>
                <a:spcPct val="74891"/>
              </a:lnSpc>
              <a:buNone/>
            </a:pPr>
            <a:r>
              <a:rPr lang="en-US" sz="3900" b="1" spc="-39" kern="0" dirty="0">
                <a:solidFill>
                  <a:srgbClr val="201E1D"/>
                </a:solidFill>
                <a:latin typeface="Arial" pitchFamily="34" charset="0"/>
                <a:ea typeface="Arial" pitchFamily="34" charset="-122"/>
                <a:cs typeface="Arial" pitchFamily="34" charset="-120"/>
              </a:rPr>
              <a:t>8개 화면, 전부 실데이터 — 조회부터 리스크 분석까지</a:t>
            </a:r>
            <a:endParaRPr lang="en-US" sz="3900" dirty="0"/>
          </a:p>
        </p:txBody>
      </p:sp>
      <p:sp>
        <p:nvSpPr>
          <p:cNvPr id="4" name="Text 2"/>
          <p:cNvSpPr/>
          <p:nvPr/>
        </p:nvSpPr>
        <p:spPr>
          <a:xfrm>
            <a:off x="16869490" y="1486019"/>
            <a:ext cx="351711"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AE1800"/>
                </a:solidFill>
                <a:latin typeface="Arial" pitchFamily="34" charset="0"/>
                <a:ea typeface="Arial" pitchFamily="34" charset="-122"/>
                <a:cs typeface="Arial" pitchFamily="34" charset="-120"/>
              </a:rPr>
              <a:t>07</a:t>
            </a:r>
            <a:endParaRPr lang="en-US" sz="1950" dirty="0"/>
          </a:p>
        </p:txBody>
      </p:sp>
      <p:sp>
        <p:nvSpPr>
          <p:cNvPr id="5" name="Shape 3"/>
          <p:cNvSpPr/>
          <p:nvPr/>
        </p:nvSpPr>
        <p:spPr>
          <a:xfrm>
            <a:off x="1143000" y="2117527"/>
            <a:ext cx="16002000" cy="19050"/>
          </a:xfrm>
          <a:prstGeom prst="rect">
            <a:avLst/>
          </a:prstGeom>
          <a:solidFill>
            <a:srgbClr val="201E1E">
              <a:alpha val="40000"/>
            </a:srgbClr>
          </a:solidFill>
          <a:ln/>
        </p:spPr>
      </p:sp>
      <p:sp>
        <p:nvSpPr>
          <p:cNvPr id="6" name="Shape 4"/>
          <p:cNvSpPr/>
          <p:nvPr/>
        </p:nvSpPr>
        <p:spPr>
          <a:xfrm>
            <a:off x="1143000" y="3653314"/>
            <a:ext cx="16002000" cy="3934778"/>
          </a:xfrm>
          <a:prstGeom prst="rect">
            <a:avLst/>
          </a:prstGeom>
          <a:solidFill>
            <a:srgbClr val="201E1E">
              <a:alpha val="40000"/>
            </a:srgbClr>
          </a:solidFill>
          <a:ln w="15240">
            <a:solidFill>
              <a:srgbClr val="201E1E">
                <a:alpha val="40000"/>
              </a:srgbClr>
            </a:solidFill>
            <a:prstDash val="solid"/>
          </a:ln>
        </p:spPr>
      </p:sp>
      <p:sp>
        <p:nvSpPr>
          <p:cNvPr id="7" name="Shape 5"/>
          <p:cNvSpPr/>
          <p:nvPr/>
        </p:nvSpPr>
        <p:spPr>
          <a:xfrm>
            <a:off x="1158240" y="3668554"/>
            <a:ext cx="3978593" cy="1942624"/>
          </a:xfrm>
          <a:prstGeom prst="rect">
            <a:avLst/>
          </a:prstGeom>
          <a:solidFill>
            <a:srgbClr val="F3F2F2"/>
          </a:solidFill>
          <a:ln/>
        </p:spPr>
      </p:sp>
      <p:sp>
        <p:nvSpPr>
          <p:cNvPr id="8" name="Text 6"/>
          <p:cNvSpPr/>
          <p:nvPr/>
        </p:nvSpPr>
        <p:spPr>
          <a:xfrm>
            <a:off x="1424940" y="3916204"/>
            <a:ext cx="3789712" cy="336709"/>
          </a:xfrm>
          <a:prstGeom prst="rect">
            <a:avLst/>
          </a:prstGeom>
          <a:noFill/>
          <a:ln/>
        </p:spPr>
        <p:txBody>
          <a:bodyPr wrap="square" lIns="25400" tIns="25400" rIns="25400" bIns="25400" rtlCol="0" anchor="t">
            <a:normAutofit/>
          </a:bodyPr>
          <a:lstStyle/>
          <a:p>
            <a:pPr algn="l" indent="0" marL="0">
              <a:lnSpc>
                <a:spcPct val="78400"/>
              </a:lnSpc>
              <a:buNone/>
            </a:pPr>
            <a:r>
              <a:rPr lang="en-US" sz="2100" b="1" spc="-31" kern="0" dirty="0">
                <a:solidFill>
                  <a:srgbClr val="201E1D"/>
                </a:solidFill>
                <a:latin typeface="Arial" pitchFamily="34" charset="0"/>
                <a:ea typeface="Arial" pitchFamily="34" charset="-122"/>
                <a:cs typeface="Arial" pitchFamily="34" charset="-120"/>
              </a:rPr>
              <a:t>Port Insight</a:t>
            </a:r>
            <a:endParaRPr lang="en-US" sz="2100" dirty="0"/>
          </a:p>
        </p:txBody>
      </p:sp>
      <p:sp>
        <p:nvSpPr>
          <p:cNvPr id="9" name="Text 7"/>
          <p:cNvSpPr/>
          <p:nvPr/>
        </p:nvSpPr>
        <p:spPr>
          <a:xfrm>
            <a:off x="1424940" y="4329113"/>
            <a:ext cx="3548548"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1F1E1C">
                    <a:alpha val="70000"/>
                  </a:srgbClr>
                </a:solidFill>
                <a:latin typeface="Arial" pitchFamily="34" charset="0"/>
                <a:ea typeface="Arial" pitchFamily="34" charset="-122"/>
                <a:cs typeface="Arial" pitchFamily="34" charset="-120"/>
              </a:rPr>
              <a:t>글로벌 93개 항만 혼잡도(PCI) 게이지·지도·Top10</a:t>
            </a:r>
            <a:endParaRPr lang="en-US" sz="1650" dirty="0"/>
          </a:p>
        </p:txBody>
      </p:sp>
      <p:sp>
        <p:nvSpPr>
          <p:cNvPr id="10" name="Text 8"/>
          <p:cNvSpPr/>
          <p:nvPr/>
        </p:nvSpPr>
        <p:spPr>
          <a:xfrm>
            <a:off x="1424940" y="5068253"/>
            <a:ext cx="3548548"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AE1800"/>
                </a:solidFill>
                <a:latin typeface="Arial" pitchFamily="34" charset="0"/>
                <a:ea typeface="Arial" pitchFamily="34" charset="-122"/>
                <a:cs typeface="Arial" pitchFamily="34" charset="-120"/>
              </a:rPr>
              <a:t>IMF PortWatch</a:t>
            </a:r>
            <a:endParaRPr lang="en-US" sz="1500" dirty="0"/>
          </a:p>
        </p:txBody>
      </p:sp>
      <p:sp>
        <p:nvSpPr>
          <p:cNvPr id="11" name="Shape 9"/>
          <p:cNvSpPr/>
          <p:nvPr/>
        </p:nvSpPr>
        <p:spPr>
          <a:xfrm>
            <a:off x="5155882" y="3668554"/>
            <a:ext cx="3978593" cy="1942624"/>
          </a:xfrm>
          <a:prstGeom prst="rect">
            <a:avLst/>
          </a:prstGeom>
          <a:solidFill>
            <a:srgbClr val="F3F2F2"/>
          </a:solidFill>
          <a:ln/>
        </p:spPr>
      </p:sp>
      <p:sp>
        <p:nvSpPr>
          <p:cNvPr id="12" name="Text 10"/>
          <p:cNvSpPr/>
          <p:nvPr/>
        </p:nvSpPr>
        <p:spPr>
          <a:xfrm>
            <a:off x="5422582" y="3916204"/>
            <a:ext cx="3789712" cy="336709"/>
          </a:xfrm>
          <a:prstGeom prst="rect">
            <a:avLst/>
          </a:prstGeom>
          <a:noFill/>
          <a:ln/>
        </p:spPr>
        <p:txBody>
          <a:bodyPr wrap="square" lIns="25400" tIns="25400" rIns="25400" bIns="25400" rtlCol="0" anchor="t">
            <a:normAutofit/>
          </a:bodyPr>
          <a:lstStyle/>
          <a:p>
            <a:pPr algn="l" indent="0" marL="0">
              <a:lnSpc>
                <a:spcPct val="78400"/>
              </a:lnSpc>
              <a:buNone/>
            </a:pPr>
            <a:r>
              <a:rPr lang="en-US" sz="2100" b="1" spc="-31" kern="0" dirty="0">
                <a:solidFill>
                  <a:srgbClr val="201E1D"/>
                </a:solidFill>
                <a:latin typeface="Arial" pitchFamily="34" charset="0"/>
                <a:ea typeface="Arial" pitchFamily="34" charset="-122"/>
                <a:cs typeface="Arial" pitchFamily="34" charset="-120"/>
              </a:rPr>
              <a:t>선석배정</a:t>
            </a:r>
            <a:endParaRPr lang="en-US" sz="2100" dirty="0"/>
          </a:p>
        </p:txBody>
      </p:sp>
      <p:sp>
        <p:nvSpPr>
          <p:cNvPr id="13" name="Text 11"/>
          <p:cNvSpPr/>
          <p:nvPr/>
        </p:nvSpPr>
        <p:spPr>
          <a:xfrm>
            <a:off x="5422582" y="4329113"/>
            <a:ext cx="3548548"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1F1E1C">
                    <a:alpha val="70000"/>
                  </a:srgbClr>
                </a:solidFill>
                <a:latin typeface="Arial" pitchFamily="34" charset="0"/>
                <a:ea typeface="Arial" pitchFamily="34" charset="-122"/>
                <a:cs typeface="Arial" pitchFamily="34" charset="-120"/>
              </a:rPr>
              <a:t>9개 터미널 통합 · 반입마감 임박 강조 · 그리드 UX</a:t>
            </a:r>
            <a:endParaRPr lang="en-US" sz="1650" dirty="0"/>
          </a:p>
        </p:txBody>
      </p:sp>
      <p:sp>
        <p:nvSpPr>
          <p:cNvPr id="14" name="Text 12"/>
          <p:cNvSpPr/>
          <p:nvPr/>
        </p:nvSpPr>
        <p:spPr>
          <a:xfrm>
            <a:off x="5422582" y="5068253"/>
            <a:ext cx="3548548"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AE1800"/>
                </a:solidFill>
                <a:latin typeface="Arial" pitchFamily="34" charset="0"/>
                <a:ea typeface="Arial" pitchFamily="34" charset="-122"/>
                <a:cs typeface="Arial" pitchFamily="34" charset="-120"/>
              </a:rPr>
              <a:t>터미널 공표</a:t>
            </a:r>
            <a:endParaRPr lang="en-US" sz="1500" dirty="0"/>
          </a:p>
        </p:txBody>
      </p:sp>
      <p:sp>
        <p:nvSpPr>
          <p:cNvPr id="15" name="Shape 13"/>
          <p:cNvSpPr/>
          <p:nvPr/>
        </p:nvSpPr>
        <p:spPr>
          <a:xfrm>
            <a:off x="9153525" y="3668554"/>
            <a:ext cx="3978593" cy="1942624"/>
          </a:xfrm>
          <a:prstGeom prst="rect">
            <a:avLst/>
          </a:prstGeom>
          <a:solidFill>
            <a:srgbClr val="F3F2F2"/>
          </a:solidFill>
          <a:ln/>
        </p:spPr>
      </p:sp>
      <p:sp>
        <p:nvSpPr>
          <p:cNvPr id="16" name="Text 14"/>
          <p:cNvSpPr/>
          <p:nvPr/>
        </p:nvSpPr>
        <p:spPr>
          <a:xfrm>
            <a:off x="9420225" y="3916204"/>
            <a:ext cx="3789712" cy="336709"/>
          </a:xfrm>
          <a:prstGeom prst="rect">
            <a:avLst/>
          </a:prstGeom>
          <a:noFill/>
          <a:ln/>
        </p:spPr>
        <p:txBody>
          <a:bodyPr wrap="square" lIns="25400" tIns="25400" rIns="25400" bIns="25400" rtlCol="0" anchor="t">
            <a:normAutofit/>
          </a:bodyPr>
          <a:lstStyle/>
          <a:p>
            <a:pPr algn="l" indent="0" marL="0">
              <a:lnSpc>
                <a:spcPct val="78400"/>
              </a:lnSpc>
              <a:buNone/>
            </a:pPr>
            <a:r>
              <a:rPr lang="en-US" sz="2100" b="1" spc="-31" kern="0" dirty="0">
                <a:solidFill>
                  <a:srgbClr val="201E1D"/>
                </a:solidFill>
                <a:latin typeface="Arial" pitchFamily="34" charset="0"/>
                <a:ea typeface="Arial" pitchFamily="34" charset="-122"/>
                <a:cs typeface="Arial" pitchFamily="34" charset="-120"/>
              </a:rPr>
              <a:t>선박 위치</a:t>
            </a:r>
            <a:endParaRPr lang="en-US" sz="2100" dirty="0"/>
          </a:p>
        </p:txBody>
      </p:sp>
      <p:sp>
        <p:nvSpPr>
          <p:cNvPr id="17" name="Text 15"/>
          <p:cNvSpPr/>
          <p:nvPr/>
        </p:nvSpPr>
        <p:spPr>
          <a:xfrm>
            <a:off x="9420225" y="4329113"/>
            <a:ext cx="3548548"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1F1E1C">
                    <a:alpha val="70000"/>
                  </a:srgbClr>
                </a:solidFill>
                <a:latin typeface="Arial" pitchFamily="34" charset="0"/>
                <a:ea typeface="Arial" pitchFamily="34" charset="-122"/>
                <a:cs typeface="Arial" pitchFamily="34" charset="-120"/>
              </a:rPr>
              <a:t>실시간 AIS 지도 · 선명 검색 → 터미널 확대</a:t>
            </a:r>
            <a:endParaRPr lang="en-US" sz="1650" dirty="0"/>
          </a:p>
        </p:txBody>
      </p:sp>
      <p:sp>
        <p:nvSpPr>
          <p:cNvPr id="18" name="Text 16"/>
          <p:cNvSpPr/>
          <p:nvPr/>
        </p:nvSpPr>
        <p:spPr>
          <a:xfrm>
            <a:off x="9420225" y="5068253"/>
            <a:ext cx="3548548"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AE1800"/>
                </a:solidFill>
                <a:latin typeface="Arial" pitchFamily="34" charset="0"/>
                <a:ea typeface="Arial" pitchFamily="34" charset="-122"/>
                <a:cs typeface="Arial" pitchFamily="34" charset="-120"/>
              </a:rPr>
              <a:t>VesselFinder</a:t>
            </a:r>
            <a:endParaRPr lang="en-US" sz="1500" dirty="0"/>
          </a:p>
        </p:txBody>
      </p:sp>
      <p:sp>
        <p:nvSpPr>
          <p:cNvPr id="19" name="Shape 17"/>
          <p:cNvSpPr/>
          <p:nvPr/>
        </p:nvSpPr>
        <p:spPr>
          <a:xfrm>
            <a:off x="13151168" y="3668554"/>
            <a:ext cx="3978593" cy="1942624"/>
          </a:xfrm>
          <a:prstGeom prst="rect">
            <a:avLst/>
          </a:prstGeom>
          <a:solidFill>
            <a:srgbClr val="F3F2F2"/>
          </a:solidFill>
          <a:ln/>
        </p:spPr>
      </p:sp>
      <p:sp>
        <p:nvSpPr>
          <p:cNvPr id="20" name="Text 18"/>
          <p:cNvSpPr/>
          <p:nvPr/>
        </p:nvSpPr>
        <p:spPr>
          <a:xfrm>
            <a:off x="13417868" y="3916204"/>
            <a:ext cx="3789712" cy="336709"/>
          </a:xfrm>
          <a:prstGeom prst="rect">
            <a:avLst/>
          </a:prstGeom>
          <a:noFill/>
          <a:ln/>
        </p:spPr>
        <p:txBody>
          <a:bodyPr wrap="square" lIns="25400" tIns="25400" rIns="25400" bIns="25400" rtlCol="0" anchor="t">
            <a:normAutofit/>
          </a:bodyPr>
          <a:lstStyle/>
          <a:p>
            <a:pPr algn="l" indent="0" marL="0">
              <a:lnSpc>
                <a:spcPct val="78400"/>
              </a:lnSpc>
              <a:buNone/>
            </a:pPr>
            <a:r>
              <a:rPr lang="en-US" sz="2100" b="1" spc="-31" kern="0" dirty="0">
                <a:solidFill>
                  <a:srgbClr val="201E1D"/>
                </a:solidFill>
                <a:latin typeface="Arial" pitchFamily="34" charset="0"/>
                <a:ea typeface="Arial" pitchFamily="34" charset="-122"/>
                <a:cs typeface="Arial" pitchFamily="34" charset="-120"/>
              </a:rPr>
              <a:t>화물 추적</a:t>
            </a:r>
            <a:endParaRPr lang="en-US" sz="2100" dirty="0"/>
          </a:p>
        </p:txBody>
      </p:sp>
      <p:sp>
        <p:nvSpPr>
          <p:cNvPr id="21" name="Text 19"/>
          <p:cNvSpPr/>
          <p:nvPr/>
        </p:nvSpPr>
        <p:spPr>
          <a:xfrm>
            <a:off x="13417868" y="4329113"/>
            <a:ext cx="3548548"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1F1E1C">
                    <a:alpha val="70000"/>
                  </a:srgbClr>
                </a:solidFill>
                <a:latin typeface="Arial" pitchFamily="34" charset="0"/>
                <a:ea typeface="Arial" pitchFamily="34" charset="-122"/>
                <a:cs typeface="Arial" pitchFamily="34" charset="-120"/>
              </a:rPr>
              <a:t>MBL/HBL/AWB 통관 진행 타임라인 조회</a:t>
            </a:r>
            <a:endParaRPr lang="en-US" sz="1650" dirty="0"/>
          </a:p>
        </p:txBody>
      </p:sp>
      <p:sp>
        <p:nvSpPr>
          <p:cNvPr id="22" name="Text 20"/>
          <p:cNvSpPr/>
          <p:nvPr/>
        </p:nvSpPr>
        <p:spPr>
          <a:xfrm>
            <a:off x="13417868" y="5068253"/>
            <a:ext cx="3548548"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AE1800"/>
                </a:solidFill>
                <a:latin typeface="Arial" pitchFamily="34" charset="0"/>
                <a:ea typeface="Arial" pitchFamily="34" charset="-122"/>
                <a:cs typeface="Arial" pitchFamily="34" charset="-120"/>
              </a:rPr>
              <a:t>관세청 유니패스</a:t>
            </a:r>
            <a:endParaRPr lang="en-US" sz="1500" dirty="0"/>
          </a:p>
        </p:txBody>
      </p:sp>
      <p:sp>
        <p:nvSpPr>
          <p:cNvPr id="23" name="Shape 21"/>
          <p:cNvSpPr/>
          <p:nvPr/>
        </p:nvSpPr>
        <p:spPr>
          <a:xfrm>
            <a:off x="1158240" y="5630228"/>
            <a:ext cx="3978593" cy="1942624"/>
          </a:xfrm>
          <a:prstGeom prst="rect">
            <a:avLst/>
          </a:prstGeom>
          <a:solidFill>
            <a:srgbClr val="F3F2F2"/>
          </a:solidFill>
          <a:ln/>
        </p:spPr>
      </p:sp>
      <p:sp>
        <p:nvSpPr>
          <p:cNvPr id="24" name="Text 22"/>
          <p:cNvSpPr/>
          <p:nvPr/>
        </p:nvSpPr>
        <p:spPr>
          <a:xfrm>
            <a:off x="1424940" y="5877878"/>
            <a:ext cx="3789712" cy="336709"/>
          </a:xfrm>
          <a:prstGeom prst="rect">
            <a:avLst/>
          </a:prstGeom>
          <a:noFill/>
          <a:ln/>
        </p:spPr>
        <p:txBody>
          <a:bodyPr wrap="square" lIns="25400" tIns="25400" rIns="25400" bIns="25400" rtlCol="0" anchor="t">
            <a:normAutofit/>
          </a:bodyPr>
          <a:lstStyle/>
          <a:p>
            <a:pPr algn="l" indent="0" marL="0">
              <a:lnSpc>
                <a:spcPct val="78400"/>
              </a:lnSpc>
              <a:buNone/>
            </a:pPr>
            <a:r>
              <a:rPr lang="en-US" sz="2100" b="1" spc="-31" kern="0" dirty="0">
                <a:solidFill>
                  <a:srgbClr val="201E1D"/>
                </a:solidFill>
                <a:latin typeface="Arial" pitchFamily="34" charset="0"/>
                <a:ea typeface="Arial" pitchFamily="34" charset="-122"/>
                <a:cs typeface="Arial" pitchFamily="34" charset="-120"/>
              </a:rPr>
              <a:t>경로 분석</a:t>
            </a:r>
            <a:endParaRPr lang="en-US" sz="2100" dirty="0"/>
          </a:p>
        </p:txBody>
      </p:sp>
      <p:sp>
        <p:nvSpPr>
          <p:cNvPr id="25" name="Text 23"/>
          <p:cNvSpPr/>
          <p:nvPr/>
        </p:nvSpPr>
        <p:spPr>
          <a:xfrm>
            <a:off x="1424940" y="6290786"/>
            <a:ext cx="3548548"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1F1E1C">
                    <a:alpha val="70000"/>
                  </a:srgbClr>
                </a:solidFill>
                <a:latin typeface="Arial" pitchFamily="34" charset="0"/>
                <a:ea typeface="Arial" pitchFamily="34" charset="-122"/>
                <a:cs typeface="Arial" pitchFamily="34" charset="-120"/>
              </a:rPr>
              <a:t>해상 항로 + 소요일 몬테카를로 (P10/P50/P90)</a:t>
            </a:r>
            <a:endParaRPr lang="en-US" sz="1650" dirty="0"/>
          </a:p>
        </p:txBody>
      </p:sp>
      <p:sp>
        <p:nvSpPr>
          <p:cNvPr id="26" name="Text 24"/>
          <p:cNvSpPr/>
          <p:nvPr/>
        </p:nvSpPr>
        <p:spPr>
          <a:xfrm>
            <a:off x="1424940" y="7029926"/>
            <a:ext cx="3548548"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AE1800"/>
                </a:solidFill>
                <a:latin typeface="Arial" pitchFamily="34" charset="0"/>
                <a:ea typeface="Arial" pitchFamily="34" charset="-122"/>
                <a:cs typeface="Arial" pitchFamily="34" charset="-120"/>
              </a:rPr>
              <a:t>searoute 8,556</a:t>
            </a:r>
            <a:endParaRPr lang="en-US" sz="1500" dirty="0"/>
          </a:p>
        </p:txBody>
      </p:sp>
      <p:sp>
        <p:nvSpPr>
          <p:cNvPr id="27" name="Shape 25"/>
          <p:cNvSpPr/>
          <p:nvPr/>
        </p:nvSpPr>
        <p:spPr>
          <a:xfrm>
            <a:off x="5155882" y="5630228"/>
            <a:ext cx="3978593" cy="1942624"/>
          </a:xfrm>
          <a:prstGeom prst="rect">
            <a:avLst/>
          </a:prstGeom>
          <a:solidFill>
            <a:srgbClr val="F3F2F2"/>
          </a:solidFill>
          <a:ln/>
        </p:spPr>
      </p:sp>
      <p:sp>
        <p:nvSpPr>
          <p:cNvPr id="28" name="Text 26"/>
          <p:cNvSpPr/>
          <p:nvPr/>
        </p:nvSpPr>
        <p:spPr>
          <a:xfrm>
            <a:off x="5422582" y="5877878"/>
            <a:ext cx="3789712" cy="336709"/>
          </a:xfrm>
          <a:prstGeom prst="rect">
            <a:avLst/>
          </a:prstGeom>
          <a:noFill/>
          <a:ln/>
        </p:spPr>
        <p:txBody>
          <a:bodyPr wrap="square" lIns="25400" tIns="25400" rIns="25400" bIns="25400" rtlCol="0" anchor="t">
            <a:normAutofit/>
          </a:bodyPr>
          <a:lstStyle/>
          <a:p>
            <a:pPr algn="l" indent="0" marL="0">
              <a:lnSpc>
                <a:spcPct val="78400"/>
              </a:lnSpc>
              <a:buNone/>
            </a:pPr>
            <a:r>
              <a:rPr lang="en-US" sz="2100" b="1" spc="-31" kern="0" dirty="0">
                <a:solidFill>
                  <a:srgbClr val="201E1D"/>
                </a:solidFill>
                <a:latin typeface="Arial" pitchFamily="34" charset="0"/>
                <a:ea typeface="Arial" pitchFamily="34" charset="-122"/>
                <a:cs typeface="Arial" pitchFamily="34" charset="-120"/>
              </a:rPr>
              <a:t>운임지수</a:t>
            </a:r>
            <a:endParaRPr lang="en-US" sz="2100" dirty="0"/>
          </a:p>
        </p:txBody>
      </p:sp>
      <p:sp>
        <p:nvSpPr>
          <p:cNvPr id="29" name="Text 27"/>
          <p:cNvSpPr/>
          <p:nvPr/>
        </p:nvSpPr>
        <p:spPr>
          <a:xfrm>
            <a:off x="5422582" y="6290786"/>
            <a:ext cx="3789712" cy="33147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1F1E1C">
                    <a:alpha val="70000"/>
                  </a:srgbClr>
                </a:solidFill>
                <a:latin typeface="Arial" pitchFamily="34" charset="0"/>
                <a:ea typeface="Arial" pitchFamily="34" charset="-122"/>
                <a:cs typeface="Arial" pitchFamily="34" charset="-120"/>
              </a:rPr>
              <a:t>SCFI/CCFI 종합·항로별 주간 스트립</a:t>
            </a:r>
            <a:endParaRPr lang="en-US" sz="1650" dirty="0"/>
          </a:p>
        </p:txBody>
      </p:sp>
      <p:sp>
        <p:nvSpPr>
          <p:cNvPr id="30" name="Text 28"/>
          <p:cNvSpPr/>
          <p:nvPr/>
        </p:nvSpPr>
        <p:spPr>
          <a:xfrm>
            <a:off x="5422582" y="7029926"/>
            <a:ext cx="3548548"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AE1800"/>
                </a:solidFill>
                <a:latin typeface="Arial" pitchFamily="34" charset="0"/>
                <a:ea typeface="Arial" pitchFamily="34" charset="-122"/>
                <a:cs typeface="Arial" pitchFamily="34" charset="-120"/>
              </a:rPr>
              <a:t>상하이거래소</a:t>
            </a:r>
            <a:endParaRPr lang="en-US" sz="1500" dirty="0"/>
          </a:p>
        </p:txBody>
      </p:sp>
      <p:sp>
        <p:nvSpPr>
          <p:cNvPr id="31" name="Shape 29"/>
          <p:cNvSpPr/>
          <p:nvPr/>
        </p:nvSpPr>
        <p:spPr>
          <a:xfrm>
            <a:off x="9153525" y="5630228"/>
            <a:ext cx="3978593" cy="1942624"/>
          </a:xfrm>
          <a:prstGeom prst="rect">
            <a:avLst/>
          </a:prstGeom>
          <a:solidFill>
            <a:srgbClr val="F3F2F2"/>
          </a:solidFill>
          <a:ln/>
        </p:spPr>
      </p:sp>
      <p:sp>
        <p:nvSpPr>
          <p:cNvPr id="32" name="Text 30"/>
          <p:cNvSpPr/>
          <p:nvPr/>
        </p:nvSpPr>
        <p:spPr>
          <a:xfrm>
            <a:off x="9420225" y="5877878"/>
            <a:ext cx="3789712" cy="336709"/>
          </a:xfrm>
          <a:prstGeom prst="rect">
            <a:avLst/>
          </a:prstGeom>
          <a:noFill/>
          <a:ln/>
        </p:spPr>
        <p:txBody>
          <a:bodyPr wrap="square" lIns="25400" tIns="25400" rIns="25400" bIns="25400" rtlCol="0" anchor="t">
            <a:normAutofit/>
          </a:bodyPr>
          <a:lstStyle/>
          <a:p>
            <a:pPr algn="l" indent="0" marL="0">
              <a:lnSpc>
                <a:spcPct val="78400"/>
              </a:lnSpc>
              <a:buNone/>
            </a:pPr>
            <a:r>
              <a:rPr lang="en-US" sz="2100" b="1" spc="-31" kern="0" dirty="0">
                <a:solidFill>
                  <a:srgbClr val="201E1D"/>
                </a:solidFill>
                <a:latin typeface="Arial" pitchFamily="34" charset="0"/>
                <a:ea typeface="Arial" pitchFamily="34" charset="-122"/>
                <a:cs typeface="Arial" pitchFamily="34" charset="-120"/>
              </a:rPr>
              <a:t>항만 기상</a:t>
            </a:r>
            <a:endParaRPr lang="en-US" sz="2100" dirty="0"/>
          </a:p>
        </p:txBody>
      </p:sp>
      <p:sp>
        <p:nvSpPr>
          <p:cNvPr id="33" name="Text 31"/>
          <p:cNvSpPr/>
          <p:nvPr/>
        </p:nvSpPr>
        <p:spPr>
          <a:xfrm>
            <a:off x="9420225" y="6290786"/>
            <a:ext cx="3548548"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1F1E1C">
                    <a:alpha val="70000"/>
                  </a:srgbClr>
                </a:solidFill>
                <a:latin typeface="Arial" pitchFamily="34" charset="0"/>
                <a:ea typeface="Arial" pitchFamily="34" charset="-122"/>
                <a:cs typeface="Arial" pitchFamily="34" charset="-120"/>
              </a:rPr>
              <a:t>파고·풍속 카드 · 등급 경고(≥2.5m 높음)</a:t>
            </a:r>
            <a:endParaRPr lang="en-US" sz="1650" dirty="0"/>
          </a:p>
        </p:txBody>
      </p:sp>
      <p:sp>
        <p:nvSpPr>
          <p:cNvPr id="34" name="Text 32"/>
          <p:cNvSpPr/>
          <p:nvPr/>
        </p:nvSpPr>
        <p:spPr>
          <a:xfrm>
            <a:off x="9420225" y="7029926"/>
            <a:ext cx="3548548"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AE1800"/>
                </a:solidFill>
                <a:latin typeface="Arial" pitchFamily="34" charset="0"/>
                <a:ea typeface="Arial" pitchFamily="34" charset="-122"/>
                <a:cs typeface="Arial" pitchFamily="34" charset="-120"/>
              </a:rPr>
              <a:t>Open-Meteo</a:t>
            </a:r>
            <a:endParaRPr lang="en-US" sz="1500" dirty="0"/>
          </a:p>
        </p:txBody>
      </p:sp>
      <p:sp>
        <p:nvSpPr>
          <p:cNvPr id="35" name="Shape 33"/>
          <p:cNvSpPr/>
          <p:nvPr/>
        </p:nvSpPr>
        <p:spPr>
          <a:xfrm>
            <a:off x="13151168" y="5630228"/>
            <a:ext cx="3978593" cy="1942624"/>
          </a:xfrm>
          <a:prstGeom prst="rect">
            <a:avLst/>
          </a:prstGeom>
          <a:solidFill>
            <a:srgbClr val="F3F2F2"/>
          </a:solidFill>
          <a:ln/>
        </p:spPr>
      </p:sp>
      <p:sp>
        <p:nvSpPr>
          <p:cNvPr id="36" name="Text 34"/>
          <p:cNvSpPr/>
          <p:nvPr/>
        </p:nvSpPr>
        <p:spPr>
          <a:xfrm>
            <a:off x="13417868" y="5877878"/>
            <a:ext cx="3789712" cy="336709"/>
          </a:xfrm>
          <a:prstGeom prst="rect">
            <a:avLst/>
          </a:prstGeom>
          <a:noFill/>
          <a:ln/>
        </p:spPr>
        <p:txBody>
          <a:bodyPr wrap="square" lIns="25400" tIns="25400" rIns="25400" bIns="25400" rtlCol="0" anchor="t">
            <a:normAutofit/>
          </a:bodyPr>
          <a:lstStyle/>
          <a:p>
            <a:pPr algn="l" indent="0" marL="0">
              <a:lnSpc>
                <a:spcPct val="78400"/>
              </a:lnSpc>
              <a:buNone/>
            </a:pPr>
            <a:r>
              <a:rPr lang="en-US" sz="2100" b="1" spc="-31" kern="0" dirty="0">
                <a:solidFill>
                  <a:srgbClr val="201E1D"/>
                </a:solidFill>
                <a:latin typeface="Arial" pitchFamily="34" charset="0"/>
                <a:ea typeface="Arial" pitchFamily="34" charset="-122"/>
                <a:cs typeface="Arial" pitchFamily="34" charset="-120"/>
              </a:rPr>
              <a:t>데이터 현황</a:t>
            </a:r>
            <a:endParaRPr lang="en-US" sz="2100" dirty="0"/>
          </a:p>
        </p:txBody>
      </p:sp>
      <p:sp>
        <p:nvSpPr>
          <p:cNvPr id="37" name="Text 35"/>
          <p:cNvSpPr/>
          <p:nvPr/>
        </p:nvSpPr>
        <p:spPr>
          <a:xfrm>
            <a:off x="13417868" y="6290786"/>
            <a:ext cx="3548548"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1F1E1C">
                    <a:alpha val="70000"/>
                  </a:srgbClr>
                </a:solidFill>
                <a:latin typeface="Arial" pitchFamily="34" charset="0"/>
                <a:ea typeface="Arial" pitchFamily="34" charset="-122"/>
                <a:cs typeface="Arial" pitchFamily="34" charset="-120"/>
              </a:rPr>
              <a:t>판정 배너·흐름도·신선도 게이지·7일 타임라인</a:t>
            </a:r>
            <a:endParaRPr lang="en-US" sz="1650" dirty="0"/>
          </a:p>
        </p:txBody>
      </p:sp>
      <p:sp>
        <p:nvSpPr>
          <p:cNvPr id="38" name="Text 36"/>
          <p:cNvSpPr/>
          <p:nvPr/>
        </p:nvSpPr>
        <p:spPr>
          <a:xfrm>
            <a:off x="13417868" y="7029926"/>
            <a:ext cx="3548548"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AE1800"/>
                </a:solidFill>
                <a:latin typeface="Arial" pitchFamily="34" charset="0"/>
                <a:ea typeface="Arial" pitchFamily="34" charset="-122"/>
                <a:cs typeface="Arial" pitchFamily="34" charset="-120"/>
              </a:rPr>
              <a:t>운영 보드</a:t>
            </a:r>
            <a:endParaRPr lang="en-US" sz="1500" dirty="0"/>
          </a:p>
        </p:txBody>
      </p:sp>
      <p:sp>
        <p:nvSpPr>
          <p:cNvPr id="39" name="Text 37"/>
          <p:cNvSpPr/>
          <p:nvPr/>
        </p:nvSpPr>
        <p:spPr>
          <a:xfrm>
            <a:off x="1143000" y="9390698"/>
            <a:ext cx="2791730"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211D1D">
                    <a:alpha val="55000"/>
                  </a:srgbClr>
                </a:solidFill>
                <a:latin typeface="Arial" pitchFamily="34" charset="0"/>
                <a:ea typeface="Arial" pitchFamily="34" charset="-122"/>
                <a:cs typeface="Arial" pitchFamily="34" charset="-120"/>
              </a:rPr>
              <a:t>AI 컨트롤타워 · 태웅로직스</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838200"/>
            <a:ext cx="12161628"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52" kern="0" dirty="0">
                <a:solidFill>
                  <a:srgbClr val="AE1800"/>
                </a:solidFill>
                <a:latin typeface="Arial" pitchFamily="34" charset="0"/>
                <a:ea typeface="Arial" pitchFamily="34" charset="-122"/>
                <a:cs typeface="Arial" pitchFamily="34" charset="-120"/>
              </a:rPr>
              <a:t>03 해결책 · OPERATING MODEL</a:t>
            </a:r>
            <a:endParaRPr lang="en-US" sz="1800" dirty="0"/>
          </a:p>
        </p:txBody>
      </p:sp>
      <p:sp>
        <p:nvSpPr>
          <p:cNvPr id="3" name="Text 1"/>
          <p:cNvSpPr/>
          <p:nvPr/>
        </p:nvSpPr>
        <p:spPr>
          <a:xfrm>
            <a:off x="1143000" y="1344930"/>
            <a:ext cx="12161628" cy="563047"/>
          </a:xfrm>
          <a:prstGeom prst="rect">
            <a:avLst/>
          </a:prstGeom>
          <a:noFill/>
          <a:ln/>
        </p:spPr>
        <p:txBody>
          <a:bodyPr wrap="square" lIns="25400" tIns="25400" rIns="25400" bIns="25400" rtlCol="0" anchor="t">
            <a:normAutofit/>
          </a:bodyPr>
          <a:lstStyle/>
          <a:p>
            <a:pPr algn="l" indent="0" marL="0">
              <a:lnSpc>
                <a:spcPct val="74891"/>
              </a:lnSpc>
              <a:buNone/>
            </a:pPr>
            <a:r>
              <a:rPr lang="en-US" sz="3900" b="1" spc="-39" kern="0" dirty="0">
                <a:solidFill>
                  <a:srgbClr val="201E1D"/>
                </a:solidFill>
                <a:latin typeface="Arial" pitchFamily="34" charset="0"/>
                <a:ea typeface="Arial" pitchFamily="34" charset="-122"/>
                <a:cs typeface="Arial" pitchFamily="34" charset="-120"/>
              </a:rPr>
              <a:t>무료 오픈API 스택 — 데이터·코드가 사내 자산으로</a:t>
            </a:r>
            <a:endParaRPr lang="en-US" sz="3900" dirty="0"/>
          </a:p>
        </p:txBody>
      </p:sp>
      <p:sp>
        <p:nvSpPr>
          <p:cNvPr id="4" name="Text 2"/>
          <p:cNvSpPr/>
          <p:nvPr/>
        </p:nvSpPr>
        <p:spPr>
          <a:xfrm>
            <a:off x="16869490" y="1486019"/>
            <a:ext cx="351711"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AE1800"/>
                </a:solidFill>
                <a:latin typeface="Arial" pitchFamily="34" charset="0"/>
                <a:ea typeface="Arial" pitchFamily="34" charset="-122"/>
                <a:cs typeface="Arial" pitchFamily="34" charset="-120"/>
              </a:rPr>
              <a:t>08</a:t>
            </a:r>
            <a:endParaRPr lang="en-US" sz="1950" dirty="0"/>
          </a:p>
        </p:txBody>
      </p:sp>
      <p:sp>
        <p:nvSpPr>
          <p:cNvPr id="5" name="Shape 3"/>
          <p:cNvSpPr/>
          <p:nvPr/>
        </p:nvSpPr>
        <p:spPr>
          <a:xfrm>
            <a:off x="1143000" y="2117527"/>
            <a:ext cx="16002000" cy="19050"/>
          </a:xfrm>
          <a:prstGeom prst="rect">
            <a:avLst/>
          </a:prstGeom>
          <a:solidFill>
            <a:srgbClr val="201E1E">
              <a:alpha val="40000"/>
            </a:srgbClr>
          </a:solidFill>
          <a:ln/>
        </p:spPr>
      </p:sp>
      <p:sp>
        <p:nvSpPr>
          <p:cNvPr id="6" name="Shape 4"/>
          <p:cNvSpPr/>
          <p:nvPr/>
        </p:nvSpPr>
        <p:spPr>
          <a:xfrm>
            <a:off x="1143000" y="3519011"/>
            <a:ext cx="16002000" cy="15240"/>
          </a:xfrm>
          <a:prstGeom prst="rect">
            <a:avLst/>
          </a:prstGeom>
          <a:solidFill>
            <a:srgbClr val="201E1E">
              <a:alpha val="40000"/>
            </a:srgbClr>
          </a:solidFill>
          <a:ln/>
        </p:spPr>
      </p:sp>
      <p:sp>
        <p:nvSpPr>
          <p:cNvPr id="7" name="Shape 5"/>
          <p:cNvSpPr/>
          <p:nvPr/>
        </p:nvSpPr>
        <p:spPr>
          <a:xfrm>
            <a:off x="1143000" y="4669631"/>
            <a:ext cx="16002000" cy="15240"/>
          </a:xfrm>
          <a:prstGeom prst="rect">
            <a:avLst/>
          </a:prstGeom>
          <a:solidFill>
            <a:srgbClr val="201E1E">
              <a:alpha val="40000"/>
            </a:srgbClr>
          </a:solidFill>
          <a:ln/>
        </p:spPr>
      </p:sp>
      <p:sp>
        <p:nvSpPr>
          <p:cNvPr id="8" name="Text 6"/>
          <p:cNvSpPr/>
          <p:nvPr/>
        </p:nvSpPr>
        <p:spPr>
          <a:xfrm>
            <a:off x="1143000" y="3880485"/>
            <a:ext cx="2948368" cy="481012"/>
          </a:xfrm>
          <a:prstGeom prst="rect">
            <a:avLst/>
          </a:prstGeom>
          <a:noFill/>
          <a:ln/>
        </p:spPr>
        <p:txBody>
          <a:bodyPr wrap="square" lIns="25400" tIns="25400" rIns="25400" bIns="25400" rtlCol="0" anchor="t">
            <a:normAutofit/>
          </a:bodyPr>
          <a:lstStyle/>
          <a:p>
            <a:pPr algn="l" indent="0" marL="0">
              <a:lnSpc>
                <a:spcPct val="109670"/>
              </a:lnSpc>
              <a:buNone/>
            </a:pPr>
            <a:r>
              <a:rPr lang="en-US" sz="2250" b="1" dirty="0">
                <a:solidFill>
                  <a:srgbClr val="201E1D"/>
                </a:solidFill>
                <a:latin typeface="Arial" pitchFamily="34" charset="0"/>
                <a:ea typeface="Arial" pitchFamily="34" charset="-122"/>
                <a:cs typeface="Arial" pitchFamily="34" charset="-120"/>
              </a:rPr>
              <a:t>데이터</a:t>
            </a:r>
            <a:endParaRPr lang="en-US" sz="2250" dirty="0"/>
          </a:p>
        </p:txBody>
      </p:sp>
      <p:sp>
        <p:nvSpPr>
          <p:cNvPr id="9" name="Text 7"/>
          <p:cNvSpPr/>
          <p:nvPr/>
        </p:nvSpPr>
        <p:spPr>
          <a:xfrm>
            <a:off x="4166235" y="3781901"/>
            <a:ext cx="9859804" cy="67818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201E1C">
                    <a:alpha val="74000"/>
                  </a:srgbClr>
                </a:solidFill>
                <a:latin typeface="Arial" pitchFamily="34" charset="0"/>
                <a:ea typeface="Arial" pitchFamily="34" charset="-122"/>
                <a:cs typeface="Arial" pitchFamily="34" charset="-120"/>
              </a:rPr>
              <a:t>IMF PortWatch · Open-Meteo · VesselFinder · SCFI/CCFI · 유니패스 · searoute — 전부 무인증·공개</a:t>
            </a:r>
            <a:endParaRPr lang="en-US" sz="1800" dirty="0"/>
          </a:p>
        </p:txBody>
      </p:sp>
      <p:sp>
        <p:nvSpPr>
          <p:cNvPr id="10" name="Text 8"/>
          <p:cNvSpPr/>
          <p:nvPr/>
        </p:nvSpPr>
        <p:spPr>
          <a:xfrm>
            <a:off x="13775436" y="3850958"/>
            <a:ext cx="3369564" cy="540068"/>
          </a:xfrm>
          <a:prstGeom prst="rect">
            <a:avLst/>
          </a:prstGeom>
          <a:noFill/>
          <a:ln/>
        </p:spPr>
        <p:txBody>
          <a:bodyPr wrap="square" lIns="25400" tIns="25400" rIns="25400" bIns="25400" rtlCol="0" anchor="t">
            <a:normAutofit/>
          </a:bodyPr>
          <a:lstStyle/>
          <a:p>
            <a:pPr algn="r" indent="0" marL="0">
              <a:lnSpc>
                <a:spcPct val="109792"/>
              </a:lnSpc>
              <a:buNone/>
            </a:pPr>
            <a:r>
              <a:rPr lang="en-US" sz="2550" b="1" dirty="0">
                <a:solidFill>
                  <a:srgbClr val="EC3013"/>
                </a:solidFill>
                <a:latin typeface="Arial" pitchFamily="34" charset="0"/>
                <a:ea typeface="Arial" pitchFamily="34" charset="-122"/>
                <a:cs typeface="Arial" pitchFamily="34" charset="-120"/>
              </a:rPr>
              <a:t>유료 API 0원</a:t>
            </a:r>
            <a:endParaRPr lang="en-US" sz="2550" dirty="0"/>
          </a:p>
        </p:txBody>
      </p:sp>
      <p:sp>
        <p:nvSpPr>
          <p:cNvPr id="11" name="Shape 9"/>
          <p:cNvSpPr/>
          <p:nvPr/>
        </p:nvSpPr>
        <p:spPr>
          <a:xfrm>
            <a:off x="1143000" y="5682139"/>
            <a:ext cx="16002000" cy="15240"/>
          </a:xfrm>
          <a:prstGeom prst="rect">
            <a:avLst/>
          </a:prstGeom>
          <a:solidFill>
            <a:srgbClr val="201E1E">
              <a:alpha val="40000"/>
            </a:srgbClr>
          </a:solidFill>
          <a:ln/>
        </p:spPr>
      </p:sp>
      <p:sp>
        <p:nvSpPr>
          <p:cNvPr id="12" name="Text 10"/>
          <p:cNvSpPr/>
          <p:nvPr/>
        </p:nvSpPr>
        <p:spPr>
          <a:xfrm>
            <a:off x="1143000" y="4962049"/>
            <a:ext cx="2948368" cy="481012"/>
          </a:xfrm>
          <a:prstGeom prst="rect">
            <a:avLst/>
          </a:prstGeom>
          <a:noFill/>
          <a:ln/>
        </p:spPr>
        <p:txBody>
          <a:bodyPr wrap="square" lIns="25400" tIns="25400" rIns="25400" bIns="25400" rtlCol="0" anchor="t">
            <a:normAutofit/>
          </a:bodyPr>
          <a:lstStyle/>
          <a:p>
            <a:pPr algn="l" indent="0" marL="0">
              <a:lnSpc>
                <a:spcPct val="109670"/>
              </a:lnSpc>
              <a:buNone/>
            </a:pPr>
            <a:r>
              <a:rPr lang="en-US" sz="2250" b="1" dirty="0">
                <a:solidFill>
                  <a:srgbClr val="201E1D"/>
                </a:solidFill>
                <a:latin typeface="Arial" pitchFamily="34" charset="0"/>
                <a:ea typeface="Arial" pitchFamily="34" charset="-122"/>
                <a:cs typeface="Arial" pitchFamily="34" charset="-120"/>
              </a:rPr>
              <a:t>저장·배포</a:t>
            </a:r>
            <a:endParaRPr lang="en-US" sz="2250" dirty="0"/>
          </a:p>
        </p:txBody>
      </p:sp>
      <p:sp>
        <p:nvSpPr>
          <p:cNvPr id="13" name="Text 11"/>
          <p:cNvSpPr/>
          <p:nvPr/>
        </p:nvSpPr>
        <p:spPr>
          <a:xfrm>
            <a:off x="4166235" y="5023485"/>
            <a:ext cx="10529888"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201E1C">
                    <a:alpha val="74000"/>
                  </a:srgbClr>
                </a:solidFill>
                <a:latin typeface="Arial" pitchFamily="34" charset="0"/>
                <a:ea typeface="Arial" pitchFamily="34" charset="-122"/>
                <a:cs typeface="Arial" pitchFamily="34" charset="-120"/>
              </a:rPr>
              <a:t>Supabase(Postgres · RLS 읽기전용) + GitHub Pages 자동배포</a:t>
            </a:r>
            <a:endParaRPr lang="en-US" sz="1800" dirty="0"/>
          </a:p>
        </p:txBody>
      </p:sp>
      <p:sp>
        <p:nvSpPr>
          <p:cNvPr id="14" name="Text 12"/>
          <p:cNvSpPr/>
          <p:nvPr/>
        </p:nvSpPr>
        <p:spPr>
          <a:xfrm>
            <a:off x="13775436" y="4932522"/>
            <a:ext cx="3369564" cy="540068"/>
          </a:xfrm>
          <a:prstGeom prst="rect">
            <a:avLst/>
          </a:prstGeom>
          <a:noFill/>
          <a:ln/>
        </p:spPr>
        <p:txBody>
          <a:bodyPr wrap="square" lIns="25400" tIns="25400" rIns="25400" bIns="25400" rtlCol="0" anchor="t">
            <a:normAutofit/>
          </a:bodyPr>
          <a:lstStyle/>
          <a:p>
            <a:pPr algn="r" indent="0" marL="0">
              <a:lnSpc>
                <a:spcPct val="109792"/>
              </a:lnSpc>
              <a:buNone/>
            </a:pPr>
            <a:r>
              <a:rPr lang="en-US" sz="2550" b="1" dirty="0">
                <a:solidFill>
                  <a:srgbClr val="EC3013"/>
                </a:solidFill>
                <a:latin typeface="Arial" pitchFamily="34" charset="0"/>
                <a:ea typeface="Arial" pitchFamily="34" charset="-122"/>
                <a:cs typeface="Arial" pitchFamily="34" charset="-120"/>
              </a:rPr>
              <a:t>인프라 월 0원</a:t>
            </a:r>
            <a:endParaRPr lang="en-US" sz="2550" dirty="0"/>
          </a:p>
        </p:txBody>
      </p:sp>
      <p:sp>
        <p:nvSpPr>
          <p:cNvPr id="15" name="Shape 13"/>
          <p:cNvSpPr/>
          <p:nvPr/>
        </p:nvSpPr>
        <p:spPr>
          <a:xfrm>
            <a:off x="1143000" y="6694647"/>
            <a:ext cx="16002000" cy="15240"/>
          </a:xfrm>
          <a:prstGeom prst="rect">
            <a:avLst/>
          </a:prstGeom>
          <a:solidFill>
            <a:srgbClr val="201E1E">
              <a:alpha val="40000"/>
            </a:srgbClr>
          </a:solidFill>
          <a:ln/>
        </p:spPr>
      </p:sp>
      <p:sp>
        <p:nvSpPr>
          <p:cNvPr id="16" name="Text 14"/>
          <p:cNvSpPr/>
          <p:nvPr/>
        </p:nvSpPr>
        <p:spPr>
          <a:xfrm>
            <a:off x="1143000" y="5974556"/>
            <a:ext cx="2948368" cy="481012"/>
          </a:xfrm>
          <a:prstGeom prst="rect">
            <a:avLst/>
          </a:prstGeom>
          <a:noFill/>
          <a:ln/>
        </p:spPr>
        <p:txBody>
          <a:bodyPr wrap="square" lIns="25400" tIns="25400" rIns="25400" bIns="25400" rtlCol="0" anchor="t">
            <a:normAutofit/>
          </a:bodyPr>
          <a:lstStyle/>
          <a:p>
            <a:pPr algn="l" indent="0" marL="0">
              <a:lnSpc>
                <a:spcPct val="109670"/>
              </a:lnSpc>
              <a:buNone/>
            </a:pPr>
            <a:r>
              <a:rPr lang="en-US" sz="2250" b="1" dirty="0">
                <a:solidFill>
                  <a:srgbClr val="201E1D"/>
                </a:solidFill>
                <a:latin typeface="Arial" pitchFamily="34" charset="0"/>
                <a:ea typeface="Arial" pitchFamily="34" charset="-122"/>
                <a:cs typeface="Arial" pitchFamily="34" charset="-120"/>
              </a:rPr>
              <a:t>자동화</a:t>
            </a:r>
            <a:endParaRPr lang="en-US" sz="2250" dirty="0"/>
          </a:p>
        </p:txBody>
      </p:sp>
      <p:sp>
        <p:nvSpPr>
          <p:cNvPr id="17" name="Text 15"/>
          <p:cNvSpPr/>
          <p:nvPr/>
        </p:nvSpPr>
        <p:spPr>
          <a:xfrm>
            <a:off x="4166235" y="6035993"/>
            <a:ext cx="10529888"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201E1C">
                    <a:alpha val="74000"/>
                  </a:srgbClr>
                </a:solidFill>
                <a:latin typeface="Arial" pitchFamily="34" charset="0"/>
                <a:ea typeface="Arial" pitchFamily="34" charset="-122"/>
                <a:cs typeface="Arial" pitchFamily="34" charset="-120"/>
              </a:rPr>
              <a:t>매일 06시대 자동수집(선석 06:08 · 혼잡 06:27 · 운임 월간) · MCP 연동 SQL 적재</a:t>
            </a:r>
            <a:endParaRPr lang="en-US" sz="1800" dirty="0"/>
          </a:p>
        </p:txBody>
      </p:sp>
      <p:sp>
        <p:nvSpPr>
          <p:cNvPr id="18" name="Text 16"/>
          <p:cNvSpPr/>
          <p:nvPr/>
        </p:nvSpPr>
        <p:spPr>
          <a:xfrm>
            <a:off x="13775436" y="5945029"/>
            <a:ext cx="3369564" cy="540068"/>
          </a:xfrm>
          <a:prstGeom prst="rect">
            <a:avLst/>
          </a:prstGeom>
          <a:noFill/>
          <a:ln/>
        </p:spPr>
        <p:txBody>
          <a:bodyPr wrap="square" lIns="25400" tIns="25400" rIns="25400" bIns="25400" rtlCol="0" anchor="t">
            <a:normAutofit/>
          </a:bodyPr>
          <a:lstStyle/>
          <a:p>
            <a:pPr algn="r" indent="0" marL="0">
              <a:lnSpc>
                <a:spcPct val="109792"/>
              </a:lnSpc>
              <a:buNone/>
            </a:pPr>
            <a:r>
              <a:rPr lang="en-US" sz="2550" b="1" dirty="0">
                <a:solidFill>
                  <a:srgbClr val="EC3013"/>
                </a:solidFill>
                <a:latin typeface="Arial" pitchFamily="34" charset="0"/>
                <a:ea typeface="Arial" pitchFamily="34" charset="-122"/>
                <a:cs typeface="Arial" pitchFamily="34" charset="-120"/>
              </a:rPr>
              <a:t>무인 스케줄 3종</a:t>
            </a:r>
            <a:endParaRPr lang="en-US" sz="2550" dirty="0"/>
          </a:p>
        </p:txBody>
      </p:sp>
      <p:sp>
        <p:nvSpPr>
          <p:cNvPr id="19" name="Shape 17"/>
          <p:cNvSpPr/>
          <p:nvPr/>
        </p:nvSpPr>
        <p:spPr>
          <a:xfrm>
            <a:off x="1143000" y="7707154"/>
            <a:ext cx="16002000" cy="15240"/>
          </a:xfrm>
          <a:prstGeom prst="rect">
            <a:avLst/>
          </a:prstGeom>
          <a:solidFill>
            <a:srgbClr val="201E1E">
              <a:alpha val="40000"/>
            </a:srgbClr>
          </a:solidFill>
          <a:ln/>
        </p:spPr>
      </p:sp>
      <p:sp>
        <p:nvSpPr>
          <p:cNvPr id="20" name="Text 18"/>
          <p:cNvSpPr/>
          <p:nvPr/>
        </p:nvSpPr>
        <p:spPr>
          <a:xfrm>
            <a:off x="1143000" y="6987064"/>
            <a:ext cx="2948368" cy="481012"/>
          </a:xfrm>
          <a:prstGeom prst="rect">
            <a:avLst/>
          </a:prstGeom>
          <a:noFill/>
          <a:ln/>
        </p:spPr>
        <p:txBody>
          <a:bodyPr wrap="square" lIns="25400" tIns="25400" rIns="25400" bIns="25400" rtlCol="0" anchor="t">
            <a:normAutofit/>
          </a:bodyPr>
          <a:lstStyle/>
          <a:p>
            <a:pPr algn="l" indent="0" marL="0">
              <a:lnSpc>
                <a:spcPct val="109670"/>
              </a:lnSpc>
              <a:buNone/>
            </a:pPr>
            <a:r>
              <a:rPr lang="en-US" sz="2250" b="1" dirty="0">
                <a:solidFill>
                  <a:srgbClr val="201E1D"/>
                </a:solidFill>
                <a:latin typeface="Arial" pitchFamily="34" charset="0"/>
                <a:ea typeface="Arial" pitchFamily="34" charset="-122"/>
                <a:cs typeface="Arial" pitchFamily="34" charset="-120"/>
              </a:rPr>
              <a:t>프런트</a:t>
            </a:r>
            <a:endParaRPr lang="en-US" sz="2250" dirty="0"/>
          </a:p>
        </p:txBody>
      </p:sp>
      <p:sp>
        <p:nvSpPr>
          <p:cNvPr id="21" name="Text 19"/>
          <p:cNvSpPr/>
          <p:nvPr/>
        </p:nvSpPr>
        <p:spPr>
          <a:xfrm>
            <a:off x="4166235" y="7048500"/>
            <a:ext cx="10529888"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201E1C">
                    <a:alpha val="74000"/>
                  </a:srgbClr>
                </a:solidFill>
                <a:latin typeface="Arial" pitchFamily="34" charset="0"/>
                <a:ea typeface="Arial" pitchFamily="34" charset="-122"/>
                <a:cs typeface="Arial" pitchFamily="34" charset="-120"/>
              </a:rPr>
              <a:t>정적 HTML/CSS/JS + Leaflet 지도 + React·TypeScript(MIT) 이관 중 — 빌드리스에서 SPA로</a:t>
            </a:r>
            <a:endParaRPr lang="en-US" sz="1800" dirty="0"/>
          </a:p>
        </p:txBody>
      </p:sp>
      <p:sp>
        <p:nvSpPr>
          <p:cNvPr id="22" name="Text 20"/>
          <p:cNvSpPr/>
          <p:nvPr/>
        </p:nvSpPr>
        <p:spPr>
          <a:xfrm>
            <a:off x="13775436" y="6957536"/>
            <a:ext cx="3369564" cy="540068"/>
          </a:xfrm>
          <a:prstGeom prst="rect">
            <a:avLst/>
          </a:prstGeom>
          <a:noFill/>
          <a:ln/>
        </p:spPr>
        <p:txBody>
          <a:bodyPr wrap="square" lIns="25400" tIns="25400" rIns="25400" bIns="25400" rtlCol="0" anchor="t">
            <a:normAutofit/>
          </a:bodyPr>
          <a:lstStyle/>
          <a:p>
            <a:pPr algn="r" indent="0" marL="0">
              <a:lnSpc>
                <a:spcPct val="109792"/>
              </a:lnSpc>
              <a:buNone/>
            </a:pPr>
            <a:r>
              <a:rPr lang="en-US" sz="2550" b="1" dirty="0">
                <a:solidFill>
                  <a:srgbClr val="EC3013"/>
                </a:solidFill>
                <a:latin typeface="Arial" pitchFamily="34" charset="0"/>
                <a:ea typeface="Arial" pitchFamily="34" charset="-122"/>
                <a:cs typeface="Arial" pitchFamily="34" charset="-120"/>
              </a:rPr>
              <a:t>라이선스 0원</a:t>
            </a:r>
            <a:endParaRPr lang="en-US" sz="2550" dirty="0"/>
          </a:p>
        </p:txBody>
      </p:sp>
      <p:sp>
        <p:nvSpPr>
          <p:cNvPr id="23" name="Text 21"/>
          <p:cNvSpPr/>
          <p:nvPr/>
        </p:nvSpPr>
        <p:spPr>
          <a:xfrm>
            <a:off x="1143000" y="9390698"/>
            <a:ext cx="2791730"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211D1D">
                    <a:alpha val="55000"/>
                  </a:srgbClr>
                </a:solidFill>
                <a:latin typeface="Arial" pitchFamily="34" charset="0"/>
                <a:ea typeface="Arial" pitchFamily="34" charset="-122"/>
                <a:cs typeface="Arial" pitchFamily="34" charset="-120"/>
              </a:rPr>
              <a:t>AI 컨트롤타워 · 태웅로직스</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838200"/>
            <a:ext cx="11421392"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52" kern="0" dirty="0">
                <a:solidFill>
                  <a:srgbClr val="AE1800"/>
                </a:solidFill>
                <a:latin typeface="Arial" pitchFamily="34" charset="0"/>
                <a:ea typeface="Arial" pitchFamily="34" charset="-122"/>
                <a:cs typeface="Arial" pitchFamily="34" charset="-120"/>
              </a:rPr>
              <a:t>04 타당성 · COST STRUCTURE</a:t>
            </a:r>
            <a:endParaRPr lang="en-US" sz="1800" dirty="0"/>
          </a:p>
        </p:txBody>
      </p:sp>
      <p:sp>
        <p:nvSpPr>
          <p:cNvPr id="3" name="Text 1"/>
          <p:cNvSpPr/>
          <p:nvPr/>
        </p:nvSpPr>
        <p:spPr>
          <a:xfrm>
            <a:off x="1143000" y="1344930"/>
            <a:ext cx="11421392" cy="563047"/>
          </a:xfrm>
          <a:prstGeom prst="rect">
            <a:avLst/>
          </a:prstGeom>
          <a:noFill/>
          <a:ln/>
        </p:spPr>
        <p:txBody>
          <a:bodyPr wrap="square" lIns="25400" tIns="25400" rIns="25400" bIns="25400" rtlCol="0" anchor="t">
            <a:normAutofit/>
          </a:bodyPr>
          <a:lstStyle/>
          <a:p>
            <a:pPr algn="l" indent="0" marL="0">
              <a:lnSpc>
                <a:spcPct val="74891"/>
              </a:lnSpc>
              <a:buNone/>
            </a:pPr>
            <a:r>
              <a:rPr lang="en-US" sz="3900" b="1" spc="-39" kern="0" dirty="0">
                <a:solidFill>
                  <a:srgbClr val="201E1D"/>
                </a:solidFill>
                <a:latin typeface="Arial" pitchFamily="34" charset="0"/>
                <a:ea typeface="Arial" pitchFamily="34" charset="-122"/>
                <a:cs typeface="Arial" pitchFamily="34" charset="-120"/>
              </a:rPr>
              <a:t>유료 스택이었다면? — 제로 비용의 구조적 우위</a:t>
            </a:r>
            <a:endParaRPr lang="en-US" sz="3900" dirty="0"/>
          </a:p>
        </p:txBody>
      </p:sp>
      <p:sp>
        <p:nvSpPr>
          <p:cNvPr id="4" name="Text 2"/>
          <p:cNvSpPr/>
          <p:nvPr/>
        </p:nvSpPr>
        <p:spPr>
          <a:xfrm>
            <a:off x="16869490" y="1486019"/>
            <a:ext cx="351711"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AE1800"/>
                </a:solidFill>
                <a:latin typeface="Arial" pitchFamily="34" charset="0"/>
                <a:ea typeface="Arial" pitchFamily="34" charset="-122"/>
                <a:cs typeface="Arial" pitchFamily="34" charset="-120"/>
              </a:rPr>
              <a:t>09</a:t>
            </a:r>
            <a:endParaRPr lang="en-US" sz="1950" dirty="0"/>
          </a:p>
        </p:txBody>
      </p:sp>
      <p:sp>
        <p:nvSpPr>
          <p:cNvPr id="5" name="Shape 3"/>
          <p:cNvSpPr/>
          <p:nvPr/>
        </p:nvSpPr>
        <p:spPr>
          <a:xfrm>
            <a:off x="1143000" y="2117527"/>
            <a:ext cx="16002000" cy="19050"/>
          </a:xfrm>
          <a:prstGeom prst="rect">
            <a:avLst/>
          </a:prstGeom>
          <a:solidFill>
            <a:srgbClr val="201E1E">
              <a:alpha val="40000"/>
            </a:srgbClr>
          </a:solidFill>
          <a:ln/>
        </p:spPr>
      </p:sp>
      <p:sp>
        <p:nvSpPr>
          <p:cNvPr id="6" name="Text 4"/>
          <p:cNvSpPr/>
          <p:nvPr/>
        </p:nvSpPr>
        <p:spPr>
          <a:xfrm>
            <a:off x="1143000" y="3718560"/>
            <a:ext cx="7019925"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spc="165" kern="0" dirty="0">
                <a:solidFill>
                  <a:srgbClr val="201E1C">
                    <a:alpha val="60000"/>
                  </a:srgbClr>
                </a:solidFill>
                <a:latin typeface="Arial" pitchFamily="34" charset="0"/>
                <a:ea typeface="Arial" pitchFamily="34" charset="-122"/>
                <a:cs typeface="Arial" pitchFamily="34" charset="-120"/>
              </a:rPr>
              <a:t>월 인프라 · 데이터 비용</a:t>
            </a:r>
            <a:endParaRPr lang="en-US" sz="1650" dirty="0"/>
          </a:p>
        </p:txBody>
      </p:sp>
      <p:sp>
        <p:nvSpPr>
          <p:cNvPr id="7" name="Text 5"/>
          <p:cNvSpPr/>
          <p:nvPr/>
        </p:nvSpPr>
        <p:spPr>
          <a:xfrm>
            <a:off x="1143000" y="4138613"/>
            <a:ext cx="7019925" cy="1512570"/>
          </a:xfrm>
          <a:prstGeom prst="rect">
            <a:avLst/>
          </a:prstGeom>
          <a:noFill/>
          <a:ln/>
        </p:spPr>
        <p:txBody>
          <a:bodyPr wrap="square" lIns="25400" tIns="25400" rIns="25400" bIns="25400" rtlCol="0" anchor="t">
            <a:normAutofit/>
          </a:bodyPr>
          <a:lstStyle/>
          <a:p>
            <a:pPr algn="l" indent="0" marL="0">
              <a:lnSpc>
                <a:spcPct val="60849"/>
              </a:lnSpc>
              <a:buNone/>
            </a:pPr>
            <a:r>
              <a:rPr lang="en-US" sz="13500" b="1" spc="-405" kern="0" dirty="0">
                <a:solidFill>
                  <a:srgbClr val="EC3013"/>
                </a:solidFill>
                <a:latin typeface="Arial" pitchFamily="34" charset="0"/>
                <a:ea typeface="Arial" pitchFamily="34" charset="-122"/>
                <a:cs typeface="Arial" pitchFamily="34" charset="-120"/>
              </a:rPr>
              <a:t>₩0</a:t>
            </a:r>
            <a:pPr algn="l" indent="0" marL="0">
              <a:lnSpc>
                <a:spcPct val="60849"/>
              </a:lnSpc>
              <a:buNone/>
            </a:pPr>
            <a:r>
              <a:rPr lang="en-US" sz="3300" b="1" spc="-405" kern="0" dirty="0">
                <a:solidFill>
                  <a:srgbClr val="201E1D"/>
                </a:solidFill>
                <a:latin typeface="Arial" pitchFamily="34" charset="0"/>
                <a:ea typeface="Arial" pitchFamily="34" charset="-122"/>
                <a:cs typeface="Arial" pitchFamily="34" charset="-120"/>
              </a:rPr>
              <a:t>/ 월</a:t>
            </a:r>
            <a:endParaRPr lang="en-US" sz="13500" dirty="0"/>
          </a:p>
        </p:txBody>
      </p:sp>
      <p:sp>
        <p:nvSpPr>
          <p:cNvPr id="8" name="Text 6"/>
          <p:cNvSpPr/>
          <p:nvPr/>
        </p:nvSpPr>
        <p:spPr>
          <a:xfrm>
            <a:off x="1143000" y="5841682"/>
            <a:ext cx="2477012" cy="377666"/>
          </a:xfrm>
          <a:prstGeom prst="rect">
            <a:avLst/>
          </a:prstGeom>
          <a:noFill/>
          <a:ln/>
        </p:spPr>
        <p:txBody>
          <a:bodyPr wrap="square" lIns="25400" tIns="25400" rIns="25400" bIns="25400" rtlCol="0" anchor="t">
            <a:normAutofit/>
          </a:bodyPr>
          <a:lstStyle/>
          <a:p>
            <a:pPr algn="l" indent="0" marL="0">
              <a:lnSpc>
                <a:spcPct val="135038"/>
              </a:lnSpc>
              <a:buNone/>
            </a:pPr>
            <a:r>
              <a:rPr lang="en-US" sz="1725" b="1" dirty="0">
                <a:solidFill>
                  <a:srgbClr val="201E1D"/>
                </a:solidFill>
                <a:latin typeface="Arial" pitchFamily="34" charset="0"/>
                <a:ea typeface="Arial" pitchFamily="34" charset="-122"/>
                <a:cs typeface="Arial" pitchFamily="34" charset="-120"/>
              </a:rPr>
              <a:t>데이터 (공개 API) · 0원</a:t>
            </a:r>
            <a:endParaRPr lang="en-US" sz="1725" dirty="0"/>
          </a:p>
        </p:txBody>
      </p:sp>
      <p:sp>
        <p:nvSpPr>
          <p:cNvPr id="9" name="Text 7"/>
          <p:cNvSpPr/>
          <p:nvPr/>
        </p:nvSpPr>
        <p:spPr>
          <a:xfrm>
            <a:off x="3775829" y="5841682"/>
            <a:ext cx="2384024" cy="377666"/>
          </a:xfrm>
          <a:prstGeom prst="rect">
            <a:avLst/>
          </a:prstGeom>
          <a:noFill/>
          <a:ln/>
        </p:spPr>
        <p:txBody>
          <a:bodyPr wrap="square" lIns="25400" tIns="25400" rIns="25400" bIns="25400" rtlCol="0" anchor="t">
            <a:normAutofit/>
          </a:bodyPr>
          <a:lstStyle/>
          <a:p>
            <a:pPr algn="l" indent="0" marL="0">
              <a:lnSpc>
                <a:spcPct val="135038"/>
              </a:lnSpc>
              <a:buNone/>
            </a:pPr>
            <a:r>
              <a:rPr lang="en-US" sz="1725" b="1" dirty="0">
                <a:solidFill>
                  <a:srgbClr val="201E1D"/>
                </a:solidFill>
                <a:latin typeface="Arial" pitchFamily="34" charset="0"/>
                <a:ea typeface="Arial" pitchFamily="34" charset="-122"/>
                <a:cs typeface="Arial" pitchFamily="34" charset="-120"/>
              </a:rPr>
              <a:t>저장 (Supabase) · 0원</a:t>
            </a:r>
            <a:endParaRPr lang="en-US" sz="1725" dirty="0"/>
          </a:p>
        </p:txBody>
      </p:sp>
      <p:sp>
        <p:nvSpPr>
          <p:cNvPr id="10" name="Text 8"/>
          <p:cNvSpPr/>
          <p:nvPr/>
        </p:nvSpPr>
        <p:spPr>
          <a:xfrm>
            <a:off x="1143000" y="6295549"/>
            <a:ext cx="2798933" cy="377666"/>
          </a:xfrm>
          <a:prstGeom prst="rect">
            <a:avLst/>
          </a:prstGeom>
          <a:noFill/>
          <a:ln/>
        </p:spPr>
        <p:txBody>
          <a:bodyPr wrap="square" lIns="25400" tIns="25400" rIns="25400" bIns="25400" rtlCol="0" anchor="t">
            <a:normAutofit/>
          </a:bodyPr>
          <a:lstStyle/>
          <a:p>
            <a:pPr algn="l" indent="0" marL="0">
              <a:lnSpc>
                <a:spcPct val="135038"/>
              </a:lnSpc>
              <a:buNone/>
            </a:pPr>
            <a:r>
              <a:rPr lang="en-US" sz="1725" b="1" dirty="0">
                <a:solidFill>
                  <a:srgbClr val="201E1D"/>
                </a:solidFill>
                <a:latin typeface="Arial" pitchFamily="34" charset="0"/>
                <a:ea typeface="Arial" pitchFamily="34" charset="-122"/>
                <a:cs typeface="Arial" pitchFamily="34" charset="-120"/>
              </a:rPr>
              <a:t>배포 (GitHub Pages) · 0원</a:t>
            </a:r>
            <a:endParaRPr lang="en-US" sz="1725" dirty="0"/>
          </a:p>
        </p:txBody>
      </p:sp>
      <p:sp>
        <p:nvSpPr>
          <p:cNvPr id="11" name="Text 9"/>
          <p:cNvSpPr/>
          <p:nvPr/>
        </p:nvSpPr>
        <p:spPr>
          <a:xfrm>
            <a:off x="4068485" y="6295549"/>
            <a:ext cx="2744581" cy="377666"/>
          </a:xfrm>
          <a:prstGeom prst="rect">
            <a:avLst/>
          </a:prstGeom>
          <a:noFill/>
          <a:ln/>
        </p:spPr>
        <p:txBody>
          <a:bodyPr wrap="square" lIns="25400" tIns="25400" rIns="25400" bIns="25400" rtlCol="0" anchor="t">
            <a:normAutofit/>
          </a:bodyPr>
          <a:lstStyle/>
          <a:p>
            <a:pPr algn="l" indent="0" marL="0">
              <a:lnSpc>
                <a:spcPct val="135038"/>
              </a:lnSpc>
              <a:buNone/>
            </a:pPr>
            <a:r>
              <a:rPr lang="en-US" sz="1725" b="1" dirty="0">
                <a:solidFill>
                  <a:srgbClr val="201E1D"/>
                </a:solidFill>
                <a:latin typeface="Arial" pitchFamily="34" charset="0"/>
                <a:ea typeface="Arial" pitchFamily="34" charset="-122"/>
                <a:cs typeface="Arial" pitchFamily="34" charset="-120"/>
              </a:rPr>
              <a:t>라이선스 (오픈소스) · 0원</a:t>
            </a:r>
            <a:endParaRPr lang="en-US" sz="1725" dirty="0"/>
          </a:p>
        </p:txBody>
      </p:sp>
      <p:sp>
        <p:nvSpPr>
          <p:cNvPr id="12" name="Text 10"/>
          <p:cNvSpPr/>
          <p:nvPr/>
        </p:nvSpPr>
        <p:spPr>
          <a:xfrm>
            <a:off x="1143000" y="6882765"/>
            <a:ext cx="6573203" cy="67818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201E1D">
                    <a:alpha val="72000"/>
                  </a:srgbClr>
                </a:solidFill>
                <a:latin typeface="Arial" pitchFamily="34" charset="0"/>
                <a:ea typeface="Arial" pitchFamily="34" charset="-122"/>
                <a:cs typeface="Arial" pitchFamily="34" charset="-120"/>
              </a:rPr>
              <a:t>유일 비용 = 개발 인건비 </a:t>
            </a:r>
            <a:pPr algn="l" indent="0" marL="0">
              <a:lnSpc>
                <a:spcPct val="123529"/>
              </a:lnSpc>
              <a:buNone/>
            </a:pPr>
            <a:r>
              <a:rPr lang="en-US" sz="1800" b="1" dirty="0">
                <a:solidFill>
                  <a:srgbClr val="AE1800"/>
                </a:solidFill>
                <a:latin typeface="Arial" pitchFamily="34" charset="0"/>
                <a:ea typeface="Arial" pitchFamily="34" charset="-122"/>
                <a:cs typeface="Arial" pitchFamily="34" charset="-120"/>
              </a:rPr>
              <a:t>(5일) </a:t>
            </a:r>
            <a:pPr algn="l" indent="0" marL="0">
              <a:lnSpc>
                <a:spcPct val="123529"/>
              </a:lnSpc>
              <a:buNone/>
            </a:pPr>
            <a:r>
              <a:rPr lang="en-US" sz="1800" dirty="0">
                <a:solidFill>
                  <a:srgbClr val="201E1D">
                    <a:alpha val="72000"/>
                  </a:srgbClr>
                </a:solidFill>
                <a:latin typeface="Arial" pitchFamily="34" charset="0"/>
                <a:ea typeface="Arial" pitchFamily="34" charset="-122"/>
                <a:cs typeface="Arial" pitchFamily="34" charset="-120"/>
              </a:rPr>
              <a:t>· 확장 시에도 종량 과금으로 점진 대응</a:t>
            </a:r>
            <a:endParaRPr lang="en-US" sz="1800" dirty="0"/>
          </a:p>
        </p:txBody>
      </p:sp>
      <p:sp>
        <p:nvSpPr>
          <p:cNvPr id="13" name="Text 11"/>
          <p:cNvSpPr/>
          <p:nvPr/>
        </p:nvSpPr>
        <p:spPr>
          <a:xfrm>
            <a:off x="8210550" y="3823811"/>
            <a:ext cx="9827895"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spc="165" kern="0" dirty="0">
                <a:solidFill>
                  <a:srgbClr val="201E1C">
                    <a:alpha val="60000"/>
                  </a:srgbClr>
                </a:solidFill>
                <a:latin typeface="Arial" pitchFamily="34" charset="0"/>
                <a:ea typeface="Arial" pitchFamily="34" charset="-122"/>
                <a:cs typeface="Arial" pitchFamily="34" charset="-120"/>
              </a:rPr>
              <a:t>상용 스택 → 무료 대체 매핑</a:t>
            </a:r>
            <a:endParaRPr lang="en-US" sz="1650" dirty="0"/>
          </a:p>
        </p:txBody>
      </p:sp>
      <p:sp>
        <p:nvSpPr>
          <p:cNvPr id="14" name="Shape 12"/>
          <p:cNvSpPr/>
          <p:nvPr/>
        </p:nvSpPr>
        <p:spPr>
          <a:xfrm>
            <a:off x="8210550" y="4358164"/>
            <a:ext cx="8934450" cy="15240"/>
          </a:xfrm>
          <a:prstGeom prst="rect">
            <a:avLst/>
          </a:prstGeom>
          <a:solidFill>
            <a:srgbClr val="201E1E">
              <a:alpha val="40000"/>
            </a:srgbClr>
          </a:solidFill>
          <a:ln/>
        </p:spPr>
      </p:sp>
      <p:sp>
        <p:nvSpPr>
          <p:cNvPr id="15" name="Shape 13"/>
          <p:cNvSpPr/>
          <p:nvPr/>
        </p:nvSpPr>
        <p:spPr>
          <a:xfrm>
            <a:off x="8210550" y="5119211"/>
            <a:ext cx="8934450" cy="15240"/>
          </a:xfrm>
          <a:prstGeom prst="rect">
            <a:avLst/>
          </a:prstGeom>
          <a:solidFill>
            <a:srgbClr val="201E1E">
              <a:alpha val="40000"/>
            </a:srgbClr>
          </a:solidFill>
          <a:ln/>
        </p:spPr>
      </p:sp>
      <p:sp>
        <p:nvSpPr>
          <p:cNvPr id="16" name="Text 14"/>
          <p:cNvSpPr/>
          <p:nvPr/>
        </p:nvSpPr>
        <p:spPr>
          <a:xfrm>
            <a:off x="8210550" y="4569143"/>
            <a:ext cx="4484370"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1F1E1C">
                    <a:alpha val="70000"/>
                  </a:srgbClr>
                </a:solidFill>
                <a:latin typeface="Arial" pitchFamily="34" charset="0"/>
                <a:ea typeface="Arial" pitchFamily="34" charset="-122"/>
                <a:cs typeface="Arial" pitchFamily="34" charset="-120"/>
              </a:rPr>
              <a:t>항만 혼잡 데이터 </a:t>
            </a:r>
            <a:pPr algn="l" indent="0" marL="0">
              <a:lnSpc>
                <a:spcPct val="136765"/>
              </a:lnSpc>
              <a:buNone/>
            </a:pPr>
            <a:r>
              <a:rPr lang="en-US" sz="1800" dirty="0">
                <a:solidFill>
                  <a:srgbClr val="201E1D"/>
                </a:solidFill>
                <a:latin typeface="Arial" pitchFamily="34" charset="0"/>
                <a:ea typeface="Arial" pitchFamily="34" charset="-122"/>
                <a:cs typeface="Arial" pitchFamily="34" charset="-120"/>
              </a:rPr>
              <a:t>(구독)</a:t>
            </a:r>
            <a:endParaRPr lang="en-US" sz="1800" dirty="0"/>
          </a:p>
        </p:txBody>
      </p:sp>
      <p:sp>
        <p:nvSpPr>
          <p:cNvPr id="17" name="Text 15"/>
          <p:cNvSpPr/>
          <p:nvPr/>
        </p:nvSpPr>
        <p:spPr>
          <a:xfrm>
            <a:off x="12553950" y="4554379"/>
            <a:ext cx="323850"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EC3013"/>
                </a:solidFill>
                <a:latin typeface="Arial" pitchFamily="34" charset="0"/>
                <a:ea typeface="Arial" pitchFamily="34" charset="-122"/>
                <a:cs typeface="Arial" pitchFamily="34" charset="-120"/>
              </a:rPr>
              <a:t>→</a:t>
            </a:r>
            <a:endParaRPr lang="en-US" sz="1950" dirty="0"/>
          </a:p>
        </p:txBody>
      </p:sp>
      <p:sp>
        <p:nvSpPr>
          <p:cNvPr id="18" name="Text 16"/>
          <p:cNvSpPr/>
          <p:nvPr/>
        </p:nvSpPr>
        <p:spPr>
          <a:xfrm>
            <a:off x="12660630" y="4569143"/>
            <a:ext cx="4484370" cy="392430"/>
          </a:xfrm>
          <a:prstGeom prst="rect">
            <a:avLst/>
          </a:prstGeom>
          <a:noFill/>
          <a:ln/>
        </p:spPr>
        <p:txBody>
          <a:bodyPr wrap="square" lIns="25400" tIns="25400" rIns="25400" bIns="25400" rtlCol="0" anchor="t">
            <a:normAutofit/>
          </a:bodyPr>
          <a:lstStyle/>
          <a:p>
            <a:pPr algn="r" indent="0" marL="0">
              <a:lnSpc>
                <a:spcPct val="136765"/>
              </a:lnSpc>
              <a:buNone/>
            </a:pPr>
            <a:r>
              <a:rPr lang="en-US" sz="1800" b="1" dirty="0">
                <a:solidFill>
                  <a:srgbClr val="201E1D"/>
                </a:solidFill>
                <a:latin typeface="Arial" pitchFamily="34" charset="0"/>
                <a:ea typeface="Arial" pitchFamily="34" charset="-122"/>
                <a:cs typeface="Arial" pitchFamily="34" charset="-120"/>
              </a:rPr>
              <a:t>IMF PortWatch 위성 AIS</a:t>
            </a:r>
            <a:endParaRPr lang="en-US" sz="1800" dirty="0"/>
          </a:p>
        </p:txBody>
      </p:sp>
      <p:sp>
        <p:nvSpPr>
          <p:cNvPr id="19" name="Shape 17"/>
          <p:cNvSpPr/>
          <p:nvPr/>
        </p:nvSpPr>
        <p:spPr>
          <a:xfrm>
            <a:off x="8210550" y="5880259"/>
            <a:ext cx="8934450" cy="15240"/>
          </a:xfrm>
          <a:prstGeom prst="rect">
            <a:avLst/>
          </a:prstGeom>
          <a:solidFill>
            <a:srgbClr val="201E1E">
              <a:alpha val="40000"/>
            </a:srgbClr>
          </a:solidFill>
          <a:ln/>
        </p:spPr>
      </p:sp>
      <p:sp>
        <p:nvSpPr>
          <p:cNvPr id="20" name="Text 18"/>
          <p:cNvSpPr/>
          <p:nvPr/>
        </p:nvSpPr>
        <p:spPr>
          <a:xfrm>
            <a:off x="8210550" y="5330190"/>
            <a:ext cx="4484370"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1F1E1C">
                    <a:alpha val="70000"/>
                  </a:srgbClr>
                </a:solidFill>
                <a:latin typeface="Arial" pitchFamily="34" charset="0"/>
                <a:ea typeface="Arial" pitchFamily="34" charset="-122"/>
                <a:cs typeface="Arial" pitchFamily="34" charset="-120"/>
              </a:rPr>
              <a:t>지도·지오코딩 </a:t>
            </a:r>
            <a:pPr algn="l" indent="0" marL="0">
              <a:lnSpc>
                <a:spcPct val="136765"/>
              </a:lnSpc>
              <a:buNone/>
            </a:pPr>
            <a:r>
              <a:rPr lang="en-US" sz="1800" dirty="0">
                <a:solidFill>
                  <a:srgbClr val="201E1D"/>
                </a:solidFill>
                <a:latin typeface="Arial" pitchFamily="34" charset="0"/>
                <a:ea typeface="Arial" pitchFamily="34" charset="-122"/>
                <a:cs typeface="Arial" pitchFamily="34" charset="-120"/>
              </a:rPr>
              <a:t>(종량 API)</a:t>
            </a:r>
            <a:endParaRPr lang="en-US" sz="1800" dirty="0"/>
          </a:p>
        </p:txBody>
      </p:sp>
      <p:sp>
        <p:nvSpPr>
          <p:cNvPr id="21" name="Text 19"/>
          <p:cNvSpPr/>
          <p:nvPr/>
        </p:nvSpPr>
        <p:spPr>
          <a:xfrm>
            <a:off x="12553950" y="5315426"/>
            <a:ext cx="323850"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EC3013"/>
                </a:solidFill>
                <a:latin typeface="Arial" pitchFamily="34" charset="0"/>
                <a:ea typeface="Arial" pitchFamily="34" charset="-122"/>
                <a:cs typeface="Arial" pitchFamily="34" charset="-120"/>
              </a:rPr>
              <a:t>→</a:t>
            </a:r>
            <a:endParaRPr lang="en-US" sz="1950" dirty="0"/>
          </a:p>
        </p:txBody>
      </p:sp>
      <p:sp>
        <p:nvSpPr>
          <p:cNvPr id="22" name="Text 20"/>
          <p:cNvSpPr/>
          <p:nvPr/>
        </p:nvSpPr>
        <p:spPr>
          <a:xfrm>
            <a:off x="12660630" y="5330190"/>
            <a:ext cx="4484370" cy="392430"/>
          </a:xfrm>
          <a:prstGeom prst="rect">
            <a:avLst/>
          </a:prstGeom>
          <a:noFill/>
          <a:ln/>
        </p:spPr>
        <p:txBody>
          <a:bodyPr wrap="square" lIns="25400" tIns="25400" rIns="25400" bIns="25400" rtlCol="0" anchor="t">
            <a:normAutofit/>
          </a:bodyPr>
          <a:lstStyle/>
          <a:p>
            <a:pPr algn="r" indent="0" marL="0">
              <a:lnSpc>
                <a:spcPct val="136765"/>
              </a:lnSpc>
              <a:buNone/>
            </a:pPr>
            <a:r>
              <a:rPr lang="en-US" sz="1800" b="1" dirty="0">
                <a:solidFill>
                  <a:srgbClr val="201E1D"/>
                </a:solidFill>
                <a:latin typeface="Arial" pitchFamily="34" charset="0"/>
                <a:ea typeface="Arial" pitchFamily="34" charset="-122"/>
                <a:cs typeface="Arial" pitchFamily="34" charset="-120"/>
              </a:rPr>
              <a:t>Leaflet + CARTO 타일</a:t>
            </a:r>
            <a:endParaRPr lang="en-US" sz="1800" dirty="0"/>
          </a:p>
        </p:txBody>
      </p:sp>
      <p:sp>
        <p:nvSpPr>
          <p:cNvPr id="23" name="Shape 21"/>
          <p:cNvSpPr/>
          <p:nvPr/>
        </p:nvSpPr>
        <p:spPr>
          <a:xfrm>
            <a:off x="8210550" y="6641306"/>
            <a:ext cx="8934450" cy="15240"/>
          </a:xfrm>
          <a:prstGeom prst="rect">
            <a:avLst/>
          </a:prstGeom>
          <a:solidFill>
            <a:srgbClr val="201E1E">
              <a:alpha val="40000"/>
            </a:srgbClr>
          </a:solidFill>
          <a:ln/>
        </p:spPr>
      </p:sp>
      <p:sp>
        <p:nvSpPr>
          <p:cNvPr id="24" name="Text 22"/>
          <p:cNvSpPr/>
          <p:nvPr/>
        </p:nvSpPr>
        <p:spPr>
          <a:xfrm>
            <a:off x="8210550" y="6091238"/>
            <a:ext cx="4484370"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1F1E1C">
                    <a:alpha val="70000"/>
                  </a:srgbClr>
                </a:solidFill>
                <a:latin typeface="Arial" pitchFamily="34" charset="0"/>
                <a:ea typeface="Arial" pitchFamily="34" charset="-122"/>
                <a:cs typeface="Arial" pitchFamily="34" charset="-120"/>
              </a:rPr>
              <a:t>DB·호스팅 </a:t>
            </a:r>
            <a:pPr algn="l" indent="0" marL="0">
              <a:lnSpc>
                <a:spcPct val="136765"/>
              </a:lnSpc>
              <a:buNone/>
            </a:pPr>
            <a:r>
              <a:rPr lang="en-US" sz="1800" dirty="0">
                <a:solidFill>
                  <a:srgbClr val="201E1D"/>
                </a:solidFill>
                <a:latin typeface="Arial" pitchFamily="34" charset="0"/>
                <a:ea typeface="Arial" pitchFamily="34" charset="-122"/>
                <a:cs typeface="Arial" pitchFamily="34" charset="-120"/>
              </a:rPr>
              <a:t>(클라우드 유료)</a:t>
            </a:r>
            <a:endParaRPr lang="en-US" sz="1800" dirty="0"/>
          </a:p>
        </p:txBody>
      </p:sp>
      <p:sp>
        <p:nvSpPr>
          <p:cNvPr id="25" name="Text 23"/>
          <p:cNvSpPr/>
          <p:nvPr/>
        </p:nvSpPr>
        <p:spPr>
          <a:xfrm>
            <a:off x="12553950" y="6076474"/>
            <a:ext cx="323850"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EC3013"/>
                </a:solidFill>
                <a:latin typeface="Arial" pitchFamily="34" charset="0"/>
                <a:ea typeface="Arial" pitchFamily="34" charset="-122"/>
                <a:cs typeface="Arial" pitchFamily="34" charset="-120"/>
              </a:rPr>
              <a:t>→</a:t>
            </a:r>
            <a:endParaRPr lang="en-US" sz="1950" dirty="0"/>
          </a:p>
        </p:txBody>
      </p:sp>
      <p:sp>
        <p:nvSpPr>
          <p:cNvPr id="26" name="Text 24"/>
          <p:cNvSpPr/>
          <p:nvPr/>
        </p:nvSpPr>
        <p:spPr>
          <a:xfrm>
            <a:off x="12660630" y="6091238"/>
            <a:ext cx="4484370" cy="392430"/>
          </a:xfrm>
          <a:prstGeom prst="rect">
            <a:avLst/>
          </a:prstGeom>
          <a:noFill/>
          <a:ln/>
        </p:spPr>
        <p:txBody>
          <a:bodyPr wrap="square" lIns="25400" tIns="25400" rIns="25400" bIns="25400" rtlCol="0" anchor="t">
            <a:normAutofit/>
          </a:bodyPr>
          <a:lstStyle/>
          <a:p>
            <a:pPr algn="r" indent="0" marL="0">
              <a:lnSpc>
                <a:spcPct val="136765"/>
              </a:lnSpc>
              <a:buNone/>
            </a:pPr>
            <a:r>
              <a:rPr lang="en-US" sz="1800" b="1" dirty="0">
                <a:solidFill>
                  <a:srgbClr val="201E1D"/>
                </a:solidFill>
                <a:latin typeface="Arial" pitchFamily="34" charset="0"/>
                <a:ea typeface="Arial" pitchFamily="34" charset="-122"/>
                <a:cs typeface="Arial" pitchFamily="34" charset="-120"/>
              </a:rPr>
              <a:t>Supabase + GitHub Pages</a:t>
            </a:r>
            <a:endParaRPr lang="en-US" sz="1800" dirty="0"/>
          </a:p>
        </p:txBody>
      </p:sp>
      <p:sp>
        <p:nvSpPr>
          <p:cNvPr id="27" name="Shape 25"/>
          <p:cNvSpPr/>
          <p:nvPr/>
        </p:nvSpPr>
        <p:spPr>
          <a:xfrm>
            <a:off x="8210550" y="7402354"/>
            <a:ext cx="8934450" cy="15240"/>
          </a:xfrm>
          <a:prstGeom prst="rect">
            <a:avLst/>
          </a:prstGeom>
          <a:solidFill>
            <a:srgbClr val="201E1E">
              <a:alpha val="40000"/>
            </a:srgbClr>
          </a:solidFill>
          <a:ln/>
        </p:spPr>
      </p:sp>
      <p:sp>
        <p:nvSpPr>
          <p:cNvPr id="28" name="Text 26"/>
          <p:cNvSpPr/>
          <p:nvPr/>
        </p:nvSpPr>
        <p:spPr>
          <a:xfrm>
            <a:off x="8210550" y="6852285"/>
            <a:ext cx="4484370"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1F1E1C">
                    <a:alpha val="70000"/>
                  </a:srgbClr>
                </a:solidFill>
                <a:latin typeface="Arial" pitchFamily="34" charset="0"/>
                <a:ea typeface="Arial" pitchFamily="34" charset="-122"/>
                <a:cs typeface="Arial" pitchFamily="34" charset="-120"/>
              </a:rPr>
              <a:t>가시성 SaaS </a:t>
            </a:r>
            <a:pPr algn="l" indent="0" marL="0">
              <a:lnSpc>
                <a:spcPct val="136765"/>
              </a:lnSpc>
              <a:buNone/>
            </a:pPr>
            <a:r>
              <a:rPr lang="en-US" sz="1800" dirty="0">
                <a:solidFill>
                  <a:srgbClr val="201E1D"/>
                </a:solidFill>
                <a:latin typeface="Arial" pitchFamily="34" charset="0"/>
                <a:ea typeface="Arial" pitchFamily="34" charset="-122"/>
                <a:cs typeface="Arial" pitchFamily="34" charset="-120"/>
              </a:rPr>
              <a:t>(tradlinx 등)</a:t>
            </a:r>
            <a:endParaRPr lang="en-US" sz="1800" dirty="0"/>
          </a:p>
        </p:txBody>
      </p:sp>
      <p:sp>
        <p:nvSpPr>
          <p:cNvPr id="29" name="Text 27"/>
          <p:cNvSpPr/>
          <p:nvPr/>
        </p:nvSpPr>
        <p:spPr>
          <a:xfrm>
            <a:off x="12553950" y="6837522"/>
            <a:ext cx="323850"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EC3013"/>
                </a:solidFill>
                <a:latin typeface="Arial" pitchFamily="34" charset="0"/>
                <a:ea typeface="Arial" pitchFamily="34" charset="-122"/>
                <a:cs typeface="Arial" pitchFamily="34" charset="-120"/>
              </a:rPr>
              <a:t>→</a:t>
            </a:r>
            <a:endParaRPr lang="en-US" sz="1950" dirty="0"/>
          </a:p>
        </p:txBody>
      </p:sp>
      <p:sp>
        <p:nvSpPr>
          <p:cNvPr id="30" name="Text 28"/>
          <p:cNvSpPr/>
          <p:nvPr/>
        </p:nvSpPr>
        <p:spPr>
          <a:xfrm>
            <a:off x="12660630" y="6852285"/>
            <a:ext cx="4484370" cy="392430"/>
          </a:xfrm>
          <a:prstGeom prst="rect">
            <a:avLst/>
          </a:prstGeom>
          <a:noFill/>
          <a:ln/>
        </p:spPr>
        <p:txBody>
          <a:bodyPr wrap="square" lIns="25400" tIns="25400" rIns="25400" bIns="25400" rtlCol="0" anchor="t">
            <a:normAutofit/>
          </a:bodyPr>
          <a:lstStyle/>
          <a:p>
            <a:pPr algn="r" indent="0" marL="0">
              <a:lnSpc>
                <a:spcPct val="136765"/>
              </a:lnSpc>
              <a:buNone/>
            </a:pPr>
            <a:r>
              <a:rPr lang="en-US" sz="1800" b="1" dirty="0">
                <a:solidFill>
                  <a:srgbClr val="201E1D"/>
                </a:solidFill>
                <a:latin typeface="Arial" pitchFamily="34" charset="0"/>
                <a:ea typeface="Arial" pitchFamily="34" charset="-122"/>
                <a:cs typeface="Arial" pitchFamily="34" charset="-120"/>
              </a:rPr>
              <a:t>공개데이터 통합·정제</a:t>
            </a:r>
            <a:endParaRPr lang="en-US" sz="1800" dirty="0"/>
          </a:p>
        </p:txBody>
      </p:sp>
      <p:sp>
        <p:nvSpPr>
          <p:cNvPr id="31" name="Text 29"/>
          <p:cNvSpPr/>
          <p:nvPr/>
        </p:nvSpPr>
        <p:spPr>
          <a:xfrm>
            <a:off x="1143000" y="9390698"/>
            <a:ext cx="2791730"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211D1D">
                    <a:alpha val="55000"/>
                  </a:srgbClr>
                </a:solidFill>
                <a:latin typeface="Arial" pitchFamily="34" charset="0"/>
                <a:ea typeface="Arial" pitchFamily="34" charset="-122"/>
                <a:cs typeface="Arial" pitchFamily="34" charset="-120"/>
              </a:rPr>
              <a:t>AI 컨트롤타워 · 태웅로직스</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838200"/>
            <a:ext cx="11103138"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52" kern="0" dirty="0">
                <a:solidFill>
                  <a:srgbClr val="AE1800"/>
                </a:solidFill>
                <a:latin typeface="Arial" pitchFamily="34" charset="0"/>
                <a:ea typeface="Arial" pitchFamily="34" charset="-122"/>
                <a:cs typeface="Arial" pitchFamily="34" charset="-120"/>
              </a:rPr>
              <a:t>04 타당성 · DELIVERY &amp; VALIDATION</a:t>
            </a:r>
            <a:endParaRPr lang="en-US" sz="1800" dirty="0"/>
          </a:p>
        </p:txBody>
      </p:sp>
      <p:sp>
        <p:nvSpPr>
          <p:cNvPr id="3" name="Text 1"/>
          <p:cNvSpPr/>
          <p:nvPr/>
        </p:nvSpPr>
        <p:spPr>
          <a:xfrm>
            <a:off x="1143000" y="1344930"/>
            <a:ext cx="11103138" cy="563047"/>
          </a:xfrm>
          <a:prstGeom prst="rect">
            <a:avLst/>
          </a:prstGeom>
          <a:noFill/>
          <a:ln/>
        </p:spPr>
        <p:txBody>
          <a:bodyPr wrap="square" lIns="25400" tIns="25400" rIns="25400" bIns="25400" rtlCol="0" anchor="t">
            <a:normAutofit/>
          </a:bodyPr>
          <a:lstStyle/>
          <a:p>
            <a:pPr algn="l" indent="0" marL="0">
              <a:lnSpc>
                <a:spcPct val="74891"/>
              </a:lnSpc>
              <a:buNone/>
            </a:pPr>
            <a:r>
              <a:rPr lang="en-US" sz="3900" b="1" spc="-39" kern="0" dirty="0">
                <a:solidFill>
                  <a:srgbClr val="201E1D"/>
                </a:solidFill>
                <a:latin typeface="Arial" pitchFamily="34" charset="0"/>
                <a:ea typeface="Arial" pitchFamily="34" charset="-122"/>
                <a:cs typeface="Arial" pitchFamily="34" charset="-120"/>
              </a:rPr>
              <a:t>5일 만에 v1, 8개 화면 — 전부 실데이터로 검증</a:t>
            </a:r>
            <a:endParaRPr lang="en-US" sz="3900" dirty="0"/>
          </a:p>
        </p:txBody>
      </p:sp>
      <p:sp>
        <p:nvSpPr>
          <p:cNvPr id="4" name="Text 2"/>
          <p:cNvSpPr/>
          <p:nvPr/>
        </p:nvSpPr>
        <p:spPr>
          <a:xfrm>
            <a:off x="16869490" y="1486019"/>
            <a:ext cx="351711"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AE1800"/>
                </a:solidFill>
                <a:latin typeface="Arial" pitchFamily="34" charset="0"/>
                <a:ea typeface="Arial" pitchFamily="34" charset="-122"/>
                <a:cs typeface="Arial" pitchFamily="34" charset="-120"/>
              </a:rPr>
              <a:t>10</a:t>
            </a:r>
            <a:endParaRPr lang="en-US" sz="1950" dirty="0"/>
          </a:p>
        </p:txBody>
      </p:sp>
      <p:sp>
        <p:nvSpPr>
          <p:cNvPr id="5" name="Shape 3"/>
          <p:cNvSpPr/>
          <p:nvPr/>
        </p:nvSpPr>
        <p:spPr>
          <a:xfrm>
            <a:off x="1143000" y="2117527"/>
            <a:ext cx="16002000" cy="19050"/>
          </a:xfrm>
          <a:prstGeom prst="rect">
            <a:avLst/>
          </a:prstGeom>
          <a:solidFill>
            <a:srgbClr val="201E1E">
              <a:alpha val="40000"/>
            </a:srgbClr>
          </a:solidFill>
          <a:ln/>
        </p:spPr>
      </p:sp>
      <p:sp>
        <p:nvSpPr>
          <p:cNvPr id="6" name="Text 4"/>
          <p:cNvSpPr/>
          <p:nvPr/>
        </p:nvSpPr>
        <p:spPr>
          <a:xfrm>
            <a:off x="1143000" y="3950494"/>
            <a:ext cx="3921466"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201E1D"/>
                </a:solidFill>
                <a:latin typeface="Arial" pitchFamily="34" charset="0"/>
                <a:ea typeface="Arial" pitchFamily="34" charset="-122"/>
                <a:cs typeface="Arial" pitchFamily="34" charset="-120"/>
              </a:rPr>
              <a:t>개발 기간 · 2026-07-24 → 07-28</a:t>
            </a:r>
            <a:endParaRPr lang="en-US" sz="1950" dirty="0"/>
          </a:p>
        </p:txBody>
      </p:sp>
      <p:sp>
        <p:nvSpPr>
          <p:cNvPr id="7" name="Text 5"/>
          <p:cNvSpPr/>
          <p:nvPr/>
        </p:nvSpPr>
        <p:spPr>
          <a:xfrm>
            <a:off x="15578257" y="3904774"/>
            <a:ext cx="1723418" cy="481012"/>
          </a:xfrm>
          <a:prstGeom prst="rect">
            <a:avLst/>
          </a:prstGeom>
          <a:noFill/>
          <a:ln/>
        </p:spPr>
        <p:txBody>
          <a:bodyPr wrap="square" lIns="25400" tIns="25400" rIns="25400" bIns="25400" rtlCol="0" anchor="t">
            <a:normAutofit/>
          </a:bodyPr>
          <a:lstStyle/>
          <a:p>
            <a:pPr algn="l" indent="0" marL="0">
              <a:lnSpc>
                <a:spcPct val="109670"/>
              </a:lnSpc>
              <a:buNone/>
            </a:pPr>
            <a:r>
              <a:rPr lang="en-US" sz="2250" b="1" dirty="0">
                <a:solidFill>
                  <a:srgbClr val="EC3013"/>
                </a:solidFill>
                <a:latin typeface="Arial" pitchFamily="34" charset="0"/>
                <a:ea typeface="Arial" pitchFamily="34" charset="-122"/>
                <a:cs typeface="Arial" pitchFamily="34" charset="-120"/>
              </a:rPr>
              <a:t>5일 · 11단계</a:t>
            </a:r>
            <a:endParaRPr lang="en-US" sz="2250" dirty="0"/>
          </a:p>
        </p:txBody>
      </p:sp>
      <p:sp>
        <p:nvSpPr>
          <p:cNvPr id="8" name="Shape 6"/>
          <p:cNvSpPr/>
          <p:nvPr/>
        </p:nvSpPr>
        <p:spPr>
          <a:xfrm>
            <a:off x="1143000" y="4481036"/>
            <a:ext cx="16002000" cy="630555"/>
          </a:xfrm>
          <a:prstGeom prst="rect">
            <a:avLst/>
          </a:prstGeom>
          <a:solidFill>
            <a:srgbClr val="201E1E">
              <a:alpha val="40000"/>
            </a:srgbClr>
          </a:solidFill>
          <a:ln w="15240">
            <a:solidFill>
              <a:srgbClr val="201E1E">
                <a:alpha val="40000"/>
              </a:srgbClr>
            </a:solidFill>
            <a:prstDash val="solid"/>
          </a:ln>
        </p:spPr>
      </p:sp>
      <p:sp>
        <p:nvSpPr>
          <p:cNvPr id="9" name="Shape 7"/>
          <p:cNvSpPr/>
          <p:nvPr/>
        </p:nvSpPr>
        <p:spPr>
          <a:xfrm>
            <a:off x="1158240" y="4496276"/>
            <a:ext cx="2265283" cy="600075"/>
          </a:xfrm>
          <a:prstGeom prst="rect">
            <a:avLst/>
          </a:prstGeom>
          <a:solidFill>
            <a:srgbClr val="EC3013"/>
          </a:solidFill>
          <a:ln/>
        </p:spPr>
      </p:sp>
      <p:sp>
        <p:nvSpPr>
          <p:cNvPr id="10" name="Text 8"/>
          <p:cNvSpPr/>
          <p:nvPr/>
        </p:nvSpPr>
        <p:spPr>
          <a:xfrm>
            <a:off x="1329690" y="4648676"/>
            <a:ext cx="1998583"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F3F2F2"/>
                </a:solidFill>
                <a:latin typeface="Arial" pitchFamily="34" charset="0"/>
                <a:ea typeface="Arial" pitchFamily="34" charset="-122"/>
                <a:cs typeface="Arial" pitchFamily="34" charset="-120"/>
              </a:rPr>
              <a:t>선석배정</a:t>
            </a:r>
            <a:endParaRPr lang="en-US" sz="1500" dirty="0"/>
          </a:p>
        </p:txBody>
      </p:sp>
      <p:sp>
        <p:nvSpPr>
          <p:cNvPr id="11" name="Shape 9"/>
          <p:cNvSpPr/>
          <p:nvPr/>
        </p:nvSpPr>
        <p:spPr>
          <a:xfrm>
            <a:off x="3442573" y="4496276"/>
            <a:ext cx="2265283" cy="600075"/>
          </a:xfrm>
          <a:prstGeom prst="rect">
            <a:avLst/>
          </a:prstGeom>
          <a:solidFill>
            <a:srgbClr val="EC3013"/>
          </a:solidFill>
          <a:ln/>
        </p:spPr>
      </p:sp>
      <p:sp>
        <p:nvSpPr>
          <p:cNvPr id="12" name="Text 10"/>
          <p:cNvSpPr/>
          <p:nvPr/>
        </p:nvSpPr>
        <p:spPr>
          <a:xfrm>
            <a:off x="3614023" y="4648676"/>
            <a:ext cx="1998583"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F3F2F2"/>
                </a:solidFill>
                <a:latin typeface="Arial" pitchFamily="34" charset="0"/>
                <a:ea typeface="Arial" pitchFamily="34" charset="-122"/>
                <a:cs typeface="Arial" pitchFamily="34" charset="-120"/>
              </a:rPr>
              <a:t>Port Insight·PCI</a:t>
            </a:r>
            <a:endParaRPr lang="en-US" sz="1500" dirty="0"/>
          </a:p>
        </p:txBody>
      </p:sp>
      <p:sp>
        <p:nvSpPr>
          <p:cNvPr id="13" name="Shape 11"/>
          <p:cNvSpPr/>
          <p:nvPr/>
        </p:nvSpPr>
        <p:spPr>
          <a:xfrm>
            <a:off x="5726906" y="4496276"/>
            <a:ext cx="2265283" cy="600075"/>
          </a:xfrm>
          <a:prstGeom prst="rect">
            <a:avLst/>
          </a:prstGeom>
          <a:solidFill>
            <a:srgbClr val="EC3013"/>
          </a:solidFill>
          <a:ln/>
        </p:spPr>
      </p:sp>
      <p:sp>
        <p:nvSpPr>
          <p:cNvPr id="14" name="Text 12"/>
          <p:cNvSpPr/>
          <p:nvPr/>
        </p:nvSpPr>
        <p:spPr>
          <a:xfrm>
            <a:off x="5898356" y="4648676"/>
            <a:ext cx="1998583"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F3F2F2"/>
                </a:solidFill>
                <a:latin typeface="Arial" pitchFamily="34" charset="0"/>
                <a:ea typeface="Arial" pitchFamily="34" charset="-122"/>
                <a:cs typeface="Arial" pitchFamily="34" charset="-120"/>
              </a:rPr>
              <a:t>선박 위치</a:t>
            </a:r>
            <a:endParaRPr lang="en-US" sz="1500" dirty="0"/>
          </a:p>
        </p:txBody>
      </p:sp>
      <p:sp>
        <p:nvSpPr>
          <p:cNvPr id="15" name="Shape 13"/>
          <p:cNvSpPr/>
          <p:nvPr/>
        </p:nvSpPr>
        <p:spPr>
          <a:xfrm>
            <a:off x="8011239" y="4496276"/>
            <a:ext cx="2265402" cy="600075"/>
          </a:xfrm>
          <a:prstGeom prst="rect">
            <a:avLst/>
          </a:prstGeom>
          <a:solidFill>
            <a:srgbClr val="EC3013"/>
          </a:solidFill>
          <a:ln/>
        </p:spPr>
      </p:sp>
      <p:sp>
        <p:nvSpPr>
          <p:cNvPr id="16" name="Text 14"/>
          <p:cNvSpPr/>
          <p:nvPr/>
        </p:nvSpPr>
        <p:spPr>
          <a:xfrm>
            <a:off x="8182689" y="4648676"/>
            <a:ext cx="1998702"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F3F2F2"/>
                </a:solidFill>
                <a:latin typeface="Arial" pitchFamily="34" charset="0"/>
                <a:ea typeface="Arial" pitchFamily="34" charset="-122"/>
                <a:cs typeface="Arial" pitchFamily="34" charset="-120"/>
              </a:rPr>
              <a:t>화물 추적</a:t>
            </a:r>
            <a:endParaRPr lang="en-US" sz="1500" dirty="0"/>
          </a:p>
        </p:txBody>
      </p:sp>
      <p:sp>
        <p:nvSpPr>
          <p:cNvPr id="17" name="Shape 15"/>
          <p:cNvSpPr/>
          <p:nvPr/>
        </p:nvSpPr>
        <p:spPr>
          <a:xfrm>
            <a:off x="10295691" y="4496276"/>
            <a:ext cx="2265283" cy="600075"/>
          </a:xfrm>
          <a:prstGeom prst="rect">
            <a:avLst/>
          </a:prstGeom>
          <a:solidFill>
            <a:srgbClr val="EC3013"/>
          </a:solidFill>
          <a:ln/>
        </p:spPr>
      </p:sp>
      <p:sp>
        <p:nvSpPr>
          <p:cNvPr id="18" name="Text 16"/>
          <p:cNvSpPr/>
          <p:nvPr/>
        </p:nvSpPr>
        <p:spPr>
          <a:xfrm>
            <a:off x="10467141" y="4648676"/>
            <a:ext cx="1998583"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F3F2F2"/>
                </a:solidFill>
                <a:latin typeface="Arial" pitchFamily="34" charset="0"/>
                <a:ea typeface="Arial" pitchFamily="34" charset="-122"/>
                <a:cs typeface="Arial" pitchFamily="34" charset="-120"/>
              </a:rPr>
              <a:t>경로 분석</a:t>
            </a:r>
            <a:endParaRPr lang="en-US" sz="1500" dirty="0"/>
          </a:p>
        </p:txBody>
      </p:sp>
      <p:sp>
        <p:nvSpPr>
          <p:cNvPr id="19" name="Shape 17"/>
          <p:cNvSpPr/>
          <p:nvPr/>
        </p:nvSpPr>
        <p:spPr>
          <a:xfrm>
            <a:off x="12580025" y="4496276"/>
            <a:ext cx="2265283" cy="600075"/>
          </a:xfrm>
          <a:prstGeom prst="rect">
            <a:avLst/>
          </a:prstGeom>
          <a:solidFill>
            <a:srgbClr val="EC3013"/>
          </a:solidFill>
          <a:ln/>
        </p:spPr>
      </p:sp>
      <p:sp>
        <p:nvSpPr>
          <p:cNvPr id="20" name="Text 18"/>
          <p:cNvSpPr/>
          <p:nvPr/>
        </p:nvSpPr>
        <p:spPr>
          <a:xfrm>
            <a:off x="12751475" y="4648676"/>
            <a:ext cx="1998583"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F3F2F2"/>
                </a:solidFill>
                <a:latin typeface="Arial" pitchFamily="34" charset="0"/>
                <a:ea typeface="Arial" pitchFamily="34" charset="-122"/>
                <a:cs typeface="Arial" pitchFamily="34" charset="-120"/>
              </a:rPr>
              <a:t>운영 보드</a:t>
            </a:r>
            <a:endParaRPr lang="en-US" sz="1500" dirty="0"/>
          </a:p>
        </p:txBody>
      </p:sp>
      <p:sp>
        <p:nvSpPr>
          <p:cNvPr id="21" name="Shape 19"/>
          <p:cNvSpPr/>
          <p:nvPr/>
        </p:nvSpPr>
        <p:spPr>
          <a:xfrm>
            <a:off x="14864358" y="4496276"/>
            <a:ext cx="2265283" cy="600075"/>
          </a:xfrm>
          <a:prstGeom prst="rect">
            <a:avLst/>
          </a:prstGeom>
          <a:solidFill>
            <a:srgbClr val="EC3013"/>
          </a:solidFill>
          <a:ln/>
        </p:spPr>
      </p:sp>
      <p:sp>
        <p:nvSpPr>
          <p:cNvPr id="22" name="Text 20"/>
          <p:cNvSpPr/>
          <p:nvPr/>
        </p:nvSpPr>
        <p:spPr>
          <a:xfrm>
            <a:off x="15035808" y="4648676"/>
            <a:ext cx="1998583"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dirty="0">
                <a:solidFill>
                  <a:srgbClr val="F3F2F2"/>
                </a:solidFill>
                <a:latin typeface="Arial" pitchFamily="34" charset="0"/>
                <a:ea typeface="Arial" pitchFamily="34" charset="-122"/>
                <a:cs typeface="Arial" pitchFamily="34" charset="-120"/>
              </a:rPr>
              <a:t>배포·React 이관</a:t>
            </a:r>
            <a:endParaRPr lang="en-US" sz="1500" dirty="0"/>
          </a:p>
        </p:txBody>
      </p:sp>
      <p:sp>
        <p:nvSpPr>
          <p:cNvPr id="23" name="Shape 21"/>
          <p:cNvSpPr/>
          <p:nvPr/>
        </p:nvSpPr>
        <p:spPr>
          <a:xfrm>
            <a:off x="1143000" y="5435441"/>
            <a:ext cx="16002000" cy="1901190"/>
          </a:xfrm>
          <a:prstGeom prst="rect">
            <a:avLst/>
          </a:prstGeom>
          <a:solidFill>
            <a:srgbClr val="201E1E">
              <a:alpha val="40000"/>
            </a:srgbClr>
          </a:solidFill>
          <a:ln w="15240">
            <a:solidFill>
              <a:srgbClr val="201E1E">
                <a:alpha val="40000"/>
              </a:srgbClr>
            </a:solidFill>
            <a:prstDash val="solid"/>
          </a:ln>
        </p:spPr>
      </p:sp>
      <p:sp>
        <p:nvSpPr>
          <p:cNvPr id="24" name="Shape 22"/>
          <p:cNvSpPr/>
          <p:nvPr/>
        </p:nvSpPr>
        <p:spPr>
          <a:xfrm>
            <a:off x="1158240" y="5450681"/>
            <a:ext cx="3978593" cy="1870710"/>
          </a:xfrm>
          <a:prstGeom prst="rect">
            <a:avLst/>
          </a:prstGeom>
          <a:solidFill>
            <a:srgbClr val="F3F2F2"/>
          </a:solidFill>
          <a:ln/>
        </p:spPr>
      </p:sp>
      <p:sp>
        <p:nvSpPr>
          <p:cNvPr id="25" name="Text 23"/>
          <p:cNvSpPr/>
          <p:nvPr/>
        </p:nvSpPr>
        <p:spPr>
          <a:xfrm>
            <a:off x="1443990" y="5717381"/>
            <a:ext cx="3747802" cy="655320"/>
          </a:xfrm>
          <a:prstGeom prst="rect">
            <a:avLst/>
          </a:prstGeom>
          <a:noFill/>
          <a:ln/>
        </p:spPr>
        <p:txBody>
          <a:bodyPr wrap="square" lIns="25400" tIns="25400" rIns="25400" bIns="25400" rtlCol="0" anchor="t">
            <a:normAutofit/>
          </a:bodyPr>
          <a:lstStyle/>
          <a:p>
            <a:pPr algn="l" indent="0" marL="0">
              <a:lnSpc>
                <a:spcPct val="63780"/>
              </a:lnSpc>
              <a:buNone/>
            </a:pPr>
            <a:r>
              <a:rPr lang="en-US" sz="5400" b="1" dirty="0">
                <a:solidFill>
                  <a:srgbClr val="EC3013"/>
                </a:solidFill>
                <a:latin typeface="Arial" pitchFamily="34" charset="0"/>
                <a:ea typeface="Arial" pitchFamily="34" charset="-122"/>
                <a:cs typeface="Arial" pitchFamily="34" charset="-120"/>
              </a:rPr>
              <a:t>224</a:t>
            </a:r>
            <a:pPr algn="l" indent="0" marL="0">
              <a:lnSpc>
                <a:spcPct val="63780"/>
              </a:lnSpc>
              <a:buNone/>
            </a:pPr>
            <a:r>
              <a:rPr lang="en-US" sz="2250" b="1" dirty="0">
                <a:solidFill>
                  <a:srgbClr val="EC3013"/>
                </a:solidFill>
                <a:latin typeface="Arial" pitchFamily="34" charset="0"/>
                <a:ea typeface="Arial" pitchFamily="34" charset="-122"/>
                <a:cs typeface="Arial" pitchFamily="34" charset="-120"/>
              </a:rPr>
              <a:t>건</a:t>
            </a:r>
            <a:endParaRPr lang="en-US" sz="5400" dirty="0"/>
          </a:p>
        </p:txBody>
      </p:sp>
      <p:sp>
        <p:nvSpPr>
          <p:cNvPr id="26" name="Text 24"/>
          <p:cNvSpPr/>
          <p:nvPr/>
        </p:nvSpPr>
        <p:spPr>
          <a:xfrm>
            <a:off x="1443990" y="6467951"/>
            <a:ext cx="3509305"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201E1D">
                    <a:alpha val="72000"/>
                  </a:srgbClr>
                </a:solidFill>
                <a:latin typeface="Arial" pitchFamily="34" charset="0"/>
                <a:ea typeface="Arial" pitchFamily="34" charset="-122"/>
                <a:cs typeface="Arial" pitchFamily="34" charset="-120"/>
              </a:rPr>
              <a:t>선석 정규화 E2E · 필터·검색·마감강조 통과 (중복 제거 후 223)</a:t>
            </a:r>
            <a:endParaRPr lang="en-US" sz="1650" dirty="0"/>
          </a:p>
        </p:txBody>
      </p:sp>
      <p:sp>
        <p:nvSpPr>
          <p:cNvPr id="27" name="Shape 25"/>
          <p:cNvSpPr/>
          <p:nvPr/>
        </p:nvSpPr>
        <p:spPr>
          <a:xfrm>
            <a:off x="5155882" y="5450681"/>
            <a:ext cx="3978593" cy="1870710"/>
          </a:xfrm>
          <a:prstGeom prst="rect">
            <a:avLst/>
          </a:prstGeom>
          <a:solidFill>
            <a:srgbClr val="F3F2F2"/>
          </a:solidFill>
          <a:ln/>
        </p:spPr>
      </p:sp>
      <p:sp>
        <p:nvSpPr>
          <p:cNvPr id="28" name="Text 26"/>
          <p:cNvSpPr/>
          <p:nvPr/>
        </p:nvSpPr>
        <p:spPr>
          <a:xfrm>
            <a:off x="5441632" y="5717381"/>
            <a:ext cx="3747802" cy="655320"/>
          </a:xfrm>
          <a:prstGeom prst="rect">
            <a:avLst/>
          </a:prstGeom>
          <a:noFill/>
          <a:ln/>
        </p:spPr>
        <p:txBody>
          <a:bodyPr wrap="square" lIns="25400" tIns="25400" rIns="25400" bIns="25400" rtlCol="0" anchor="t">
            <a:normAutofit/>
          </a:bodyPr>
          <a:lstStyle/>
          <a:p>
            <a:pPr algn="l" indent="0" marL="0">
              <a:lnSpc>
                <a:spcPct val="63780"/>
              </a:lnSpc>
              <a:buNone/>
            </a:pPr>
            <a:r>
              <a:rPr lang="en-US" sz="5400" b="1" dirty="0">
                <a:solidFill>
                  <a:srgbClr val="EC3013"/>
                </a:solidFill>
                <a:latin typeface="Arial" pitchFamily="34" charset="0"/>
                <a:ea typeface="Arial" pitchFamily="34" charset="-122"/>
                <a:cs typeface="Arial" pitchFamily="34" charset="-120"/>
              </a:rPr>
              <a:t>10,212</a:t>
            </a:r>
            <a:pPr algn="l" indent="0" marL="0">
              <a:lnSpc>
                <a:spcPct val="63780"/>
              </a:lnSpc>
              <a:buNone/>
            </a:pPr>
            <a:r>
              <a:rPr lang="en-US" sz="2250" b="1" dirty="0">
                <a:solidFill>
                  <a:srgbClr val="EC3013"/>
                </a:solidFill>
                <a:latin typeface="Arial" pitchFamily="34" charset="0"/>
                <a:ea typeface="Arial" pitchFamily="34" charset="-122"/>
                <a:cs typeface="Arial" pitchFamily="34" charset="-120"/>
              </a:rPr>
              <a:t>행</a:t>
            </a:r>
            <a:endParaRPr lang="en-US" sz="5400" dirty="0"/>
          </a:p>
        </p:txBody>
      </p:sp>
      <p:sp>
        <p:nvSpPr>
          <p:cNvPr id="29" name="Text 27"/>
          <p:cNvSpPr/>
          <p:nvPr/>
        </p:nvSpPr>
        <p:spPr>
          <a:xfrm>
            <a:off x="5441632" y="6467951"/>
            <a:ext cx="3509305"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201E1D">
                    <a:alpha val="72000"/>
                  </a:srgbClr>
                </a:solidFill>
                <a:latin typeface="Arial" pitchFamily="34" charset="0"/>
                <a:ea typeface="Arial" pitchFamily="34" charset="-122"/>
                <a:cs typeface="Arial" pitchFamily="34" charset="-120"/>
              </a:rPr>
              <a:t>PortWatch 실데이터 → 93개 항만 PCI 산출·반영</a:t>
            </a:r>
            <a:endParaRPr lang="en-US" sz="1650" dirty="0"/>
          </a:p>
        </p:txBody>
      </p:sp>
      <p:sp>
        <p:nvSpPr>
          <p:cNvPr id="30" name="Shape 28"/>
          <p:cNvSpPr/>
          <p:nvPr/>
        </p:nvSpPr>
        <p:spPr>
          <a:xfrm>
            <a:off x="9153525" y="5450681"/>
            <a:ext cx="3978593" cy="1870710"/>
          </a:xfrm>
          <a:prstGeom prst="rect">
            <a:avLst/>
          </a:prstGeom>
          <a:solidFill>
            <a:srgbClr val="F3F2F2"/>
          </a:solidFill>
          <a:ln/>
        </p:spPr>
      </p:sp>
      <p:sp>
        <p:nvSpPr>
          <p:cNvPr id="31" name="Text 29"/>
          <p:cNvSpPr/>
          <p:nvPr/>
        </p:nvSpPr>
        <p:spPr>
          <a:xfrm>
            <a:off x="9439275" y="5717381"/>
            <a:ext cx="3747802" cy="655320"/>
          </a:xfrm>
          <a:prstGeom prst="rect">
            <a:avLst/>
          </a:prstGeom>
          <a:noFill/>
          <a:ln/>
        </p:spPr>
        <p:txBody>
          <a:bodyPr wrap="square" lIns="25400" tIns="25400" rIns="25400" bIns="25400" rtlCol="0" anchor="t">
            <a:normAutofit/>
          </a:bodyPr>
          <a:lstStyle/>
          <a:p>
            <a:pPr algn="l" indent="0" marL="0">
              <a:lnSpc>
                <a:spcPct val="63780"/>
              </a:lnSpc>
              <a:buNone/>
            </a:pPr>
            <a:r>
              <a:rPr lang="en-US" sz="5400" b="1" dirty="0">
                <a:solidFill>
                  <a:srgbClr val="EC3013"/>
                </a:solidFill>
                <a:latin typeface="Arial" pitchFamily="34" charset="0"/>
                <a:ea typeface="Arial" pitchFamily="34" charset="-122"/>
                <a:cs typeface="Arial" pitchFamily="34" charset="-120"/>
              </a:rPr>
              <a:t>3,218</a:t>
            </a:r>
            <a:pPr algn="l" indent="0" marL="0">
              <a:lnSpc>
                <a:spcPct val="63780"/>
              </a:lnSpc>
              <a:buNone/>
            </a:pPr>
            <a:r>
              <a:rPr lang="en-US" sz="2250" b="1" dirty="0">
                <a:solidFill>
                  <a:srgbClr val="EC3013"/>
                </a:solidFill>
                <a:latin typeface="Arial" pitchFamily="34" charset="0"/>
                <a:ea typeface="Arial" pitchFamily="34" charset="-122"/>
                <a:cs typeface="Arial" pitchFamily="34" charset="-120"/>
              </a:rPr>
              <a:t>건</a:t>
            </a:r>
            <a:endParaRPr lang="en-US" sz="5400" dirty="0"/>
          </a:p>
        </p:txBody>
      </p:sp>
      <p:sp>
        <p:nvSpPr>
          <p:cNvPr id="32" name="Text 30"/>
          <p:cNvSpPr/>
          <p:nvPr/>
        </p:nvSpPr>
        <p:spPr>
          <a:xfrm>
            <a:off x="9439275" y="6467951"/>
            <a:ext cx="3509305"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201E1D">
                    <a:alpha val="72000"/>
                  </a:srgbClr>
                </a:solidFill>
                <a:latin typeface="Arial" pitchFamily="34" charset="0"/>
                <a:ea typeface="Arial" pitchFamily="34" charset="-122"/>
                <a:cs typeface="Arial" pitchFamily="34" charset="-120"/>
              </a:rPr>
              <a:t>선석 14일 백필 · 헤더 변형 8종 자동 대응</a:t>
            </a:r>
            <a:endParaRPr lang="en-US" sz="1650" dirty="0"/>
          </a:p>
        </p:txBody>
      </p:sp>
      <p:sp>
        <p:nvSpPr>
          <p:cNvPr id="33" name="Shape 31"/>
          <p:cNvSpPr/>
          <p:nvPr/>
        </p:nvSpPr>
        <p:spPr>
          <a:xfrm>
            <a:off x="13151168" y="5450681"/>
            <a:ext cx="3978593" cy="1870710"/>
          </a:xfrm>
          <a:prstGeom prst="rect">
            <a:avLst/>
          </a:prstGeom>
          <a:solidFill>
            <a:srgbClr val="F3F2F2"/>
          </a:solidFill>
          <a:ln/>
        </p:spPr>
      </p:sp>
      <p:sp>
        <p:nvSpPr>
          <p:cNvPr id="34" name="Text 32"/>
          <p:cNvSpPr/>
          <p:nvPr/>
        </p:nvSpPr>
        <p:spPr>
          <a:xfrm>
            <a:off x="13436918" y="5717381"/>
            <a:ext cx="3747802" cy="655320"/>
          </a:xfrm>
          <a:prstGeom prst="rect">
            <a:avLst/>
          </a:prstGeom>
          <a:noFill/>
          <a:ln/>
        </p:spPr>
        <p:txBody>
          <a:bodyPr wrap="square" lIns="25400" tIns="25400" rIns="25400" bIns="25400" rtlCol="0" anchor="t">
            <a:normAutofit/>
          </a:bodyPr>
          <a:lstStyle/>
          <a:p>
            <a:pPr algn="l" indent="0" marL="0">
              <a:lnSpc>
                <a:spcPct val="63780"/>
              </a:lnSpc>
              <a:buNone/>
            </a:pPr>
            <a:r>
              <a:rPr lang="en-US" sz="5400" b="1" dirty="0">
                <a:solidFill>
                  <a:srgbClr val="EC3013"/>
                </a:solidFill>
                <a:latin typeface="Arial" pitchFamily="34" charset="0"/>
                <a:ea typeface="Arial" pitchFamily="34" charset="-122"/>
                <a:cs typeface="Arial" pitchFamily="34" charset="-120"/>
              </a:rPr>
              <a:t>0</a:t>
            </a:r>
            <a:pPr algn="l" indent="0" marL="0">
              <a:lnSpc>
                <a:spcPct val="63780"/>
              </a:lnSpc>
              <a:buNone/>
            </a:pPr>
            <a:r>
              <a:rPr lang="en-US" sz="2250" b="1" dirty="0">
                <a:solidFill>
                  <a:srgbClr val="EC3013"/>
                </a:solidFill>
                <a:latin typeface="Arial" pitchFamily="34" charset="0"/>
                <a:ea typeface="Arial" pitchFamily="34" charset="-122"/>
                <a:cs typeface="Arial" pitchFamily="34" charset="-120"/>
              </a:rPr>
              <a:t>건</a:t>
            </a:r>
            <a:endParaRPr lang="en-US" sz="5400" dirty="0"/>
          </a:p>
        </p:txBody>
      </p:sp>
      <p:sp>
        <p:nvSpPr>
          <p:cNvPr id="35" name="Text 33"/>
          <p:cNvSpPr/>
          <p:nvPr/>
        </p:nvSpPr>
        <p:spPr>
          <a:xfrm>
            <a:off x="13436918" y="6467951"/>
            <a:ext cx="3509305"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201E1D">
                    <a:alpha val="72000"/>
                  </a:srgbClr>
                </a:solidFill>
                <a:latin typeface="Arial" pitchFamily="34" charset="0"/>
                <a:ea typeface="Arial" pitchFamily="34" charset="-122"/>
                <a:cs typeface="Arial" pitchFamily="34" charset="-120"/>
              </a:rPr>
              <a:t>콘솔 오류·보안 이슈 · Supabase 어드바이저 0</a:t>
            </a:r>
            <a:endParaRPr lang="en-US" sz="1650" dirty="0"/>
          </a:p>
        </p:txBody>
      </p:sp>
      <p:sp>
        <p:nvSpPr>
          <p:cNvPr id="36" name="Text 34"/>
          <p:cNvSpPr/>
          <p:nvPr/>
        </p:nvSpPr>
        <p:spPr>
          <a:xfrm>
            <a:off x="1143000" y="9390698"/>
            <a:ext cx="2791730"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211D1D">
                    <a:alpha val="55000"/>
                  </a:srgbClr>
                </a:solidFill>
                <a:latin typeface="Arial" pitchFamily="34" charset="0"/>
                <a:ea typeface="Arial" pitchFamily="34" charset="-122"/>
                <a:cs typeface="Arial" pitchFamily="34" charset="-120"/>
              </a:rPr>
              <a:t>AI 컨트롤타워 · 태웅로직스</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838200"/>
            <a:ext cx="12348520"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52" kern="0" dirty="0">
                <a:solidFill>
                  <a:srgbClr val="AE1800"/>
                </a:solidFill>
                <a:latin typeface="Arial" pitchFamily="34" charset="0"/>
                <a:ea typeface="Arial" pitchFamily="34" charset="-122"/>
                <a:cs typeface="Arial" pitchFamily="34" charset="-120"/>
              </a:rPr>
              <a:t>04 방법론 · PCI &amp; EXTERNAL VALIDATION</a:t>
            </a:r>
            <a:endParaRPr lang="en-US" sz="1800" dirty="0"/>
          </a:p>
        </p:txBody>
      </p:sp>
      <p:sp>
        <p:nvSpPr>
          <p:cNvPr id="3" name="Text 1"/>
          <p:cNvSpPr/>
          <p:nvPr/>
        </p:nvSpPr>
        <p:spPr>
          <a:xfrm>
            <a:off x="1143000" y="1344930"/>
            <a:ext cx="12348520" cy="563047"/>
          </a:xfrm>
          <a:prstGeom prst="rect">
            <a:avLst/>
          </a:prstGeom>
          <a:noFill/>
          <a:ln/>
        </p:spPr>
        <p:txBody>
          <a:bodyPr wrap="square" lIns="25400" tIns="25400" rIns="25400" bIns="25400" rtlCol="0" anchor="t">
            <a:normAutofit/>
          </a:bodyPr>
          <a:lstStyle/>
          <a:p>
            <a:pPr algn="l" indent="0" marL="0">
              <a:lnSpc>
                <a:spcPct val="74891"/>
              </a:lnSpc>
              <a:buNone/>
            </a:pPr>
            <a:r>
              <a:rPr lang="en-US" sz="3900" b="1" spc="-39" kern="0" dirty="0">
                <a:solidFill>
                  <a:srgbClr val="201E1D"/>
                </a:solidFill>
                <a:latin typeface="Arial" pitchFamily="34" charset="0"/>
                <a:ea typeface="Arial" pitchFamily="34" charset="-122"/>
                <a:cs typeface="Arial" pitchFamily="34" charset="-120"/>
              </a:rPr>
              <a:t>근거 있는 혼잡도 — 공개 기관 데이터가 뒷받침한다</a:t>
            </a:r>
            <a:endParaRPr lang="en-US" sz="3900" dirty="0"/>
          </a:p>
        </p:txBody>
      </p:sp>
      <p:sp>
        <p:nvSpPr>
          <p:cNvPr id="4" name="Text 2"/>
          <p:cNvSpPr/>
          <p:nvPr/>
        </p:nvSpPr>
        <p:spPr>
          <a:xfrm>
            <a:off x="16887825" y="1486019"/>
            <a:ext cx="333375"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AE1800"/>
                </a:solidFill>
                <a:latin typeface="Arial" pitchFamily="34" charset="0"/>
                <a:ea typeface="Arial" pitchFamily="34" charset="-122"/>
                <a:cs typeface="Arial" pitchFamily="34" charset="-120"/>
              </a:rPr>
              <a:t>11</a:t>
            </a:r>
            <a:endParaRPr lang="en-US" sz="1950" dirty="0"/>
          </a:p>
        </p:txBody>
      </p:sp>
      <p:sp>
        <p:nvSpPr>
          <p:cNvPr id="5" name="Shape 3"/>
          <p:cNvSpPr/>
          <p:nvPr/>
        </p:nvSpPr>
        <p:spPr>
          <a:xfrm>
            <a:off x="1143000" y="2117527"/>
            <a:ext cx="16002000" cy="19050"/>
          </a:xfrm>
          <a:prstGeom prst="rect">
            <a:avLst/>
          </a:prstGeom>
          <a:solidFill>
            <a:srgbClr val="201E1E">
              <a:alpha val="40000"/>
            </a:srgbClr>
          </a:solidFill>
          <a:ln/>
        </p:spPr>
      </p:sp>
      <p:sp>
        <p:nvSpPr>
          <p:cNvPr id="6" name="Text 4"/>
          <p:cNvSpPr/>
          <p:nvPr/>
        </p:nvSpPr>
        <p:spPr>
          <a:xfrm>
            <a:off x="1143000" y="5018247"/>
            <a:ext cx="8423910" cy="481012"/>
          </a:xfrm>
          <a:prstGeom prst="rect">
            <a:avLst/>
          </a:prstGeom>
          <a:noFill/>
          <a:ln/>
        </p:spPr>
        <p:txBody>
          <a:bodyPr wrap="square" lIns="25400" tIns="25400" rIns="25400" bIns="25400" rtlCol="0" anchor="t">
            <a:normAutofit/>
          </a:bodyPr>
          <a:lstStyle/>
          <a:p>
            <a:pPr algn="l" indent="0" marL="0">
              <a:lnSpc>
                <a:spcPct val="109670"/>
              </a:lnSpc>
              <a:buNone/>
            </a:pPr>
            <a:r>
              <a:rPr lang="en-US" sz="2250" b="1" dirty="0">
                <a:solidFill>
                  <a:srgbClr val="201E1D"/>
                </a:solidFill>
                <a:latin typeface="Arial" pitchFamily="34" charset="0"/>
                <a:ea typeface="Arial" pitchFamily="34" charset="-122"/>
                <a:cs typeface="Arial" pitchFamily="34" charset="-120"/>
              </a:rPr>
              <a:t>PCI = 0.60 활동 + 0.25 물동 + 0.15 모멘텀</a:t>
            </a:r>
            <a:endParaRPr lang="en-US" sz="2250" dirty="0"/>
          </a:p>
        </p:txBody>
      </p:sp>
      <p:sp>
        <p:nvSpPr>
          <p:cNvPr id="7" name="Shape 5"/>
          <p:cNvSpPr/>
          <p:nvPr/>
        </p:nvSpPr>
        <p:spPr>
          <a:xfrm>
            <a:off x="1143000" y="5651659"/>
            <a:ext cx="7658100" cy="609600"/>
          </a:xfrm>
          <a:prstGeom prst="rect">
            <a:avLst/>
          </a:prstGeom>
          <a:ln w="15240">
            <a:solidFill>
              <a:srgbClr val="201E1E">
                <a:alpha val="40000"/>
              </a:srgbClr>
            </a:solidFill>
            <a:prstDash val="solid"/>
          </a:ln>
        </p:spPr>
      </p:sp>
      <p:sp>
        <p:nvSpPr>
          <p:cNvPr id="8" name="Shape 6"/>
          <p:cNvSpPr/>
          <p:nvPr/>
        </p:nvSpPr>
        <p:spPr>
          <a:xfrm>
            <a:off x="1158240" y="5666899"/>
            <a:ext cx="4576524" cy="579120"/>
          </a:xfrm>
          <a:prstGeom prst="rect">
            <a:avLst/>
          </a:prstGeom>
          <a:solidFill>
            <a:srgbClr val="EC3013"/>
          </a:solidFill>
          <a:ln/>
        </p:spPr>
      </p:sp>
      <p:sp>
        <p:nvSpPr>
          <p:cNvPr id="9" name="Text 7"/>
          <p:cNvSpPr/>
          <p:nvPr/>
        </p:nvSpPr>
        <p:spPr>
          <a:xfrm>
            <a:off x="1348740" y="5666899"/>
            <a:ext cx="4332820" cy="617220"/>
          </a:xfrm>
          <a:prstGeom prst="rect">
            <a:avLst/>
          </a:prstGeom>
          <a:noFill/>
          <a:ln/>
        </p:spPr>
        <p:txBody>
          <a:bodyPr wrap="square" lIns="25400" tIns="25400" rIns="25400" bIns="25400" rtlCol="0" anchor="ctr">
            <a:normAutofit/>
          </a:bodyPr>
          <a:lstStyle/>
          <a:p>
            <a:pPr algn="l" indent="0" marL="0">
              <a:lnSpc>
                <a:spcPct val="109295"/>
              </a:lnSpc>
              <a:buNone/>
            </a:pPr>
            <a:r>
              <a:rPr lang="en-US" sz="1650" b="1" dirty="0">
                <a:solidFill>
                  <a:srgbClr val="F3F2F2"/>
                </a:solidFill>
                <a:latin typeface="Arial" pitchFamily="34" charset="0"/>
                <a:ea typeface="Arial" pitchFamily="34" charset="-122"/>
                <a:cs typeface="Arial" pitchFamily="34" charset="-120"/>
              </a:rPr>
              <a:t>활동 60%</a:t>
            </a:r>
            <a:endParaRPr lang="en-US" sz="1650" dirty="0"/>
          </a:p>
        </p:txBody>
      </p:sp>
      <p:sp>
        <p:nvSpPr>
          <p:cNvPr id="10" name="Shape 8"/>
          <p:cNvSpPr/>
          <p:nvPr/>
        </p:nvSpPr>
        <p:spPr>
          <a:xfrm>
            <a:off x="5734764" y="5666899"/>
            <a:ext cx="1906905" cy="579120"/>
          </a:xfrm>
          <a:prstGeom prst="rect">
            <a:avLst/>
          </a:prstGeom>
          <a:solidFill>
            <a:srgbClr val="AE1800"/>
          </a:solidFill>
          <a:ln/>
        </p:spPr>
      </p:sp>
      <p:sp>
        <p:nvSpPr>
          <p:cNvPr id="11" name="Text 9"/>
          <p:cNvSpPr/>
          <p:nvPr/>
        </p:nvSpPr>
        <p:spPr>
          <a:xfrm>
            <a:off x="5887164" y="5666899"/>
            <a:ext cx="1678305" cy="617220"/>
          </a:xfrm>
          <a:prstGeom prst="rect">
            <a:avLst/>
          </a:prstGeom>
          <a:noFill/>
          <a:ln/>
        </p:spPr>
        <p:txBody>
          <a:bodyPr wrap="square" lIns="25400" tIns="25400" rIns="25400" bIns="25400" rtlCol="0" anchor="ctr">
            <a:normAutofit/>
          </a:bodyPr>
          <a:lstStyle/>
          <a:p>
            <a:pPr algn="l" indent="0" marL="0">
              <a:lnSpc>
                <a:spcPct val="109295"/>
              </a:lnSpc>
              <a:buNone/>
            </a:pPr>
            <a:r>
              <a:rPr lang="en-US" sz="1650" b="1" dirty="0">
                <a:solidFill>
                  <a:srgbClr val="F3F2F2"/>
                </a:solidFill>
                <a:latin typeface="Arial" pitchFamily="34" charset="0"/>
                <a:ea typeface="Arial" pitchFamily="34" charset="-122"/>
                <a:cs typeface="Arial" pitchFamily="34" charset="-120"/>
              </a:rPr>
              <a:t>물동 25%</a:t>
            </a:r>
            <a:endParaRPr lang="en-US" sz="1650" dirty="0"/>
          </a:p>
        </p:txBody>
      </p:sp>
      <p:sp>
        <p:nvSpPr>
          <p:cNvPr id="12" name="Shape 10"/>
          <p:cNvSpPr/>
          <p:nvPr/>
        </p:nvSpPr>
        <p:spPr>
          <a:xfrm>
            <a:off x="7641670" y="5666899"/>
            <a:ext cx="1144072" cy="579120"/>
          </a:xfrm>
          <a:prstGeom prst="rect">
            <a:avLst/>
          </a:prstGeom>
          <a:solidFill>
            <a:srgbClr val="7D7979"/>
          </a:solidFill>
          <a:ln/>
        </p:spPr>
      </p:sp>
      <p:sp>
        <p:nvSpPr>
          <p:cNvPr id="13" name="Text 11"/>
          <p:cNvSpPr/>
          <p:nvPr/>
        </p:nvSpPr>
        <p:spPr>
          <a:xfrm>
            <a:off x="7755970" y="5666899"/>
            <a:ext cx="991672" cy="617220"/>
          </a:xfrm>
          <a:prstGeom prst="rect">
            <a:avLst/>
          </a:prstGeom>
          <a:noFill/>
          <a:ln/>
        </p:spPr>
        <p:txBody>
          <a:bodyPr wrap="square" lIns="25400" tIns="25400" rIns="25400" bIns="25400" rtlCol="0" anchor="ctr">
            <a:normAutofit/>
          </a:bodyPr>
          <a:lstStyle/>
          <a:p>
            <a:pPr algn="l" indent="0" marL="0">
              <a:lnSpc>
                <a:spcPct val="109295"/>
              </a:lnSpc>
              <a:buNone/>
            </a:pPr>
            <a:r>
              <a:rPr lang="en-US" sz="1650" b="1" dirty="0">
                <a:solidFill>
                  <a:srgbClr val="F3F2F2"/>
                </a:solidFill>
                <a:latin typeface="Arial" pitchFamily="34" charset="0"/>
                <a:ea typeface="Arial" pitchFamily="34" charset="-122"/>
                <a:cs typeface="Arial" pitchFamily="34" charset="-120"/>
              </a:rPr>
              <a:t>모멘텀 15%</a:t>
            </a:r>
            <a:endParaRPr lang="en-US" sz="1650" dirty="0"/>
          </a:p>
        </p:txBody>
      </p:sp>
      <p:sp>
        <p:nvSpPr>
          <p:cNvPr id="14" name="Text 12"/>
          <p:cNvSpPr/>
          <p:nvPr/>
        </p:nvSpPr>
        <p:spPr>
          <a:xfrm>
            <a:off x="9486900" y="3035141"/>
            <a:ext cx="8423910"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spc="165" kern="0" dirty="0">
                <a:solidFill>
                  <a:srgbClr val="201E1C">
                    <a:alpha val="60000"/>
                  </a:srgbClr>
                </a:solidFill>
                <a:latin typeface="Arial" pitchFamily="34" charset="0"/>
                <a:ea typeface="Arial" pitchFamily="34" charset="-122"/>
                <a:cs typeface="Arial" pitchFamily="34" charset="-120"/>
              </a:rPr>
              <a:t>외부 검증 · 네 갈래 독립 공개 소스</a:t>
            </a:r>
            <a:endParaRPr lang="en-US" sz="1650" dirty="0"/>
          </a:p>
        </p:txBody>
      </p:sp>
      <p:sp>
        <p:nvSpPr>
          <p:cNvPr id="15" name="Shape 13"/>
          <p:cNvSpPr/>
          <p:nvPr/>
        </p:nvSpPr>
        <p:spPr>
          <a:xfrm>
            <a:off x="9486900" y="3550444"/>
            <a:ext cx="7658100" cy="15240"/>
          </a:xfrm>
          <a:prstGeom prst="rect">
            <a:avLst/>
          </a:prstGeom>
          <a:solidFill>
            <a:srgbClr val="201E1E">
              <a:alpha val="40000"/>
            </a:srgbClr>
          </a:solidFill>
          <a:ln/>
        </p:spPr>
      </p:sp>
      <p:sp>
        <p:nvSpPr>
          <p:cNvPr id="16" name="Shape 14"/>
          <p:cNvSpPr/>
          <p:nvPr/>
        </p:nvSpPr>
        <p:spPr>
          <a:xfrm>
            <a:off x="9486900" y="4720114"/>
            <a:ext cx="7658100" cy="15240"/>
          </a:xfrm>
          <a:prstGeom prst="rect">
            <a:avLst/>
          </a:prstGeom>
          <a:solidFill>
            <a:srgbClr val="201E1E">
              <a:alpha val="40000"/>
            </a:srgbClr>
          </a:solidFill>
          <a:ln/>
        </p:spPr>
      </p:sp>
      <p:sp>
        <p:nvSpPr>
          <p:cNvPr id="17" name="Text 15"/>
          <p:cNvSpPr/>
          <p:nvPr/>
        </p:nvSpPr>
        <p:spPr>
          <a:xfrm>
            <a:off x="9486900" y="3792379"/>
            <a:ext cx="6834343"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01E1D"/>
                </a:solidFill>
                <a:latin typeface="Arial" pitchFamily="34" charset="0"/>
                <a:ea typeface="Arial" pitchFamily="34" charset="-122"/>
                <a:cs typeface="Arial" pitchFamily="34" charset="-120"/>
              </a:rPr>
              <a:t>IMF PortWatch</a:t>
            </a:r>
            <a:endParaRPr lang="en-US" sz="1950" dirty="0"/>
          </a:p>
        </p:txBody>
      </p:sp>
      <p:sp>
        <p:nvSpPr>
          <p:cNvPr id="18" name="Text 16"/>
          <p:cNvSpPr/>
          <p:nvPr/>
        </p:nvSpPr>
        <p:spPr>
          <a:xfrm>
            <a:off x="9486900" y="4214336"/>
            <a:ext cx="6834343"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위성 AIS 항만 모니터링 · Focus 매핑 93/93</a:t>
            </a:r>
            <a:endParaRPr lang="en-US" sz="1650" dirty="0"/>
          </a:p>
        </p:txBody>
      </p:sp>
      <p:sp>
        <p:nvSpPr>
          <p:cNvPr id="19" name="Text 17"/>
          <p:cNvSpPr/>
          <p:nvPr/>
        </p:nvSpPr>
        <p:spPr>
          <a:xfrm>
            <a:off x="15890438" y="3746659"/>
            <a:ext cx="1380018" cy="481012"/>
          </a:xfrm>
          <a:prstGeom prst="rect">
            <a:avLst/>
          </a:prstGeom>
          <a:noFill/>
          <a:ln/>
        </p:spPr>
        <p:txBody>
          <a:bodyPr wrap="none" lIns="25400" tIns="25400" rIns="25400" bIns="25400" rtlCol="0" anchor="t">
            <a:normAutofit/>
          </a:bodyPr>
          <a:lstStyle/>
          <a:p>
            <a:pPr algn="l" indent="0" marL="0">
              <a:lnSpc>
                <a:spcPct val="109670"/>
              </a:lnSpc>
              <a:buNone/>
            </a:pPr>
            <a:r>
              <a:rPr lang="en-US" sz="2250" b="1" dirty="0">
                <a:solidFill>
                  <a:srgbClr val="EC3013"/>
                </a:solidFill>
                <a:latin typeface="Arial" pitchFamily="34" charset="0"/>
                <a:ea typeface="Arial" pitchFamily="34" charset="-122"/>
                <a:cs typeface="Arial" pitchFamily="34" charset="-120"/>
              </a:rPr>
              <a:t>93개 항만</a:t>
            </a:r>
            <a:endParaRPr lang="en-US" sz="2250" dirty="0"/>
          </a:p>
        </p:txBody>
      </p:sp>
      <p:sp>
        <p:nvSpPr>
          <p:cNvPr id="20" name="Shape 18"/>
          <p:cNvSpPr/>
          <p:nvPr/>
        </p:nvSpPr>
        <p:spPr>
          <a:xfrm>
            <a:off x="9486900" y="5889784"/>
            <a:ext cx="7658100" cy="15240"/>
          </a:xfrm>
          <a:prstGeom prst="rect">
            <a:avLst/>
          </a:prstGeom>
          <a:solidFill>
            <a:srgbClr val="201E1E">
              <a:alpha val="40000"/>
            </a:srgbClr>
          </a:solidFill>
          <a:ln/>
        </p:spPr>
      </p:sp>
      <p:sp>
        <p:nvSpPr>
          <p:cNvPr id="21" name="Text 19"/>
          <p:cNvSpPr/>
          <p:nvPr/>
        </p:nvSpPr>
        <p:spPr>
          <a:xfrm>
            <a:off x="9486900" y="4962049"/>
            <a:ext cx="7065503"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01E1D"/>
                </a:solidFill>
                <a:latin typeface="Arial" pitchFamily="34" charset="0"/>
                <a:ea typeface="Arial" pitchFamily="34" charset="-122"/>
                <a:cs typeface="Arial" pitchFamily="34" charset="-120"/>
              </a:rPr>
              <a:t>UNCTAD</a:t>
            </a:r>
            <a:endParaRPr lang="en-US" sz="1950" dirty="0"/>
          </a:p>
        </p:txBody>
      </p:sp>
      <p:sp>
        <p:nvSpPr>
          <p:cNvPr id="22" name="Text 20"/>
          <p:cNvSpPr/>
          <p:nvPr/>
        </p:nvSpPr>
        <p:spPr>
          <a:xfrm>
            <a:off x="9486900" y="5384006"/>
            <a:ext cx="7065503"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선석점유율 · 부산 PNIT Erlang C 사전검증(Wq≈65h)</a:t>
            </a:r>
            <a:endParaRPr lang="en-US" sz="1650" dirty="0"/>
          </a:p>
        </p:txBody>
      </p:sp>
      <p:sp>
        <p:nvSpPr>
          <p:cNvPr id="23" name="Text 21"/>
          <p:cNvSpPr/>
          <p:nvPr/>
        </p:nvSpPr>
        <p:spPr>
          <a:xfrm>
            <a:off x="16100584" y="4916329"/>
            <a:ext cx="1120616" cy="481012"/>
          </a:xfrm>
          <a:prstGeom prst="rect">
            <a:avLst/>
          </a:prstGeom>
          <a:noFill/>
          <a:ln/>
        </p:spPr>
        <p:txBody>
          <a:bodyPr wrap="none" lIns="25400" tIns="25400" rIns="25400" bIns="25400" rtlCol="0" anchor="t">
            <a:normAutofit/>
          </a:bodyPr>
          <a:lstStyle/>
          <a:p>
            <a:pPr algn="l" indent="0" marL="0">
              <a:lnSpc>
                <a:spcPct val="109670"/>
              </a:lnSpc>
              <a:buNone/>
            </a:pPr>
            <a:r>
              <a:rPr lang="en-US" sz="2250" b="1" dirty="0">
                <a:solidFill>
                  <a:srgbClr val="EC3013"/>
                </a:solidFill>
                <a:latin typeface="Arial" pitchFamily="34" charset="0"/>
                <a:ea typeface="Arial" pitchFamily="34" charset="-122"/>
                <a:cs typeface="Arial" pitchFamily="34" charset="-120"/>
              </a:rPr>
              <a:t>ρ = 0.86</a:t>
            </a:r>
            <a:endParaRPr lang="en-US" sz="2250" dirty="0"/>
          </a:p>
        </p:txBody>
      </p:sp>
      <p:sp>
        <p:nvSpPr>
          <p:cNvPr id="24" name="Shape 22"/>
          <p:cNvSpPr/>
          <p:nvPr/>
        </p:nvSpPr>
        <p:spPr>
          <a:xfrm>
            <a:off x="9486900" y="7059454"/>
            <a:ext cx="7658100" cy="15240"/>
          </a:xfrm>
          <a:prstGeom prst="rect">
            <a:avLst/>
          </a:prstGeom>
          <a:solidFill>
            <a:srgbClr val="201E1E">
              <a:alpha val="40000"/>
            </a:srgbClr>
          </a:solidFill>
          <a:ln/>
        </p:spPr>
      </p:sp>
      <p:sp>
        <p:nvSpPr>
          <p:cNvPr id="25" name="Text 23"/>
          <p:cNvSpPr/>
          <p:nvPr/>
        </p:nvSpPr>
        <p:spPr>
          <a:xfrm>
            <a:off x="9486900" y="6131719"/>
            <a:ext cx="7148405"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01E1D"/>
                </a:solidFill>
                <a:latin typeface="Arial" pitchFamily="34" charset="0"/>
                <a:ea typeface="Arial" pitchFamily="34" charset="-122"/>
                <a:cs typeface="Arial" pitchFamily="34" charset="-120"/>
              </a:rPr>
              <a:t>Open-Meteo · AIS</a:t>
            </a:r>
            <a:endParaRPr lang="en-US" sz="1950" dirty="0"/>
          </a:p>
        </p:txBody>
      </p:sp>
      <p:sp>
        <p:nvSpPr>
          <p:cNvPr id="26" name="Text 24"/>
          <p:cNvSpPr/>
          <p:nvPr/>
        </p:nvSpPr>
        <p:spPr>
          <a:xfrm>
            <a:off x="9486900" y="6553676"/>
            <a:ext cx="7148405"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해양기상·선박 위치 · 무인증 실호출 확인</a:t>
            </a:r>
            <a:endParaRPr lang="en-US" sz="1650" dirty="0"/>
          </a:p>
        </p:txBody>
      </p:sp>
      <p:sp>
        <p:nvSpPr>
          <p:cNvPr id="27" name="Text 25"/>
          <p:cNvSpPr/>
          <p:nvPr/>
        </p:nvSpPr>
        <p:spPr>
          <a:xfrm>
            <a:off x="16175951" y="6085999"/>
            <a:ext cx="1045250" cy="481012"/>
          </a:xfrm>
          <a:prstGeom prst="rect">
            <a:avLst/>
          </a:prstGeom>
          <a:noFill/>
          <a:ln/>
        </p:spPr>
        <p:txBody>
          <a:bodyPr wrap="none" lIns="25400" tIns="25400" rIns="25400" bIns="25400" rtlCol="0" anchor="t">
            <a:normAutofit/>
          </a:bodyPr>
          <a:lstStyle/>
          <a:p>
            <a:pPr algn="l" indent="0" marL="0">
              <a:lnSpc>
                <a:spcPct val="109670"/>
              </a:lnSpc>
              <a:buNone/>
            </a:pPr>
            <a:r>
              <a:rPr lang="en-US" sz="2250" b="1" dirty="0">
                <a:solidFill>
                  <a:srgbClr val="EC3013"/>
                </a:solidFill>
                <a:latin typeface="Arial" pitchFamily="34" charset="0"/>
                <a:ea typeface="Arial" pitchFamily="34" charset="-122"/>
                <a:cs typeface="Arial" pitchFamily="34" charset="-120"/>
              </a:rPr>
              <a:t>200 OK</a:t>
            </a:r>
            <a:endParaRPr lang="en-US" sz="2250" dirty="0"/>
          </a:p>
        </p:txBody>
      </p:sp>
      <p:sp>
        <p:nvSpPr>
          <p:cNvPr id="28" name="Shape 26"/>
          <p:cNvSpPr/>
          <p:nvPr/>
        </p:nvSpPr>
        <p:spPr>
          <a:xfrm>
            <a:off x="9486900" y="8229124"/>
            <a:ext cx="7658100" cy="15240"/>
          </a:xfrm>
          <a:prstGeom prst="rect">
            <a:avLst/>
          </a:prstGeom>
          <a:solidFill>
            <a:srgbClr val="201E1E">
              <a:alpha val="40000"/>
            </a:srgbClr>
          </a:solidFill>
          <a:ln/>
        </p:spPr>
      </p:sp>
      <p:sp>
        <p:nvSpPr>
          <p:cNvPr id="29" name="Text 27"/>
          <p:cNvSpPr/>
          <p:nvPr/>
        </p:nvSpPr>
        <p:spPr>
          <a:xfrm>
            <a:off x="9486900" y="7301389"/>
            <a:ext cx="6711756" cy="421957"/>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201E1D"/>
                </a:solidFill>
                <a:latin typeface="Arial" pitchFamily="34" charset="0"/>
                <a:ea typeface="Arial" pitchFamily="34" charset="-122"/>
                <a:cs typeface="Arial" pitchFamily="34" charset="-120"/>
              </a:rPr>
              <a:t>유니패스 · searoute</a:t>
            </a:r>
            <a:endParaRPr lang="en-US" sz="1950" dirty="0"/>
          </a:p>
        </p:txBody>
      </p:sp>
      <p:sp>
        <p:nvSpPr>
          <p:cNvPr id="30" name="Text 28"/>
          <p:cNvSpPr/>
          <p:nvPr/>
        </p:nvSpPr>
        <p:spPr>
          <a:xfrm>
            <a:off x="9486900" y="7723347"/>
            <a:ext cx="6711756"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dirty="0">
                <a:solidFill>
                  <a:srgbClr val="201D1D">
                    <a:alpha val="68000"/>
                  </a:srgbClr>
                </a:solidFill>
                <a:latin typeface="Arial" pitchFamily="34" charset="0"/>
                <a:ea typeface="Arial" pitchFamily="34" charset="-122"/>
                <a:cs typeface="Arial" pitchFamily="34" charset="-120"/>
              </a:rPr>
              <a:t>관세청 통관(MBL/HBL/AWB) · 오픈소스 항로</a:t>
            </a:r>
            <a:endParaRPr lang="en-US" sz="1650" dirty="0"/>
          </a:p>
        </p:txBody>
      </p:sp>
      <p:sp>
        <p:nvSpPr>
          <p:cNvPr id="31" name="Text 29"/>
          <p:cNvSpPr/>
          <p:nvPr/>
        </p:nvSpPr>
        <p:spPr>
          <a:xfrm>
            <a:off x="15778996" y="7255669"/>
            <a:ext cx="1502605" cy="481012"/>
          </a:xfrm>
          <a:prstGeom prst="rect">
            <a:avLst/>
          </a:prstGeom>
          <a:noFill/>
          <a:ln/>
        </p:spPr>
        <p:txBody>
          <a:bodyPr wrap="none" lIns="25400" tIns="25400" rIns="25400" bIns="25400" rtlCol="0" anchor="t">
            <a:normAutofit/>
          </a:bodyPr>
          <a:lstStyle/>
          <a:p>
            <a:pPr algn="l" indent="0" marL="0">
              <a:lnSpc>
                <a:spcPct val="109670"/>
              </a:lnSpc>
              <a:buNone/>
            </a:pPr>
            <a:r>
              <a:rPr lang="en-US" sz="2250" b="1" dirty="0">
                <a:solidFill>
                  <a:srgbClr val="EC3013"/>
                </a:solidFill>
                <a:latin typeface="Arial" pitchFamily="34" charset="0"/>
                <a:ea typeface="Arial" pitchFamily="34" charset="-122"/>
                <a:cs typeface="Arial" pitchFamily="34" charset="-120"/>
              </a:rPr>
              <a:t>8,556 구간</a:t>
            </a:r>
            <a:endParaRPr lang="en-US" sz="2250" dirty="0"/>
          </a:p>
        </p:txBody>
      </p:sp>
      <p:sp>
        <p:nvSpPr>
          <p:cNvPr id="32" name="Text 30"/>
          <p:cNvSpPr/>
          <p:nvPr/>
        </p:nvSpPr>
        <p:spPr>
          <a:xfrm>
            <a:off x="1143000" y="9390698"/>
            <a:ext cx="2791730"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211D1D">
                    <a:alpha val="55000"/>
                  </a:srgbClr>
                </a:solidFill>
                <a:latin typeface="Arial" pitchFamily="34" charset="0"/>
                <a:ea typeface="Arial" pitchFamily="34" charset="-122"/>
                <a:cs typeface="Arial" pitchFamily="34" charset="-120"/>
              </a:rPr>
              <a:t>AI 컨트롤타워 · 태웅로직스</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838200"/>
            <a:ext cx="10734330"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b="1" spc="252" kern="0" dirty="0">
                <a:solidFill>
                  <a:srgbClr val="AE1800"/>
                </a:solidFill>
                <a:latin typeface="Arial" pitchFamily="34" charset="0"/>
                <a:ea typeface="Arial" pitchFamily="34" charset="-122"/>
                <a:cs typeface="Arial" pitchFamily="34" charset="-120"/>
              </a:rPr>
              <a:t>04 확장성 · ROADMAP &amp; WHY NOW</a:t>
            </a:r>
            <a:endParaRPr lang="en-US" sz="1800" dirty="0"/>
          </a:p>
        </p:txBody>
      </p:sp>
      <p:sp>
        <p:nvSpPr>
          <p:cNvPr id="3" name="Text 1"/>
          <p:cNvSpPr/>
          <p:nvPr/>
        </p:nvSpPr>
        <p:spPr>
          <a:xfrm>
            <a:off x="1143000" y="1344930"/>
            <a:ext cx="10734330" cy="563047"/>
          </a:xfrm>
          <a:prstGeom prst="rect">
            <a:avLst/>
          </a:prstGeom>
          <a:noFill/>
          <a:ln/>
        </p:spPr>
        <p:txBody>
          <a:bodyPr wrap="square" lIns="25400" tIns="25400" rIns="25400" bIns="25400" rtlCol="0" anchor="t">
            <a:normAutofit/>
          </a:bodyPr>
          <a:lstStyle/>
          <a:p>
            <a:pPr algn="l" indent="0" marL="0">
              <a:lnSpc>
                <a:spcPct val="74891"/>
              </a:lnSpc>
              <a:buNone/>
            </a:pPr>
            <a:r>
              <a:rPr lang="en-US" sz="3900" b="1" spc="-39" kern="0" dirty="0">
                <a:solidFill>
                  <a:srgbClr val="201E1D"/>
                </a:solidFill>
                <a:latin typeface="Arial" pitchFamily="34" charset="0"/>
                <a:ea typeface="Arial" pitchFamily="34" charset="-122"/>
                <a:cs typeface="Arial" pitchFamily="34" charset="-120"/>
              </a:rPr>
              <a:t>v1 완료 → M1 핵심 → M2 확대 → M3 고도화</a:t>
            </a:r>
            <a:endParaRPr lang="en-US" sz="3900" dirty="0"/>
          </a:p>
        </p:txBody>
      </p:sp>
      <p:sp>
        <p:nvSpPr>
          <p:cNvPr id="4" name="Text 2"/>
          <p:cNvSpPr/>
          <p:nvPr/>
        </p:nvSpPr>
        <p:spPr>
          <a:xfrm>
            <a:off x="16869490" y="1486019"/>
            <a:ext cx="351711" cy="421957"/>
          </a:xfrm>
          <a:prstGeom prst="rect">
            <a:avLst/>
          </a:prstGeom>
          <a:noFill/>
          <a:ln/>
        </p:spPr>
        <p:txBody>
          <a:bodyPr wrap="square" lIns="25400" tIns="25400" rIns="25400" bIns="25400" rtlCol="0" anchor="t">
            <a:normAutofit/>
          </a:bodyPr>
          <a:lstStyle/>
          <a:p>
            <a:pPr algn="l" indent="0" marL="0">
              <a:lnSpc>
                <a:spcPct val="109511"/>
              </a:lnSpc>
              <a:buNone/>
            </a:pPr>
            <a:r>
              <a:rPr lang="en-US" sz="1950" b="1" dirty="0">
                <a:solidFill>
                  <a:srgbClr val="AE1800"/>
                </a:solidFill>
                <a:latin typeface="Arial" pitchFamily="34" charset="0"/>
                <a:ea typeface="Arial" pitchFamily="34" charset="-122"/>
                <a:cs typeface="Arial" pitchFamily="34" charset="-120"/>
              </a:rPr>
              <a:t>12</a:t>
            </a:r>
            <a:endParaRPr lang="en-US" sz="1950" dirty="0"/>
          </a:p>
        </p:txBody>
      </p:sp>
      <p:sp>
        <p:nvSpPr>
          <p:cNvPr id="5" name="Shape 3"/>
          <p:cNvSpPr/>
          <p:nvPr/>
        </p:nvSpPr>
        <p:spPr>
          <a:xfrm>
            <a:off x="1143000" y="2117527"/>
            <a:ext cx="16002000" cy="19050"/>
          </a:xfrm>
          <a:prstGeom prst="rect">
            <a:avLst/>
          </a:prstGeom>
          <a:solidFill>
            <a:srgbClr val="201E1E">
              <a:alpha val="40000"/>
            </a:srgbClr>
          </a:solidFill>
          <a:ln/>
        </p:spPr>
      </p:sp>
      <p:sp>
        <p:nvSpPr>
          <p:cNvPr id="6" name="Shape 4"/>
          <p:cNvSpPr/>
          <p:nvPr/>
        </p:nvSpPr>
        <p:spPr>
          <a:xfrm>
            <a:off x="1143000" y="3960852"/>
            <a:ext cx="16002000" cy="2395538"/>
          </a:xfrm>
          <a:prstGeom prst="rect">
            <a:avLst/>
          </a:prstGeom>
          <a:solidFill>
            <a:srgbClr val="201E1E">
              <a:alpha val="40000"/>
            </a:srgbClr>
          </a:solidFill>
          <a:ln w="15240">
            <a:solidFill>
              <a:srgbClr val="201E1E">
                <a:alpha val="40000"/>
              </a:srgbClr>
            </a:solidFill>
            <a:prstDash val="solid"/>
          </a:ln>
        </p:spPr>
      </p:sp>
      <p:sp>
        <p:nvSpPr>
          <p:cNvPr id="7" name="Shape 5"/>
          <p:cNvSpPr/>
          <p:nvPr/>
        </p:nvSpPr>
        <p:spPr>
          <a:xfrm>
            <a:off x="1158240" y="3976092"/>
            <a:ext cx="3978593" cy="2365058"/>
          </a:xfrm>
          <a:prstGeom prst="rect">
            <a:avLst/>
          </a:prstGeom>
          <a:solidFill>
            <a:srgbClr val="F3F2F2"/>
          </a:solidFill>
          <a:ln/>
        </p:spPr>
      </p:sp>
      <p:sp>
        <p:nvSpPr>
          <p:cNvPr id="8" name="Text 6"/>
          <p:cNvSpPr/>
          <p:nvPr/>
        </p:nvSpPr>
        <p:spPr>
          <a:xfrm>
            <a:off x="1463040" y="4261842"/>
            <a:ext cx="3705892"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spc="120" kern="0" dirty="0">
                <a:solidFill>
                  <a:srgbClr val="AE1800"/>
                </a:solidFill>
                <a:latin typeface="Arial" pitchFamily="34" charset="0"/>
                <a:ea typeface="Arial" pitchFamily="34" charset="-122"/>
                <a:cs typeface="Arial" pitchFamily="34" charset="-120"/>
              </a:rPr>
              <a:t>01 완료 · 운영중</a:t>
            </a:r>
            <a:endParaRPr lang="en-US" sz="1500" dirty="0"/>
          </a:p>
        </p:txBody>
      </p:sp>
      <p:sp>
        <p:nvSpPr>
          <p:cNvPr id="9" name="Text 7"/>
          <p:cNvSpPr/>
          <p:nvPr/>
        </p:nvSpPr>
        <p:spPr>
          <a:xfrm>
            <a:off x="1463040" y="4690467"/>
            <a:ext cx="3705892" cy="358140"/>
          </a:xfrm>
          <a:prstGeom prst="rect">
            <a:avLst/>
          </a:prstGeom>
          <a:noFill/>
          <a:ln/>
        </p:spPr>
        <p:txBody>
          <a:bodyPr wrap="square" lIns="25400" tIns="25400" rIns="25400" bIns="25400" rtlCol="0" anchor="t">
            <a:normAutofit/>
          </a:bodyPr>
          <a:lstStyle/>
          <a:p>
            <a:pPr algn="l" indent="0" marL="0">
              <a:lnSpc>
                <a:spcPct val="79245"/>
              </a:lnSpc>
              <a:buNone/>
            </a:pPr>
            <a:r>
              <a:rPr lang="en-US" sz="2250" b="1" spc="-34" kern="0" dirty="0">
                <a:solidFill>
                  <a:srgbClr val="201E1D"/>
                </a:solidFill>
                <a:latin typeface="Arial" pitchFamily="34" charset="0"/>
                <a:ea typeface="Arial" pitchFamily="34" charset="-122"/>
                <a:cs typeface="Arial" pitchFamily="34" charset="-120"/>
              </a:rPr>
              <a:t>v1 운영</a:t>
            </a:r>
            <a:endParaRPr lang="en-US" sz="2250" dirty="0"/>
          </a:p>
        </p:txBody>
      </p:sp>
      <p:sp>
        <p:nvSpPr>
          <p:cNvPr id="10" name="Text 8"/>
          <p:cNvSpPr/>
          <p:nvPr/>
        </p:nvSpPr>
        <p:spPr>
          <a:xfrm>
            <a:off x="1463040" y="5143858"/>
            <a:ext cx="3470062" cy="949643"/>
          </a:xfrm>
          <a:prstGeom prst="rect">
            <a:avLst/>
          </a:prstGeom>
          <a:noFill/>
          <a:ln/>
        </p:spPr>
        <p:txBody>
          <a:bodyPr wrap="square" lIns="25400" tIns="25400" rIns="25400" bIns="25400" rtlCol="0" anchor="t">
            <a:normAutofit/>
          </a:bodyPr>
          <a:lstStyle/>
          <a:p>
            <a:pPr algn="l" indent="0" marL="0">
              <a:lnSpc>
                <a:spcPct val="124609"/>
              </a:lnSpc>
              <a:buNone/>
            </a:pPr>
            <a:r>
              <a:rPr lang="en-US" sz="1650" dirty="0">
                <a:solidFill>
                  <a:srgbClr val="1F1E1C">
                    <a:alpha val="70000"/>
                  </a:srgbClr>
                </a:solidFill>
                <a:latin typeface="Arial" pitchFamily="34" charset="0"/>
                <a:ea typeface="Arial" pitchFamily="34" charset="-122"/>
                <a:cs typeface="Arial" pitchFamily="34" charset="-120"/>
              </a:rPr>
              <a:t>8개 화면 실데이터 · 매일 자동수집 3종 · GitHub Pages 배포 — 이미 사내 운영 중.</a:t>
            </a:r>
            <a:endParaRPr lang="en-US" sz="1650" dirty="0"/>
          </a:p>
        </p:txBody>
      </p:sp>
      <p:sp>
        <p:nvSpPr>
          <p:cNvPr id="11" name="Shape 9"/>
          <p:cNvSpPr/>
          <p:nvPr/>
        </p:nvSpPr>
        <p:spPr>
          <a:xfrm>
            <a:off x="5155882" y="3976092"/>
            <a:ext cx="3978593" cy="2365058"/>
          </a:xfrm>
          <a:prstGeom prst="rect">
            <a:avLst/>
          </a:prstGeom>
          <a:solidFill>
            <a:srgbClr val="F3F2F2"/>
          </a:solidFill>
          <a:ln/>
        </p:spPr>
      </p:sp>
      <p:sp>
        <p:nvSpPr>
          <p:cNvPr id="12" name="Text 10"/>
          <p:cNvSpPr/>
          <p:nvPr/>
        </p:nvSpPr>
        <p:spPr>
          <a:xfrm>
            <a:off x="5460682" y="4261842"/>
            <a:ext cx="3705892"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spc="120" kern="0" dirty="0">
                <a:solidFill>
                  <a:srgbClr val="AE1800"/>
                </a:solidFill>
                <a:latin typeface="Arial" pitchFamily="34" charset="0"/>
                <a:ea typeface="Arial" pitchFamily="34" charset="-122"/>
                <a:cs typeface="Arial" pitchFamily="34" charset="-120"/>
              </a:rPr>
              <a:t>02 M1 · 핵심</a:t>
            </a:r>
            <a:endParaRPr lang="en-US" sz="1500" dirty="0"/>
          </a:p>
        </p:txBody>
      </p:sp>
      <p:sp>
        <p:nvSpPr>
          <p:cNvPr id="13" name="Text 11"/>
          <p:cNvSpPr/>
          <p:nvPr/>
        </p:nvSpPr>
        <p:spPr>
          <a:xfrm>
            <a:off x="5460682" y="4690467"/>
            <a:ext cx="3705892" cy="358140"/>
          </a:xfrm>
          <a:prstGeom prst="rect">
            <a:avLst/>
          </a:prstGeom>
          <a:noFill/>
          <a:ln/>
        </p:spPr>
        <p:txBody>
          <a:bodyPr wrap="square" lIns="25400" tIns="25400" rIns="25400" bIns="25400" rtlCol="0" anchor="t">
            <a:normAutofit/>
          </a:bodyPr>
          <a:lstStyle/>
          <a:p>
            <a:pPr algn="l" indent="0" marL="0">
              <a:lnSpc>
                <a:spcPct val="79245"/>
              </a:lnSpc>
              <a:buNone/>
            </a:pPr>
            <a:r>
              <a:rPr lang="en-US" sz="2250" b="1" spc="-34" kern="0" dirty="0">
                <a:solidFill>
                  <a:srgbClr val="201E1D"/>
                </a:solidFill>
                <a:latin typeface="Arial" pitchFamily="34" charset="0"/>
                <a:ea typeface="Arial" pitchFamily="34" charset="-122"/>
                <a:cs typeface="Arial" pitchFamily="34" charset="-120"/>
              </a:rPr>
              <a:t>피드백 반영</a:t>
            </a:r>
            <a:endParaRPr lang="en-US" sz="2250" dirty="0"/>
          </a:p>
        </p:txBody>
      </p:sp>
      <p:sp>
        <p:nvSpPr>
          <p:cNvPr id="14" name="Text 12"/>
          <p:cNvSpPr/>
          <p:nvPr/>
        </p:nvSpPr>
        <p:spPr>
          <a:xfrm>
            <a:off x="5460682" y="5143858"/>
            <a:ext cx="3470062" cy="949643"/>
          </a:xfrm>
          <a:prstGeom prst="rect">
            <a:avLst/>
          </a:prstGeom>
          <a:noFill/>
          <a:ln/>
        </p:spPr>
        <p:txBody>
          <a:bodyPr wrap="square" lIns="25400" tIns="25400" rIns="25400" bIns="25400" rtlCol="0" anchor="t">
            <a:normAutofit/>
          </a:bodyPr>
          <a:lstStyle/>
          <a:p>
            <a:pPr algn="l" indent="0" marL="0">
              <a:lnSpc>
                <a:spcPct val="124609"/>
              </a:lnSpc>
              <a:buNone/>
            </a:pPr>
            <a:r>
              <a:rPr lang="en-US" sz="1650" dirty="0">
                <a:solidFill>
                  <a:srgbClr val="1F1E1C">
                    <a:alpha val="70000"/>
                  </a:srgbClr>
                </a:solidFill>
                <a:latin typeface="Arial" pitchFamily="34" charset="0"/>
                <a:ea typeface="Arial" pitchFamily="34" charset="-122"/>
                <a:cs typeface="Arial" pitchFamily="34" charset="-120"/>
              </a:rPr>
              <a:t>포트 검색(LOCODE) · 국내/해외 탭 분리 · 선석 8곳 확대 · Ship Schedule 3뷰.</a:t>
            </a:r>
            <a:endParaRPr lang="en-US" sz="1650" dirty="0"/>
          </a:p>
        </p:txBody>
      </p:sp>
      <p:sp>
        <p:nvSpPr>
          <p:cNvPr id="15" name="Shape 13"/>
          <p:cNvSpPr/>
          <p:nvPr/>
        </p:nvSpPr>
        <p:spPr>
          <a:xfrm>
            <a:off x="9153525" y="3976092"/>
            <a:ext cx="3978593" cy="2365058"/>
          </a:xfrm>
          <a:prstGeom prst="rect">
            <a:avLst/>
          </a:prstGeom>
          <a:solidFill>
            <a:srgbClr val="F3F2F2"/>
          </a:solidFill>
          <a:ln/>
        </p:spPr>
      </p:sp>
      <p:sp>
        <p:nvSpPr>
          <p:cNvPr id="16" name="Text 14"/>
          <p:cNvSpPr/>
          <p:nvPr/>
        </p:nvSpPr>
        <p:spPr>
          <a:xfrm>
            <a:off x="9458325" y="4261842"/>
            <a:ext cx="3705892"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spc="120" kern="0" dirty="0">
                <a:solidFill>
                  <a:srgbClr val="AE1800"/>
                </a:solidFill>
                <a:latin typeface="Arial" pitchFamily="34" charset="0"/>
                <a:ea typeface="Arial" pitchFamily="34" charset="-122"/>
                <a:cs typeface="Arial" pitchFamily="34" charset="-120"/>
              </a:rPr>
              <a:t>03 M2 · 확대</a:t>
            </a:r>
            <a:endParaRPr lang="en-US" sz="1500" dirty="0"/>
          </a:p>
        </p:txBody>
      </p:sp>
      <p:sp>
        <p:nvSpPr>
          <p:cNvPr id="17" name="Text 15"/>
          <p:cNvSpPr/>
          <p:nvPr/>
        </p:nvSpPr>
        <p:spPr>
          <a:xfrm>
            <a:off x="9458325" y="4690467"/>
            <a:ext cx="3705892" cy="358140"/>
          </a:xfrm>
          <a:prstGeom prst="rect">
            <a:avLst/>
          </a:prstGeom>
          <a:noFill/>
          <a:ln/>
        </p:spPr>
        <p:txBody>
          <a:bodyPr wrap="square" lIns="25400" tIns="25400" rIns="25400" bIns="25400" rtlCol="0" anchor="t">
            <a:normAutofit/>
          </a:bodyPr>
          <a:lstStyle/>
          <a:p>
            <a:pPr algn="l" indent="0" marL="0">
              <a:lnSpc>
                <a:spcPct val="79245"/>
              </a:lnSpc>
              <a:buNone/>
            </a:pPr>
            <a:r>
              <a:rPr lang="en-US" sz="2250" b="1" spc="-34" kern="0" dirty="0">
                <a:solidFill>
                  <a:srgbClr val="201E1D"/>
                </a:solidFill>
                <a:latin typeface="Arial" pitchFamily="34" charset="0"/>
                <a:ea typeface="Arial" pitchFamily="34" charset="-122"/>
                <a:cs typeface="Arial" pitchFamily="34" charset="-120"/>
              </a:rPr>
              <a:t>해외 확대</a:t>
            </a:r>
            <a:endParaRPr lang="en-US" sz="2250" dirty="0"/>
          </a:p>
        </p:txBody>
      </p:sp>
      <p:sp>
        <p:nvSpPr>
          <p:cNvPr id="18" name="Text 16"/>
          <p:cNvSpPr/>
          <p:nvPr/>
        </p:nvSpPr>
        <p:spPr>
          <a:xfrm>
            <a:off x="9458325" y="5143858"/>
            <a:ext cx="3470062" cy="645795"/>
          </a:xfrm>
          <a:prstGeom prst="rect">
            <a:avLst/>
          </a:prstGeom>
          <a:noFill/>
          <a:ln/>
        </p:spPr>
        <p:txBody>
          <a:bodyPr wrap="square" lIns="25400" tIns="25400" rIns="25400" bIns="25400" rtlCol="0" anchor="t">
            <a:normAutofit/>
          </a:bodyPr>
          <a:lstStyle/>
          <a:p>
            <a:pPr algn="l" indent="0" marL="0">
              <a:lnSpc>
                <a:spcPct val="124609"/>
              </a:lnSpc>
              <a:buNone/>
            </a:pPr>
            <a:r>
              <a:rPr lang="en-US" sz="1650" dirty="0">
                <a:solidFill>
                  <a:srgbClr val="1F1E1C">
                    <a:alpha val="70000"/>
                  </a:srgbClr>
                </a:solidFill>
                <a:latin typeface="Arial" pitchFamily="34" charset="0"/>
                <a:ea typeface="Arial" pitchFamily="34" charset="-122"/>
                <a:cs typeface="Arial" pitchFamily="34" charset="-120"/>
              </a:rPr>
              <a:t>해외 터미널 스케줄 · 매핑 정리 · ICON 중복 정리 · 성능 캐시 &lt;3초.</a:t>
            </a:r>
            <a:endParaRPr lang="en-US" sz="1650" dirty="0"/>
          </a:p>
        </p:txBody>
      </p:sp>
      <p:sp>
        <p:nvSpPr>
          <p:cNvPr id="19" name="Shape 17"/>
          <p:cNvSpPr/>
          <p:nvPr/>
        </p:nvSpPr>
        <p:spPr>
          <a:xfrm>
            <a:off x="13151168" y="3976092"/>
            <a:ext cx="3978593" cy="2365058"/>
          </a:xfrm>
          <a:prstGeom prst="rect">
            <a:avLst/>
          </a:prstGeom>
          <a:solidFill>
            <a:srgbClr val="F3F2F2"/>
          </a:solidFill>
          <a:ln/>
        </p:spPr>
      </p:sp>
      <p:sp>
        <p:nvSpPr>
          <p:cNvPr id="20" name="Text 18"/>
          <p:cNvSpPr/>
          <p:nvPr/>
        </p:nvSpPr>
        <p:spPr>
          <a:xfrm>
            <a:off x="13455968" y="4261842"/>
            <a:ext cx="3705892" cy="333375"/>
          </a:xfrm>
          <a:prstGeom prst="rect">
            <a:avLst/>
          </a:prstGeom>
          <a:noFill/>
          <a:ln/>
        </p:spPr>
        <p:txBody>
          <a:bodyPr wrap="square" lIns="25400" tIns="25400" rIns="25400" bIns="25400" rtlCol="0" anchor="t">
            <a:normAutofit/>
          </a:bodyPr>
          <a:lstStyle/>
          <a:p>
            <a:pPr algn="l" indent="0" marL="0">
              <a:lnSpc>
                <a:spcPct val="133621"/>
              </a:lnSpc>
              <a:buNone/>
            </a:pPr>
            <a:r>
              <a:rPr lang="en-US" sz="1500" b="1" spc="120" kern="0" dirty="0">
                <a:solidFill>
                  <a:srgbClr val="AE1800"/>
                </a:solidFill>
                <a:latin typeface="Arial" pitchFamily="34" charset="0"/>
                <a:ea typeface="Arial" pitchFamily="34" charset="-122"/>
                <a:cs typeface="Arial" pitchFamily="34" charset="-120"/>
              </a:rPr>
              <a:t>04 M3 · 고도화</a:t>
            </a:r>
            <a:endParaRPr lang="en-US" sz="1500" dirty="0"/>
          </a:p>
        </p:txBody>
      </p:sp>
      <p:sp>
        <p:nvSpPr>
          <p:cNvPr id="21" name="Text 19"/>
          <p:cNvSpPr/>
          <p:nvPr/>
        </p:nvSpPr>
        <p:spPr>
          <a:xfrm>
            <a:off x="13455968" y="4690467"/>
            <a:ext cx="3705892" cy="358140"/>
          </a:xfrm>
          <a:prstGeom prst="rect">
            <a:avLst/>
          </a:prstGeom>
          <a:noFill/>
          <a:ln/>
        </p:spPr>
        <p:txBody>
          <a:bodyPr wrap="square" lIns="25400" tIns="25400" rIns="25400" bIns="25400" rtlCol="0" anchor="t">
            <a:normAutofit/>
          </a:bodyPr>
          <a:lstStyle/>
          <a:p>
            <a:pPr algn="l" indent="0" marL="0">
              <a:lnSpc>
                <a:spcPct val="79245"/>
              </a:lnSpc>
              <a:buNone/>
            </a:pPr>
            <a:r>
              <a:rPr lang="en-US" sz="2250" b="1" spc="-34" kern="0" dirty="0">
                <a:solidFill>
                  <a:srgbClr val="201E1D"/>
                </a:solidFill>
                <a:latin typeface="Arial" pitchFamily="34" charset="0"/>
                <a:ea typeface="Arial" pitchFamily="34" charset="-122"/>
                <a:cs typeface="Arial" pitchFamily="34" charset="-120"/>
              </a:rPr>
              <a:t>지능화</a:t>
            </a:r>
            <a:endParaRPr lang="en-US" sz="2250" dirty="0"/>
          </a:p>
        </p:txBody>
      </p:sp>
      <p:sp>
        <p:nvSpPr>
          <p:cNvPr id="22" name="Text 20"/>
          <p:cNvSpPr/>
          <p:nvPr/>
        </p:nvSpPr>
        <p:spPr>
          <a:xfrm>
            <a:off x="13455968" y="5143858"/>
            <a:ext cx="3470062" cy="949643"/>
          </a:xfrm>
          <a:prstGeom prst="rect">
            <a:avLst/>
          </a:prstGeom>
          <a:noFill/>
          <a:ln/>
        </p:spPr>
        <p:txBody>
          <a:bodyPr wrap="square" lIns="25400" tIns="25400" rIns="25400" bIns="25400" rtlCol="0" anchor="t">
            <a:normAutofit/>
          </a:bodyPr>
          <a:lstStyle/>
          <a:p>
            <a:pPr algn="l" indent="0" marL="0">
              <a:lnSpc>
                <a:spcPct val="124609"/>
              </a:lnSpc>
              <a:buNone/>
            </a:pPr>
            <a:r>
              <a:rPr lang="en-US" sz="1650" dirty="0">
                <a:solidFill>
                  <a:srgbClr val="1F1E1C">
                    <a:alpha val="70000"/>
                  </a:srgbClr>
                </a:solidFill>
                <a:latin typeface="Arial" pitchFamily="34" charset="0"/>
                <a:ea typeface="Arial" pitchFamily="34" charset="-122"/>
                <a:cs typeface="Arial" pitchFamily="34" charset="-120"/>
              </a:rPr>
              <a:t>v3 지표(UNCTAD·Erlang C·CPPI) · React 컷오버 · 벤치마크(surff·tradlinx).</a:t>
            </a:r>
            <a:endParaRPr lang="en-US" sz="1650" dirty="0"/>
          </a:p>
        </p:txBody>
      </p:sp>
      <p:sp>
        <p:nvSpPr>
          <p:cNvPr id="23" name="Shape 21"/>
          <p:cNvSpPr/>
          <p:nvPr/>
        </p:nvSpPr>
        <p:spPr>
          <a:xfrm>
            <a:off x="0" y="8485465"/>
            <a:ext cx="18288000" cy="1801535"/>
          </a:xfrm>
          <a:prstGeom prst="rect">
            <a:avLst/>
          </a:prstGeom>
          <a:solidFill>
            <a:srgbClr val="EC3013"/>
          </a:solidFill>
          <a:ln/>
        </p:spPr>
      </p:sp>
      <p:sp>
        <p:nvSpPr>
          <p:cNvPr id="24" name="Text 22"/>
          <p:cNvSpPr/>
          <p:nvPr/>
        </p:nvSpPr>
        <p:spPr>
          <a:xfrm>
            <a:off x="1143000" y="8904565"/>
            <a:ext cx="12101250" cy="362903"/>
          </a:xfrm>
          <a:prstGeom prst="rect">
            <a:avLst/>
          </a:prstGeom>
          <a:noFill/>
          <a:ln/>
        </p:spPr>
        <p:txBody>
          <a:bodyPr wrap="square" lIns="25400" tIns="25400" rIns="25400" bIns="25400" rtlCol="0" anchor="t">
            <a:normAutofit/>
          </a:bodyPr>
          <a:lstStyle/>
          <a:p>
            <a:pPr algn="l" indent="0" marL="0">
              <a:lnSpc>
                <a:spcPct val="133203"/>
              </a:lnSpc>
              <a:buNone/>
            </a:pPr>
            <a:r>
              <a:rPr lang="en-US" sz="1650" b="1" spc="231" kern="0" dirty="0">
                <a:solidFill>
                  <a:srgbClr val="F3F2F2">
                    <a:alpha val="85000"/>
                  </a:srgbClr>
                </a:solidFill>
                <a:latin typeface="Arial" pitchFamily="34" charset="0"/>
                <a:ea typeface="Arial" pitchFamily="34" charset="-122"/>
                <a:cs typeface="Arial" pitchFamily="34" charset="-120"/>
              </a:rPr>
              <a:t>WHY NOW</a:t>
            </a:r>
            <a:endParaRPr lang="en-US" sz="1650" dirty="0"/>
          </a:p>
        </p:txBody>
      </p:sp>
      <p:sp>
        <p:nvSpPr>
          <p:cNvPr id="25" name="Text 23"/>
          <p:cNvSpPr/>
          <p:nvPr/>
        </p:nvSpPr>
        <p:spPr>
          <a:xfrm>
            <a:off x="1143000" y="9343668"/>
            <a:ext cx="12101250" cy="543282"/>
          </a:xfrm>
          <a:prstGeom prst="rect">
            <a:avLst/>
          </a:prstGeom>
          <a:noFill/>
          <a:ln/>
        </p:spPr>
        <p:txBody>
          <a:bodyPr wrap="square" lIns="25400" tIns="25400" rIns="25400" bIns="25400" rtlCol="0" anchor="t">
            <a:normAutofit/>
          </a:bodyPr>
          <a:lstStyle/>
          <a:p>
            <a:pPr algn="l" indent="0" marL="0">
              <a:lnSpc>
                <a:spcPct val="72065"/>
              </a:lnSpc>
              <a:buNone/>
            </a:pPr>
            <a:r>
              <a:rPr lang="en-US" sz="3900" b="1" spc="-78" kern="0" dirty="0">
                <a:solidFill>
                  <a:srgbClr val="F3F2F2"/>
                </a:solidFill>
                <a:latin typeface="Arial" pitchFamily="34" charset="0"/>
                <a:ea typeface="Arial" pitchFamily="34" charset="-122"/>
                <a:cs typeface="Arial" pitchFamily="34" charset="-120"/>
              </a:rPr>
              <a:t>가시성을 넘어, '실행하는 컨트롤타워'가 되겠습니다</a:t>
            </a:r>
            <a:endParaRPr lang="en-US" sz="3900" dirty="0"/>
          </a:p>
        </p:txBody>
      </p:sp>
      <p:sp>
        <p:nvSpPr>
          <p:cNvPr id="26" name="Text 24"/>
          <p:cNvSpPr/>
          <p:nvPr/>
        </p:nvSpPr>
        <p:spPr>
          <a:xfrm>
            <a:off x="13358956" y="9033748"/>
            <a:ext cx="3786045" cy="381000"/>
          </a:xfrm>
          <a:prstGeom prst="rect">
            <a:avLst/>
          </a:prstGeom>
          <a:noFill/>
          <a:ln/>
        </p:spPr>
        <p:txBody>
          <a:bodyPr wrap="square" lIns="25400" tIns="25400" rIns="25400" bIns="25400" rtlCol="0" anchor="t">
            <a:normAutofit/>
          </a:bodyPr>
          <a:lstStyle/>
          <a:p>
            <a:pPr algn="r" indent="0" marL="0">
              <a:lnSpc>
                <a:spcPct val="132353"/>
              </a:lnSpc>
              <a:buNone/>
            </a:pPr>
            <a:r>
              <a:rPr lang="en-US" sz="1800" b="1" dirty="0">
                <a:solidFill>
                  <a:srgbClr val="F3F2F2"/>
                </a:solidFill>
                <a:latin typeface="Arial" pitchFamily="34" charset="0"/>
                <a:ea typeface="Arial" pitchFamily="34" charset="-122"/>
                <a:cs typeface="Arial" pitchFamily="34" charset="-120"/>
              </a:rPr>
              <a:t>AI 기반 글로벌 공급망 컨트롤타워</a:t>
            </a:r>
            <a:endParaRPr lang="en-US" sz="1800" dirty="0"/>
          </a:p>
        </p:txBody>
      </p:sp>
      <p:sp>
        <p:nvSpPr>
          <p:cNvPr id="27" name="Text 25"/>
          <p:cNvSpPr/>
          <p:nvPr/>
        </p:nvSpPr>
        <p:spPr>
          <a:xfrm>
            <a:off x="13358956" y="9376648"/>
            <a:ext cx="3786045" cy="381000"/>
          </a:xfrm>
          <a:prstGeom prst="rect">
            <a:avLst/>
          </a:prstGeom>
          <a:noFill/>
          <a:ln/>
        </p:spPr>
        <p:txBody>
          <a:bodyPr wrap="square" lIns="25400" tIns="25400" rIns="25400" bIns="25400" rtlCol="0" anchor="t">
            <a:normAutofit/>
          </a:bodyPr>
          <a:lstStyle/>
          <a:p>
            <a:pPr algn="r" indent="0" marL="0">
              <a:lnSpc>
                <a:spcPct val="132353"/>
              </a:lnSpc>
              <a:buNone/>
            </a:pPr>
            <a:r>
              <a:rPr lang="en-US" sz="1800" b="1" dirty="0">
                <a:solidFill>
                  <a:srgbClr val="F3F2F2">
                    <a:alpha val="85000"/>
                  </a:srgbClr>
                </a:solidFill>
                <a:latin typeface="Arial" pitchFamily="34" charset="0"/>
                <a:ea typeface="Arial" pitchFamily="34" charset="-122"/>
                <a:cs typeface="Arial" pitchFamily="34" charset="-120"/>
              </a:rPr>
              <a:t>TWL SmartBPO · itt@twsc.co.kr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2026-07-29T01:30:59Z</dcterms:created>
  <dcterms:modified xsi:type="dcterms:W3CDTF">2026-07-29T01:30:59Z</dcterms:modified>
</cp:coreProperties>
</file>