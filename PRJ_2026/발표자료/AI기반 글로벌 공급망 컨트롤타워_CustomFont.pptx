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61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263776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지금부터 「AI 기반 글로벌 공급망 컨트롤타워」 구축 사업을 보고드리겠습니다. 핵심 메시지는 하나입니다 — 흩어져 있는 항만·선박·운임·통관 정보를 실데이터로 한 화면에 모으고, 단순 조회를 넘어 리스크 예측과 실행까지 잇는 컨트롤타워를 만들겠다는 것입니다. 특별한 점은, 이 시스템을 단 5일 만에 상용 수준으로 구축해 이미 운영 중이라는 것입니다. 오늘은 현황, 문제점, 해결책, 그리고 타당성과 확장성까지 순서대로 검증해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네 단계입니다. 먼저 매일 아침 담당자가 겪는 취합의 현실과 파편화된 데이터 지형으로 현황을 짚고, 컨트롤타워 부재가 낳는 구조적 문제점을 정의합니다. 이어 8개 화면을 실데이터로 통합한 해결책과 무료 오픈API 기반 운영 모델을 제시하고, 마지막으로 제로에 가까운 인프라 비용과 개발 성과·검증, 확장 로드맵까지 타당성을 확인합니다. '정보는 흩어져 있고, 취합은 수작업이며, 데이터는 아직 데모다' — 이 한 문장이 오늘의 논지입니다.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현황입니다. 지금부터 말씀드리는 내용은 전부 5일간 실제로 구축·운영한 시스템의 데이터와 담당자 피드백에 근거합니다. 외부 수치는 IMF PortWatch·Open-Meteo 같은 공개 소스를 실호출로 검증했고, 추정치는 명확히 구분해 표기했습니다. 매일 아침 담당자가 어떤 수고를 치르고 있는지부터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담당자의 하루입니다. 수출입 운영 담당자는 매일 아침 부산신항·광양·인천 9개 터미널 사이트에 하나씩 접속해 선석배정 현황을 확인합니다. 터미널마다 화면과 컬럼이 모두 달라 취합에만 매일 30분에서 1시간이 걸리고, 그 결과는 개인 엑셀에 갇혀 팀 공유도 이력 관리도 안 됩니다. 결정적으로 반입마감시한을 놓치면 곧바로 선적 실패, 즉 롤오버로 이어집니다. 하루 224건을 손으로 정규화하는 이 작업이 자동화의 첫 출발점이었습니다.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문제는 필요한 정보가 한 곳에 없다는 것입니다. 선석배정은 터미널 웹사이트, 항만 혼잡도는 IMF PortWatch 위성 AIS, 선박 위치는 VesselFinder, 운임은 상하이해운거래소, 기상은 Open-Meteo, 통관은 관세청 유니패스 — 여섯 갈래로 소스도 포맷도 갱신주기도 제각각입니다. 담당자는 판단 하나를 위해 여러 화면을 오가야 했고, 이 통합 조회 계층의 부재가 두 번째 현황입니다.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신뢰성입니다. 화면이 아무리 그럴듯해도 데이터가 데모면 현업은 쓰지 않습니다. 그래서 전 파일 89건을 전수 감사해 가짜 난수와 데모 문구를 걷어내고 실서비스 기준으로 개편했습니다. 오픈데이터 41건을 조사해 무료·무인증 소스를 선별했고, 혼잡도 API는 6종을 실제로 호출해 비교한 끝에 IMF PortWatch를 채택했습니다. 상용 가시성 솔루션은 유료에 로그인이 필요하고 무엇보다 느립니다 — 공개 데이터를 통합·정제해 사내 표준을 만드는 편이 낫다고 판단했습니다.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국내 터미널 지형을 보면 9개 터미널 중 6곳이 부산신항에 몰려 있어 물량의 79%를 차지합니다. 광양이 한 곳, 인천이 두 곳입니다. 문제는 터미널마다 컬럼과 표기가 제각각이라는 점인데, 예컨대 선명과 항로가 한 칸에 붙어 있거나 공표 양식이 수시로 바뀝니다. 14일치 3,218건을 백필하면서 헤더 변형 8종까지 자동으로 흡수하도록 정규화기를 만든 이유입니다.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현황은 왜 지금이냐입니다. 전 세계 항만은 붐비고, 운임은 출렁이며, ETA는 불확실합니다. 저희는 IMF PortWatch 위성 데이터로 글로벌 93개 항만의 혼잡도를 매일 산출하고, 사전계산한 8,556개 해상 구간으로 부산에서 로테르담까지 소요일을 몬테카를로로 추정합니다. SCFI·CCFI로 운임 변동성도 추적합니다. 공개 혼잡 데이터는 7~10일 지연이 있지만 국내 항만은 실측 선석으로 보정해 지연을 없앴습니다. 변동성이 클수록 이 통합 가시성의 가치는 커집니다.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현장의 문제점입니다. 방금 본 현황을 네 가지 구조적 문제로 압축했습니다. 취합 채널의 부재, 데이터 파편화, 신뢰성 공백, 그리고 이력·공유의 단절 — 이 네 가지가 서로 맞물려 물류 운영을 아날로그에 묶어둡니다.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첫째, 9개 터미널과 6개 데이터 소스를 잇는 단일 조회 채널이 없어 매일 수작업으로 여러 화면을 오갑니다. 둘째, 소스도 포맷도 주기도 달라 실시간 통합 가시성이 없고 크로스 조회가 안 됩니다. 셋째, 데모·가짜 데이터가 섞여 현업 신뢰가 떨어지는데 검증 절차가 표준화돼 있지 않습니다. 넷째, 취합 결과가 개인 엑셀에 갇혀 팀 자산으로 축적되지 않습니다. 이 네 가지가 서로 맞물려 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저희의 해결책은 흩어진 것을 하나로 잇는 것입니다. 8개 화면을 실데이터로 통합한 컨트롤타워, 수집부터 표현까지 자동화한 파이프라인, 무료 오픈API 기반의 제로 비용 스택, 그리고 혼잡도와 소요일을 정량화하는 검증된 방법론입니다.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핵심은 조회에서 끝나지 않는다는 점입니다. 왼쪽의 여섯 외부 소스를 자동 파이프라인이 수집·정규화해 Supabase에 적재하고, 오른쪽 여덟 화면으로 뿌립니다. 단순 실데이터 조회를 넘어 PCI 혼잡도와 ETA 지연, 경로 소요일로 리스크를 정량화하고, 반입마감 임박 강조와 화물 추적으로 실행을 지원하며, 매일 자동수집과 신선도 보드로 운영까지 자동화합니다. 수집·저장·표현 세 계층이 사람 손 없이 도는 구조가 경쟁력입니다.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화면은 여덟 개이고 전부 실데이터입니다. Port Insight는 글로벌 93개 항만 혼잡도를 게이지와 지도로 보여주고, 선석배정은 9개 터미널을 통합해 반입마감 임박을 강조합니다. 선박 위치는 실시간 AIS 지도, 화물 추적은 유니패스 통관 타임라인, 경로 분석은 소요일을 몬테카를로로 분포까지 냅니다. 운임지수·항만 기상·데이터 현황 보드까지 — 데모나 가짜 난수 없이 공개·실측 데이터만 씁니다. 이것이 현업이 신뢰하고 쓰는 이유입니다.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운영·비용 모델은 단순합니다. 데이터는 IMF PortWatch, Open-Meteo, VesselFinder, 상하이 운임지수, 유니패스, searoute까지 전부 무료 공개 소스입니다. 저장은 Supabase 무료 티어, 배포는 GitHub Pages 자동배포로 인프라 비용이 사실상 0원입니다. 자동화는 키가 필요 없는 스케줄 세 종이 매일 무인으로 돌고, 프런트는 오픈소스 스택에 지금 React·타입스크립트로 이관 중입니다. 상용 가시성 솔루션이 유료·로그인인 것과 달리, 데이터와 코드가 그대로 사내 자산으로 남는다는 점이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타당성과 확장성입니다. 구축 비용이 사실상 제로라는 점, 단 5일 만에 8개 화면을 실데이터로 구현·검증했다는 점, 혼잡도와 소요일을 정량화한 방법론, 그리고 확장 로드맵과 외부 검증까지 순서대로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비용입니다. 데이터, 저장, 배포, 라이선스 — 전 구간을 무료로 구성해 월 인프라·데이터 비용이 사실상 0원입니다. 만약 상용으로 구성했다면 항만 혼잡 데이터는 구독, 지도는 종량 API, DB와 호스팅은 클라우드 요금, 가시성은 tradlinx 같은 SaaS 구독이 필요했을 겁니다. 저희는 이 전부를 IMF PortWatch, Leaflet, Supabase 무료 티어, 공개 데이터 통합으로 대체했습니다. 유일한 비용은 개발 인건비뿐이고, 나중에 확장하더라도 종량 과금으로 점진 대응이 가능해 초기 고정비 부담이 없습니다.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비용이 제로라면 품질은 어떠냐 — 성과와 검증입니다. 2026년 7월 24일부터 28일까지 단 5일, 11단계에 걸쳐 8개 화면을 전부 실데이터로 구현하고 배포까지 마쳤습니다. 검증도 숫자로 남겼습니다. 선석배정 224건을 정규화해 E2E로 통과했고, PortWatch 실데이터 1만212행으로 93개 항만 PCI를 산출했으며, 14일치 3,218건을 백필했습니다. 콘솔 오류와 보안 어드바이저는 0건입니다. 완성 솔루션을 구독하는 대신 5일·0원으로 자체 구축했고, 무엇보다 데이터와 코드가 그대로 사내 자산으로 남았습니다.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화면이 저희 방법론의 핵심입니다. 항만 혼잡도 지수 PCI는 세 요소를 가중합합니다 — 활동량 60퍼센트, 물동량 25퍼센트, 모멘텀 15퍼센트. 활동량은 최근 7일 평균 기항수가 120일 분포에서 차지하는 백분위이고, 모멘텀은 최근 7일과 직전 7일의 변화율을 시그모이드로 0에서 100으로 매핑합니다. IMF PortWatch 위성 데이터 1만212행을 받아 Focus 93개 항만을 100퍼센트 매핑해 산출했고, 공개 데이터의 7~10일 지연은 국내 부산·광양·인천의 실측 선석으로 보정했습니다. 크리티컬 항만이 15개를 넘거나 평균이 60을 넘으면 글로벌 리스크를 HIGH로 판정합니다. 가짜 난수가 아니라 근거 있는 지표라는 점을 강조드립니다.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확장은 단계적입니다. 1단계 v1은 이미 8개 화면으로 운영 중입니다. M1 핵심 단계에서는 담당자 피드백을 반영해 포트 검색, 국내·해외 탭 분리, 터미널 8곳 확대, 그리고 가장 요청이 많았던 Ship Schedule 3뷰를 붙입니다. M2에서는 해외 터미널로 넓히고 성능을 3초 이내로 끌어올립니다. M3에서는 UNCTAD 선석점유율과 Erlang C 대기시간 같은 v3 지표와 React 완전 이관까지 갑니다. 방법론은 이미 실데이터로 사전 검증을 마쳤습니다.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위험물이 아니라 이 컨트롤타워 자체가 발판입니다. 첫째, 해외로 넓혀 Ship Schedule 3뷰와 해외 터미널 스케줄을 붙이되 searates보다 빠르게 만듭니다. 둘째, ETA 지연 리스크와 경로 몬테카를로, v3 생산성 지표로 지능화합니다. 셋째, 법인과 계열사 본사로 배포를 넓히고 역할별 관심 선박 구독을 더합니다. 넷째, React 재사용 그리드와 파서 플러그인 구조로 터미널을 추가할 때 설정과 파서만 더하면 되도록 플랫폼화합니다. 무료·표준 기반 파이프라인이 그대로 확장 자산이 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타당성의 마지막 근거는 외부 검증입니다. 지표는 우리 주장이 아니라 공개 기관 데이터로 뒷받침됩니다. 혼잡도는 IMF PortWatch 위성 데이터로 93개 항만을 100퍼센트 매핑했고, v3 생산성 지표는 UNCTAD 선석점유율과 Erlang C 대기시간으로 부산 PNIT 사례까지 사전 검증했습니다. 기상과 선박 위치는 Open-Meteo와 VesselFinder를 실제로 호출해 200 응답을 확인했고, 통관과 항로는 관세청 유니패스와 오픈소스 searoute를 씁니다. 시장·방법론·실시간·공공, 네 갈래 공개 소스가 모두 같은 방향을 가리킵니다.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정보는 흩어져 있고 취합은 수작업이며 데이터는 아직 데모입니다 — 저희는 이 셋을 정면으로 풀었습니다. 8개 화면을 실데이터로 이미 운영 중이고, 인프라 비용은 월 0원이며, 해외와 v3 지표로 가는 확장 로드맵이 있습니다. 무엇보다 담당자 피드백을 확보한 지금이 선점 시점입니다. 저희는 단순 조회를 넘어, 리스크를 예측하고 실행까지 잇는 '실행하는 컨트롤타워'가 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3419118"/>
            <a:ext cx="17602200" cy="289560"/>
          </a:xfrm>
          <a:prstGeom prst="rect">
            <a:avLst/>
          </a:prstGeom>
          <a:noFill/>
          <a:ln/>
        </p:spPr>
        <p:txBody>
          <a:bodyPr wrap="square" lIns="25400" tIns="25400" rIns="25400" bIns="25400" rtlCol="0" anchor="t">
            <a:normAutofit/>
          </a:bodyPr>
          <a:lstStyle/>
          <a:p>
            <a:pPr marL="0" indent="0" algn="l">
              <a:buNone/>
            </a:pPr>
            <a:r>
              <a:rPr lang="en-US" sz="1650" b="1" kern="0" spc="429" dirty="0">
                <a:solidFill>
                  <a:srgbClr val="E4A24A"/>
                </a:solidFill>
                <a:latin typeface="Pretendard" pitchFamily="34" charset="0"/>
                <a:ea typeface="Pretendard" pitchFamily="34" charset="-122"/>
                <a:cs typeface="Pretendard" pitchFamily="34" charset="-120"/>
              </a:rPr>
              <a:t>GLOBAL SUPPLY CHAIN · AI CONTROL TOWER</a:t>
            </a:r>
            <a:endParaRPr lang="en-US" sz="1650" dirty="0"/>
          </a:p>
        </p:txBody>
      </p:sp>
      <p:sp>
        <p:nvSpPr>
          <p:cNvPr id="4" name="Text 2"/>
          <p:cNvSpPr/>
          <p:nvPr/>
        </p:nvSpPr>
        <p:spPr>
          <a:xfrm>
            <a:off x="1143000" y="3975378"/>
            <a:ext cx="17602200" cy="1048464"/>
          </a:xfrm>
          <a:prstGeom prst="rect">
            <a:avLst/>
          </a:prstGeom>
          <a:noFill/>
          <a:ln/>
        </p:spPr>
        <p:txBody>
          <a:bodyPr wrap="square" lIns="25400" tIns="25400" rIns="25400" bIns="25400" rtlCol="0" anchor="t">
            <a:normAutofit lnSpcReduction="10000"/>
          </a:bodyPr>
          <a:lstStyle/>
          <a:p>
            <a:pPr marL="0" indent="0" algn="l">
              <a:lnSpc>
                <a:spcPct val="85548"/>
              </a:lnSpc>
              <a:buNone/>
            </a:pPr>
            <a:r>
              <a:rPr lang="en-US" sz="7800" b="1" kern="0" spc="-195">
                <a:solidFill>
                  <a:srgbClr val="F5F3EE"/>
                </a:solidFill>
                <a:latin typeface="Pretendard" pitchFamily="34" charset="0"/>
                <a:ea typeface="Pretendard" pitchFamily="34" charset="-122"/>
                <a:cs typeface="Pretendard" pitchFamily="34" charset="-120"/>
              </a:rPr>
              <a:t>AI기반 </a:t>
            </a:r>
            <a:r>
              <a:rPr lang="en-US" sz="7800" b="1" kern="0" spc="-195" dirty="0">
                <a:solidFill>
                  <a:srgbClr val="F5F3EE"/>
                </a:solidFill>
                <a:latin typeface="Pretendard" pitchFamily="34" charset="0"/>
                <a:ea typeface="Pretendard" pitchFamily="34" charset="-122"/>
                <a:cs typeface="Pretendard" pitchFamily="34" charset="-120"/>
              </a:rPr>
              <a:t>글로벌 공급망 컨트롤타워</a:t>
            </a:r>
            <a:endParaRPr lang="en-US" sz="7800" dirty="0"/>
          </a:p>
        </p:txBody>
      </p:sp>
      <p:sp>
        <p:nvSpPr>
          <p:cNvPr id="5" name="Shape 3"/>
          <p:cNvSpPr/>
          <p:nvPr/>
        </p:nvSpPr>
        <p:spPr>
          <a:xfrm>
            <a:off x="1143000" y="5328642"/>
            <a:ext cx="723900" cy="47625"/>
          </a:xfrm>
          <a:prstGeom prst="rect">
            <a:avLst/>
          </a:prstGeom>
          <a:solidFill>
            <a:srgbClr val="E4A24A"/>
          </a:solidFill>
          <a:ln/>
        </p:spPr>
      </p:sp>
      <p:sp>
        <p:nvSpPr>
          <p:cNvPr id="6" name="Text 4"/>
          <p:cNvSpPr/>
          <p:nvPr/>
        </p:nvSpPr>
        <p:spPr>
          <a:xfrm>
            <a:off x="1143000" y="5681067"/>
            <a:ext cx="14668500" cy="459105"/>
          </a:xfrm>
          <a:prstGeom prst="rect">
            <a:avLst/>
          </a:prstGeom>
          <a:noFill/>
          <a:ln/>
        </p:spPr>
        <p:txBody>
          <a:bodyPr wrap="square" lIns="25400" tIns="25400" rIns="25400" bIns="25400" rtlCol="0" anchor="t">
            <a:normAutofit/>
          </a:bodyPr>
          <a:lstStyle/>
          <a:p>
            <a:pPr marL="0" indent="0" algn="l">
              <a:lnSpc>
                <a:spcPct val="110500"/>
              </a:lnSpc>
              <a:buNone/>
            </a:pPr>
            <a:r>
              <a:rPr lang="en-US" sz="2550" dirty="0">
                <a:solidFill>
                  <a:srgbClr val="C9CCD1"/>
                </a:solidFill>
                <a:latin typeface="Pretendard" pitchFamily="34" charset="0"/>
                <a:ea typeface="Pretendard" pitchFamily="34" charset="-122"/>
                <a:cs typeface="Pretendard" pitchFamily="34" charset="-120"/>
              </a:rPr>
              <a:t>‘가시성’을 넘어 </a:t>
            </a:r>
            <a:r>
              <a:rPr lang="en-US" sz="2550" b="1" dirty="0">
                <a:solidFill>
                  <a:srgbClr val="E4A24A"/>
                </a:solidFill>
                <a:latin typeface="Pretendard" pitchFamily="34" charset="0"/>
                <a:ea typeface="Pretendard" pitchFamily="34" charset="-122"/>
                <a:cs typeface="Pretendard" pitchFamily="34" charset="-120"/>
              </a:rPr>
              <a:t>실행까지 </a:t>
            </a:r>
            <a:r>
              <a:rPr lang="en-US" sz="2550" dirty="0">
                <a:solidFill>
                  <a:srgbClr val="C9CCD1"/>
                </a:solidFill>
                <a:latin typeface="Pretendard" pitchFamily="34" charset="0"/>
                <a:ea typeface="Pretendard" pitchFamily="34" charset="-122"/>
                <a:cs typeface="Pretendard" pitchFamily="34" charset="-120"/>
              </a:rPr>
              <a:t>— 조달·생산·물류·리스크를 하나로 잇는 공급망 통합 인프라</a:t>
            </a:r>
            <a:endParaRPr lang="en-US" sz="2550" dirty="0"/>
          </a:p>
        </p:txBody>
      </p:sp>
      <p:sp>
        <p:nvSpPr>
          <p:cNvPr id="7" name="Text 5"/>
          <p:cNvSpPr/>
          <p:nvPr/>
        </p:nvSpPr>
        <p:spPr>
          <a:xfrm>
            <a:off x="1143000" y="9464040"/>
            <a:ext cx="2433007" cy="289560"/>
          </a:xfrm>
          <a:prstGeom prst="rect">
            <a:avLst/>
          </a:prstGeom>
          <a:noFill/>
          <a:ln/>
        </p:spPr>
        <p:txBody>
          <a:bodyPr wrap="square" lIns="25400" tIns="25400" rIns="25400" bIns="25400" rtlCol="0" anchor="t">
            <a:normAutofit/>
          </a:bodyPr>
          <a:lstStyle/>
          <a:p>
            <a:pPr marL="0" indent="0" algn="l">
              <a:buNone/>
            </a:pPr>
            <a:r>
              <a:rPr lang="en-US" sz="1650" dirty="0">
                <a:solidFill>
                  <a:srgbClr val="9AA0A6"/>
                </a:solidFill>
                <a:latin typeface="Pretendard" pitchFamily="34" charset="0"/>
                <a:ea typeface="Pretendard" pitchFamily="34" charset="-122"/>
                <a:cs typeface="Pretendard" pitchFamily="34" charset="-120"/>
              </a:rPr>
              <a:t>사업 기획 발표자료 · 2026</a:t>
            </a:r>
            <a:endParaRPr lang="en-US" sz="1650" dirty="0"/>
          </a:p>
        </p:txBody>
      </p:sp>
      <p:sp>
        <p:nvSpPr>
          <p:cNvPr id="8" name="Text 6"/>
          <p:cNvSpPr/>
          <p:nvPr/>
        </p:nvSpPr>
        <p:spPr>
          <a:xfrm>
            <a:off x="13680996" y="9464040"/>
            <a:ext cx="3810405" cy="28956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F5F3EE"/>
                </a:solidFill>
                <a:latin typeface="Pretendard" pitchFamily="34" charset="0"/>
                <a:ea typeface="Pretendard" pitchFamily="34" charset="-122"/>
                <a:cs typeface="Pretendard" pitchFamily="34" charset="-120"/>
              </a:rPr>
              <a:t>TWL CONTROL TOWER · 태웅로직스</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723900"/>
            <a:ext cx="18105120" cy="259080"/>
          </a:xfrm>
          <a:prstGeom prst="rect">
            <a:avLst/>
          </a:prstGeom>
          <a:noFill/>
          <a:ln/>
        </p:spPr>
        <p:txBody>
          <a:bodyPr wrap="square" lIns="25400" tIns="25400" rIns="25400" bIns="25400" rtlCol="0" anchor="t">
            <a:normAutofit/>
          </a:bodyPr>
          <a:lstStyle/>
          <a:p>
            <a:pPr marL="0" indent="0" algn="l">
              <a:buNone/>
            </a:pPr>
            <a:r>
              <a:rPr lang="en-US" sz="1425" b="1" kern="0" spc="86" dirty="0">
                <a:solidFill>
                  <a:srgbClr val="6F6A5F"/>
                </a:solidFill>
                <a:latin typeface="Pretendard" pitchFamily="34" charset="0"/>
                <a:ea typeface="Pretendard" pitchFamily="34" charset="-122"/>
                <a:cs typeface="Pretendard" pitchFamily="34" charset="-120"/>
              </a:rPr>
              <a:t>CONTENTS · 발표 순서</a:t>
            </a:r>
            <a:endParaRPr lang="en-US" sz="1425" dirty="0"/>
          </a:p>
        </p:txBody>
      </p:sp>
      <p:sp>
        <p:nvSpPr>
          <p:cNvPr id="3" name="Text 1"/>
          <p:cNvSpPr/>
          <p:nvPr/>
        </p:nvSpPr>
        <p:spPr>
          <a:xfrm>
            <a:off x="914400" y="1078230"/>
            <a:ext cx="18105120" cy="624840"/>
          </a:xfrm>
          <a:prstGeom prst="rect">
            <a:avLst/>
          </a:prstGeom>
          <a:noFill/>
          <a:ln/>
        </p:spPr>
        <p:txBody>
          <a:bodyPr wrap="square" lIns="25400" tIns="25400" rIns="25400" bIns="25400" rtlCol="0" anchor="t">
            <a:normAutofit/>
          </a:bodyPr>
          <a:lstStyle/>
          <a:p>
            <a:pPr marL="0" indent="0" algn="l">
              <a:lnSpc>
                <a:spcPct val="91667"/>
              </a:lnSpc>
              <a:buNone/>
            </a:pPr>
            <a:r>
              <a:rPr lang="en-US" sz="4200" b="1" kern="0" spc="-84" dirty="0">
                <a:solidFill>
                  <a:srgbClr val="12161D"/>
                </a:solidFill>
                <a:latin typeface="Pretendard" pitchFamily="34" charset="0"/>
                <a:ea typeface="Pretendard" pitchFamily="34" charset="-122"/>
                <a:cs typeface="Pretendard" pitchFamily="34" charset="-120"/>
              </a:rPr>
              <a:t>정보는 흩어져 있고, 취합은 수작업이며, 데이터는 아직 데모입니다</a:t>
            </a:r>
            <a:endParaRPr lang="en-US" sz="4200" dirty="0"/>
          </a:p>
        </p:txBody>
      </p:sp>
      <p:sp>
        <p:nvSpPr>
          <p:cNvPr id="4" name="Text 2"/>
          <p:cNvSpPr/>
          <p:nvPr/>
        </p:nvSpPr>
        <p:spPr>
          <a:xfrm>
            <a:off x="914400" y="1817370"/>
            <a:ext cx="18105120" cy="297180"/>
          </a:xfrm>
          <a:prstGeom prst="rect">
            <a:avLst/>
          </a:prstGeom>
          <a:noFill/>
          <a:ln/>
        </p:spPr>
        <p:txBody>
          <a:bodyPr wrap="square" lIns="25400" tIns="25400" rIns="25400" bIns="25400" rtlCol="0" anchor="t">
            <a:normAutofit/>
          </a:bodyPr>
          <a:lstStyle/>
          <a:p>
            <a:pPr marL="0" indent="0" algn="l">
              <a:buNone/>
            </a:pPr>
            <a:r>
              <a:rPr lang="en-US" sz="1725" dirty="0">
                <a:solidFill>
                  <a:srgbClr val="6F6A5F"/>
                </a:solidFill>
                <a:latin typeface="Pretendard" pitchFamily="34" charset="0"/>
                <a:ea typeface="Pretendard" pitchFamily="34" charset="-122"/>
                <a:cs typeface="Pretendard" pitchFamily="34" charset="-120"/>
              </a:rPr>
              <a:t>현황 → 문제점 → 해결책 → 타당성·확장성, 네 단계로 컨트롤타워의 당위를 검증합니다</a:t>
            </a:r>
            <a:endParaRPr lang="en-US" sz="1725" dirty="0"/>
          </a:p>
        </p:txBody>
      </p:sp>
      <p:sp>
        <p:nvSpPr>
          <p:cNvPr id="5" name="Shape 3"/>
          <p:cNvSpPr/>
          <p:nvPr/>
        </p:nvSpPr>
        <p:spPr>
          <a:xfrm>
            <a:off x="914400" y="2457450"/>
            <a:ext cx="8067675" cy="3448050"/>
          </a:xfrm>
          <a:prstGeom prst="roundRect">
            <a:avLst>
              <a:gd name="adj" fmla="val 4972"/>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379220" y="2865120"/>
            <a:ext cx="631031" cy="2670810"/>
          </a:xfrm>
          <a:prstGeom prst="rect">
            <a:avLst/>
          </a:prstGeom>
          <a:noFill/>
          <a:ln/>
        </p:spPr>
        <p:txBody>
          <a:bodyPr wrap="square" lIns="25400" tIns="25400" rIns="25400" bIns="25400" rtlCol="0" anchor="t">
            <a:normAutofit/>
          </a:bodyPr>
          <a:lstStyle/>
          <a:p>
            <a:pPr marL="0" indent="0" algn="l">
              <a:lnSpc>
                <a:spcPct val="83333"/>
              </a:lnSpc>
              <a:buNone/>
            </a:pPr>
            <a:r>
              <a:rPr lang="en-US" sz="3900" b="1" kern="0" spc="-78" dirty="0">
                <a:solidFill>
                  <a:srgbClr val="28666E"/>
                </a:solidFill>
                <a:latin typeface="Pretendard" pitchFamily="34" charset="0"/>
                <a:ea typeface="Pretendard" pitchFamily="34" charset="-122"/>
                <a:cs typeface="Pretendard" pitchFamily="34" charset="-120"/>
              </a:rPr>
              <a:t>01</a:t>
            </a:r>
            <a:endParaRPr lang="en-US" sz="3900" dirty="0"/>
          </a:p>
        </p:txBody>
      </p:sp>
      <p:sp>
        <p:nvSpPr>
          <p:cNvPr id="7" name="Text 5"/>
          <p:cNvSpPr/>
          <p:nvPr/>
        </p:nvSpPr>
        <p:spPr>
          <a:xfrm>
            <a:off x="2257901" y="2865120"/>
            <a:ext cx="5593152"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Pretendard" pitchFamily="34" charset="0"/>
                <a:ea typeface="Pretendard" pitchFamily="34" charset="-122"/>
                <a:cs typeface="Pretendard" pitchFamily="34" charset="-120"/>
              </a:rPr>
              <a:t>현 황</a:t>
            </a:r>
            <a:endParaRPr lang="en-US" sz="2550" dirty="0"/>
          </a:p>
        </p:txBody>
      </p:sp>
      <p:sp>
        <p:nvSpPr>
          <p:cNvPr id="8" name="Text 6"/>
          <p:cNvSpPr/>
          <p:nvPr/>
        </p:nvSpPr>
        <p:spPr>
          <a:xfrm>
            <a:off x="2257901" y="3379470"/>
            <a:ext cx="5593152" cy="341947"/>
          </a:xfrm>
          <a:prstGeom prst="rect">
            <a:avLst/>
          </a:prstGeom>
          <a:noFill/>
          <a:ln/>
        </p:spPr>
        <p:txBody>
          <a:bodyPr wrap="square" lIns="25400" tIns="25400" rIns="25400" bIns="25400" rtlCol="0" anchor="t">
            <a:normAutofit/>
          </a:bodyPr>
          <a:lstStyle/>
          <a:p>
            <a:pPr marL="0" indent="0" algn="l">
              <a:lnSpc>
                <a:spcPct val="120833"/>
              </a:lnSpc>
              <a:buNone/>
            </a:pPr>
            <a:r>
              <a:rPr lang="en-US" sz="1650" dirty="0">
                <a:solidFill>
                  <a:srgbClr val="6F6A5F"/>
                </a:solidFill>
                <a:latin typeface="Pretendard" pitchFamily="34" charset="0"/>
                <a:ea typeface="Pretendard" pitchFamily="34" charset="-122"/>
                <a:cs typeface="Pretendard" pitchFamily="34" charset="-120"/>
              </a:rPr>
              <a:t>수작업 취합 · 파편화된 데이터 · 데모의 한계 · 국내 터미널 지형</a:t>
            </a:r>
            <a:endParaRPr lang="en-US" sz="1650" dirty="0"/>
          </a:p>
        </p:txBody>
      </p:sp>
      <p:sp>
        <p:nvSpPr>
          <p:cNvPr id="9" name="Shape 7"/>
          <p:cNvSpPr/>
          <p:nvPr/>
        </p:nvSpPr>
        <p:spPr>
          <a:xfrm>
            <a:off x="9305925" y="2457450"/>
            <a:ext cx="8067675" cy="3448050"/>
          </a:xfrm>
          <a:prstGeom prst="roundRect">
            <a:avLst>
              <a:gd name="adj" fmla="val 4972"/>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0" name="Text 8"/>
          <p:cNvSpPr/>
          <p:nvPr/>
        </p:nvSpPr>
        <p:spPr>
          <a:xfrm>
            <a:off x="9770745" y="2865120"/>
            <a:ext cx="700207" cy="2670810"/>
          </a:xfrm>
          <a:prstGeom prst="rect">
            <a:avLst/>
          </a:prstGeom>
          <a:noFill/>
          <a:ln/>
        </p:spPr>
        <p:txBody>
          <a:bodyPr wrap="square" lIns="25400" tIns="25400" rIns="25400" bIns="25400" rtlCol="0" anchor="t">
            <a:normAutofit/>
          </a:bodyPr>
          <a:lstStyle/>
          <a:p>
            <a:pPr marL="0" indent="0" algn="l">
              <a:lnSpc>
                <a:spcPct val="83333"/>
              </a:lnSpc>
              <a:buNone/>
            </a:pPr>
            <a:r>
              <a:rPr lang="en-US" sz="3900" b="1" kern="0" spc="-78" dirty="0">
                <a:solidFill>
                  <a:srgbClr val="28666E"/>
                </a:solidFill>
                <a:latin typeface="Pretendard" pitchFamily="34" charset="0"/>
                <a:ea typeface="Pretendard" pitchFamily="34" charset="-122"/>
                <a:cs typeface="Pretendard" pitchFamily="34" charset="-120"/>
              </a:rPr>
              <a:t>02</a:t>
            </a:r>
            <a:endParaRPr lang="en-US" sz="3900" dirty="0"/>
          </a:p>
        </p:txBody>
      </p:sp>
      <p:sp>
        <p:nvSpPr>
          <p:cNvPr id="11" name="Text 9"/>
          <p:cNvSpPr/>
          <p:nvPr/>
        </p:nvSpPr>
        <p:spPr>
          <a:xfrm>
            <a:off x="10718602" y="2865120"/>
            <a:ext cx="3620631"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Pretendard" pitchFamily="34" charset="0"/>
                <a:ea typeface="Pretendard" pitchFamily="34" charset="-122"/>
                <a:cs typeface="Pretendard" pitchFamily="34" charset="-120"/>
              </a:rPr>
              <a:t>문제점</a:t>
            </a:r>
            <a:endParaRPr lang="en-US" sz="2550" dirty="0"/>
          </a:p>
        </p:txBody>
      </p:sp>
      <p:sp>
        <p:nvSpPr>
          <p:cNvPr id="12" name="Text 10"/>
          <p:cNvSpPr/>
          <p:nvPr/>
        </p:nvSpPr>
        <p:spPr>
          <a:xfrm>
            <a:off x="10718602" y="3379470"/>
            <a:ext cx="3620631" cy="341947"/>
          </a:xfrm>
          <a:prstGeom prst="rect">
            <a:avLst/>
          </a:prstGeom>
          <a:noFill/>
          <a:ln/>
        </p:spPr>
        <p:txBody>
          <a:bodyPr wrap="square" lIns="25400" tIns="25400" rIns="25400" bIns="25400" rtlCol="0" anchor="t">
            <a:normAutofit/>
          </a:bodyPr>
          <a:lstStyle/>
          <a:p>
            <a:pPr marL="0" indent="0" algn="l">
              <a:lnSpc>
                <a:spcPct val="120833"/>
              </a:lnSpc>
              <a:buNone/>
            </a:pPr>
            <a:r>
              <a:rPr lang="en-US" sz="1650" dirty="0">
                <a:solidFill>
                  <a:srgbClr val="6F6A5F"/>
                </a:solidFill>
                <a:latin typeface="Pretendard" pitchFamily="34" charset="0"/>
                <a:ea typeface="Pretendard" pitchFamily="34" charset="-122"/>
                <a:cs typeface="Pretendard" pitchFamily="34" charset="-120"/>
              </a:rPr>
              <a:t>컨트롤타워 부재가 낳는 구조적 4대 문제</a:t>
            </a:r>
            <a:endParaRPr lang="en-US" sz="1650" dirty="0"/>
          </a:p>
        </p:txBody>
      </p:sp>
      <p:sp>
        <p:nvSpPr>
          <p:cNvPr id="13" name="Shape 11"/>
          <p:cNvSpPr/>
          <p:nvPr/>
        </p:nvSpPr>
        <p:spPr>
          <a:xfrm>
            <a:off x="914400" y="6229350"/>
            <a:ext cx="8067675" cy="3448050"/>
          </a:xfrm>
          <a:prstGeom prst="roundRect">
            <a:avLst>
              <a:gd name="adj" fmla="val 4972"/>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4" name="Text 12"/>
          <p:cNvSpPr/>
          <p:nvPr/>
        </p:nvSpPr>
        <p:spPr>
          <a:xfrm>
            <a:off x="1379220" y="6637020"/>
            <a:ext cx="714256" cy="2670810"/>
          </a:xfrm>
          <a:prstGeom prst="rect">
            <a:avLst/>
          </a:prstGeom>
          <a:noFill/>
          <a:ln/>
        </p:spPr>
        <p:txBody>
          <a:bodyPr wrap="square" lIns="25400" tIns="25400" rIns="25400" bIns="25400" rtlCol="0" anchor="t">
            <a:normAutofit/>
          </a:bodyPr>
          <a:lstStyle/>
          <a:p>
            <a:pPr marL="0" indent="0" algn="l">
              <a:lnSpc>
                <a:spcPct val="83333"/>
              </a:lnSpc>
              <a:buNone/>
            </a:pPr>
            <a:r>
              <a:rPr lang="en-US" sz="3900" b="1" kern="0" spc="-78" dirty="0">
                <a:solidFill>
                  <a:srgbClr val="28666E"/>
                </a:solidFill>
                <a:latin typeface="Pretendard" pitchFamily="34" charset="0"/>
                <a:ea typeface="Pretendard" pitchFamily="34" charset="-122"/>
                <a:cs typeface="Pretendard" pitchFamily="34" charset="-120"/>
              </a:rPr>
              <a:t>03</a:t>
            </a:r>
            <a:endParaRPr lang="en-US" sz="3900" dirty="0"/>
          </a:p>
        </p:txBody>
      </p:sp>
      <p:sp>
        <p:nvSpPr>
          <p:cNvPr id="15" name="Text 13"/>
          <p:cNvSpPr/>
          <p:nvPr/>
        </p:nvSpPr>
        <p:spPr>
          <a:xfrm>
            <a:off x="2341126" y="6637020"/>
            <a:ext cx="5262455"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Pretendard" pitchFamily="34" charset="0"/>
                <a:ea typeface="Pretendard" pitchFamily="34" charset="-122"/>
                <a:cs typeface="Pretendard" pitchFamily="34" charset="-120"/>
              </a:rPr>
              <a:t>해결책</a:t>
            </a:r>
            <a:endParaRPr lang="en-US" sz="2550" dirty="0"/>
          </a:p>
        </p:txBody>
      </p:sp>
      <p:sp>
        <p:nvSpPr>
          <p:cNvPr id="16" name="Text 14"/>
          <p:cNvSpPr/>
          <p:nvPr/>
        </p:nvSpPr>
        <p:spPr>
          <a:xfrm>
            <a:off x="2341126" y="7151370"/>
            <a:ext cx="5262455" cy="341947"/>
          </a:xfrm>
          <a:prstGeom prst="rect">
            <a:avLst/>
          </a:prstGeom>
          <a:noFill/>
          <a:ln/>
        </p:spPr>
        <p:txBody>
          <a:bodyPr wrap="square" lIns="25400" tIns="25400" rIns="25400" bIns="25400" rtlCol="0" anchor="t">
            <a:normAutofit/>
          </a:bodyPr>
          <a:lstStyle/>
          <a:p>
            <a:pPr marL="0" indent="0" algn="l">
              <a:lnSpc>
                <a:spcPct val="120833"/>
              </a:lnSpc>
              <a:buNone/>
            </a:pPr>
            <a:r>
              <a:rPr lang="en-US" sz="1650" dirty="0">
                <a:solidFill>
                  <a:srgbClr val="6F6A5F"/>
                </a:solidFill>
                <a:latin typeface="Pretendard" pitchFamily="34" charset="0"/>
                <a:ea typeface="Pretendard" pitchFamily="34" charset="-122"/>
                <a:cs typeface="Pretendard" pitchFamily="34" charset="-120"/>
              </a:rPr>
              <a:t>8개 화면 실데이터 컨트롤타워 · 오픈API 스택 · PCI 방법론</a:t>
            </a:r>
            <a:endParaRPr lang="en-US" sz="1650" dirty="0"/>
          </a:p>
        </p:txBody>
      </p:sp>
      <p:sp>
        <p:nvSpPr>
          <p:cNvPr id="17" name="Shape 15"/>
          <p:cNvSpPr/>
          <p:nvPr/>
        </p:nvSpPr>
        <p:spPr>
          <a:xfrm>
            <a:off x="9305925" y="6229350"/>
            <a:ext cx="8067675" cy="3448050"/>
          </a:xfrm>
          <a:prstGeom prst="roundRect">
            <a:avLst>
              <a:gd name="adj" fmla="val 4972"/>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9770745" y="6637020"/>
            <a:ext cx="724852" cy="2670810"/>
          </a:xfrm>
          <a:prstGeom prst="rect">
            <a:avLst/>
          </a:prstGeom>
          <a:noFill/>
          <a:ln/>
        </p:spPr>
        <p:txBody>
          <a:bodyPr wrap="square" lIns="25400" tIns="25400" rIns="25400" bIns="25400" rtlCol="0" anchor="t">
            <a:normAutofit/>
          </a:bodyPr>
          <a:lstStyle/>
          <a:p>
            <a:pPr marL="0" indent="0" algn="l">
              <a:lnSpc>
                <a:spcPct val="83333"/>
              </a:lnSpc>
              <a:buNone/>
            </a:pPr>
            <a:r>
              <a:rPr lang="en-US" sz="3900" b="1" kern="0" spc="-78" dirty="0">
                <a:solidFill>
                  <a:srgbClr val="28666E"/>
                </a:solidFill>
                <a:latin typeface="Pretendard" pitchFamily="34" charset="0"/>
                <a:ea typeface="Pretendard" pitchFamily="34" charset="-122"/>
                <a:cs typeface="Pretendard" pitchFamily="34" charset="-120"/>
              </a:rPr>
              <a:t>04</a:t>
            </a:r>
            <a:endParaRPr lang="en-US" sz="3900" dirty="0"/>
          </a:p>
        </p:txBody>
      </p:sp>
      <p:sp>
        <p:nvSpPr>
          <p:cNvPr id="19" name="Text 17"/>
          <p:cNvSpPr/>
          <p:nvPr/>
        </p:nvSpPr>
        <p:spPr>
          <a:xfrm>
            <a:off x="10743248" y="6637020"/>
            <a:ext cx="4796337"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Pretendard" pitchFamily="34" charset="0"/>
                <a:ea typeface="Pretendard" pitchFamily="34" charset="-122"/>
                <a:cs typeface="Pretendard" pitchFamily="34" charset="-120"/>
              </a:rPr>
              <a:t>타당성 · 확장성</a:t>
            </a:r>
            <a:endParaRPr lang="en-US" sz="2550" dirty="0"/>
          </a:p>
        </p:txBody>
      </p:sp>
      <p:sp>
        <p:nvSpPr>
          <p:cNvPr id="20" name="Text 18"/>
          <p:cNvSpPr/>
          <p:nvPr/>
        </p:nvSpPr>
        <p:spPr>
          <a:xfrm>
            <a:off x="10743248" y="7151370"/>
            <a:ext cx="4796337" cy="341947"/>
          </a:xfrm>
          <a:prstGeom prst="rect">
            <a:avLst/>
          </a:prstGeom>
          <a:noFill/>
          <a:ln/>
        </p:spPr>
        <p:txBody>
          <a:bodyPr wrap="square" lIns="25400" tIns="25400" rIns="25400" bIns="25400" rtlCol="0" anchor="t">
            <a:normAutofit/>
          </a:bodyPr>
          <a:lstStyle/>
          <a:p>
            <a:pPr marL="0" indent="0" algn="l">
              <a:lnSpc>
                <a:spcPct val="120833"/>
              </a:lnSpc>
              <a:buNone/>
            </a:pPr>
            <a:r>
              <a:rPr lang="en-US" sz="1650" dirty="0">
                <a:solidFill>
                  <a:srgbClr val="6F6A5F"/>
                </a:solidFill>
                <a:latin typeface="Pretendard" pitchFamily="34" charset="0"/>
                <a:ea typeface="Pretendard" pitchFamily="34" charset="-122"/>
                <a:cs typeface="Pretendard" pitchFamily="34" charset="-120"/>
              </a:rPr>
              <a:t>제로 인프라 비용 · 개발 성과 · 확장 로드맵 · 외부 검증</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2651200" cy="1790700"/>
          </a:xfrm>
          <a:prstGeom prst="rect">
            <a:avLst/>
          </a:prstGeom>
          <a:noFill/>
          <a:ln/>
        </p:spPr>
        <p:txBody>
          <a:bodyPr wrap="square" lIns="25400" tIns="25400" rIns="25400" bIns="25400" rtlCol="0" anchor="t">
            <a:normAutofit/>
          </a:bodyPr>
          <a:lstStyle/>
          <a:p>
            <a:pPr marL="0" indent="0" algn="l">
              <a:lnSpc>
                <a:spcPct val="67055"/>
              </a:lnSpc>
              <a:buNone/>
            </a:pPr>
            <a:r>
              <a:rPr lang="en-US" sz="17250" b="1" kern="0" spc="-518" dirty="0">
                <a:solidFill>
                  <a:srgbClr val="222834"/>
                </a:solidFill>
                <a:latin typeface="Pretendard" pitchFamily="34" charset="0"/>
                <a:ea typeface="Pretendard" pitchFamily="34" charset="-122"/>
                <a:cs typeface="Pretendard" pitchFamily="34" charset="-120"/>
              </a:rPr>
              <a:t>01</a:t>
            </a:r>
            <a:endParaRPr lang="en-US" sz="17250" dirty="0"/>
          </a:p>
        </p:txBody>
      </p:sp>
      <p:sp>
        <p:nvSpPr>
          <p:cNvPr id="4" name="Text 2"/>
          <p:cNvSpPr/>
          <p:nvPr/>
        </p:nvSpPr>
        <p:spPr>
          <a:xfrm>
            <a:off x="4315182" y="3501390"/>
            <a:ext cx="4644283" cy="289560"/>
          </a:xfrm>
          <a:prstGeom prst="rect">
            <a:avLst/>
          </a:prstGeom>
          <a:noFill/>
          <a:ln/>
        </p:spPr>
        <p:txBody>
          <a:bodyPr wrap="square" lIns="25400" tIns="25400" rIns="25400" bIns="25400" rtlCol="0" anchor="t">
            <a:normAutofit/>
          </a:bodyPr>
          <a:lstStyle/>
          <a:p>
            <a:pPr marL="0" indent="0" algn="l">
              <a:buNone/>
            </a:pPr>
            <a:r>
              <a:rPr lang="en-US" sz="1650" b="1" kern="0" spc="297" dirty="0">
                <a:solidFill>
                  <a:srgbClr val="E4A24A"/>
                </a:solidFill>
                <a:latin typeface="Pretendard" pitchFamily="34" charset="0"/>
                <a:ea typeface="Pretendard" pitchFamily="34" charset="-122"/>
                <a:cs typeface="Pretendard" pitchFamily="34" charset="-120"/>
              </a:rPr>
              <a:t>PART 01 · CURRENT LANDSCAPE</a:t>
            </a:r>
            <a:endParaRPr lang="en-US" sz="1650" dirty="0"/>
          </a:p>
        </p:txBody>
      </p:sp>
      <p:sp>
        <p:nvSpPr>
          <p:cNvPr id="5" name="Text 3"/>
          <p:cNvSpPr/>
          <p:nvPr/>
        </p:nvSpPr>
        <p:spPr>
          <a:xfrm>
            <a:off x="4315182" y="3867150"/>
            <a:ext cx="4644283" cy="1013460"/>
          </a:xfrm>
          <a:prstGeom prst="rect">
            <a:avLst/>
          </a:prstGeom>
          <a:noFill/>
          <a:ln/>
        </p:spPr>
        <p:txBody>
          <a:bodyPr wrap="square" lIns="25400" tIns="25400" rIns="25400" bIns="25400" rtlCol="0" anchor="t">
            <a:normAutofit/>
          </a:bodyPr>
          <a:lstStyle/>
          <a:p>
            <a:pPr marL="0" indent="0" algn="l">
              <a:buNone/>
            </a:pPr>
            <a:r>
              <a:rPr lang="en-US" sz="6450" b="1" kern="0" spc="129" dirty="0">
                <a:solidFill>
                  <a:srgbClr val="F5F3EE"/>
                </a:solidFill>
                <a:latin typeface="Pretendard" pitchFamily="34" charset="0"/>
                <a:ea typeface="Pretendard" pitchFamily="34" charset="-122"/>
                <a:cs typeface="Pretendard" pitchFamily="34" charset="-120"/>
              </a:rPr>
              <a:t>현 황</a:t>
            </a:r>
            <a:endParaRPr lang="en-US" sz="6450" dirty="0"/>
          </a:p>
        </p:txBody>
      </p:sp>
      <p:sp>
        <p:nvSpPr>
          <p:cNvPr id="6" name="Shape 4"/>
          <p:cNvSpPr/>
          <p:nvPr/>
        </p:nvSpPr>
        <p:spPr>
          <a:xfrm>
            <a:off x="4315182" y="5280660"/>
            <a:ext cx="76200" cy="76200"/>
          </a:xfrm>
          <a:prstGeom prst="rect">
            <a:avLst/>
          </a:prstGeom>
          <a:solidFill>
            <a:srgbClr val="E4A24A"/>
          </a:solidFill>
          <a:ln/>
        </p:spPr>
      </p:sp>
      <p:sp>
        <p:nvSpPr>
          <p:cNvPr id="7" name="Text 5"/>
          <p:cNvSpPr/>
          <p:nvPr/>
        </p:nvSpPr>
        <p:spPr>
          <a:xfrm>
            <a:off x="4562832" y="5166360"/>
            <a:ext cx="3708511"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아침마다 9개 사이트, 손으로 취합</a:t>
            </a:r>
            <a:endParaRPr lang="en-US" sz="2025" dirty="0"/>
          </a:p>
        </p:txBody>
      </p:sp>
      <p:sp>
        <p:nvSpPr>
          <p:cNvPr id="8" name="Shape 6"/>
          <p:cNvSpPr/>
          <p:nvPr/>
        </p:nvSpPr>
        <p:spPr>
          <a:xfrm>
            <a:off x="4315182" y="5737860"/>
            <a:ext cx="76200" cy="76200"/>
          </a:xfrm>
          <a:prstGeom prst="rect">
            <a:avLst/>
          </a:prstGeom>
          <a:solidFill>
            <a:srgbClr val="E4A24A"/>
          </a:solidFill>
          <a:ln/>
        </p:spPr>
      </p:sp>
      <p:sp>
        <p:nvSpPr>
          <p:cNvPr id="9" name="Text 7"/>
          <p:cNvSpPr/>
          <p:nvPr/>
        </p:nvSpPr>
        <p:spPr>
          <a:xfrm>
            <a:off x="4562832" y="5623560"/>
            <a:ext cx="3462421"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여섯 갈래로 흩어진 물류 데이터</a:t>
            </a:r>
            <a:endParaRPr lang="en-US" sz="2025" dirty="0"/>
          </a:p>
        </p:txBody>
      </p:sp>
      <p:sp>
        <p:nvSpPr>
          <p:cNvPr id="10" name="Shape 8"/>
          <p:cNvSpPr/>
          <p:nvPr/>
        </p:nvSpPr>
        <p:spPr>
          <a:xfrm>
            <a:off x="4315182" y="6195060"/>
            <a:ext cx="76200" cy="76200"/>
          </a:xfrm>
          <a:prstGeom prst="rect">
            <a:avLst/>
          </a:prstGeom>
          <a:solidFill>
            <a:srgbClr val="E4A24A"/>
          </a:solidFill>
          <a:ln/>
        </p:spPr>
      </p:sp>
      <p:sp>
        <p:nvSpPr>
          <p:cNvPr id="11" name="Text 9"/>
          <p:cNvSpPr/>
          <p:nvPr/>
        </p:nvSpPr>
        <p:spPr>
          <a:xfrm>
            <a:off x="4562832" y="6080760"/>
            <a:ext cx="3463338"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데모·가짜 데이터의 신뢰성 한계</a:t>
            </a:r>
            <a:endParaRPr lang="en-US" sz="2025" dirty="0"/>
          </a:p>
        </p:txBody>
      </p:sp>
      <p:sp>
        <p:nvSpPr>
          <p:cNvPr id="12" name="Shape 10"/>
          <p:cNvSpPr/>
          <p:nvPr/>
        </p:nvSpPr>
        <p:spPr>
          <a:xfrm>
            <a:off x="4315182" y="6652260"/>
            <a:ext cx="76200" cy="76200"/>
          </a:xfrm>
          <a:prstGeom prst="rect">
            <a:avLst/>
          </a:prstGeom>
          <a:solidFill>
            <a:srgbClr val="E4A24A"/>
          </a:solidFill>
          <a:ln/>
        </p:spPr>
      </p:sp>
      <p:sp>
        <p:nvSpPr>
          <p:cNvPr id="13" name="Text 11"/>
          <p:cNvSpPr/>
          <p:nvPr/>
        </p:nvSpPr>
        <p:spPr>
          <a:xfrm>
            <a:off x="4562832" y="6537960"/>
            <a:ext cx="3462421"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국내 터미널 지형과 가시성 수요</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01 현황 ·</a:t>
            </a:r>
            <a:r>
              <a:rPr lang="en-US" sz="1425" b="1" kern="0" spc="57" dirty="0">
                <a:solidFill>
                  <a:srgbClr val="28666E"/>
                </a:solidFill>
                <a:latin typeface="Pretendard" pitchFamily="34" charset="0"/>
                <a:ea typeface="Pretendard" pitchFamily="34" charset="-122"/>
                <a:cs typeface="Pretendard" pitchFamily="34" charset="-120"/>
              </a:rPr>
              <a:t>운영 실태</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아침마다 9개 터미널 사이트, 손으로 취합하는 현실</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부산신항·광양·인천 3개 항만 9개 터미널을 개별 접속 — 매일 30~60분, 결과는 개인 엑셀에 갇힘</a:t>
            </a:r>
            <a:endParaRPr lang="en-US" sz="1875" dirty="0"/>
          </a:p>
        </p:txBody>
      </p:sp>
      <p:sp>
        <p:nvSpPr>
          <p:cNvPr id="5" name="Shape 3"/>
          <p:cNvSpPr/>
          <p:nvPr/>
        </p:nvSpPr>
        <p:spPr>
          <a:xfrm>
            <a:off x="914400" y="2189917"/>
            <a:ext cx="4954191" cy="6253043"/>
          </a:xfrm>
          <a:prstGeom prst="roundRect">
            <a:avLst>
              <a:gd name="adj" fmla="val 3076"/>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26820" y="2483287"/>
            <a:ext cx="4762286"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국내 커버리지</a:t>
            </a:r>
            <a:endParaRPr lang="en-US" sz="1425" dirty="0"/>
          </a:p>
        </p:txBody>
      </p:sp>
      <p:sp>
        <p:nvSpPr>
          <p:cNvPr id="7" name="Text 5"/>
          <p:cNvSpPr/>
          <p:nvPr/>
        </p:nvSpPr>
        <p:spPr>
          <a:xfrm>
            <a:off x="1226820" y="6464618"/>
            <a:ext cx="622459" cy="782955"/>
          </a:xfrm>
          <a:prstGeom prst="rect">
            <a:avLst/>
          </a:prstGeom>
          <a:noFill/>
          <a:ln/>
        </p:spPr>
        <p:txBody>
          <a:bodyPr wrap="square" lIns="25400" tIns="25400" rIns="25400" bIns="25400" rtlCol="0" anchor="t">
            <a:normAutofit/>
          </a:bodyPr>
          <a:lstStyle/>
          <a:p>
            <a:pPr marL="0" indent="0" algn="l">
              <a:lnSpc>
                <a:spcPct val="71350"/>
              </a:lnSpc>
              <a:buNone/>
            </a:pPr>
            <a:r>
              <a:rPr lang="en-US" sz="6900" b="1" kern="0" spc="-207" dirty="0">
                <a:solidFill>
                  <a:srgbClr val="12161D"/>
                </a:solidFill>
                <a:latin typeface="Pretendard" pitchFamily="34" charset="0"/>
                <a:ea typeface="Pretendard" pitchFamily="34" charset="-122"/>
                <a:cs typeface="Pretendard" pitchFamily="34" charset="-120"/>
              </a:rPr>
              <a:t>9</a:t>
            </a:r>
            <a:endParaRPr lang="en-US" sz="6900" dirty="0"/>
          </a:p>
        </p:txBody>
      </p:sp>
      <p:sp>
        <p:nvSpPr>
          <p:cNvPr id="8" name="Text 6"/>
          <p:cNvSpPr/>
          <p:nvPr/>
        </p:nvSpPr>
        <p:spPr>
          <a:xfrm>
            <a:off x="1849279" y="6853238"/>
            <a:ext cx="1200150" cy="403860"/>
          </a:xfrm>
          <a:prstGeom prst="rect">
            <a:avLst/>
          </a:prstGeom>
          <a:noFill/>
          <a:ln/>
        </p:spPr>
        <p:txBody>
          <a:bodyPr wrap="square" lIns="25400" tIns="25400" rIns="25400" bIns="25400" rtlCol="0" anchor="t">
            <a:normAutofit/>
          </a:bodyPr>
          <a:lstStyle/>
          <a:p>
            <a:pPr marL="0" indent="0" algn="l">
              <a:buNone/>
            </a:pPr>
            <a:r>
              <a:rPr lang="en-US" sz="2400" b="1" dirty="0">
                <a:solidFill>
                  <a:srgbClr val="12161D"/>
                </a:solidFill>
                <a:latin typeface="Pretendard" pitchFamily="34" charset="0"/>
                <a:ea typeface="Pretendard" pitchFamily="34" charset="-122"/>
                <a:cs typeface="Pretendard" pitchFamily="34" charset="-120"/>
              </a:rPr>
              <a:t>개 터미널</a:t>
            </a:r>
            <a:endParaRPr lang="en-US" sz="2400" dirty="0"/>
          </a:p>
        </p:txBody>
      </p:sp>
      <p:sp>
        <p:nvSpPr>
          <p:cNvPr id="9" name="Text 7"/>
          <p:cNvSpPr/>
          <p:nvPr/>
        </p:nvSpPr>
        <p:spPr>
          <a:xfrm>
            <a:off x="1226820" y="7352348"/>
            <a:ext cx="4762286"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Pretendard" pitchFamily="34" charset="0"/>
                <a:ea typeface="Pretendard" pitchFamily="34" charset="-122"/>
                <a:cs typeface="Pretendard" pitchFamily="34" charset="-120"/>
              </a:rPr>
              <a:t>3개 항만 100%</a:t>
            </a:r>
            <a:endParaRPr lang="en-US" sz="1650" dirty="0"/>
          </a:p>
        </p:txBody>
      </p:sp>
      <p:sp>
        <p:nvSpPr>
          <p:cNvPr id="10" name="Text 8"/>
          <p:cNvSpPr/>
          <p:nvPr/>
        </p:nvSpPr>
        <p:spPr>
          <a:xfrm>
            <a:off x="1226820" y="7660957"/>
            <a:ext cx="4459231" cy="526732"/>
          </a:xfrm>
          <a:prstGeom prst="rect">
            <a:avLst/>
          </a:prstGeom>
          <a:noFill/>
          <a:ln/>
        </p:spPr>
        <p:txBody>
          <a:bodyPr wrap="square" lIns="25400" tIns="25400" rIns="25400" bIns="25400" rtlCol="0" anchor="t">
            <a:normAutofit/>
          </a:bodyPr>
          <a:lstStyle/>
          <a:p>
            <a:pPr marL="0" indent="0" algn="l">
              <a:lnSpc>
                <a:spcPct val="110560"/>
              </a:lnSpc>
              <a:buNone/>
            </a:pPr>
            <a:r>
              <a:rPr lang="en-US" sz="1425" dirty="0">
                <a:solidFill>
                  <a:srgbClr val="6F6A5F"/>
                </a:solidFill>
                <a:latin typeface="Pretendard" pitchFamily="34" charset="0"/>
                <a:ea typeface="Pretendard" pitchFamily="34" charset="-122"/>
                <a:cs typeface="Pretendard" pitchFamily="34" charset="-120"/>
              </a:rPr>
              <a:t>부산신항 6 · 광양 1 · 인천 2 (PNIT·PNC·HJNC·HPNT·BNCT·DGT·GWCT·E1CT·ICON)</a:t>
            </a:r>
            <a:endParaRPr lang="en-US" sz="1425" dirty="0"/>
          </a:p>
        </p:txBody>
      </p:sp>
      <p:sp>
        <p:nvSpPr>
          <p:cNvPr id="11" name="Shape 9"/>
          <p:cNvSpPr/>
          <p:nvPr/>
        </p:nvSpPr>
        <p:spPr>
          <a:xfrm>
            <a:off x="6116241" y="2189917"/>
            <a:ext cx="3587353" cy="6253043"/>
          </a:xfrm>
          <a:prstGeom prst="roundRect">
            <a:avLst>
              <a:gd name="adj" fmla="val 4248"/>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6428661" y="2483287"/>
            <a:ext cx="3258764"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일일 취합 소요</a:t>
            </a:r>
            <a:endParaRPr lang="en-US" sz="1425" dirty="0"/>
          </a:p>
        </p:txBody>
      </p:sp>
      <p:sp>
        <p:nvSpPr>
          <p:cNvPr id="13" name="Text 11"/>
          <p:cNvSpPr/>
          <p:nvPr/>
        </p:nvSpPr>
        <p:spPr>
          <a:xfrm>
            <a:off x="6428661" y="6594157"/>
            <a:ext cx="2395418" cy="655320"/>
          </a:xfrm>
          <a:prstGeom prst="rect">
            <a:avLst/>
          </a:prstGeom>
          <a:noFill/>
          <a:ln/>
        </p:spPr>
        <p:txBody>
          <a:bodyPr wrap="square" lIns="25400" tIns="25400" rIns="25400" bIns="25400" rtlCol="0" anchor="t">
            <a:normAutofit/>
          </a:bodyPr>
          <a:lstStyle/>
          <a:p>
            <a:pPr marL="0" indent="0" algn="l">
              <a:lnSpc>
                <a:spcPct val="75000"/>
              </a:lnSpc>
              <a:buNone/>
            </a:pPr>
            <a:r>
              <a:rPr lang="en-US" sz="5400" b="1" kern="0" spc="-162" dirty="0">
                <a:solidFill>
                  <a:srgbClr val="12161D"/>
                </a:solidFill>
                <a:latin typeface="Pretendard" pitchFamily="34" charset="0"/>
                <a:ea typeface="Pretendard" pitchFamily="34" charset="-122"/>
                <a:cs typeface="Pretendard" pitchFamily="34" charset="-120"/>
              </a:rPr>
              <a:t>30~60</a:t>
            </a:r>
            <a:endParaRPr lang="en-US" sz="5400" dirty="0"/>
          </a:p>
        </p:txBody>
      </p:sp>
      <p:sp>
        <p:nvSpPr>
          <p:cNvPr id="14" name="Text 12"/>
          <p:cNvSpPr/>
          <p:nvPr/>
        </p:nvSpPr>
        <p:spPr>
          <a:xfrm>
            <a:off x="8682514" y="6853238"/>
            <a:ext cx="339685" cy="403860"/>
          </a:xfrm>
          <a:prstGeom prst="rect">
            <a:avLst/>
          </a:prstGeom>
          <a:noFill/>
          <a:ln/>
        </p:spPr>
        <p:txBody>
          <a:bodyPr wrap="square" lIns="25400" tIns="25400" rIns="25400" bIns="25400" rtlCol="0" anchor="t">
            <a:normAutofit/>
          </a:bodyPr>
          <a:lstStyle/>
          <a:p>
            <a:pPr marL="0" indent="0" algn="l">
              <a:buNone/>
            </a:pPr>
            <a:r>
              <a:rPr lang="en-US" sz="2400" b="1" dirty="0">
                <a:solidFill>
                  <a:srgbClr val="12161D"/>
                </a:solidFill>
                <a:latin typeface="Pretendard" pitchFamily="34" charset="0"/>
                <a:ea typeface="Pretendard" pitchFamily="34" charset="-122"/>
                <a:cs typeface="Pretendard" pitchFamily="34" charset="-120"/>
              </a:rPr>
              <a:t>분</a:t>
            </a:r>
            <a:endParaRPr lang="en-US" sz="2400" dirty="0"/>
          </a:p>
        </p:txBody>
      </p:sp>
      <p:sp>
        <p:nvSpPr>
          <p:cNvPr id="15" name="Text 13"/>
          <p:cNvSpPr/>
          <p:nvPr/>
        </p:nvSpPr>
        <p:spPr>
          <a:xfrm>
            <a:off x="6428661" y="7352348"/>
            <a:ext cx="3258764"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A9640F"/>
                </a:solidFill>
                <a:latin typeface="Pretendard" pitchFamily="34" charset="0"/>
                <a:ea typeface="Pretendard" pitchFamily="34" charset="-122"/>
                <a:cs typeface="Pretendard" pitchFamily="34" charset="-120"/>
              </a:rPr>
              <a:t>담당자 1인 기준 · 매일</a:t>
            </a:r>
            <a:endParaRPr lang="en-US" sz="1650" dirty="0"/>
          </a:p>
        </p:txBody>
      </p:sp>
      <p:sp>
        <p:nvSpPr>
          <p:cNvPr id="16" name="Text 14"/>
          <p:cNvSpPr/>
          <p:nvPr/>
        </p:nvSpPr>
        <p:spPr>
          <a:xfrm>
            <a:off x="6428661" y="7660957"/>
            <a:ext cx="3051388" cy="526732"/>
          </a:xfrm>
          <a:prstGeom prst="rect">
            <a:avLst/>
          </a:prstGeom>
          <a:noFill/>
          <a:ln/>
        </p:spPr>
        <p:txBody>
          <a:bodyPr wrap="square" lIns="25400" tIns="25400" rIns="25400" bIns="25400" rtlCol="0" anchor="t">
            <a:normAutofit/>
          </a:bodyPr>
          <a:lstStyle/>
          <a:p>
            <a:pPr marL="0" indent="0" algn="l">
              <a:lnSpc>
                <a:spcPct val="110560"/>
              </a:lnSpc>
              <a:buNone/>
            </a:pPr>
            <a:r>
              <a:rPr lang="en-US" sz="1425" dirty="0">
                <a:solidFill>
                  <a:srgbClr val="6F6A5F"/>
                </a:solidFill>
                <a:latin typeface="Pretendard" pitchFamily="34" charset="0"/>
                <a:ea typeface="Pretendard" pitchFamily="34" charset="-122"/>
                <a:cs typeface="Pretendard" pitchFamily="34" charset="-120"/>
              </a:rPr>
              <a:t>터미널마다 UI·표기·컬럼이 달라 취합에만 소요</a:t>
            </a:r>
            <a:endParaRPr lang="en-US" sz="1425" dirty="0"/>
          </a:p>
        </p:txBody>
      </p:sp>
      <p:sp>
        <p:nvSpPr>
          <p:cNvPr id="17" name="Shape 15"/>
          <p:cNvSpPr/>
          <p:nvPr/>
        </p:nvSpPr>
        <p:spPr>
          <a:xfrm>
            <a:off x="9951244" y="2189917"/>
            <a:ext cx="3587353" cy="6253043"/>
          </a:xfrm>
          <a:prstGeom prst="roundRect">
            <a:avLst>
              <a:gd name="adj" fmla="val 4248"/>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10263664" y="2483287"/>
            <a:ext cx="3258764"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일일 정규화 물량</a:t>
            </a:r>
            <a:endParaRPr lang="en-US" sz="1425" dirty="0"/>
          </a:p>
        </p:txBody>
      </p:sp>
      <p:sp>
        <p:nvSpPr>
          <p:cNvPr id="19" name="Text 17"/>
          <p:cNvSpPr/>
          <p:nvPr/>
        </p:nvSpPr>
        <p:spPr>
          <a:xfrm>
            <a:off x="10263664" y="6464618"/>
            <a:ext cx="1734288" cy="782955"/>
          </a:xfrm>
          <a:prstGeom prst="rect">
            <a:avLst/>
          </a:prstGeom>
          <a:noFill/>
          <a:ln/>
        </p:spPr>
        <p:txBody>
          <a:bodyPr wrap="square" lIns="25400" tIns="25400" rIns="25400" bIns="25400" rtlCol="0" anchor="t">
            <a:normAutofit/>
          </a:bodyPr>
          <a:lstStyle/>
          <a:p>
            <a:pPr marL="0" indent="0" algn="l">
              <a:lnSpc>
                <a:spcPct val="71350"/>
              </a:lnSpc>
              <a:buNone/>
            </a:pPr>
            <a:r>
              <a:rPr lang="en-US" sz="6900" b="1" kern="0" spc="-207" dirty="0">
                <a:solidFill>
                  <a:srgbClr val="12161D"/>
                </a:solidFill>
                <a:latin typeface="Pretendard" pitchFamily="34" charset="0"/>
                <a:ea typeface="Pretendard" pitchFamily="34" charset="-122"/>
                <a:cs typeface="Pretendard" pitchFamily="34" charset="-120"/>
              </a:rPr>
              <a:t>224</a:t>
            </a:r>
            <a:endParaRPr lang="en-US" sz="6900" dirty="0"/>
          </a:p>
        </p:txBody>
      </p:sp>
      <p:sp>
        <p:nvSpPr>
          <p:cNvPr id="20" name="Text 18"/>
          <p:cNvSpPr/>
          <p:nvPr/>
        </p:nvSpPr>
        <p:spPr>
          <a:xfrm>
            <a:off x="11916490" y="6853238"/>
            <a:ext cx="339685" cy="403860"/>
          </a:xfrm>
          <a:prstGeom prst="rect">
            <a:avLst/>
          </a:prstGeom>
          <a:noFill/>
          <a:ln/>
        </p:spPr>
        <p:txBody>
          <a:bodyPr wrap="square" lIns="25400" tIns="25400" rIns="25400" bIns="25400" rtlCol="0" anchor="t">
            <a:normAutofit/>
          </a:bodyPr>
          <a:lstStyle/>
          <a:p>
            <a:pPr marL="0" indent="0" algn="l">
              <a:buNone/>
            </a:pPr>
            <a:r>
              <a:rPr lang="en-US" sz="2400" b="1" dirty="0">
                <a:solidFill>
                  <a:srgbClr val="12161D"/>
                </a:solidFill>
                <a:latin typeface="Pretendard" pitchFamily="34" charset="0"/>
                <a:ea typeface="Pretendard" pitchFamily="34" charset="-122"/>
                <a:cs typeface="Pretendard" pitchFamily="34" charset="-120"/>
              </a:rPr>
              <a:t>건</a:t>
            </a:r>
            <a:endParaRPr lang="en-US" sz="2400" dirty="0"/>
          </a:p>
        </p:txBody>
      </p:sp>
      <p:sp>
        <p:nvSpPr>
          <p:cNvPr id="21" name="Text 19"/>
          <p:cNvSpPr/>
          <p:nvPr/>
        </p:nvSpPr>
        <p:spPr>
          <a:xfrm>
            <a:off x="10263664" y="7352348"/>
            <a:ext cx="3258764"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Pretendard" pitchFamily="34" charset="0"/>
                <a:ea typeface="Pretendard" pitchFamily="34" charset="-122"/>
                <a:cs typeface="Pretendard" pitchFamily="34" charset="-120"/>
              </a:rPr>
              <a:t>9개 시트 → 공통 스키마</a:t>
            </a:r>
            <a:endParaRPr lang="en-US" sz="1650" dirty="0"/>
          </a:p>
        </p:txBody>
      </p:sp>
      <p:sp>
        <p:nvSpPr>
          <p:cNvPr id="22" name="Text 20"/>
          <p:cNvSpPr/>
          <p:nvPr/>
        </p:nvSpPr>
        <p:spPr>
          <a:xfrm>
            <a:off x="10263664" y="7660957"/>
            <a:ext cx="3051388" cy="526732"/>
          </a:xfrm>
          <a:prstGeom prst="rect">
            <a:avLst/>
          </a:prstGeom>
          <a:noFill/>
          <a:ln/>
        </p:spPr>
        <p:txBody>
          <a:bodyPr wrap="square" lIns="25400" tIns="25400" rIns="25400" bIns="25400" rtlCol="0" anchor="t">
            <a:normAutofit/>
          </a:bodyPr>
          <a:lstStyle/>
          <a:p>
            <a:pPr marL="0" indent="0" algn="l">
              <a:lnSpc>
                <a:spcPct val="110560"/>
              </a:lnSpc>
              <a:buNone/>
            </a:pPr>
            <a:r>
              <a:rPr lang="en-US" sz="1425" dirty="0">
                <a:solidFill>
                  <a:srgbClr val="6F6A5F"/>
                </a:solidFill>
                <a:latin typeface="Pretendard" pitchFamily="34" charset="0"/>
                <a:ea typeface="Pretendard" pitchFamily="34" charset="-122"/>
                <a:cs typeface="Pretendard" pitchFamily="34" charset="-120"/>
              </a:rPr>
              <a:t>2026-07-27 수집분 · 중복 제거 후 223건</a:t>
            </a:r>
            <a:endParaRPr lang="en-US" sz="1425" dirty="0"/>
          </a:p>
        </p:txBody>
      </p:sp>
      <p:sp>
        <p:nvSpPr>
          <p:cNvPr id="23" name="Shape 21"/>
          <p:cNvSpPr/>
          <p:nvPr/>
        </p:nvSpPr>
        <p:spPr>
          <a:xfrm>
            <a:off x="13786247" y="2189917"/>
            <a:ext cx="3587353" cy="6253043"/>
          </a:xfrm>
          <a:prstGeom prst="roundRect">
            <a:avLst>
              <a:gd name="adj" fmla="val 4248"/>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4" name="Text 22"/>
          <p:cNvSpPr/>
          <p:nvPr/>
        </p:nvSpPr>
        <p:spPr>
          <a:xfrm>
            <a:off x="14098667" y="2483287"/>
            <a:ext cx="3258764"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팀 공유 · 이력</a:t>
            </a:r>
            <a:endParaRPr lang="en-US" sz="1425" dirty="0"/>
          </a:p>
        </p:txBody>
      </p:sp>
      <p:sp>
        <p:nvSpPr>
          <p:cNvPr id="25" name="Text 23"/>
          <p:cNvSpPr/>
          <p:nvPr/>
        </p:nvSpPr>
        <p:spPr>
          <a:xfrm>
            <a:off x="14098667" y="6474143"/>
            <a:ext cx="647343" cy="782955"/>
          </a:xfrm>
          <a:prstGeom prst="rect">
            <a:avLst/>
          </a:prstGeom>
          <a:noFill/>
          <a:ln/>
        </p:spPr>
        <p:txBody>
          <a:bodyPr wrap="square" lIns="25400" tIns="25400" rIns="25400" bIns="25400" rtlCol="0" anchor="t">
            <a:normAutofit/>
          </a:bodyPr>
          <a:lstStyle/>
          <a:p>
            <a:pPr marL="0" indent="0" algn="l">
              <a:lnSpc>
                <a:spcPct val="71350"/>
              </a:lnSpc>
              <a:buNone/>
            </a:pPr>
            <a:r>
              <a:rPr lang="en-US" sz="6900" b="1" kern="0" spc="-207" dirty="0">
                <a:solidFill>
                  <a:srgbClr val="12161D"/>
                </a:solidFill>
                <a:latin typeface="Pretendard" pitchFamily="34" charset="0"/>
                <a:ea typeface="Pretendard" pitchFamily="34" charset="-122"/>
                <a:cs typeface="Pretendard" pitchFamily="34" charset="-120"/>
              </a:rPr>
              <a:t>0</a:t>
            </a:r>
            <a:endParaRPr lang="en-US" sz="6900" dirty="0"/>
          </a:p>
        </p:txBody>
      </p:sp>
      <p:sp>
        <p:nvSpPr>
          <p:cNvPr id="26" name="Text 24"/>
          <p:cNvSpPr/>
          <p:nvPr/>
        </p:nvSpPr>
        <p:spPr>
          <a:xfrm>
            <a:off x="14098667" y="7352348"/>
            <a:ext cx="3258764"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A9640F"/>
                </a:solidFill>
                <a:latin typeface="Pretendard" pitchFamily="34" charset="0"/>
                <a:ea typeface="Pretendard" pitchFamily="34" charset="-122"/>
                <a:cs typeface="Pretendard" pitchFamily="34" charset="-120"/>
              </a:rPr>
              <a:t>개인 엑셀에 정체</a:t>
            </a:r>
            <a:endParaRPr lang="en-US" sz="1650" dirty="0"/>
          </a:p>
        </p:txBody>
      </p:sp>
      <p:sp>
        <p:nvSpPr>
          <p:cNvPr id="27" name="Text 25"/>
          <p:cNvSpPr/>
          <p:nvPr/>
        </p:nvSpPr>
        <p:spPr>
          <a:xfrm>
            <a:off x="14098667" y="7660957"/>
            <a:ext cx="3051388" cy="526732"/>
          </a:xfrm>
          <a:prstGeom prst="rect">
            <a:avLst/>
          </a:prstGeom>
          <a:noFill/>
          <a:ln/>
        </p:spPr>
        <p:txBody>
          <a:bodyPr wrap="square" lIns="25400" tIns="25400" rIns="25400" bIns="25400" rtlCol="0" anchor="t">
            <a:normAutofit/>
          </a:bodyPr>
          <a:lstStyle/>
          <a:p>
            <a:pPr marL="0" indent="0" algn="l">
              <a:lnSpc>
                <a:spcPct val="110560"/>
              </a:lnSpc>
              <a:buNone/>
            </a:pPr>
            <a:r>
              <a:rPr lang="en-US" sz="1425" dirty="0">
                <a:solidFill>
                  <a:srgbClr val="6F6A5F"/>
                </a:solidFill>
                <a:latin typeface="Pretendard" pitchFamily="34" charset="0"/>
                <a:ea typeface="Pretendard" pitchFamily="34" charset="-122"/>
                <a:cs typeface="Pretendard" pitchFamily="34" charset="-120"/>
              </a:rPr>
              <a:t>취합 결과가 개인 파일에 머물러 공유·이력 관리 불가</a:t>
            </a:r>
            <a:endParaRPr lang="en-US" sz="1425" dirty="0"/>
          </a:p>
        </p:txBody>
      </p:sp>
      <p:sp>
        <p:nvSpPr>
          <p:cNvPr id="28" name="Shape 26"/>
          <p:cNvSpPr/>
          <p:nvPr/>
        </p:nvSpPr>
        <p:spPr>
          <a:xfrm>
            <a:off x="914400" y="8690610"/>
            <a:ext cx="16459200" cy="731520"/>
          </a:xfrm>
          <a:prstGeom prst="roundRect">
            <a:avLst>
              <a:gd name="adj" fmla="val 20833"/>
            </a:avLst>
          </a:prstGeom>
          <a:solidFill>
            <a:srgbClr val="ECE7DD"/>
          </a:solidFill>
          <a:ln/>
        </p:spPr>
      </p:sp>
      <p:sp>
        <p:nvSpPr>
          <p:cNvPr id="29" name="Text 27"/>
          <p:cNvSpPr/>
          <p:nvPr/>
        </p:nvSpPr>
        <p:spPr>
          <a:xfrm>
            <a:off x="1219200" y="8900160"/>
            <a:ext cx="1906119" cy="350520"/>
          </a:xfrm>
          <a:prstGeom prst="rect">
            <a:avLst/>
          </a:prstGeom>
          <a:noFill/>
          <a:ln/>
        </p:spPr>
        <p:txBody>
          <a:bodyPr wrap="none" lIns="25400" tIns="25400" rIns="25400" bIns="25400" rtlCol="0" anchor="t">
            <a:normAutofit/>
          </a:bodyPr>
          <a:lstStyle/>
          <a:p>
            <a:pPr marL="0" indent="0" algn="l">
              <a:buNone/>
            </a:pPr>
            <a:r>
              <a:rPr lang="en-US" sz="2100" b="1" dirty="0">
                <a:solidFill>
                  <a:srgbClr val="A9640F"/>
                </a:solidFill>
                <a:latin typeface="Pretendard" pitchFamily="34" charset="0"/>
                <a:ea typeface="Pretendard" pitchFamily="34" charset="-122"/>
                <a:cs typeface="Pretendard" pitchFamily="34" charset="-120"/>
              </a:rPr>
              <a:t>선적 실패 리스크</a:t>
            </a:r>
            <a:endParaRPr lang="en-US" sz="2100" dirty="0"/>
          </a:p>
        </p:txBody>
      </p:sp>
      <p:sp>
        <p:nvSpPr>
          <p:cNvPr id="30" name="Text 28"/>
          <p:cNvSpPr/>
          <p:nvPr/>
        </p:nvSpPr>
        <p:spPr>
          <a:xfrm>
            <a:off x="3199686" y="8921353"/>
            <a:ext cx="10386215" cy="308134"/>
          </a:xfrm>
          <a:prstGeom prst="rect">
            <a:avLst/>
          </a:prstGeom>
          <a:noFill/>
          <a:ln/>
        </p:spPr>
        <p:txBody>
          <a:bodyPr wrap="square" lIns="25400" tIns="25400" rIns="25400" bIns="25400" rtlCol="0" anchor="t">
            <a:normAutofit/>
          </a:bodyPr>
          <a:lstStyle/>
          <a:p>
            <a:pPr marL="0" indent="0" algn="l">
              <a:lnSpc>
                <a:spcPct val="114315"/>
              </a:lnSpc>
              <a:buNone/>
            </a:pPr>
            <a:r>
              <a:rPr lang="en-US" sz="1575" b="1" dirty="0">
                <a:solidFill>
                  <a:srgbClr val="12161D"/>
                </a:solidFill>
                <a:latin typeface="Pretendard" pitchFamily="34" charset="0"/>
                <a:ea typeface="Pretendard" pitchFamily="34" charset="-122"/>
                <a:cs typeface="Pretendard" pitchFamily="34" charset="-120"/>
              </a:rPr>
              <a:t>반입마감시한(Cargo Cut-off)을 놓치면 곧바로 Roll-over </a:t>
            </a:r>
            <a:r>
              <a:rPr lang="en-US" sz="1575" dirty="0">
                <a:solidFill>
                  <a:srgbClr val="12161D"/>
                </a:solidFill>
                <a:latin typeface="Pretendard" pitchFamily="34" charset="0"/>
                <a:ea typeface="Pretendard" pitchFamily="34" charset="-122"/>
                <a:cs typeface="Pretendard" pitchFamily="34" charset="-120"/>
              </a:rPr>
              <a:t>— 수작업 취합의 비효율은 그대로 비용·리스크로 직결됩니다</a:t>
            </a:r>
            <a:endParaRPr lang="en-US" sz="1575" dirty="0"/>
          </a:p>
        </p:txBody>
      </p:sp>
      <p:sp>
        <p:nvSpPr>
          <p:cNvPr id="31" name="Shape 29"/>
          <p:cNvSpPr/>
          <p:nvPr/>
        </p:nvSpPr>
        <p:spPr>
          <a:xfrm>
            <a:off x="914400" y="9650730"/>
            <a:ext cx="16459200" cy="9525"/>
          </a:xfrm>
          <a:prstGeom prst="rect">
            <a:avLst/>
          </a:prstGeom>
          <a:solidFill>
            <a:srgbClr val="E9E4DC"/>
          </a:solidFill>
          <a:ln/>
        </p:spPr>
      </p:sp>
      <p:sp>
        <p:nvSpPr>
          <p:cNvPr id="32" name="Text 30"/>
          <p:cNvSpPr/>
          <p:nvPr/>
        </p:nvSpPr>
        <p:spPr>
          <a:xfrm>
            <a:off x="914400" y="9772650"/>
            <a:ext cx="7515904"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출처 · TWL SmartBPO PRD(터미널 선석배정현황) · 터미널 공표 스케줄 9종 · 2026-07-27 수집분 224건</a:t>
            </a:r>
            <a:endParaRPr lang="en-US" sz="1275" dirty="0"/>
          </a:p>
        </p:txBody>
      </p:sp>
      <p:sp>
        <p:nvSpPr>
          <p:cNvPr id="33" name="Text 31"/>
          <p:cNvSpPr/>
          <p:nvPr/>
        </p:nvSpPr>
        <p:spPr>
          <a:xfrm>
            <a:off x="17160240" y="9772650"/>
            <a:ext cx="289560"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04</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01 현황 ·</a:t>
            </a:r>
            <a:r>
              <a:rPr lang="en-US" sz="1425" b="1" kern="0" spc="57" dirty="0">
                <a:solidFill>
                  <a:srgbClr val="28666E"/>
                </a:solidFill>
                <a:latin typeface="Pretendard" pitchFamily="34" charset="0"/>
                <a:ea typeface="Pretendard" pitchFamily="34" charset="-122"/>
                <a:cs typeface="Pretendard" pitchFamily="34" charset="-120"/>
              </a:rPr>
              <a:t>데이터 지형</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물류 판단에 필요한 정보가 여섯 갈래로 흩어져 있다</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선석배정·항만혼잡·선박위치·운임지수·항만기상·화물통관 — 소스도, 포맷도, 갱신주기도 제각각</a:t>
            </a:r>
            <a:endParaRPr lang="en-US" sz="1875" dirty="0"/>
          </a:p>
        </p:txBody>
      </p:sp>
      <p:sp>
        <p:nvSpPr>
          <p:cNvPr id="5" name="Shape 3"/>
          <p:cNvSpPr/>
          <p:nvPr/>
        </p:nvSpPr>
        <p:spPr>
          <a:xfrm>
            <a:off x="914400" y="2189917"/>
            <a:ext cx="5334000" cy="3511272"/>
          </a:xfrm>
          <a:prstGeom prst="roundRect">
            <a:avLst>
              <a:gd name="adj" fmla="val 434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45870" y="2483287"/>
            <a:ext cx="932378"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선석배정</a:t>
            </a:r>
            <a:endParaRPr lang="en-US" sz="1950" dirty="0"/>
          </a:p>
        </p:txBody>
      </p:sp>
      <p:sp>
        <p:nvSpPr>
          <p:cNvPr id="7" name="Shape 5"/>
          <p:cNvSpPr/>
          <p:nvPr/>
        </p:nvSpPr>
        <p:spPr>
          <a:xfrm>
            <a:off x="4927878" y="2483287"/>
            <a:ext cx="989052" cy="297180"/>
          </a:xfrm>
          <a:prstGeom prst="roundRect">
            <a:avLst>
              <a:gd name="adj" fmla="val 50000"/>
            </a:avLst>
          </a:prstGeom>
          <a:solidFill>
            <a:srgbClr val="E7EEEE"/>
          </a:solidFill>
          <a:ln/>
        </p:spPr>
      </p:sp>
      <p:sp>
        <p:nvSpPr>
          <p:cNvPr id="8" name="Text 6"/>
          <p:cNvSpPr/>
          <p:nvPr/>
        </p:nvSpPr>
        <p:spPr>
          <a:xfrm>
            <a:off x="5051703" y="2540437"/>
            <a:ext cx="817602" cy="2209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매일 06:00</a:t>
            </a:r>
            <a:endParaRPr lang="en-US" sz="1200" dirty="0"/>
          </a:p>
        </p:txBody>
      </p:sp>
      <p:sp>
        <p:nvSpPr>
          <p:cNvPr id="9" name="Text 7"/>
          <p:cNvSpPr/>
          <p:nvPr/>
        </p:nvSpPr>
        <p:spPr>
          <a:xfrm>
            <a:off x="1245870" y="5141119"/>
            <a:ext cx="5138166"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b="1" dirty="0">
                <a:solidFill>
                  <a:srgbClr val="12161D"/>
                </a:solidFill>
                <a:latin typeface="Pretendard" pitchFamily="34" charset="0"/>
                <a:ea typeface="Pretendard" pitchFamily="34" charset="-122"/>
                <a:cs typeface="Pretendard" pitchFamily="34" charset="-120"/>
              </a:rPr>
              <a:t>터미널 9곳 공표 웹사이트 </a:t>
            </a:r>
            <a:r>
              <a:rPr lang="en-US" sz="1500" dirty="0">
                <a:solidFill>
                  <a:srgbClr val="6F6A5F"/>
                </a:solidFill>
                <a:latin typeface="Pretendard" pitchFamily="34" charset="0"/>
                <a:ea typeface="Pretendard" pitchFamily="34" charset="-122"/>
                <a:cs typeface="Pretendard" pitchFamily="34" charset="-120"/>
              </a:rPr>
              <a:t>· 시트별 이질 스키마 엑셀</a:t>
            </a:r>
            <a:endParaRPr lang="en-US" sz="1500" dirty="0"/>
          </a:p>
        </p:txBody>
      </p:sp>
      <p:sp>
        <p:nvSpPr>
          <p:cNvPr id="10" name="Shape 8"/>
          <p:cNvSpPr/>
          <p:nvPr/>
        </p:nvSpPr>
        <p:spPr>
          <a:xfrm>
            <a:off x="6477000" y="2189917"/>
            <a:ext cx="5334000" cy="3511272"/>
          </a:xfrm>
          <a:prstGeom prst="roundRect">
            <a:avLst>
              <a:gd name="adj" fmla="val 434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1" name="Text 9"/>
          <p:cNvSpPr/>
          <p:nvPr/>
        </p:nvSpPr>
        <p:spPr>
          <a:xfrm>
            <a:off x="6808470" y="2483287"/>
            <a:ext cx="1201817"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항만 혼잡도</a:t>
            </a:r>
            <a:endParaRPr lang="en-US" sz="1950" dirty="0"/>
          </a:p>
        </p:txBody>
      </p:sp>
      <p:sp>
        <p:nvSpPr>
          <p:cNvPr id="12" name="Shape 10"/>
          <p:cNvSpPr/>
          <p:nvPr/>
        </p:nvSpPr>
        <p:spPr>
          <a:xfrm>
            <a:off x="10563345" y="2483287"/>
            <a:ext cx="916186" cy="297180"/>
          </a:xfrm>
          <a:prstGeom prst="roundRect">
            <a:avLst>
              <a:gd name="adj" fmla="val 50000"/>
            </a:avLst>
          </a:prstGeom>
          <a:solidFill>
            <a:srgbClr val="E7EEEE"/>
          </a:solidFill>
          <a:ln/>
        </p:spPr>
      </p:sp>
      <p:sp>
        <p:nvSpPr>
          <p:cNvPr id="13" name="Text 11"/>
          <p:cNvSpPr/>
          <p:nvPr/>
        </p:nvSpPr>
        <p:spPr>
          <a:xfrm>
            <a:off x="10687170" y="2540437"/>
            <a:ext cx="744736" cy="2209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주 1회 배치</a:t>
            </a:r>
            <a:endParaRPr lang="en-US" sz="1200" dirty="0"/>
          </a:p>
        </p:txBody>
      </p:sp>
      <p:sp>
        <p:nvSpPr>
          <p:cNvPr id="14" name="Text 12"/>
          <p:cNvSpPr/>
          <p:nvPr/>
        </p:nvSpPr>
        <p:spPr>
          <a:xfrm>
            <a:off x="6808470" y="5141119"/>
            <a:ext cx="5138166"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b="1" dirty="0">
                <a:solidFill>
                  <a:srgbClr val="12161D"/>
                </a:solidFill>
                <a:latin typeface="Pretendard" pitchFamily="34" charset="0"/>
                <a:ea typeface="Pretendard" pitchFamily="34" charset="-122"/>
                <a:cs typeface="Pretendard" pitchFamily="34" charset="-120"/>
              </a:rPr>
              <a:t>IMF PortWatch 위성 AIS </a:t>
            </a:r>
            <a:r>
              <a:rPr lang="en-US" sz="1500" dirty="0">
                <a:solidFill>
                  <a:srgbClr val="6F6A5F"/>
                </a:solidFill>
                <a:latin typeface="Pretendard" pitchFamily="34" charset="0"/>
                <a:ea typeface="Pretendard" pitchFamily="34" charset="-122"/>
                <a:cs typeface="Pretendard" pitchFamily="34" charset="-120"/>
              </a:rPr>
              <a:t>· ArcGIS REST(무인증) JSON</a:t>
            </a:r>
            <a:endParaRPr lang="en-US" sz="1500" dirty="0"/>
          </a:p>
        </p:txBody>
      </p:sp>
      <p:sp>
        <p:nvSpPr>
          <p:cNvPr id="15" name="Shape 13"/>
          <p:cNvSpPr/>
          <p:nvPr/>
        </p:nvSpPr>
        <p:spPr>
          <a:xfrm>
            <a:off x="12039600" y="2189917"/>
            <a:ext cx="5334000" cy="3511272"/>
          </a:xfrm>
          <a:prstGeom prst="roundRect">
            <a:avLst>
              <a:gd name="adj" fmla="val 434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6" name="Text 14"/>
          <p:cNvSpPr/>
          <p:nvPr/>
        </p:nvSpPr>
        <p:spPr>
          <a:xfrm>
            <a:off x="12371070" y="2483287"/>
            <a:ext cx="987743"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선박 위치</a:t>
            </a:r>
            <a:endParaRPr lang="en-US" sz="1950" dirty="0"/>
          </a:p>
        </p:txBody>
      </p:sp>
      <p:sp>
        <p:nvSpPr>
          <p:cNvPr id="17" name="Shape 15"/>
          <p:cNvSpPr/>
          <p:nvPr/>
        </p:nvSpPr>
        <p:spPr>
          <a:xfrm>
            <a:off x="16399312" y="2483287"/>
            <a:ext cx="642818" cy="297180"/>
          </a:xfrm>
          <a:prstGeom prst="roundRect">
            <a:avLst>
              <a:gd name="adj" fmla="val 50000"/>
            </a:avLst>
          </a:prstGeom>
          <a:solidFill>
            <a:srgbClr val="E7EEEE"/>
          </a:solidFill>
          <a:ln/>
        </p:spPr>
      </p:sp>
      <p:sp>
        <p:nvSpPr>
          <p:cNvPr id="18" name="Text 16"/>
          <p:cNvSpPr/>
          <p:nvPr/>
        </p:nvSpPr>
        <p:spPr>
          <a:xfrm>
            <a:off x="16523137" y="2540437"/>
            <a:ext cx="471368" cy="2209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실시간</a:t>
            </a:r>
            <a:endParaRPr lang="en-US" sz="1200" dirty="0"/>
          </a:p>
        </p:txBody>
      </p:sp>
      <p:sp>
        <p:nvSpPr>
          <p:cNvPr id="19" name="Text 17"/>
          <p:cNvSpPr/>
          <p:nvPr/>
        </p:nvSpPr>
        <p:spPr>
          <a:xfrm>
            <a:off x="12371070" y="5141119"/>
            <a:ext cx="5138166"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b="1" dirty="0">
                <a:solidFill>
                  <a:srgbClr val="12161D"/>
                </a:solidFill>
                <a:latin typeface="Pretendard" pitchFamily="34" charset="0"/>
                <a:ea typeface="Pretendard" pitchFamily="34" charset="-122"/>
                <a:cs typeface="Pretendard" pitchFamily="34" charset="-120"/>
              </a:rPr>
              <a:t>VesselFinder AIS </a:t>
            </a:r>
            <a:r>
              <a:rPr lang="en-US" sz="1500" dirty="0">
                <a:solidFill>
                  <a:srgbClr val="6F6A5F"/>
                </a:solidFill>
                <a:latin typeface="Pretendard" pitchFamily="34" charset="0"/>
                <a:ea typeface="Pretendard" pitchFamily="34" charset="-122"/>
                <a:cs typeface="Pretendard" pitchFamily="34" charset="-120"/>
              </a:rPr>
              <a:t>· iframe 임베드 · 4개 항만 전환</a:t>
            </a:r>
            <a:endParaRPr lang="en-US" sz="1500" dirty="0"/>
          </a:p>
        </p:txBody>
      </p:sp>
      <p:sp>
        <p:nvSpPr>
          <p:cNvPr id="20" name="Shape 18"/>
          <p:cNvSpPr/>
          <p:nvPr/>
        </p:nvSpPr>
        <p:spPr>
          <a:xfrm>
            <a:off x="914400" y="5929789"/>
            <a:ext cx="5334000" cy="3511391"/>
          </a:xfrm>
          <a:prstGeom prst="roundRect">
            <a:avLst>
              <a:gd name="adj" fmla="val 434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1" name="Text 19"/>
          <p:cNvSpPr/>
          <p:nvPr/>
        </p:nvSpPr>
        <p:spPr>
          <a:xfrm>
            <a:off x="1245870" y="6223159"/>
            <a:ext cx="932378"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운임지수</a:t>
            </a:r>
            <a:endParaRPr lang="en-US" sz="1950" dirty="0"/>
          </a:p>
        </p:txBody>
      </p:sp>
      <p:sp>
        <p:nvSpPr>
          <p:cNvPr id="22" name="Shape 20"/>
          <p:cNvSpPr/>
          <p:nvPr/>
        </p:nvSpPr>
        <p:spPr>
          <a:xfrm>
            <a:off x="5405795" y="6223159"/>
            <a:ext cx="511135" cy="297180"/>
          </a:xfrm>
          <a:prstGeom prst="roundRect">
            <a:avLst>
              <a:gd name="adj" fmla="val 50000"/>
            </a:avLst>
          </a:prstGeom>
          <a:solidFill>
            <a:srgbClr val="E7EEEE"/>
          </a:solidFill>
          <a:ln/>
        </p:spPr>
      </p:sp>
      <p:sp>
        <p:nvSpPr>
          <p:cNvPr id="23" name="Text 21"/>
          <p:cNvSpPr/>
          <p:nvPr/>
        </p:nvSpPr>
        <p:spPr>
          <a:xfrm>
            <a:off x="5529620" y="6280309"/>
            <a:ext cx="339685" cy="2209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주간</a:t>
            </a:r>
            <a:endParaRPr lang="en-US" sz="1200" dirty="0"/>
          </a:p>
        </p:txBody>
      </p:sp>
      <p:sp>
        <p:nvSpPr>
          <p:cNvPr id="24" name="Text 22"/>
          <p:cNvSpPr/>
          <p:nvPr/>
        </p:nvSpPr>
        <p:spPr>
          <a:xfrm>
            <a:off x="1245870" y="8881110"/>
            <a:ext cx="5138166"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b="1" dirty="0">
                <a:solidFill>
                  <a:srgbClr val="12161D"/>
                </a:solidFill>
                <a:latin typeface="Pretendard" pitchFamily="34" charset="0"/>
                <a:ea typeface="Pretendard" pitchFamily="34" charset="-122"/>
                <a:cs typeface="Pretendard" pitchFamily="34" charset="-120"/>
              </a:rPr>
              <a:t>상하이해운거래소 SCFI/CCFI </a:t>
            </a:r>
            <a:r>
              <a:rPr lang="en-US" sz="1500" dirty="0">
                <a:solidFill>
                  <a:srgbClr val="6F6A5F"/>
                </a:solidFill>
                <a:latin typeface="Pretendard" pitchFamily="34" charset="0"/>
                <a:ea typeface="Pretendard" pitchFamily="34" charset="-122"/>
                <a:cs typeface="Pretendard" pitchFamily="34" charset="-120"/>
              </a:rPr>
              <a:t>· JSON · 종합·항로별</a:t>
            </a:r>
            <a:endParaRPr lang="en-US" sz="1500" dirty="0"/>
          </a:p>
        </p:txBody>
      </p:sp>
      <p:sp>
        <p:nvSpPr>
          <p:cNvPr id="25" name="Shape 23"/>
          <p:cNvSpPr/>
          <p:nvPr/>
        </p:nvSpPr>
        <p:spPr>
          <a:xfrm>
            <a:off x="6477000" y="5929789"/>
            <a:ext cx="5334000" cy="3511391"/>
          </a:xfrm>
          <a:prstGeom prst="roundRect">
            <a:avLst>
              <a:gd name="adj" fmla="val 434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6" name="Text 24"/>
          <p:cNvSpPr/>
          <p:nvPr/>
        </p:nvSpPr>
        <p:spPr>
          <a:xfrm>
            <a:off x="6808470" y="6223159"/>
            <a:ext cx="987743"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항만 기상</a:t>
            </a:r>
            <a:endParaRPr lang="en-US" sz="1950" dirty="0"/>
          </a:p>
        </p:txBody>
      </p:sp>
      <p:sp>
        <p:nvSpPr>
          <p:cNvPr id="27" name="Shape 25"/>
          <p:cNvSpPr/>
          <p:nvPr/>
        </p:nvSpPr>
        <p:spPr>
          <a:xfrm>
            <a:off x="10902196" y="6223159"/>
            <a:ext cx="577334" cy="297180"/>
          </a:xfrm>
          <a:prstGeom prst="roundRect">
            <a:avLst>
              <a:gd name="adj" fmla="val 50000"/>
            </a:avLst>
          </a:prstGeom>
          <a:solidFill>
            <a:srgbClr val="E7EEEE"/>
          </a:solidFill>
          <a:ln/>
        </p:spPr>
      </p:sp>
      <p:sp>
        <p:nvSpPr>
          <p:cNvPr id="28" name="Text 26"/>
          <p:cNvSpPr/>
          <p:nvPr/>
        </p:nvSpPr>
        <p:spPr>
          <a:xfrm>
            <a:off x="11026021" y="6280309"/>
            <a:ext cx="405884" cy="2209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30분</a:t>
            </a:r>
            <a:endParaRPr lang="en-US" sz="1200" dirty="0"/>
          </a:p>
        </p:txBody>
      </p:sp>
      <p:sp>
        <p:nvSpPr>
          <p:cNvPr id="29" name="Text 27"/>
          <p:cNvSpPr/>
          <p:nvPr/>
        </p:nvSpPr>
        <p:spPr>
          <a:xfrm>
            <a:off x="6808470" y="8881110"/>
            <a:ext cx="5138166"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b="1" dirty="0">
                <a:solidFill>
                  <a:srgbClr val="12161D"/>
                </a:solidFill>
                <a:latin typeface="Pretendard" pitchFamily="34" charset="0"/>
                <a:ea typeface="Pretendard" pitchFamily="34" charset="-122"/>
                <a:cs typeface="Pretendard" pitchFamily="34" charset="-120"/>
              </a:rPr>
              <a:t>Open-Meteo Marine </a:t>
            </a:r>
            <a:r>
              <a:rPr lang="en-US" sz="1500" dirty="0">
                <a:solidFill>
                  <a:srgbClr val="6F6A5F"/>
                </a:solidFill>
                <a:latin typeface="Pretendard" pitchFamily="34" charset="0"/>
                <a:ea typeface="Pretendard" pitchFamily="34" charset="-122"/>
                <a:cs typeface="Pretendard" pitchFamily="34" charset="-120"/>
              </a:rPr>
              <a:t>· 브라우저 직접 fetch(무인증)</a:t>
            </a:r>
            <a:endParaRPr lang="en-US" sz="1500" dirty="0"/>
          </a:p>
        </p:txBody>
      </p:sp>
      <p:sp>
        <p:nvSpPr>
          <p:cNvPr id="30" name="Shape 28"/>
          <p:cNvSpPr/>
          <p:nvPr/>
        </p:nvSpPr>
        <p:spPr>
          <a:xfrm>
            <a:off x="12039600" y="5929789"/>
            <a:ext cx="5334000" cy="3511391"/>
          </a:xfrm>
          <a:prstGeom prst="roundRect">
            <a:avLst>
              <a:gd name="adj" fmla="val 434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31" name="Text 29"/>
          <p:cNvSpPr/>
          <p:nvPr/>
        </p:nvSpPr>
        <p:spPr>
          <a:xfrm>
            <a:off x="12371070" y="6223159"/>
            <a:ext cx="987743"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화물 통관</a:t>
            </a:r>
            <a:endParaRPr lang="en-US" sz="1950" dirty="0"/>
          </a:p>
        </p:txBody>
      </p:sp>
      <p:sp>
        <p:nvSpPr>
          <p:cNvPr id="32" name="Shape 30"/>
          <p:cNvSpPr/>
          <p:nvPr/>
        </p:nvSpPr>
        <p:spPr>
          <a:xfrm>
            <a:off x="16364188" y="6223159"/>
            <a:ext cx="677942" cy="297180"/>
          </a:xfrm>
          <a:prstGeom prst="roundRect">
            <a:avLst>
              <a:gd name="adj" fmla="val 50000"/>
            </a:avLst>
          </a:prstGeom>
          <a:solidFill>
            <a:srgbClr val="E7EEEE"/>
          </a:solidFill>
          <a:ln/>
        </p:spPr>
      </p:sp>
      <p:sp>
        <p:nvSpPr>
          <p:cNvPr id="33" name="Text 31"/>
          <p:cNvSpPr/>
          <p:nvPr/>
        </p:nvSpPr>
        <p:spPr>
          <a:xfrm>
            <a:off x="16488013" y="6280309"/>
            <a:ext cx="506492" cy="2209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조회 시</a:t>
            </a:r>
            <a:endParaRPr lang="en-US" sz="1200" dirty="0"/>
          </a:p>
        </p:txBody>
      </p:sp>
      <p:sp>
        <p:nvSpPr>
          <p:cNvPr id="34" name="Text 32"/>
          <p:cNvSpPr/>
          <p:nvPr/>
        </p:nvSpPr>
        <p:spPr>
          <a:xfrm>
            <a:off x="12371070" y="8881110"/>
            <a:ext cx="5138166"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b="1" dirty="0">
                <a:solidFill>
                  <a:srgbClr val="12161D"/>
                </a:solidFill>
                <a:latin typeface="Pretendard" pitchFamily="34" charset="0"/>
                <a:ea typeface="Pretendard" pitchFamily="34" charset="-122"/>
                <a:cs typeface="Pretendard" pitchFamily="34" charset="-120"/>
              </a:rPr>
              <a:t>관세청 유니패스 </a:t>
            </a:r>
            <a:r>
              <a:rPr lang="en-US" sz="1500" dirty="0">
                <a:solidFill>
                  <a:srgbClr val="6F6A5F"/>
                </a:solidFill>
                <a:latin typeface="Pretendard" pitchFamily="34" charset="0"/>
                <a:ea typeface="Pretendard" pitchFamily="34" charset="-122"/>
                <a:cs typeface="Pretendard" pitchFamily="34" charset="-120"/>
              </a:rPr>
              <a:t>· XML OpenAPI · MBL/HBL/AWB</a:t>
            </a:r>
            <a:endParaRPr lang="en-US" sz="1500" dirty="0"/>
          </a:p>
        </p:txBody>
      </p:sp>
      <p:sp>
        <p:nvSpPr>
          <p:cNvPr id="35" name="Shape 33"/>
          <p:cNvSpPr/>
          <p:nvPr/>
        </p:nvSpPr>
        <p:spPr>
          <a:xfrm>
            <a:off x="914400" y="9650730"/>
            <a:ext cx="16459200" cy="9525"/>
          </a:xfrm>
          <a:prstGeom prst="rect">
            <a:avLst/>
          </a:prstGeom>
          <a:solidFill>
            <a:srgbClr val="E9E4DC"/>
          </a:solidFill>
          <a:ln/>
        </p:spPr>
      </p:sp>
      <p:sp>
        <p:nvSpPr>
          <p:cNvPr id="36" name="Text 34"/>
          <p:cNvSpPr/>
          <p:nvPr/>
        </p:nvSpPr>
        <p:spPr>
          <a:xfrm>
            <a:off x="914400" y="9772650"/>
            <a:ext cx="10006798"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출처 · TWL 물류포털 상세기술서 §1 시스템 아키텍처 · 오픈데이터 6개 영역 전수조사(41건) — 판단 하나에 여러 화면을 오가는 통합 계층의 부재</a:t>
            </a:r>
            <a:endParaRPr lang="en-US" sz="1275" dirty="0"/>
          </a:p>
        </p:txBody>
      </p:sp>
      <p:sp>
        <p:nvSpPr>
          <p:cNvPr id="37" name="Text 35"/>
          <p:cNvSpPr/>
          <p:nvPr/>
        </p:nvSpPr>
        <p:spPr>
          <a:xfrm>
            <a:off x="17165122" y="9772650"/>
            <a:ext cx="284678"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05</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01 현황 ·</a:t>
            </a:r>
            <a:r>
              <a:rPr lang="en-US" sz="1425" b="1" kern="0" spc="57" dirty="0">
                <a:solidFill>
                  <a:srgbClr val="28666E"/>
                </a:solidFill>
                <a:latin typeface="Pretendard" pitchFamily="34" charset="0"/>
                <a:ea typeface="Pretendard" pitchFamily="34" charset="-122"/>
                <a:cs typeface="Pretendard" pitchFamily="34" charset="-120"/>
              </a:rPr>
              <a:t>신뢰성의 벽</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화면은 있어도, 데이터가 데모면 쓸 수 없다</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가짜 난수·데모 문구를 걷어내고 실데이터로 — 상용 가시성 솔루션은 유료·느림</a:t>
            </a:r>
            <a:endParaRPr lang="en-US" sz="1875" dirty="0"/>
          </a:p>
        </p:txBody>
      </p:sp>
      <p:sp>
        <p:nvSpPr>
          <p:cNvPr id="5" name="Shape 3"/>
          <p:cNvSpPr/>
          <p:nvPr/>
        </p:nvSpPr>
        <p:spPr>
          <a:xfrm>
            <a:off x="914400" y="2189917"/>
            <a:ext cx="5321261" cy="6268284"/>
          </a:xfrm>
          <a:prstGeom prst="roundRect">
            <a:avLst>
              <a:gd name="adj" fmla="val 2864"/>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64920" y="2502337"/>
            <a:ext cx="5082242"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실운용 재가공 감사</a:t>
            </a:r>
            <a:endParaRPr lang="en-US" sz="1425" dirty="0"/>
          </a:p>
        </p:txBody>
      </p:sp>
      <p:sp>
        <p:nvSpPr>
          <p:cNvPr id="7" name="Text 5"/>
          <p:cNvSpPr/>
          <p:nvPr/>
        </p:nvSpPr>
        <p:spPr>
          <a:xfrm>
            <a:off x="1264920" y="6661785"/>
            <a:ext cx="1218009" cy="815340"/>
          </a:xfrm>
          <a:prstGeom prst="rect">
            <a:avLst/>
          </a:prstGeom>
          <a:noFill/>
          <a:ln/>
        </p:spPr>
        <p:txBody>
          <a:bodyPr wrap="square" lIns="25400" tIns="25400" rIns="25400" bIns="25400" rtlCol="0" anchor="t">
            <a:normAutofit/>
          </a:bodyPr>
          <a:lstStyle/>
          <a:p>
            <a:pPr marL="0" indent="0" algn="l">
              <a:lnSpc>
                <a:spcPct val="71329"/>
              </a:lnSpc>
              <a:buNone/>
            </a:pPr>
            <a:r>
              <a:rPr lang="en-US" sz="7200" b="1" kern="0" spc="-216" dirty="0">
                <a:solidFill>
                  <a:srgbClr val="12161D"/>
                </a:solidFill>
                <a:latin typeface="Pretendard" pitchFamily="34" charset="0"/>
                <a:ea typeface="Pretendard" pitchFamily="34" charset="-122"/>
                <a:cs typeface="Pretendard" pitchFamily="34" charset="-120"/>
              </a:rPr>
              <a:t>89</a:t>
            </a:r>
            <a:endParaRPr lang="en-US" sz="7200" dirty="0"/>
          </a:p>
        </p:txBody>
      </p:sp>
      <p:sp>
        <p:nvSpPr>
          <p:cNvPr id="8" name="Text 6"/>
          <p:cNvSpPr/>
          <p:nvPr/>
        </p:nvSpPr>
        <p:spPr>
          <a:xfrm>
            <a:off x="2482930" y="7065645"/>
            <a:ext cx="356116"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Pretendard" pitchFamily="34" charset="0"/>
                <a:ea typeface="Pretendard" pitchFamily="34" charset="-122"/>
                <a:cs typeface="Pretendard" pitchFamily="34" charset="-120"/>
              </a:rPr>
              <a:t>건</a:t>
            </a:r>
            <a:endParaRPr lang="en-US" sz="2550" dirty="0"/>
          </a:p>
        </p:txBody>
      </p:sp>
      <p:sp>
        <p:nvSpPr>
          <p:cNvPr id="9" name="Text 7"/>
          <p:cNvSpPr/>
          <p:nvPr/>
        </p:nvSpPr>
        <p:spPr>
          <a:xfrm>
            <a:off x="1264920" y="7579995"/>
            <a:ext cx="5082242"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A9640F"/>
                </a:solidFill>
                <a:latin typeface="Pretendard" pitchFamily="34" charset="0"/>
                <a:ea typeface="Pretendard" pitchFamily="34" charset="-122"/>
                <a:cs typeface="Pretendard" pitchFamily="34" charset="-120"/>
              </a:rPr>
              <a:t>데모 문구·가짜 난수 제거</a:t>
            </a:r>
            <a:endParaRPr lang="en-US" sz="1650" dirty="0"/>
          </a:p>
        </p:txBody>
      </p:sp>
      <p:sp>
        <p:nvSpPr>
          <p:cNvPr id="10" name="Text 8"/>
          <p:cNvSpPr/>
          <p:nvPr/>
        </p:nvSpPr>
        <p:spPr>
          <a:xfrm>
            <a:off x="1264920" y="7888605"/>
            <a:ext cx="5082242" cy="295275"/>
          </a:xfrm>
          <a:prstGeom prst="rect">
            <a:avLst/>
          </a:prstGeom>
          <a:noFill/>
          <a:ln/>
        </p:spPr>
        <p:txBody>
          <a:bodyPr wrap="square" lIns="25400" tIns="25400" rIns="25400" bIns="25400" rtlCol="0" anchor="t">
            <a:normAutofit/>
          </a:bodyPr>
          <a:lstStyle/>
          <a:p>
            <a:pPr marL="0" indent="0" algn="l">
              <a:lnSpc>
                <a:spcPct val="112500"/>
              </a:lnSpc>
              <a:buNone/>
            </a:pPr>
            <a:r>
              <a:rPr lang="en-US" sz="1500" dirty="0">
                <a:solidFill>
                  <a:srgbClr val="6F6A5F"/>
                </a:solidFill>
                <a:latin typeface="Pretendard" pitchFamily="34" charset="0"/>
                <a:ea typeface="Pretendard" pitchFamily="34" charset="-122"/>
                <a:cs typeface="Pretendard" pitchFamily="34" charset="-120"/>
              </a:rPr>
              <a:t>전 파일 전수 감사 → 실서비스(e-tgl.com) 기준 개편</a:t>
            </a:r>
            <a:endParaRPr lang="en-US" sz="1500" dirty="0"/>
          </a:p>
        </p:txBody>
      </p:sp>
      <p:sp>
        <p:nvSpPr>
          <p:cNvPr id="11" name="Shape 9"/>
          <p:cNvSpPr/>
          <p:nvPr/>
        </p:nvSpPr>
        <p:spPr>
          <a:xfrm>
            <a:off x="6483311" y="2189917"/>
            <a:ext cx="5321261" cy="6268284"/>
          </a:xfrm>
          <a:prstGeom prst="roundRect">
            <a:avLst>
              <a:gd name="adj" fmla="val 2864"/>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6833831" y="2502337"/>
            <a:ext cx="5082242"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오픈데이터 전수조사</a:t>
            </a:r>
            <a:endParaRPr lang="en-US" sz="1425" dirty="0"/>
          </a:p>
        </p:txBody>
      </p:sp>
      <p:sp>
        <p:nvSpPr>
          <p:cNvPr id="13" name="Text 11"/>
          <p:cNvSpPr/>
          <p:nvPr/>
        </p:nvSpPr>
        <p:spPr>
          <a:xfrm>
            <a:off x="6833831" y="6661785"/>
            <a:ext cx="1060847" cy="815340"/>
          </a:xfrm>
          <a:prstGeom prst="rect">
            <a:avLst/>
          </a:prstGeom>
          <a:noFill/>
          <a:ln/>
        </p:spPr>
        <p:txBody>
          <a:bodyPr wrap="square" lIns="25400" tIns="25400" rIns="25400" bIns="25400" rtlCol="0" anchor="t">
            <a:normAutofit/>
          </a:bodyPr>
          <a:lstStyle/>
          <a:p>
            <a:pPr marL="0" indent="0" algn="l">
              <a:lnSpc>
                <a:spcPct val="71329"/>
              </a:lnSpc>
              <a:buNone/>
            </a:pPr>
            <a:r>
              <a:rPr lang="en-US" sz="7200" b="1" kern="0" spc="-216" dirty="0">
                <a:solidFill>
                  <a:srgbClr val="12161D"/>
                </a:solidFill>
                <a:latin typeface="Pretendard" pitchFamily="34" charset="0"/>
                <a:ea typeface="Pretendard" pitchFamily="34" charset="-122"/>
                <a:cs typeface="Pretendard" pitchFamily="34" charset="-120"/>
              </a:rPr>
              <a:t>41</a:t>
            </a:r>
            <a:endParaRPr lang="en-US" sz="7200" dirty="0"/>
          </a:p>
        </p:txBody>
      </p:sp>
      <p:sp>
        <p:nvSpPr>
          <p:cNvPr id="14" name="Text 12"/>
          <p:cNvSpPr/>
          <p:nvPr/>
        </p:nvSpPr>
        <p:spPr>
          <a:xfrm>
            <a:off x="7894677" y="7065645"/>
            <a:ext cx="356116"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Pretendard" pitchFamily="34" charset="0"/>
                <a:ea typeface="Pretendard" pitchFamily="34" charset="-122"/>
                <a:cs typeface="Pretendard" pitchFamily="34" charset="-120"/>
              </a:rPr>
              <a:t>건</a:t>
            </a:r>
            <a:endParaRPr lang="en-US" sz="2550" dirty="0"/>
          </a:p>
        </p:txBody>
      </p:sp>
      <p:sp>
        <p:nvSpPr>
          <p:cNvPr id="15" name="Text 13"/>
          <p:cNvSpPr/>
          <p:nvPr/>
        </p:nvSpPr>
        <p:spPr>
          <a:xfrm>
            <a:off x="6833831" y="7579995"/>
            <a:ext cx="5082242"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Pretendard" pitchFamily="34" charset="0"/>
                <a:ea typeface="Pretendard" pitchFamily="34" charset="-122"/>
                <a:cs typeface="Pretendard" pitchFamily="34" charset="-120"/>
              </a:rPr>
              <a:t>6개 영역 · 무료·무인증 우선</a:t>
            </a:r>
            <a:endParaRPr lang="en-US" sz="1650" dirty="0"/>
          </a:p>
        </p:txBody>
      </p:sp>
      <p:sp>
        <p:nvSpPr>
          <p:cNvPr id="16" name="Text 14"/>
          <p:cNvSpPr/>
          <p:nvPr/>
        </p:nvSpPr>
        <p:spPr>
          <a:xfrm>
            <a:off x="6833831" y="7888605"/>
            <a:ext cx="5082242" cy="295275"/>
          </a:xfrm>
          <a:prstGeom prst="rect">
            <a:avLst/>
          </a:prstGeom>
          <a:noFill/>
          <a:ln/>
        </p:spPr>
        <p:txBody>
          <a:bodyPr wrap="square" lIns="25400" tIns="25400" rIns="25400" bIns="25400" rtlCol="0" anchor="t">
            <a:normAutofit/>
          </a:bodyPr>
          <a:lstStyle/>
          <a:p>
            <a:pPr marL="0" indent="0" algn="l">
              <a:lnSpc>
                <a:spcPct val="112500"/>
              </a:lnSpc>
              <a:buNone/>
            </a:pPr>
            <a:r>
              <a:rPr lang="en-US" sz="1500" dirty="0">
                <a:solidFill>
                  <a:srgbClr val="6F6A5F"/>
                </a:solidFill>
                <a:latin typeface="Pretendard" pitchFamily="34" charset="0"/>
                <a:ea typeface="Pretendard" pitchFamily="34" charset="-122"/>
                <a:cs typeface="Pretendard" pitchFamily="34" charset="-120"/>
              </a:rPr>
              <a:t>실데이터 소스 선별로 신뢰 가능한 파이프라인 확정</a:t>
            </a:r>
            <a:endParaRPr lang="en-US" sz="1500" dirty="0"/>
          </a:p>
        </p:txBody>
      </p:sp>
      <p:sp>
        <p:nvSpPr>
          <p:cNvPr id="17" name="Shape 15"/>
          <p:cNvSpPr/>
          <p:nvPr/>
        </p:nvSpPr>
        <p:spPr>
          <a:xfrm>
            <a:off x="12052221" y="2189917"/>
            <a:ext cx="5321261" cy="6268284"/>
          </a:xfrm>
          <a:prstGeom prst="roundRect">
            <a:avLst>
              <a:gd name="adj" fmla="val 2864"/>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12402741" y="2502337"/>
            <a:ext cx="5082242"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혼잡도 API 실호출 검증</a:t>
            </a:r>
            <a:endParaRPr lang="en-US" sz="1425" dirty="0"/>
          </a:p>
        </p:txBody>
      </p:sp>
      <p:sp>
        <p:nvSpPr>
          <p:cNvPr id="19" name="Text 17"/>
          <p:cNvSpPr/>
          <p:nvPr/>
        </p:nvSpPr>
        <p:spPr>
          <a:xfrm>
            <a:off x="12402741" y="6661785"/>
            <a:ext cx="646271" cy="815340"/>
          </a:xfrm>
          <a:prstGeom prst="rect">
            <a:avLst/>
          </a:prstGeom>
          <a:noFill/>
          <a:ln/>
        </p:spPr>
        <p:txBody>
          <a:bodyPr wrap="square" lIns="25400" tIns="25400" rIns="25400" bIns="25400" rtlCol="0" anchor="t">
            <a:normAutofit/>
          </a:bodyPr>
          <a:lstStyle/>
          <a:p>
            <a:pPr marL="0" indent="0" algn="l">
              <a:lnSpc>
                <a:spcPct val="71329"/>
              </a:lnSpc>
              <a:buNone/>
            </a:pPr>
            <a:r>
              <a:rPr lang="en-US" sz="7200" b="1" kern="0" spc="-216" dirty="0">
                <a:solidFill>
                  <a:srgbClr val="12161D"/>
                </a:solidFill>
                <a:latin typeface="Pretendard" pitchFamily="34" charset="0"/>
                <a:ea typeface="Pretendard" pitchFamily="34" charset="-122"/>
                <a:cs typeface="Pretendard" pitchFamily="34" charset="-120"/>
              </a:rPr>
              <a:t>6</a:t>
            </a:r>
            <a:endParaRPr lang="en-US" sz="7200" dirty="0"/>
          </a:p>
        </p:txBody>
      </p:sp>
      <p:sp>
        <p:nvSpPr>
          <p:cNvPr id="20" name="Text 18"/>
          <p:cNvSpPr/>
          <p:nvPr/>
        </p:nvSpPr>
        <p:spPr>
          <a:xfrm>
            <a:off x="13049012" y="7065645"/>
            <a:ext cx="990600"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Pretendard" pitchFamily="34" charset="0"/>
                <a:ea typeface="Pretendard" pitchFamily="34" charset="-122"/>
                <a:cs typeface="Pretendard" pitchFamily="34" charset="-120"/>
              </a:rPr>
              <a:t>종 비교</a:t>
            </a:r>
            <a:endParaRPr lang="en-US" sz="2550" dirty="0"/>
          </a:p>
        </p:txBody>
      </p:sp>
      <p:sp>
        <p:nvSpPr>
          <p:cNvPr id="21" name="Text 19"/>
          <p:cNvSpPr/>
          <p:nvPr/>
        </p:nvSpPr>
        <p:spPr>
          <a:xfrm>
            <a:off x="12402741" y="7579995"/>
            <a:ext cx="5082242"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Pretendard" pitchFamily="34" charset="0"/>
                <a:ea typeface="Pretendard" pitchFamily="34" charset="-122"/>
                <a:cs typeface="Pretendard" pitchFamily="34" charset="-120"/>
              </a:rPr>
              <a:t>→ IMF PortWatch 선정</a:t>
            </a:r>
            <a:endParaRPr lang="en-US" sz="1650" dirty="0"/>
          </a:p>
        </p:txBody>
      </p:sp>
      <p:sp>
        <p:nvSpPr>
          <p:cNvPr id="22" name="Text 20"/>
          <p:cNvSpPr/>
          <p:nvPr/>
        </p:nvSpPr>
        <p:spPr>
          <a:xfrm>
            <a:off x="12402741" y="7888605"/>
            <a:ext cx="5082242" cy="295275"/>
          </a:xfrm>
          <a:prstGeom prst="rect">
            <a:avLst/>
          </a:prstGeom>
          <a:noFill/>
          <a:ln/>
        </p:spPr>
        <p:txBody>
          <a:bodyPr wrap="square" lIns="25400" tIns="25400" rIns="25400" bIns="25400" rtlCol="0" anchor="t">
            <a:normAutofit/>
          </a:bodyPr>
          <a:lstStyle/>
          <a:p>
            <a:pPr marL="0" indent="0" algn="l">
              <a:lnSpc>
                <a:spcPct val="112500"/>
              </a:lnSpc>
              <a:buNone/>
            </a:pPr>
            <a:r>
              <a:rPr lang="en-US" sz="1500" dirty="0">
                <a:solidFill>
                  <a:srgbClr val="6F6A5F"/>
                </a:solidFill>
                <a:latin typeface="Pretendard" pitchFamily="34" charset="0"/>
                <a:ea typeface="Pretendard" pitchFamily="34" charset="-122"/>
                <a:cs typeface="Pretendard" pitchFamily="34" charset="-120"/>
              </a:rPr>
              <a:t>멀티에이전트 실호출 비교로 신뢰 소스 채택</a:t>
            </a:r>
            <a:endParaRPr lang="en-US" sz="1500" dirty="0"/>
          </a:p>
        </p:txBody>
      </p:sp>
      <p:sp>
        <p:nvSpPr>
          <p:cNvPr id="23" name="Shape 21"/>
          <p:cNvSpPr/>
          <p:nvPr/>
        </p:nvSpPr>
        <p:spPr>
          <a:xfrm>
            <a:off x="914400" y="8705850"/>
            <a:ext cx="16459200" cy="716280"/>
          </a:xfrm>
          <a:prstGeom prst="roundRect">
            <a:avLst>
              <a:gd name="adj" fmla="val 21277"/>
            </a:avLst>
          </a:prstGeom>
          <a:solidFill>
            <a:srgbClr val="ECE7DD"/>
          </a:solidFill>
          <a:ln/>
        </p:spPr>
      </p:sp>
      <p:sp>
        <p:nvSpPr>
          <p:cNvPr id="24" name="Text 22"/>
          <p:cNvSpPr/>
          <p:nvPr/>
        </p:nvSpPr>
        <p:spPr>
          <a:xfrm>
            <a:off x="1219200" y="8915400"/>
            <a:ext cx="2416373" cy="335280"/>
          </a:xfrm>
          <a:prstGeom prst="rect">
            <a:avLst/>
          </a:prstGeom>
          <a:noFill/>
          <a:ln/>
        </p:spPr>
        <p:txBody>
          <a:bodyPr wrap="none" lIns="25400" tIns="25400" rIns="25400" bIns="25400" rtlCol="0" anchor="t">
            <a:normAutofit/>
          </a:bodyPr>
          <a:lstStyle/>
          <a:p>
            <a:pPr marL="0" indent="0" algn="l">
              <a:buNone/>
            </a:pPr>
            <a:r>
              <a:rPr lang="en-US" sz="1950" b="1" dirty="0">
                <a:solidFill>
                  <a:srgbClr val="28666E"/>
                </a:solidFill>
                <a:latin typeface="Pretendard" pitchFamily="34" charset="0"/>
                <a:ea typeface="Pretendard" pitchFamily="34" charset="-122"/>
                <a:cs typeface="Pretendard" pitchFamily="34" charset="-120"/>
              </a:rPr>
              <a:t>유료·느림 → 무료·빠름</a:t>
            </a:r>
            <a:endParaRPr lang="en-US" sz="1950" dirty="0"/>
          </a:p>
        </p:txBody>
      </p:sp>
      <p:sp>
        <p:nvSpPr>
          <p:cNvPr id="25" name="Text 23"/>
          <p:cNvSpPr/>
          <p:nvPr/>
        </p:nvSpPr>
        <p:spPr>
          <a:xfrm>
            <a:off x="3663553" y="8928973"/>
            <a:ext cx="11334822" cy="308134"/>
          </a:xfrm>
          <a:prstGeom prst="rect">
            <a:avLst/>
          </a:prstGeom>
          <a:noFill/>
          <a:ln/>
        </p:spPr>
        <p:txBody>
          <a:bodyPr wrap="square" lIns="25400" tIns="25400" rIns="25400" bIns="25400" rtlCol="0" anchor="t">
            <a:normAutofit/>
          </a:bodyPr>
          <a:lstStyle/>
          <a:p>
            <a:pPr marL="0" indent="0" algn="l">
              <a:lnSpc>
                <a:spcPct val="114315"/>
              </a:lnSpc>
              <a:buNone/>
            </a:pPr>
            <a:r>
              <a:rPr lang="en-US" sz="1575" b="1" dirty="0">
                <a:solidFill>
                  <a:srgbClr val="12161D"/>
                </a:solidFill>
                <a:latin typeface="Pretendard" pitchFamily="34" charset="0"/>
                <a:ea typeface="Pretendard" pitchFamily="34" charset="-122"/>
                <a:cs typeface="Pretendard" pitchFamily="34" charset="-120"/>
              </a:rPr>
              <a:t>상용 Ocean Visibility(tradlinx 등)는 유료·로그인·느림 </a:t>
            </a:r>
            <a:r>
              <a:rPr lang="en-US" sz="1575" dirty="0">
                <a:solidFill>
                  <a:srgbClr val="12161D"/>
                </a:solidFill>
                <a:latin typeface="Pretendard" pitchFamily="34" charset="0"/>
                <a:ea typeface="Pretendard" pitchFamily="34" charset="-122"/>
                <a:cs typeface="Pretendard" pitchFamily="34" charset="-120"/>
              </a:rPr>
              <a:t>— 무료 공개 데이터를 통합·정제해 사내 표준으로 만드는 것이 현실적 해법</a:t>
            </a:r>
            <a:endParaRPr lang="en-US" sz="1575" dirty="0"/>
          </a:p>
        </p:txBody>
      </p:sp>
      <p:sp>
        <p:nvSpPr>
          <p:cNvPr id="26" name="Shape 24"/>
          <p:cNvSpPr/>
          <p:nvPr/>
        </p:nvSpPr>
        <p:spPr>
          <a:xfrm>
            <a:off x="914400" y="9650730"/>
            <a:ext cx="16459200" cy="9525"/>
          </a:xfrm>
          <a:prstGeom prst="rect">
            <a:avLst/>
          </a:prstGeom>
          <a:solidFill>
            <a:srgbClr val="E9E4DC"/>
          </a:solidFill>
          <a:ln/>
        </p:spPr>
      </p:sp>
      <p:sp>
        <p:nvSpPr>
          <p:cNvPr id="27" name="Text 25"/>
          <p:cNvSpPr/>
          <p:nvPr/>
        </p:nvSpPr>
        <p:spPr>
          <a:xfrm>
            <a:off x="914400" y="9772650"/>
            <a:ext cx="8464249"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출처 · 개발이력 §1(실운용 재가공 89건 · 오픈데이터 41건 · API 6종 비교) · SRS 부록(벤치마크 searates·tradlinx·surff)</a:t>
            </a:r>
            <a:endParaRPr lang="en-US" sz="1275" dirty="0"/>
          </a:p>
        </p:txBody>
      </p:sp>
      <p:sp>
        <p:nvSpPr>
          <p:cNvPr id="28" name="Text 26"/>
          <p:cNvSpPr/>
          <p:nvPr/>
        </p:nvSpPr>
        <p:spPr>
          <a:xfrm>
            <a:off x="17162621" y="9772650"/>
            <a:ext cx="287179"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06</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01 현황 ·</a:t>
            </a:r>
            <a:r>
              <a:rPr lang="en-US" sz="1425" b="1" kern="0" spc="57" dirty="0">
                <a:solidFill>
                  <a:srgbClr val="28666E"/>
                </a:solidFill>
                <a:latin typeface="Pretendard" pitchFamily="34" charset="0"/>
                <a:ea typeface="Pretendard" pitchFamily="34" charset="-122"/>
                <a:cs typeface="Pretendard" pitchFamily="34" charset="-120"/>
              </a:rPr>
              <a:t>터미널 지형</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부산신항에 집중된 9개 터미널, 3개 항만 구조</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부산신항 6곳이 물량의 </a:t>
            </a:r>
            <a:r>
              <a:rPr lang="en-US" sz="1875" b="1" dirty="0">
                <a:solidFill>
                  <a:srgbClr val="A9640F"/>
                </a:solidFill>
                <a:latin typeface="Pretendard" pitchFamily="34" charset="0"/>
                <a:ea typeface="Pretendard" pitchFamily="34" charset="-122"/>
                <a:cs typeface="Pretendard" pitchFamily="34" charset="-120"/>
              </a:rPr>
              <a:t>79% </a:t>
            </a:r>
            <a:r>
              <a:rPr lang="en-US" sz="1875" dirty="0">
                <a:solidFill>
                  <a:srgbClr val="6F6A5F"/>
                </a:solidFill>
                <a:latin typeface="Pretendard" pitchFamily="34" charset="0"/>
                <a:ea typeface="Pretendard" pitchFamily="34" charset="-122"/>
                <a:cs typeface="Pretendard" pitchFamily="34" charset="-120"/>
              </a:rPr>
              <a:t>— 터미널마다 이질적 스키마가 취합 난이도를 키움</a:t>
            </a:r>
            <a:endParaRPr lang="en-US" sz="1875" dirty="0"/>
          </a:p>
        </p:txBody>
      </p:sp>
      <p:sp>
        <p:nvSpPr>
          <p:cNvPr id="5" name="Shape 3"/>
          <p:cNvSpPr/>
          <p:nvPr/>
        </p:nvSpPr>
        <p:spPr>
          <a:xfrm>
            <a:off x="914400" y="2189917"/>
            <a:ext cx="7196614" cy="7251264"/>
          </a:xfrm>
          <a:prstGeom prst="roundRect">
            <a:avLst>
              <a:gd name="adj" fmla="val 2118"/>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303020" y="2521387"/>
            <a:ext cx="7061311"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항만별 물량 집중 (2026-07-27 · 224건)</a:t>
            </a:r>
            <a:endParaRPr lang="en-US" sz="1425" dirty="0"/>
          </a:p>
        </p:txBody>
      </p:sp>
      <p:sp>
        <p:nvSpPr>
          <p:cNvPr id="7" name="Text 5"/>
          <p:cNvSpPr/>
          <p:nvPr/>
        </p:nvSpPr>
        <p:spPr>
          <a:xfrm>
            <a:off x="1303020" y="2799517"/>
            <a:ext cx="1143833" cy="861060"/>
          </a:xfrm>
          <a:prstGeom prst="rect">
            <a:avLst/>
          </a:prstGeom>
          <a:noFill/>
          <a:ln/>
        </p:spPr>
        <p:txBody>
          <a:bodyPr wrap="square" lIns="25400" tIns="25400" rIns="25400" bIns="25400" rtlCol="0" anchor="t">
            <a:normAutofit/>
          </a:bodyPr>
          <a:lstStyle/>
          <a:p>
            <a:pPr marL="0" indent="0" algn="l">
              <a:lnSpc>
                <a:spcPct val="75524"/>
              </a:lnSpc>
              <a:buNone/>
            </a:pPr>
            <a:r>
              <a:rPr lang="en-US" sz="7200" b="1" kern="0" spc="-216" dirty="0">
                <a:solidFill>
                  <a:srgbClr val="28666E"/>
                </a:solidFill>
                <a:latin typeface="Pretendard" pitchFamily="34" charset="0"/>
                <a:ea typeface="Pretendard" pitchFamily="34" charset="-122"/>
                <a:cs typeface="Pretendard" pitchFamily="34" charset="-120"/>
              </a:rPr>
              <a:t>79</a:t>
            </a:r>
            <a:endParaRPr lang="en-US" sz="7200" dirty="0"/>
          </a:p>
        </p:txBody>
      </p:sp>
      <p:sp>
        <p:nvSpPr>
          <p:cNvPr id="8" name="Text 6"/>
          <p:cNvSpPr/>
          <p:nvPr/>
        </p:nvSpPr>
        <p:spPr>
          <a:xfrm>
            <a:off x="2446854" y="3165277"/>
            <a:ext cx="454223" cy="495300"/>
          </a:xfrm>
          <a:prstGeom prst="rect">
            <a:avLst/>
          </a:prstGeom>
          <a:noFill/>
          <a:ln/>
        </p:spPr>
        <p:txBody>
          <a:bodyPr wrap="square" lIns="25400" tIns="25400" rIns="25400" bIns="25400" rtlCol="0" anchor="t">
            <a:normAutofit/>
          </a:bodyPr>
          <a:lstStyle/>
          <a:p>
            <a:pPr marL="0" indent="0" algn="l">
              <a:buNone/>
            </a:pPr>
            <a:r>
              <a:rPr lang="en-US" sz="3000" b="1" dirty="0">
                <a:solidFill>
                  <a:srgbClr val="28666E"/>
                </a:solidFill>
                <a:latin typeface="Pretendard" pitchFamily="34" charset="0"/>
                <a:ea typeface="Pretendard" pitchFamily="34" charset="-122"/>
                <a:cs typeface="Pretendard" pitchFamily="34" charset="-120"/>
              </a:rPr>
              <a:t>%</a:t>
            </a:r>
            <a:endParaRPr lang="en-US" sz="3000" dirty="0"/>
          </a:p>
        </p:txBody>
      </p:sp>
      <p:sp>
        <p:nvSpPr>
          <p:cNvPr id="9" name="Text 7"/>
          <p:cNvSpPr/>
          <p:nvPr/>
        </p:nvSpPr>
        <p:spPr>
          <a:xfrm>
            <a:off x="1303020" y="3641527"/>
            <a:ext cx="7061311"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12161D"/>
                </a:solidFill>
                <a:latin typeface="Pretendard" pitchFamily="34" charset="0"/>
                <a:ea typeface="Pretendard" pitchFamily="34" charset="-122"/>
                <a:cs typeface="Pretendard" pitchFamily="34" charset="-120"/>
              </a:rPr>
              <a:t>부산신항 6개 터미널 집중</a:t>
            </a:r>
            <a:endParaRPr lang="en-US" sz="1650" dirty="0"/>
          </a:p>
        </p:txBody>
      </p:sp>
      <p:sp>
        <p:nvSpPr>
          <p:cNvPr id="10" name="Shape 8"/>
          <p:cNvSpPr/>
          <p:nvPr/>
        </p:nvSpPr>
        <p:spPr>
          <a:xfrm>
            <a:off x="1303020" y="4121587"/>
            <a:ext cx="5071229" cy="247650"/>
          </a:xfrm>
          <a:prstGeom prst="rect">
            <a:avLst/>
          </a:prstGeom>
          <a:solidFill>
            <a:srgbClr val="28666E"/>
          </a:solidFill>
          <a:ln/>
        </p:spPr>
      </p:sp>
      <p:sp>
        <p:nvSpPr>
          <p:cNvPr id="11" name="Shape 9"/>
          <p:cNvSpPr/>
          <p:nvPr/>
        </p:nvSpPr>
        <p:spPr>
          <a:xfrm>
            <a:off x="6374249" y="4121587"/>
            <a:ext cx="513517" cy="247650"/>
          </a:xfrm>
          <a:prstGeom prst="rect">
            <a:avLst/>
          </a:prstGeom>
          <a:solidFill>
            <a:srgbClr val="9AA0A6"/>
          </a:solidFill>
          <a:ln/>
        </p:spPr>
      </p:sp>
      <p:sp>
        <p:nvSpPr>
          <p:cNvPr id="12" name="Shape 10"/>
          <p:cNvSpPr/>
          <p:nvPr/>
        </p:nvSpPr>
        <p:spPr>
          <a:xfrm>
            <a:off x="6887766" y="4121587"/>
            <a:ext cx="834509" cy="247650"/>
          </a:xfrm>
          <a:prstGeom prst="rect">
            <a:avLst/>
          </a:prstGeom>
          <a:solidFill>
            <a:srgbClr val="A9640F"/>
          </a:solidFill>
          <a:ln/>
        </p:spPr>
      </p:sp>
      <p:sp>
        <p:nvSpPr>
          <p:cNvPr id="13" name="Shape 11"/>
          <p:cNvSpPr/>
          <p:nvPr/>
        </p:nvSpPr>
        <p:spPr>
          <a:xfrm>
            <a:off x="1303020" y="4574977"/>
            <a:ext cx="114300" cy="114300"/>
          </a:xfrm>
          <a:prstGeom prst="roundRect">
            <a:avLst>
              <a:gd name="adj" fmla="val 16667"/>
            </a:avLst>
          </a:prstGeom>
          <a:solidFill>
            <a:srgbClr val="28666E"/>
          </a:solidFill>
          <a:ln/>
        </p:spPr>
      </p:sp>
      <p:sp>
        <p:nvSpPr>
          <p:cNvPr id="14" name="Text 12"/>
          <p:cNvSpPr/>
          <p:nvPr/>
        </p:nvSpPr>
        <p:spPr>
          <a:xfrm>
            <a:off x="1512570" y="4521637"/>
            <a:ext cx="701873" cy="259080"/>
          </a:xfrm>
          <a:prstGeom prst="rect">
            <a:avLst/>
          </a:prstGeom>
          <a:noFill/>
          <a:ln/>
        </p:spPr>
        <p:txBody>
          <a:bodyPr wrap="square" lIns="0" tIns="0" rIns="0" bIns="0" rtlCol="0" anchor="t">
            <a:normAutofit/>
          </a:bodyPr>
          <a:lstStyle/>
          <a:p>
            <a:pPr marL="0" indent="0" algn="l">
              <a:buNone/>
            </a:pPr>
            <a:r>
              <a:rPr lang="en-US" sz="1425" dirty="0">
                <a:solidFill>
                  <a:srgbClr val="12161D"/>
                </a:solidFill>
                <a:latin typeface="Pretendard" pitchFamily="34" charset="0"/>
                <a:ea typeface="Pretendard" pitchFamily="34" charset="-122"/>
                <a:cs typeface="Pretendard" pitchFamily="34" charset="-120"/>
              </a:rPr>
              <a:t>부산신항</a:t>
            </a:r>
            <a:endParaRPr lang="en-US" sz="1425" dirty="0"/>
          </a:p>
        </p:txBody>
      </p:sp>
      <p:sp>
        <p:nvSpPr>
          <p:cNvPr id="15" name="Text 13"/>
          <p:cNvSpPr/>
          <p:nvPr/>
        </p:nvSpPr>
        <p:spPr>
          <a:xfrm>
            <a:off x="2233493" y="4521637"/>
            <a:ext cx="529233"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Pretendard" pitchFamily="34" charset="0"/>
                <a:ea typeface="Pretendard" pitchFamily="34" charset="-122"/>
                <a:cs typeface="Pretendard" pitchFamily="34" charset="-120"/>
              </a:rPr>
              <a:t>177건</a:t>
            </a:r>
            <a:endParaRPr lang="en-US" sz="1425" dirty="0"/>
          </a:p>
        </p:txBody>
      </p:sp>
      <p:sp>
        <p:nvSpPr>
          <p:cNvPr id="16" name="Text 14"/>
          <p:cNvSpPr/>
          <p:nvPr/>
        </p:nvSpPr>
        <p:spPr>
          <a:xfrm>
            <a:off x="2781776" y="4521637"/>
            <a:ext cx="949642" cy="259080"/>
          </a:xfrm>
          <a:prstGeom prst="rect">
            <a:avLst/>
          </a:prstGeom>
          <a:noFill/>
          <a:ln/>
        </p:spPr>
        <p:txBody>
          <a:bodyPr wrap="square" lIns="0" tIns="0" rIns="0" bIns="0" rtlCol="0" anchor="t">
            <a:normAutofit/>
          </a:bodyPr>
          <a:lstStyle/>
          <a:p>
            <a:pPr marL="0" indent="0" algn="l">
              <a:buNone/>
            </a:pPr>
            <a:r>
              <a:rPr lang="en-US" sz="1425" dirty="0">
                <a:solidFill>
                  <a:srgbClr val="12161D"/>
                </a:solidFill>
                <a:latin typeface="Pretendard" pitchFamily="34" charset="0"/>
                <a:ea typeface="Pretendard" pitchFamily="34" charset="-122"/>
                <a:cs typeface="Pretendard" pitchFamily="34" charset="-120"/>
              </a:rPr>
              <a:t>· 6개 터미널</a:t>
            </a:r>
            <a:endParaRPr lang="en-US" sz="1425" dirty="0"/>
          </a:p>
        </p:txBody>
      </p:sp>
      <p:sp>
        <p:nvSpPr>
          <p:cNvPr id="17" name="Shape 15"/>
          <p:cNvSpPr/>
          <p:nvPr/>
        </p:nvSpPr>
        <p:spPr>
          <a:xfrm>
            <a:off x="1303020" y="4891207"/>
            <a:ext cx="114300" cy="114300"/>
          </a:xfrm>
          <a:prstGeom prst="roundRect">
            <a:avLst>
              <a:gd name="adj" fmla="val 16667"/>
            </a:avLst>
          </a:prstGeom>
          <a:solidFill>
            <a:srgbClr val="A9640F"/>
          </a:solidFill>
          <a:ln/>
        </p:spPr>
      </p:sp>
      <p:sp>
        <p:nvSpPr>
          <p:cNvPr id="18" name="Text 16"/>
          <p:cNvSpPr/>
          <p:nvPr/>
        </p:nvSpPr>
        <p:spPr>
          <a:xfrm>
            <a:off x="1512570" y="4837867"/>
            <a:ext cx="2413873" cy="259080"/>
          </a:xfrm>
          <a:prstGeom prst="rect">
            <a:avLst/>
          </a:prstGeom>
          <a:noFill/>
          <a:ln/>
        </p:spPr>
        <p:txBody>
          <a:bodyPr wrap="square" lIns="0" tIns="0" rIns="0" bIns="0" rtlCol="0" anchor="t">
            <a:normAutofit/>
          </a:bodyPr>
          <a:lstStyle/>
          <a:p>
            <a:pPr marL="0" indent="0" algn="l">
              <a:buNone/>
            </a:pPr>
            <a:r>
              <a:rPr lang="en-US" sz="1425" dirty="0">
                <a:solidFill>
                  <a:srgbClr val="12161D"/>
                </a:solidFill>
                <a:latin typeface="Pretendard" pitchFamily="34" charset="0"/>
                <a:ea typeface="Pretendard" pitchFamily="34" charset="-122"/>
                <a:cs typeface="Pretendard" pitchFamily="34" charset="-120"/>
              </a:rPr>
              <a:t>인천항 29건 · 2개 (E1CT·ICON)</a:t>
            </a:r>
            <a:endParaRPr lang="en-US" sz="1425" dirty="0"/>
          </a:p>
        </p:txBody>
      </p:sp>
      <p:sp>
        <p:nvSpPr>
          <p:cNvPr id="19" name="Shape 17"/>
          <p:cNvSpPr/>
          <p:nvPr/>
        </p:nvSpPr>
        <p:spPr>
          <a:xfrm>
            <a:off x="1303020" y="5207437"/>
            <a:ext cx="114300" cy="114300"/>
          </a:xfrm>
          <a:prstGeom prst="roundRect">
            <a:avLst>
              <a:gd name="adj" fmla="val 16667"/>
            </a:avLst>
          </a:prstGeom>
          <a:solidFill>
            <a:srgbClr val="9AA0A6"/>
          </a:solidFill>
          <a:ln/>
        </p:spPr>
      </p:sp>
      <p:sp>
        <p:nvSpPr>
          <p:cNvPr id="20" name="Text 18"/>
          <p:cNvSpPr/>
          <p:nvPr/>
        </p:nvSpPr>
        <p:spPr>
          <a:xfrm>
            <a:off x="1512570" y="5154096"/>
            <a:ext cx="2001679" cy="259080"/>
          </a:xfrm>
          <a:prstGeom prst="rect">
            <a:avLst/>
          </a:prstGeom>
          <a:noFill/>
          <a:ln/>
        </p:spPr>
        <p:txBody>
          <a:bodyPr wrap="square" lIns="0" tIns="0" rIns="0" bIns="0" rtlCol="0" anchor="t">
            <a:normAutofit/>
          </a:bodyPr>
          <a:lstStyle/>
          <a:p>
            <a:pPr marL="0" indent="0" algn="l">
              <a:buNone/>
            </a:pPr>
            <a:r>
              <a:rPr lang="en-US" sz="1425" dirty="0">
                <a:solidFill>
                  <a:srgbClr val="12161D"/>
                </a:solidFill>
                <a:latin typeface="Pretendard" pitchFamily="34" charset="0"/>
                <a:ea typeface="Pretendard" pitchFamily="34" charset="-122"/>
                <a:cs typeface="Pretendard" pitchFamily="34" charset="-120"/>
              </a:rPr>
              <a:t>광양항 18건 · 1개 (GWCT)</a:t>
            </a:r>
            <a:endParaRPr lang="en-US" sz="1425" dirty="0"/>
          </a:p>
        </p:txBody>
      </p:sp>
      <p:sp>
        <p:nvSpPr>
          <p:cNvPr id="21" name="Shape 19"/>
          <p:cNvSpPr/>
          <p:nvPr/>
        </p:nvSpPr>
        <p:spPr>
          <a:xfrm>
            <a:off x="1303020" y="8260080"/>
            <a:ext cx="6419374" cy="849630"/>
          </a:xfrm>
          <a:prstGeom prst="roundRect">
            <a:avLst>
              <a:gd name="adj" fmla="val 13453"/>
            </a:avLst>
          </a:prstGeom>
          <a:solidFill>
            <a:srgbClr val="ECE7DD"/>
          </a:solidFill>
          <a:ln/>
        </p:spPr>
      </p:sp>
      <p:sp>
        <p:nvSpPr>
          <p:cNvPr id="22" name="Text 20"/>
          <p:cNvSpPr/>
          <p:nvPr/>
        </p:nvSpPr>
        <p:spPr>
          <a:xfrm>
            <a:off x="1512570" y="8431530"/>
            <a:ext cx="6192855" cy="544830"/>
          </a:xfrm>
          <a:prstGeom prst="rect">
            <a:avLst/>
          </a:prstGeom>
          <a:noFill/>
          <a:ln/>
        </p:spPr>
        <p:txBody>
          <a:bodyPr wrap="square" lIns="25400" tIns="25400" rIns="25400" bIns="25400" rtlCol="0" anchor="t">
            <a:normAutofit/>
          </a:bodyPr>
          <a:lstStyle/>
          <a:p>
            <a:pPr marL="0" indent="0" algn="l">
              <a:lnSpc>
                <a:spcPct val="114655"/>
              </a:lnSpc>
              <a:buNone/>
            </a:pPr>
            <a:r>
              <a:rPr lang="en-US" sz="1425" b="1" dirty="0">
                <a:solidFill>
                  <a:srgbClr val="A9640F"/>
                </a:solidFill>
                <a:latin typeface="Pretendard" pitchFamily="34" charset="0"/>
                <a:ea typeface="Pretendard" pitchFamily="34" charset="-122"/>
                <a:cs typeface="Pretendard" pitchFamily="34" charset="-120"/>
              </a:rPr>
              <a:t>헤더 변형 8종 자동 흡수 </a:t>
            </a:r>
            <a:r>
              <a:rPr lang="en-US" sz="1425" dirty="0">
                <a:solidFill>
                  <a:srgbClr val="12161D"/>
                </a:solidFill>
                <a:highlight>
                  <a:srgbClr val="ECE7DD"/>
                </a:highlight>
                <a:latin typeface="Pretendard" pitchFamily="34" charset="0"/>
                <a:ea typeface="Pretendard" pitchFamily="34" charset="-122"/>
                <a:cs typeface="Pretendard" pitchFamily="34" charset="-120"/>
              </a:rPr>
              <a:t>· 14일 백필 3,218건 — 공표 양식이 수시로 바뀌어도 정규화 유지</a:t>
            </a:r>
            <a:endParaRPr lang="en-US" sz="1425" dirty="0"/>
          </a:p>
        </p:txBody>
      </p:sp>
      <p:sp>
        <p:nvSpPr>
          <p:cNvPr id="23" name="Shape 21"/>
          <p:cNvSpPr/>
          <p:nvPr/>
        </p:nvSpPr>
        <p:spPr>
          <a:xfrm>
            <a:off x="8377714" y="2189917"/>
            <a:ext cx="8995886" cy="7251264"/>
          </a:xfrm>
          <a:prstGeom prst="roundRect">
            <a:avLst>
              <a:gd name="adj" fmla="val 2102"/>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4" name="Text 22"/>
          <p:cNvSpPr/>
          <p:nvPr/>
        </p:nvSpPr>
        <p:spPr>
          <a:xfrm>
            <a:off x="8766334" y="2483287"/>
            <a:ext cx="9040511"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12161D"/>
                </a:solidFill>
                <a:latin typeface="Pretendard" pitchFamily="34" charset="0"/>
                <a:ea typeface="Pretendard" pitchFamily="34" charset="-122"/>
                <a:cs typeface="Pretendard" pitchFamily="34" charset="-120"/>
              </a:rPr>
              <a:t>터미널별 선석배정 건수 — 이질 스키마 9종</a:t>
            </a:r>
            <a:endParaRPr lang="en-US" sz="1650" dirty="0"/>
          </a:p>
        </p:txBody>
      </p:sp>
      <p:sp>
        <p:nvSpPr>
          <p:cNvPr id="25" name="Text 23"/>
          <p:cNvSpPr/>
          <p:nvPr/>
        </p:nvSpPr>
        <p:spPr>
          <a:xfrm>
            <a:off x="8766334" y="2955727"/>
            <a:ext cx="2409825" cy="23622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Pretendard" pitchFamily="34" charset="0"/>
                <a:ea typeface="Pretendard" pitchFamily="34" charset="-122"/>
                <a:cs typeface="Pretendard" pitchFamily="34" charset="-120"/>
              </a:rPr>
              <a:t>DGT </a:t>
            </a:r>
            <a:r>
              <a:rPr lang="en-US" sz="1350" dirty="0">
                <a:solidFill>
                  <a:srgbClr val="9AA0A6"/>
                </a:solidFill>
                <a:latin typeface="Pretendard" pitchFamily="34" charset="0"/>
                <a:ea typeface="Pretendard" pitchFamily="34" charset="-122"/>
                <a:cs typeface="Pretendard" pitchFamily="34" charset="-120"/>
              </a:rPr>
              <a:t>부산신항 서컨</a:t>
            </a:r>
            <a:endParaRPr lang="en-US" sz="1350" dirty="0"/>
          </a:p>
        </p:txBody>
      </p:sp>
      <p:sp>
        <p:nvSpPr>
          <p:cNvPr id="26" name="Shape 24"/>
          <p:cNvSpPr/>
          <p:nvPr/>
        </p:nvSpPr>
        <p:spPr>
          <a:xfrm>
            <a:off x="11109484" y="2959537"/>
            <a:ext cx="5303997" cy="190500"/>
          </a:xfrm>
          <a:prstGeom prst="roundRect">
            <a:avLst>
              <a:gd name="adj" fmla="val 20000"/>
            </a:avLst>
          </a:prstGeom>
          <a:solidFill>
            <a:srgbClr val="EFEAE1"/>
          </a:solidFill>
          <a:ln/>
        </p:spPr>
      </p:sp>
      <p:sp>
        <p:nvSpPr>
          <p:cNvPr id="27" name="Shape 25"/>
          <p:cNvSpPr/>
          <p:nvPr/>
        </p:nvSpPr>
        <p:spPr>
          <a:xfrm>
            <a:off x="11109484" y="2959537"/>
            <a:ext cx="5303997" cy="190500"/>
          </a:xfrm>
          <a:prstGeom prst="rect">
            <a:avLst/>
          </a:prstGeom>
          <a:solidFill>
            <a:srgbClr val="9AA0A6"/>
          </a:solidFill>
          <a:ln/>
        </p:spPr>
      </p:sp>
      <p:sp>
        <p:nvSpPr>
          <p:cNvPr id="28" name="Text 26"/>
          <p:cNvSpPr/>
          <p:nvPr/>
        </p:nvSpPr>
        <p:spPr>
          <a:xfrm>
            <a:off x="16489681" y="2944297"/>
            <a:ext cx="495300" cy="25908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Pretendard" pitchFamily="34" charset="0"/>
                <a:ea typeface="Pretendard" pitchFamily="34" charset="-122"/>
                <a:cs typeface="Pretendard" pitchFamily="34" charset="-120"/>
              </a:rPr>
              <a:t>54</a:t>
            </a:r>
            <a:endParaRPr lang="en-US" sz="1425" dirty="0"/>
          </a:p>
        </p:txBody>
      </p:sp>
      <p:sp>
        <p:nvSpPr>
          <p:cNvPr id="29" name="Text 27"/>
          <p:cNvSpPr/>
          <p:nvPr/>
        </p:nvSpPr>
        <p:spPr>
          <a:xfrm>
            <a:off x="8766334" y="3300532"/>
            <a:ext cx="2409825" cy="23622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Pretendard" pitchFamily="34" charset="0"/>
                <a:ea typeface="Pretendard" pitchFamily="34" charset="-122"/>
                <a:cs typeface="Pretendard" pitchFamily="34" charset="-120"/>
              </a:rPr>
              <a:t>PNC </a:t>
            </a:r>
            <a:r>
              <a:rPr lang="en-US" sz="1350" dirty="0">
                <a:solidFill>
                  <a:srgbClr val="9AA0A6"/>
                </a:solidFill>
                <a:latin typeface="Pretendard" pitchFamily="34" charset="0"/>
                <a:ea typeface="Pretendard" pitchFamily="34" charset="-122"/>
                <a:cs typeface="Pretendard" pitchFamily="34" charset="-120"/>
              </a:rPr>
              <a:t>부산신항 2부두</a:t>
            </a:r>
            <a:endParaRPr lang="en-US" sz="1350" dirty="0"/>
          </a:p>
        </p:txBody>
      </p:sp>
      <p:sp>
        <p:nvSpPr>
          <p:cNvPr id="30" name="Shape 28"/>
          <p:cNvSpPr/>
          <p:nvPr/>
        </p:nvSpPr>
        <p:spPr>
          <a:xfrm>
            <a:off x="11109484" y="3304342"/>
            <a:ext cx="5303997" cy="190500"/>
          </a:xfrm>
          <a:prstGeom prst="roundRect">
            <a:avLst>
              <a:gd name="adj" fmla="val 20000"/>
            </a:avLst>
          </a:prstGeom>
          <a:solidFill>
            <a:srgbClr val="EFEAE1"/>
          </a:solidFill>
          <a:ln/>
        </p:spPr>
      </p:sp>
      <p:sp>
        <p:nvSpPr>
          <p:cNvPr id="31" name="Shape 29"/>
          <p:cNvSpPr/>
          <p:nvPr/>
        </p:nvSpPr>
        <p:spPr>
          <a:xfrm>
            <a:off x="11109484" y="3304342"/>
            <a:ext cx="4030980" cy="190500"/>
          </a:xfrm>
          <a:prstGeom prst="rect">
            <a:avLst/>
          </a:prstGeom>
          <a:solidFill>
            <a:srgbClr val="9AA0A6"/>
          </a:solidFill>
          <a:ln/>
        </p:spPr>
      </p:sp>
      <p:sp>
        <p:nvSpPr>
          <p:cNvPr id="32" name="Text 30"/>
          <p:cNvSpPr/>
          <p:nvPr/>
        </p:nvSpPr>
        <p:spPr>
          <a:xfrm>
            <a:off x="16489681" y="3289102"/>
            <a:ext cx="495300" cy="25908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Pretendard" pitchFamily="34" charset="0"/>
                <a:ea typeface="Pretendard" pitchFamily="34" charset="-122"/>
                <a:cs typeface="Pretendard" pitchFamily="34" charset="-120"/>
              </a:rPr>
              <a:t>41</a:t>
            </a:r>
            <a:endParaRPr lang="en-US" sz="1425" dirty="0"/>
          </a:p>
        </p:txBody>
      </p:sp>
      <p:sp>
        <p:nvSpPr>
          <p:cNvPr id="33" name="Text 31"/>
          <p:cNvSpPr/>
          <p:nvPr/>
        </p:nvSpPr>
        <p:spPr>
          <a:xfrm>
            <a:off x="8766334" y="3645337"/>
            <a:ext cx="2409825" cy="23622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Pretendard" pitchFamily="34" charset="0"/>
                <a:ea typeface="Pretendard" pitchFamily="34" charset="-122"/>
                <a:cs typeface="Pretendard" pitchFamily="34" charset="-120"/>
              </a:rPr>
              <a:t>HJNC </a:t>
            </a:r>
            <a:r>
              <a:rPr lang="en-US" sz="1350" dirty="0">
                <a:solidFill>
                  <a:srgbClr val="9AA0A6"/>
                </a:solidFill>
                <a:latin typeface="Pretendard" pitchFamily="34" charset="0"/>
                <a:ea typeface="Pretendard" pitchFamily="34" charset="-122"/>
                <a:cs typeface="Pretendard" pitchFamily="34" charset="-120"/>
              </a:rPr>
              <a:t>부산신항 3부두</a:t>
            </a:r>
            <a:endParaRPr lang="en-US" sz="1350" dirty="0"/>
          </a:p>
        </p:txBody>
      </p:sp>
      <p:sp>
        <p:nvSpPr>
          <p:cNvPr id="34" name="Shape 32"/>
          <p:cNvSpPr/>
          <p:nvPr/>
        </p:nvSpPr>
        <p:spPr>
          <a:xfrm>
            <a:off x="11109484" y="3649147"/>
            <a:ext cx="5303997" cy="190500"/>
          </a:xfrm>
          <a:prstGeom prst="roundRect">
            <a:avLst>
              <a:gd name="adj" fmla="val 20000"/>
            </a:avLst>
          </a:prstGeom>
          <a:solidFill>
            <a:srgbClr val="EFEAE1"/>
          </a:solidFill>
          <a:ln/>
        </p:spPr>
      </p:sp>
      <p:sp>
        <p:nvSpPr>
          <p:cNvPr id="35" name="Shape 33"/>
          <p:cNvSpPr/>
          <p:nvPr/>
        </p:nvSpPr>
        <p:spPr>
          <a:xfrm>
            <a:off x="11109484" y="3649147"/>
            <a:ext cx="3023235" cy="190500"/>
          </a:xfrm>
          <a:prstGeom prst="rect">
            <a:avLst/>
          </a:prstGeom>
          <a:solidFill>
            <a:srgbClr val="9AA0A6"/>
          </a:solidFill>
          <a:ln/>
        </p:spPr>
      </p:sp>
      <p:sp>
        <p:nvSpPr>
          <p:cNvPr id="36" name="Text 34"/>
          <p:cNvSpPr/>
          <p:nvPr/>
        </p:nvSpPr>
        <p:spPr>
          <a:xfrm>
            <a:off x="16489681" y="3633907"/>
            <a:ext cx="495300" cy="25908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Pretendard" pitchFamily="34" charset="0"/>
                <a:ea typeface="Pretendard" pitchFamily="34" charset="-122"/>
                <a:cs typeface="Pretendard" pitchFamily="34" charset="-120"/>
              </a:rPr>
              <a:t>31</a:t>
            </a:r>
            <a:endParaRPr lang="en-US" sz="1425" dirty="0"/>
          </a:p>
        </p:txBody>
      </p:sp>
      <p:sp>
        <p:nvSpPr>
          <p:cNvPr id="37" name="Text 35"/>
          <p:cNvSpPr/>
          <p:nvPr/>
        </p:nvSpPr>
        <p:spPr>
          <a:xfrm>
            <a:off x="8766334" y="3990142"/>
            <a:ext cx="2409825" cy="23622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Pretendard" pitchFamily="34" charset="0"/>
                <a:ea typeface="Pretendard" pitchFamily="34" charset="-122"/>
                <a:cs typeface="Pretendard" pitchFamily="34" charset="-120"/>
              </a:rPr>
              <a:t>ICON </a:t>
            </a:r>
            <a:r>
              <a:rPr lang="en-US" sz="1350" dirty="0">
                <a:solidFill>
                  <a:srgbClr val="9AA0A6"/>
                </a:solidFill>
                <a:latin typeface="Pretendard" pitchFamily="34" charset="0"/>
                <a:ea typeface="Pretendard" pitchFamily="34" charset="-122"/>
                <a:cs typeface="Pretendard" pitchFamily="34" charset="-120"/>
              </a:rPr>
              <a:t>인천 통합</a:t>
            </a:r>
            <a:endParaRPr lang="en-US" sz="1350" dirty="0"/>
          </a:p>
        </p:txBody>
      </p:sp>
      <p:sp>
        <p:nvSpPr>
          <p:cNvPr id="38" name="Shape 36"/>
          <p:cNvSpPr/>
          <p:nvPr/>
        </p:nvSpPr>
        <p:spPr>
          <a:xfrm>
            <a:off x="11109484" y="3993952"/>
            <a:ext cx="5303997" cy="190500"/>
          </a:xfrm>
          <a:prstGeom prst="roundRect">
            <a:avLst>
              <a:gd name="adj" fmla="val 20000"/>
            </a:avLst>
          </a:prstGeom>
          <a:solidFill>
            <a:srgbClr val="EFEAE1"/>
          </a:solidFill>
          <a:ln/>
        </p:spPr>
      </p:sp>
      <p:sp>
        <p:nvSpPr>
          <p:cNvPr id="39" name="Shape 37"/>
          <p:cNvSpPr/>
          <p:nvPr/>
        </p:nvSpPr>
        <p:spPr>
          <a:xfrm>
            <a:off x="11109484" y="3993952"/>
            <a:ext cx="1962388" cy="190500"/>
          </a:xfrm>
          <a:prstGeom prst="rect">
            <a:avLst/>
          </a:prstGeom>
          <a:solidFill>
            <a:srgbClr val="A9640F"/>
          </a:solidFill>
          <a:ln/>
        </p:spPr>
      </p:sp>
      <p:sp>
        <p:nvSpPr>
          <p:cNvPr id="40" name="Text 38"/>
          <p:cNvSpPr/>
          <p:nvPr/>
        </p:nvSpPr>
        <p:spPr>
          <a:xfrm>
            <a:off x="16489681" y="3978712"/>
            <a:ext cx="495300" cy="25908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Pretendard" pitchFamily="34" charset="0"/>
                <a:ea typeface="Pretendard" pitchFamily="34" charset="-122"/>
                <a:cs typeface="Pretendard" pitchFamily="34" charset="-120"/>
              </a:rPr>
              <a:t>20</a:t>
            </a:r>
            <a:endParaRPr lang="en-US" sz="1425" dirty="0"/>
          </a:p>
        </p:txBody>
      </p:sp>
      <p:sp>
        <p:nvSpPr>
          <p:cNvPr id="41" name="Text 39"/>
          <p:cNvSpPr/>
          <p:nvPr/>
        </p:nvSpPr>
        <p:spPr>
          <a:xfrm>
            <a:off x="8766334" y="4334947"/>
            <a:ext cx="2409825" cy="23622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Pretendard" pitchFamily="34" charset="0"/>
                <a:ea typeface="Pretendard" pitchFamily="34" charset="-122"/>
                <a:cs typeface="Pretendard" pitchFamily="34" charset="-120"/>
              </a:rPr>
              <a:t>BNCT </a:t>
            </a:r>
            <a:r>
              <a:rPr lang="en-US" sz="1350" dirty="0">
                <a:solidFill>
                  <a:srgbClr val="9AA0A6"/>
                </a:solidFill>
                <a:latin typeface="Pretendard" pitchFamily="34" charset="0"/>
                <a:ea typeface="Pretendard" pitchFamily="34" charset="-122"/>
                <a:cs typeface="Pretendard" pitchFamily="34" charset="-120"/>
              </a:rPr>
              <a:t>부산신항 5부두</a:t>
            </a:r>
            <a:endParaRPr lang="en-US" sz="1350" dirty="0"/>
          </a:p>
        </p:txBody>
      </p:sp>
      <p:sp>
        <p:nvSpPr>
          <p:cNvPr id="42" name="Shape 40"/>
          <p:cNvSpPr/>
          <p:nvPr/>
        </p:nvSpPr>
        <p:spPr>
          <a:xfrm>
            <a:off x="11109484" y="4338757"/>
            <a:ext cx="5303997" cy="190500"/>
          </a:xfrm>
          <a:prstGeom prst="roundRect">
            <a:avLst>
              <a:gd name="adj" fmla="val 20000"/>
            </a:avLst>
          </a:prstGeom>
          <a:solidFill>
            <a:srgbClr val="EFEAE1"/>
          </a:solidFill>
          <a:ln/>
        </p:spPr>
      </p:sp>
      <p:sp>
        <p:nvSpPr>
          <p:cNvPr id="43" name="Shape 41"/>
          <p:cNvSpPr/>
          <p:nvPr/>
        </p:nvSpPr>
        <p:spPr>
          <a:xfrm>
            <a:off x="11109484" y="4338757"/>
            <a:ext cx="1750219" cy="190500"/>
          </a:xfrm>
          <a:prstGeom prst="rect">
            <a:avLst/>
          </a:prstGeom>
          <a:solidFill>
            <a:srgbClr val="9AA0A6"/>
          </a:solidFill>
          <a:ln/>
        </p:spPr>
      </p:sp>
      <p:sp>
        <p:nvSpPr>
          <p:cNvPr id="44" name="Text 42"/>
          <p:cNvSpPr/>
          <p:nvPr/>
        </p:nvSpPr>
        <p:spPr>
          <a:xfrm>
            <a:off x="16489681" y="4323517"/>
            <a:ext cx="495300" cy="25908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Pretendard" pitchFamily="34" charset="0"/>
                <a:ea typeface="Pretendard" pitchFamily="34" charset="-122"/>
                <a:cs typeface="Pretendard" pitchFamily="34" charset="-120"/>
              </a:rPr>
              <a:t>18</a:t>
            </a:r>
            <a:endParaRPr lang="en-US" sz="1425" dirty="0"/>
          </a:p>
        </p:txBody>
      </p:sp>
      <p:sp>
        <p:nvSpPr>
          <p:cNvPr id="45" name="Text 43"/>
          <p:cNvSpPr/>
          <p:nvPr/>
        </p:nvSpPr>
        <p:spPr>
          <a:xfrm>
            <a:off x="8766334" y="4679752"/>
            <a:ext cx="2409825" cy="23622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Pretendard" pitchFamily="34" charset="0"/>
                <a:ea typeface="Pretendard" pitchFamily="34" charset="-122"/>
                <a:cs typeface="Pretendard" pitchFamily="34" charset="-120"/>
              </a:rPr>
              <a:t>GWCT </a:t>
            </a:r>
            <a:r>
              <a:rPr lang="en-US" sz="1350" dirty="0">
                <a:solidFill>
                  <a:srgbClr val="9AA0A6"/>
                </a:solidFill>
                <a:latin typeface="Pretendard" pitchFamily="34" charset="0"/>
                <a:ea typeface="Pretendard" pitchFamily="34" charset="-122"/>
                <a:cs typeface="Pretendard" pitchFamily="34" charset="-120"/>
              </a:rPr>
              <a:t>광양 서부컨</a:t>
            </a:r>
            <a:endParaRPr lang="en-US" sz="1350" dirty="0"/>
          </a:p>
        </p:txBody>
      </p:sp>
      <p:sp>
        <p:nvSpPr>
          <p:cNvPr id="46" name="Shape 44"/>
          <p:cNvSpPr/>
          <p:nvPr/>
        </p:nvSpPr>
        <p:spPr>
          <a:xfrm>
            <a:off x="11109484" y="4683562"/>
            <a:ext cx="5303997" cy="190500"/>
          </a:xfrm>
          <a:prstGeom prst="roundRect">
            <a:avLst>
              <a:gd name="adj" fmla="val 20000"/>
            </a:avLst>
          </a:prstGeom>
          <a:solidFill>
            <a:srgbClr val="EFEAE1"/>
          </a:solidFill>
          <a:ln/>
        </p:spPr>
      </p:sp>
      <p:sp>
        <p:nvSpPr>
          <p:cNvPr id="47" name="Shape 45"/>
          <p:cNvSpPr/>
          <p:nvPr/>
        </p:nvSpPr>
        <p:spPr>
          <a:xfrm>
            <a:off x="11109484" y="4683562"/>
            <a:ext cx="1750219" cy="190500"/>
          </a:xfrm>
          <a:prstGeom prst="rect">
            <a:avLst/>
          </a:prstGeom>
          <a:solidFill>
            <a:srgbClr val="9AA0A6"/>
          </a:solidFill>
          <a:ln/>
        </p:spPr>
      </p:sp>
      <p:sp>
        <p:nvSpPr>
          <p:cNvPr id="48" name="Text 46"/>
          <p:cNvSpPr/>
          <p:nvPr/>
        </p:nvSpPr>
        <p:spPr>
          <a:xfrm>
            <a:off x="16489681" y="4668322"/>
            <a:ext cx="495300" cy="25908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Pretendard" pitchFamily="34" charset="0"/>
                <a:ea typeface="Pretendard" pitchFamily="34" charset="-122"/>
                <a:cs typeface="Pretendard" pitchFamily="34" charset="-120"/>
              </a:rPr>
              <a:t>18</a:t>
            </a:r>
            <a:endParaRPr lang="en-US" sz="1425" dirty="0"/>
          </a:p>
        </p:txBody>
      </p:sp>
      <p:sp>
        <p:nvSpPr>
          <p:cNvPr id="49" name="Text 47"/>
          <p:cNvSpPr/>
          <p:nvPr/>
        </p:nvSpPr>
        <p:spPr>
          <a:xfrm>
            <a:off x="8766334" y="5024557"/>
            <a:ext cx="2409825" cy="23622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Pretendard" pitchFamily="34" charset="0"/>
                <a:ea typeface="Pretendard" pitchFamily="34" charset="-122"/>
                <a:cs typeface="Pretendard" pitchFamily="34" charset="-120"/>
              </a:rPr>
              <a:t>HPNT </a:t>
            </a:r>
            <a:r>
              <a:rPr lang="en-US" sz="1350" dirty="0">
                <a:solidFill>
                  <a:srgbClr val="9AA0A6"/>
                </a:solidFill>
                <a:latin typeface="Pretendard" pitchFamily="34" charset="0"/>
                <a:ea typeface="Pretendard" pitchFamily="34" charset="-122"/>
                <a:cs typeface="Pretendard" pitchFamily="34" charset="-120"/>
              </a:rPr>
              <a:t>부산신항 4부두</a:t>
            </a:r>
            <a:endParaRPr lang="en-US" sz="1350" dirty="0"/>
          </a:p>
        </p:txBody>
      </p:sp>
      <p:sp>
        <p:nvSpPr>
          <p:cNvPr id="50" name="Shape 48"/>
          <p:cNvSpPr/>
          <p:nvPr/>
        </p:nvSpPr>
        <p:spPr>
          <a:xfrm>
            <a:off x="11109484" y="5028367"/>
            <a:ext cx="5303997" cy="190500"/>
          </a:xfrm>
          <a:prstGeom prst="roundRect">
            <a:avLst>
              <a:gd name="adj" fmla="val 20000"/>
            </a:avLst>
          </a:prstGeom>
          <a:solidFill>
            <a:srgbClr val="EFEAE1"/>
          </a:solidFill>
          <a:ln/>
        </p:spPr>
      </p:sp>
      <p:sp>
        <p:nvSpPr>
          <p:cNvPr id="51" name="Shape 49"/>
          <p:cNvSpPr/>
          <p:nvPr/>
        </p:nvSpPr>
        <p:spPr>
          <a:xfrm>
            <a:off x="11109484" y="5028367"/>
            <a:ext cx="1644134" cy="190500"/>
          </a:xfrm>
          <a:prstGeom prst="rect">
            <a:avLst/>
          </a:prstGeom>
          <a:solidFill>
            <a:srgbClr val="9AA0A6"/>
          </a:solidFill>
          <a:ln/>
        </p:spPr>
      </p:sp>
      <p:sp>
        <p:nvSpPr>
          <p:cNvPr id="52" name="Text 50"/>
          <p:cNvSpPr/>
          <p:nvPr/>
        </p:nvSpPr>
        <p:spPr>
          <a:xfrm>
            <a:off x="16489681" y="5013127"/>
            <a:ext cx="495300" cy="25908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Pretendard" pitchFamily="34" charset="0"/>
                <a:ea typeface="Pretendard" pitchFamily="34" charset="-122"/>
                <a:cs typeface="Pretendard" pitchFamily="34" charset="-120"/>
              </a:rPr>
              <a:t>17</a:t>
            </a:r>
            <a:endParaRPr lang="en-US" sz="1425" dirty="0"/>
          </a:p>
        </p:txBody>
      </p:sp>
      <p:sp>
        <p:nvSpPr>
          <p:cNvPr id="53" name="Text 51"/>
          <p:cNvSpPr/>
          <p:nvPr/>
        </p:nvSpPr>
        <p:spPr>
          <a:xfrm>
            <a:off x="8766334" y="5369362"/>
            <a:ext cx="2409825" cy="23622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Pretendard" pitchFamily="34" charset="0"/>
                <a:ea typeface="Pretendard" pitchFamily="34" charset="-122"/>
                <a:cs typeface="Pretendard" pitchFamily="34" charset="-120"/>
              </a:rPr>
              <a:t>PNIT </a:t>
            </a:r>
            <a:r>
              <a:rPr lang="en-US" sz="1350" dirty="0">
                <a:solidFill>
                  <a:srgbClr val="9AA0A6"/>
                </a:solidFill>
                <a:latin typeface="Pretendard" pitchFamily="34" charset="0"/>
                <a:ea typeface="Pretendard" pitchFamily="34" charset="-122"/>
                <a:cs typeface="Pretendard" pitchFamily="34" charset="-120"/>
              </a:rPr>
              <a:t>부산신항 1부두</a:t>
            </a:r>
            <a:endParaRPr lang="en-US" sz="1350" dirty="0"/>
          </a:p>
        </p:txBody>
      </p:sp>
      <p:sp>
        <p:nvSpPr>
          <p:cNvPr id="54" name="Shape 52"/>
          <p:cNvSpPr/>
          <p:nvPr/>
        </p:nvSpPr>
        <p:spPr>
          <a:xfrm>
            <a:off x="11109484" y="5373171"/>
            <a:ext cx="5303997" cy="190500"/>
          </a:xfrm>
          <a:prstGeom prst="roundRect">
            <a:avLst>
              <a:gd name="adj" fmla="val 20000"/>
            </a:avLst>
          </a:prstGeom>
          <a:solidFill>
            <a:srgbClr val="EFEAE1"/>
          </a:solidFill>
          <a:ln/>
        </p:spPr>
      </p:sp>
      <p:sp>
        <p:nvSpPr>
          <p:cNvPr id="55" name="Shape 53"/>
          <p:cNvSpPr/>
          <p:nvPr/>
        </p:nvSpPr>
        <p:spPr>
          <a:xfrm>
            <a:off x="11109484" y="5373171"/>
            <a:ext cx="1591151" cy="190500"/>
          </a:xfrm>
          <a:prstGeom prst="rect">
            <a:avLst/>
          </a:prstGeom>
          <a:solidFill>
            <a:srgbClr val="9AA0A6"/>
          </a:solidFill>
          <a:ln/>
        </p:spPr>
      </p:sp>
      <p:sp>
        <p:nvSpPr>
          <p:cNvPr id="56" name="Text 54"/>
          <p:cNvSpPr/>
          <p:nvPr/>
        </p:nvSpPr>
        <p:spPr>
          <a:xfrm>
            <a:off x="16489681" y="5357932"/>
            <a:ext cx="495300" cy="25908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Pretendard" pitchFamily="34" charset="0"/>
                <a:ea typeface="Pretendard" pitchFamily="34" charset="-122"/>
                <a:cs typeface="Pretendard" pitchFamily="34" charset="-120"/>
              </a:rPr>
              <a:t>16</a:t>
            </a:r>
            <a:endParaRPr lang="en-US" sz="1425" dirty="0"/>
          </a:p>
        </p:txBody>
      </p:sp>
      <p:sp>
        <p:nvSpPr>
          <p:cNvPr id="57" name="Text 55"/>
          <p:cNvSpPr/>
          <p:nvPr/>
        </p:nvSpPr>
        <p:spPr>
          <a:xfrm>
            <a:off x="8766334" y="5714167"/>
            <a:ext cx="2409825" cy="23622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Pretendard" pitchFamily="34" charset="0"/>
                <a:ea typeface="Pretendard" pitchFamily="34" charset="-122"/>
                <a:cs typeface="Pretendard" pitchFamily="34" charset="-120"/>
              </a:rPr>
              <a:t>E1CT </a:t>
            </a:r>
            <a:r>
              <a:rPr lang="en-US" sz="1350" dirty="0">
                <a:solidFill>
                  <a:srgbClr val="9AA0A6"/>
                </a:solidFill>
                <a:latin typeface="Pretendard" pitchFamily="34" charset="0"/>
                <a:ea typeface="Pretendard" pitchFamily="34" charset="-122"/>
                <a:cs typeface="Pretendard" pitchFamily="34" charset="-120"/>
              </a:rPr>
              <a:t>인천 E1</a:t>
            </a:r>
            <a:endParaRPr lang="en-US" sz="1350" dirty="0"/>
          </a:p>
        </p:txBody>
      </p:sp>
      <p:sp>
        <p:nvSpPr>
          <p:cNvPr id="58" name="Shape 56"/>
          <p:cNvSpPr/>
          <p:nvPr/>
        </p:nvSpPr>
        <p:spPr>
          <a:xfrm>
            <a:off x="11109484" y="5717977"/>
            <a:ext cx="5303997" cy="190500"/>
          </a:xfrm>
          <a:prstGeom prst="roundRect">
            <a:avLst>
              <a:gd name="adj" fmla="val 20000"/>
            </a:avLst>
          </a:prstGeom>
          <a:solidFill>
            <a:srgbClr val="EFEAE1"/>
          </a:solidFill>
          <a:ln/>
        </p:spPr>
      </p:sp>
      <p:sp>
        <p:nvSpPr>
          <p:cNvPr id="59" name="Shape 57"/>
          <p:cNvSpPr/>
          <p:nvPr/>
        </p:nvSpPr>
        <p:spPr>
          <a:xfrm>
            <a:off x="11109484" y="5717977"/>
            <a:ext cx="901660" cy="190500"/>
          </a:xfrm>
          <a:prstGeom prst="rect">
            <a:avLst/>
          </a:prstGeom>
          <a:solidFill>
            <a:srgbClr val="9AA0A6"/>
          </a:solidFill>
          <a:ln/>
        </p:spPr>
      </p:sp>
      <p:sp>
        <p:nvSpPr>
          <p:cNvPr id="60" name="Text 58"/>
          <p:cNvSpPr/>
          <p:nvPr/>
        </p:nvSpPr>
        <p:spPr>
          <a:xfrm>
            <a:off x="16489681" y="5702737"/>
            <a:ext cx="495300" cy="25908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Pretendard" pitchFamily="34" charset="0"/>
                <a:ea typeface="Pretendard" pitchFamily="34" charset="-122"/>
                <a:cs typeface="Pretendard" pitchFamily="34" charset="-120"/>
              </a:rPr>
              <a:t>9</a:t>
            </a:r>
            <a:endParaRPr lang="en-US" sz="1425" dirty="0"/>
          </a:p>
        </p:txBody>
      </p:sp>
      <p:sp>
        <p:nvSpPr>
          <p:cNvPr id="61" name="Text 59"/>
          <p:cNvSpPr/>
          <p:nvPr/>
        </p:nvSpPr>
        <p:spPr>
          <a:xfrm>
            <a:off x="8766334" y="8894445"/>
            <a:ext cx="8465206" cy="291465"/>
          </a:xfrm>
          <a:prstGeom prst="rect">
            <a:avLst/>
          </a:prstGeom>
          <a:noFill/>
          <a:ln/>
        </p:spPr>
        <p:txBody>
          <a:bodyPr wrap="square" lIns="25400" tIns="25400" rIns="25400" bIns="25400" rtlCol="0" anchor="t">
            <a:normAutofit/>
          </a:bodyPr>
          <a:lstStyle/>
          <a:p>
            <a:pPr marL="0" indent="0" algn="l">
              <a:lnSpc>
                <a:spcPct val="114655"/>
              </a:lnSpc>
              <a:buNone/>
            </a:pPr>
            <a:r>
              <a:rPr lang="en-US" sz="1425" b="1" dirty="0">
                <a:solidFill>
                  <a:srgbClr val="12161D"/>
                </a:solidFill>
                <a:latin typeface="Pretendard" pitchFamily="34" charset="0"/>
                <a:ea typeface="Pretendard" pitchFamily="34" charset="-122"/>
                <a:cs typeface="Pretendard" pitchFamily="34" charset="-120"/>
              </a:rPr>
              <a:t>선명(ROUTE) 결합·괄호 표기 등 시트별 특이 스키마 </a:t>
            </a:r>
            <a:r>
              <a:rPr lang="en-US" sz="1425" dirty="0">
                <a:solidFill>
                  <a:srgbClr val="6F6A5F"/>
                </a:solidFill>
                <a:latin typeface="Pretendard" pitchFamily="34" charset="0"/>
                <a:ea typeface="Pretendard" pitchFamily="34" charset="-122"/>
                <a:cs typeface="Pretendard" pitchFamily="34" charset="-120"/>
              </a:rPr>
              <a:t>— 매핑 테이블로 공통 스키마 정규화</a:t>
            </a:r>
            <a:endParaRPr lang="en-US" sz="1425" dirty="0"/>
          </a:p>
        </p:txBody>
      </p:sp>
      <p:sp>
        <p:nvSpPr>
          <p:cNvPr id="62" name="Shape 60"/>
          <p:cNvSpPr/>
          <p:nvPr/>
        </p:nvSpPr>
        <p:spPr>
          <a:xfrm>
            <a:off x="914400" y="9650730"/>
            <a:ext cx="16459200" cy="9525"/>
          </a:xfrm>
          <a:prstGeom prst="rect">
            <a:avLst/>
          </a:prstGeom>
          <a:solidFill>
            <a:srgbClr val="E9E4DC"/>
          </a:solidFill>
          <a:ln/>
        </p:spPr>
      </p:sp>
      <p:sp>
        <p:nvSpPr>
          <p:cNvPr id="63" name="Text 61"/>
          <p:cNvSpPr/>
          <p:nvPr/>
        </p:nvSpPr>
        <p:spPr>
          <a:xfrm>
            <a:off x="914400" y="9772650"/>
            <a:ext cx="7122474"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출처 · TWL SmartBPO PRD §6.1 원본 구조(2026-07-27, 9개 터미널 224건) · 백필 3,218건(14일)</a:t>
            </a:r>
            <a:endParaRPr lang="en-US" sz="1275" dirty="0"/>
          </a:p>
        </p:txBody>
      </p:sp>
      <p:sp>
        <p:nvSpPr>
          <p:cNvPr id="64" name="Text 62"/>
          <p:cNvSpPr/>
          <p:nvPr/>
        </p:nvSpPr>
        <p:spPr>
          <a:xfrm>
            <a:off x="17176671" y="9772650"/>
            <a:ext cx="273129"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07</a:t>
            </a:r>
            <a:endParaRPr lang="en-US" sz="12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01 현황 ·</a:t>
            </a:r>
            <a:r>
              <a:rPr lang="en-US" sz="1425" b="1" kern="0" spc="57" dirty="0">
                <a:solidFill>
                  <a:srgbClr val="28666E"/>
                </a:solidFill>
                <a:latin typeface="Pretendard" pitchFamily="34" charset="0"/>
                <a:ea typeface="Pretendard" pitchFamily="34" charset="-122"/>
                <a:cs typeface="Pretendard" pitchFamily="34" charset="-120"/>
              </a:rPr>
              <a:t>가시성 수요</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항만은 붐비고, 운임은 출렁이며, ETA는 불확실하다</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혼잡·운임·경로 변동성이 상시화 — 글로벌 공급망 가시성이 곧 경쟁력</a:t>
            </a:r>
            <a:endParaRPr lang="en-US" sz="1875" dirty="0"/>
          </a:p>
        </p:txBody>
      </p:sp>
      <p:sp>
        <p:nvSpPr>
          <p:cNvPr id="5" name="Shape 3"/>
          <p:cNvSpPr/>
          <p:nvPr/>
        </p:nvSpPr>
        <p:spPr>
          <a:xfrm>
            <a:off x="914400" y="2189917"/>
            <a:ext cx="3929063" cy="62682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26820" y="2483287"/>
            <a:ext cx="3634645"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글로벌 혼잡도 모니터링</a:t>
            </a:r>
            <a:endParaRPr lang="en-US" sz="1425" dirty="0"/>
          </a:p>
        </p:txBody>
      </p:sp>
      <p:sp>
        <p:nvSpPr>
          <p:cNvPr id="7" name="Text 5"/>
          <p:cNvSpPr/>
          <p:nvPr/>
        </p:nvSpPr>
        <p:spPr>
          <a:xfrm>
            <a:off x="1226820" y="6777514"/>
            <a:ext cx="1115497" cy="750570"/>
          </a:xfrm>
          <a:prstGeom prst="rect">
            <a:avLst/>
          </a:prstGeom>
          <a:noFill/>
          <a:ln/>
        </p:spPr>
        <p:txBody>
          <a:bodyPr wrap="square" lIns="25400" tIns="25400" rIns="25400" bIns="25400" rtlCol="0" anchor="t">
            <a:normAutofit/>
          </a:bodyPr>
          <a:lstStyle/>
          <a:p>
            <a:pPr marL="0" indent="0" algn="l">
              <a:lnSpc>
                <a:spcPct val="70833"/>
              </a:lnSpc>
              <a:buNone/>
            </a:pPr>
            <a:r>
              <a:rPr lang="en-US" sz="6600" b="1" kern="0" spc="-198" dirty="0">
                <a:solidFill>
                  <a:srgbClr val="12161D"/>
                </a:solidFill>
                <a:latin typeface="Pretendard" pitchFamily="34" charset="0"/>
                <a:ea typeface="Pretendard" pitchFamily="34" charset="-122"/>
                <a:cs typeface="Pretendard" pitchFamily="34" charset="-120"/>
              </a:rPr>
              <a:t>93</a:t>
            </a:r>
            <a:endParaRPr lang="en-US" sz="6600" dirty="0"/>
          </a:p>
        </p:txBody>
      </p:sp>
      <p:sp>
        <p:nvSpPr>
          <p:cNvPr id="8" name="Text 6"/>
          <p:cNvSpPr/>
          <p:nvPr/>
        </p:nvSpPr>
        <p:spPr>
          <a:xfrm>
            <a:off x="2342317" y="7150894"/>
            <a:ext cx="882968" cy="3810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Pretendard" pitchFamily="34" charset="0"/>
                <a:ea typeface="Pretendard" pitchFamily="34" charset="-122"/>
                <a:cs typeface="Pretendard" pitchFamily="34" charset="-120"/>
              </a:rPr>
              <a:t>개 항만</a:t>
            </a:r>
            <a:endParaRPr lang="en-US" sz="2250" dirty="0"/>
          </a:p>
        </p:txBody>
      </p:sp>
      <p:sp>
        <p:nvSpPr>
          <p:cNvPr id="9" name="Text 7"/>
          <p:cNvSpPr/>
          <p:nvPr/>
        </p:nvSpPr>
        <p:spPr>
          <a:xfrm>
            <a:off x="1226820" y="7627144"/>
            <a:ext cx="3634645" cy="274320"/>
          </a:xfrm>
          <a:prstGeom prst="rect">
            <a:avLst/>
          </a:prstGeom>
          <a:noFill/>
          <a:ln/>
        </p:spPr>
        <p:txBody>
          <a:bodyPr wrap="square" lIns="25400" tIns="25400" rIns="25400" bIns="25400" rtlCol="0" anchor="t">
            <a:normAutofit/>
          </a:bodyPr>
          <a:lstStyle/>
          <a:p>
            <a:pPr marL="0" indent="0" algn="l">
              <a:buNone/>
            </a:pPr>
            <a:r>
              <a:rPr lang="en-US" sz="1575" b="1" dirty="0">
                <a:solidFill>
                  <a:srgbClr val="28666E"/>
                </a:solidFill>
                <a:latin typeface="Pretendard" pitchFamily="34" charset="0"/>
                <a:ea typeface="Pretendard" pitchFamily="34" charset="-122"/>
                <a:cs typeface="Pretendard" pitchFamily="34" charset="-120"/>
              </a:rPr>
              <a:t>IMF PortWatch 위성 AIS</a:t>
            </a:r>
            <a:endParaRPr lang="en-US" sz="1575" dirty="0"/>
          </a:p>
        </p:txBody>
      </p:sp>
      <p:sp>
        <p:nvSpPr>
          <p:cNvPr id="10" name="Text 8"/>
          <p:cNvSpPr/>
          <p:nvPr/>
        </p:nvSpPr>
        <p:spPr>
          <a:xfrm>
            <a:off x="1226820" y="7920514"/>
            <a:ext cx="3634645" cy="282416"/>
          </a:xfrm>
          <a:prstGeom prst="rect">
            <a:avLst/>
          </a:prstGeom>
          <a:noFill/>
          <a:ln/>
        </p:spPr>
        <p:txBody>
          <a:bodyPr wrap="square" lIns="25400" tIns="25400" rIns="25400" bIns="25400" rtlCol="0" anchor="t">
            <a:normAutofit/>
          </a:bodyPr>
          <a:lstStyle/>
          <a:p>
            <a:pPr marL="0" indent="0" algn="l">
              <a:lnSpc>
                <a:spcPct val="110560"/>
              </a:lnSpc>
              <a:buNone/>
            </a:pPr>
            <a:r>
              <a:rPr lang="en-US" sz="1425" dirty="0">
                <a:solidFill>
                  <a:srgbClr val="6F6A5F"/>
                </a:solidFill>
                <a:latin typeface="Pretendard" pitchFamily="34" charset="0"/>
                <a:ea typeface="Pretendard" pitchFamily="34" charset="-122"/>
                <a:cs typeface="Pretendard" pitchFamily="34" charset="-120"/>
              </a:rPr>
              <a:t>Focus Port 93개 매일 PCI 산출 (10,212행)</a:t>
            </a:r>
            <a:endParaRPr lang="en-US" sz="1425" dirty="0"/>
          </a:p>
        </p:txBody>
      </p:sp>
      <p:sp>
        <p:nvSpPr>
          <p:cNvPr id="11" name="Shape 9"/>
          <p:cNvSpPr/>
          <p:nvPr/>
        </p:nvSpPr>
        <p:spPr>
          <a:xfrm>
            <a:off x="5091113" y="2189917"/>
            <a:ext cx="3929063" cy="62682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5403532" y="2483287"/>
            <a:ext cx="3634645"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사전계산 해상 항로</a:t>
            </a:r>
            <a:endParaRPr lang="en-US" sz="1425" dirty="0"/>
          </a:p>
        </p:txBody>
      </p:sp>
      <p:sp>
        <p:nvSpPr>
          <p:cNvPr id="13" name="Text 11"/>
          <p:cNvSpPr/>
          <p:nvPr/>
        </p:nvSpPr>
        <p:spPr>
          <a:xfrm>
            <a:off x="5403532" y="6533198"/>
            <a:ext cx="2496395" cy="750570"/>
          </a:xfrm>
          <a:prstGeom prst="rect">
            <a:avLst/>
          </a:prstGeom>
          <a:noFill/>
          <a:ln/>
        </p:spPr>
        <p:txBody>
          <a:bodyPr wrap="square" lIns="25400" tIns="25400" rIns="25400" bIns="25400" rtlCol="0" anchor="t">
            <a:normAutofit/>
          </a:bodyPr>
          <a:lstStyle/>
          <a:p>
            <a:pPr marL="0" indent="0" algn="l">
              <a:lnSpc>
                <a:spcPct val="70833"/>
              </a:lnSpc>
              <a:buNone/>
            </a:pPr>
            <a:r>
              <a:rPr lang="en-US" sz="6600" b="1" kern="0" spc="-198" dirty="0">
                <a:solidFill>
                  <a:srgbClr val="12161D"/>
                </a:solidFill>
                <a:latin typeface="Pretendard" pitchFamily="34" charset="0"/>
                <a:ea typeface="Pretendard" pitchFamily="34" charset="-122"/>
                <a:cs typeface="Pretendard" pitchFamily="34" charset="-120"/>
              </a:rPr>
              <a:t>8,556</a:t>
            </a:r>
            <a:endParaRPr lang="en-US" sz="6600" dirty="0"/>
          </a:p>
        </p:txBody>
      </p:sp>
      <p:sp>
        <p:nvSpPr>
          <p:cNvPr id="14" name="Text 12"/>
          <p:cNvSpPr/>
          <p:nvPr/>
        </p:nvSpPr>
        <p:spPr>
          <a:xfrm>
            <a:off x="7749183" y="6906578"/>
            <a:ext cx="570190" cy="3810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Pretendard" pitchFamily="34" charset="0"/>
                <a:ea typeface="Pretendard" pitchFamily="34" charset="-122"/>
                <a:cs typeface="Pretendard" pitchFamily="34" charset="-120"/>
              </a:rPr>
              <a:t>구간</a:t>
            </a:r>
            <a:endParaRPr lang="en-US" sz="2250" dirty="0"/>
          </a:p>
        </p:txBody>
      </p:sp>
      <p:sp>
        <p:nvSpPr>
          <p:cNvPr id="15" name="Text 13"/>
          <p:cNvSpPr/>
          <p:nvPr/>
        </p:nvSpPr>
        <p:spPr>
          <a:xfrm>
            <a:off x="5403532" y="7382828"/>
            <a:ext cx="3634645" cy="274320"/>
          </a:xfrm>
          <a:prstGeom prst="rect">
            <a:avLst/>
          </a:prstGeom>
          <a:noFill/>
          <a:ln/>
        </p:spPr>
        <p:txBody>
          <a:bodyPr wrap="square" lIns="25400" tIns="25400" rIns="25400" bIns="25400" rtlCol="0" anchor="t">
            <a:normAutofit/>
          </a:bodyPr>
          <a:lstStyle/>
          <a:p>
            <a:pPr marL="0" indent="0" algn="l">
              <a:buNone/>
            </a:pPr>
            <a:r>
              <a:rPr lang="en-US" sz="1575" b="1" dirty="0">
                <a:solidFill>
                  <a:srgbClr val="28666E"/>
                </a:solidFill>
                <a:latin typeface="Pretendard" pitchFamily="34" charset="0"/>
                <a:ea typeface="Pretendard" pitchFamily="34" charset="-122"/>
                <a:cs typeface="Pretendard" pitchFamily="34" charset="-120"/>
              </a:rPr>
              <a:t>searoute · 93개 항로</a:t>
            </a:r>
            <a:endParaRPr lang="en-US" sz="1575" dirty="0"/>
          </a:p>
        </p:txBody>
      </p:sp>
      <p:sp>
        <p:nvSpPr>
          <p:cNvPr id="16" name="Text 14"/>
          <p:cNvSpPr/>
          <p:nvPr/>
        </p:nvSpPr>
        <p:spPr>
          <a:xfrm>
            <a:off x="5403532" y="7676198"/>
            <a:ext cx="3403349" cy="526732"/>
          </a:xfrm>
          <a:prstGeom prst="rect">
            <a:avLst/>
          </a:prstGeom>
          <a:noFill/>
          <a:ln/>
        </p:spPr>
        <p:txBody>
          <a:bodyPr wrap="square" lIns="25400" tIns="25400" rIns="25400" bIns="25400" rtlCol="0" anchor="t">
            <a:normAutofit/>
          </a:bodyPr>
          <a:lstStyle/>
          <a:p>
            <a:pPr marL="0" indent="0" algn="l">
              <a:lnSpc>
                <a:spcPct val="110560"/>
              </a:lnSpc>
              <a:buNone/>
            </a:pPr>
            <a:r>
              <a:rPr lang="en-US" sz="1425" dirty="0">
                <a:solidFill>
                  <a:srgbClr val="6F6A5F"/>
                </a:solidFill>
                <a:latin typeface="Pretendard" pitchFamily="34" charset="0"/>
                <a:ea typeface="Pretendard" pitchFamily="34" charset="-122"/>
                <a:cs typeface="Pretendard" pitchFamily="34" charset="-120"/>
              </a:rPr>
              <a:t>부산→로테르담 10,899nm · P50 28.9일 (MC 1만회)</a:t>
            </a:r>
            <a:endParaRPr lang="en-US" sz="1425" dirty="0"/>
          </a:p>
        </p:txBody>
      </p:sp>
      <p:sp>
        <p:nvSpPr>
          <p:cNvPr id="17" name="Shape 15"/>
          <p:cNvSpPr/>
          <p:nvPr/>
        </p:nvSpPr>
        <p:spPr>
          <a:xfrm>
            <a:off x="9267825" y="2189917"/>
            <a:ext cx="3929063" cy="62682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9580245" y="2483287"/>
            <a:ext cx="3634645"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운임 변동성 추적</a:t>
            </a:r>
            <a:endParaRPr lang="en-US" sz="1425" dirty="0"/>
          </a:p>
        </p:txBody>
      </p:sp>
      <p:sp>
        <p:nvSpPr>
          <p:cNvPr id="19" name="Text 17"/>
          <p:cNvSpPr/>
          <p:nvPr/>
        </p:nvSpPr>
        <p:spPr>
          <a:xfrm>
            <a:off x="9580245" y="6533198"/>
            <a:ext cx="569238" cy="750570"/>
          </a:xfrm>
          <a:prstGeom prst="rect">
            <a:avLst/>
          </a:prstGeom>
          <a:noFill/>
          <a:ln/>
        </p:spPr>
        <p:txBody>
          <a:bodyPr wrap="square" lIns="25400" tIns="25400" rIns="25400" bIns="25400" rtlCol="0" anchor="t">
            <a:normAutofit/>
          </a:bodyPr>
          <a:lstStyle/>
          <a:p>
            <a:pPr marL="0" indent="0" algn="l">
              <a:lnSpc>
                <a:spcPct val="70833"/>
              </a:lnSpc>
              <a:buNone/>
            </a:pPr>
            <a:r>
              <a:rPr lang="en-US" sz="6600" b="1" kern="0" spc="-198" dirty="0">
                <a:solidFill>
                  <a:srgbClr val="12161D"/>
                </a:solidFill>
                <a:latin typeface="Pretendard" pitchFamily="34" charset="0"/>
                <a:ea typeface="Pretendard" pitchFamily="34" charset="-122"/>
                <a:cs typeface="Pretendard" pitchFamily="34" charset="-120"/>
              </a:rPr>
              <a:t>2</a:t>
            </a:r>
            <a:endParaRPr lang="en-US" sz="6600" dirty="0"/>
          </a:p>
        </p:txBody>
      </p:sp>
      <p:sp>
        <p:nvSpPr>
          <p:cNvPr id="20" name="Text 18"/>
          <p:cNvSpPr/>
          <p:nvPr/>
        </p:nvSpPr>
        <p:spPr>
          <a:xfrm>
            <a:off x="10149483" y="6906578"/>
            <a:ext cx="882968" cy="3810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Pretendard" pitchFamily="34" charset="0"/>
                <a:ea typeface="Pretendard" pitchFamily="34" charset="-122"/>
                <a:cs typeface="Pretendard" pitchFamily="34" charset="-120"/>
              </a:rPr>
              <a:t>대 지수</a:t>
            </a:r>
            <a:endParaRPr lang="en-US" sz="2250" dirty="0"/>
          </a:p>
        </p:txBody>
      </p:sp>
      <p:sp>
        <p:nvSpPr>
          <p:cNvPr id="21" name="Text 19"/>
          <p:cNvSpPr/>
          <p:nvPr/>
        </p:nvSpPr>
        <p:spPr>
          <a:xfrm>
            <a:off x="9580245" y="7382828"/>
            <a:ext cx="3634645" cy="274320"/>
          </a:xfrm>
          <a:prstGeom prst="rect">
            <a:avLst/>
          </a:prstGeom>
          <a:noFill/>
          <a:ln/>
        </p:spPr>
        <p:txBody>
          <a:bodyPr wrap="square" lIns="25400" tIns="25400" rIns="25400" bIns="25400" rtlCol="0" anchor="t">
            <a:normAutofit/>
          </a:bodyPr>
          <a:lstStyle/>
          <a:p>
            <a:pPr marL="0" indent="0" algn="l">
              <a:buNone/>
            </a:pPr>
            <a:r>
              <a:rPr lang="en-US" sz="1575" b="1" dirty="0">
                <a:solidFill>
                  <a:srgbClr val="28666E"/>
                </a:solidFill>
                <a:latin typeface="Pretendard" pitchFamily="34" charset="0"/>
                <a:ea typeface="Pretendard" pitchFamily="34" charset="-122"/>
                <a:cs typeface="Pretendard" pitchFamily="34" charset="-120"/>
              </a:rPr>
              <a:t>SCFI · CCFI 주간</a:t>
            </a:r>
            <a:endParaRPr lang="en-US" sz="1575" dirty="0"/>
          </a:p>
        </p:txBody>
      </p:sp>
      <p:sp>
        <p:nvSpPr>
          <p:cNvPr id="22" name="Text 20"/>
          <p:cNvSpPr/>
          <p:nvPr/>
        </p:nvSpPr>
        <p:spPr>
          <a:xfrm>
            <a:off x="9580245" y="7676198"/>
            <a:ext cx="3403349" cy="526732"/>
          </a:xfrm>
          <a:prstGeom prst="rect">
            <a:avLst/>
          </a:prstGeom>
          <a:noFill/>
          <a:ln/>
        </p:spPr>
        <p:txBody>
          <a:bodyPr wrap="square" lIns="25400" tIns="25400" rIns="25400" bIns="25400" rtlCol="0" anchor="t">
            <a:normAutofit/>
          </a:bodyPr>
          <a:lstStyle/>
          <a:p>
            <a:pPr marL="0" indent="0" algn="l">
              <a:lnSpc>
                <a:spcPct val="110560"/>
              </a:lnSpc>
              <a:buNone/>
            </a:pPr>
            <a:r>
              <a:rPr lang="en-US" sz="1425" dirty="0">
                <a:solidFill>
                  <a:srgbClr val="6F6A5F"/>
                </a:solidFill>
                <a:latin typeface="Pretendard" pitchFamily="34" charset="0"/>
                <a:ea typeface="Pretendard" pitchFamily="34" charset="-122"/>
                <a:cs typeface="Pretendard" pitchFamily="34" charset="-120"/>
              </a:rPr>
              <a:t>상하이해운거래소 실데이터 — 운임 급변 조기 감지</a:t>
            </a:r>
            <a:endParaRPr lang="en-US" sz="1425" dirty="0"/>
          </a:p>
        </p:txBody>
      </p:sp>
      <p:sp>
        <p:nvSpPr>
          <p:cNvPr id="23" name="Shape 21"/>
          <p:cNvSpPr/>
          <p:nvPr/>
        </p:nvSpPr>
        <p:spPr>
          <a:xfrm>
            <a:off x="13444538" y="2189917"/>
            <a:ext cx="3929063" cy="62682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4" name="Text 22"/>
          <p:cNvSpPr/>
          <p:nvPr/>
        </p:nvSpPr>
        <p:spPr>
          <a:xfrm>
            <a:off x="13756958" y="2483287"/>
            <a:ext cx="3634645"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공개 혼잡 데이터 지연</a:t>
            </a:r>
            <a:endParaRPr lang="en-US" sz="1425" dirty="0"/>
          </a:p>
        </p:txBody>
      </p:sp>
      <p:sp>
        <p:nvSpPr>
          <p:cNvPr id="25" name="Text 23"/>
          <p:cNvSpPr/>
          <p:nvPr/>
        </p:nvSpPr>
        <p:spPr>
          <a:xfrm>
            <a:off x="13756958" y="6533198"/>
            <a:ext cx="2108073" cy="750570"/>
          </a:xfrm>
          <a:prstGeom prst="rect">
            <a:avLst/>
          </a:prstGeom>
          <a:noFill/>
          <a:ln/>
        </p:spPr>
        <p:txBody>
          <a:bodyPr wrap="square" lIns="25400" tIns="25400" rIns="25400" bIns="25400" rtlCol="0" anchor="t">
            <a:normAutofit/>
          </a:bodyPr>
          <a:lstStyle/>
          <a:p>
            <a:pPr marL="0" indent="0" algn="l">
              <a:lnSpc>
                <a:spcPct val="70833"/>
              </a:lnSpc>
              <a:buNone/>
            </a:pPr>
            <a:r>
              <a:rPr lang="en-US" sz="6600" b="1" kern="0" spc="-198" dirty="0">
                <a:solidFill>
                  <a:srgbClr val="12161D"/>
                </a:solidFill>
                <a:latin typeface="Pretendard" pitchFamily="34" charset="0"/>
                <a:ea typeface="Pretendard" pitchFamily="34" charset="-122"/>
                <a:cs typeface="Pretendard" pitchFamily="34" charset="-120"/>
              </a:rPr>
              <a:t>7~10</a:t>
            </a:r>
            <a:endParaRPr lang="en-US" sz="6600" dirty="0"/>
          </a:p>
        </p:txBody>
      </p:sp>
      <p:sp>
        <p:nvSpPr>
          <p:cNvPr id="26" name="Text 24"/>
          <p:cNvSpPr/>
          <p:nvPr/>
        </p:nvSpPr>
        <p:spPr>
          <a:xfrm>
            <a:off x="15749587" y="6906578"/>
            <a:ext cx="323255" cy="3810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Pretendard" pitchFamily="34" charset="0"/>
                <a:ea typeface="Pretendard" pitchFamily="34" charset="-122"/>
                <a:cs typeface="Pretendard" pitchFamily="34" charset="-120"/>
              </a:rPr>
              <a:t>일</a:t>
            </a:r>
            <a:endParaRPr lang="en-US" sz="2250" dirty="0"/>
          </a:p>
        </p:txBody>
      </p:sp>
      <p:sp>
        <p:nvSpPr>
          <p:cNvPr id="27" name="Text 25"/>
          <p:cNvSpPr/>
          <p:nvPr/>
        </p:nvSpPr>
        <p:spPr>
          <a:xfrm>
            <a:off x="13756958" y="7382828"/>
            <a:ext cx="3634645" cy="274320"/>
          </a:xfrm>
          <a:prstGeom prst="rect">
            <a:avLst/>
          </a:prstGeom>
          <a:noFill/>
          <a:ln/>
        </p:spPr>
        <p:txBody>
          <a:bodyPr wrap="square" lIns="25400" tIns="25400" rIns="25400" bIns="25400" rtlCol="0" anchor="t">
            <a:normAutofit/>
          </a:bodyPr>
          <a:lstStyle/>
          <a:p>
            <a:pPr marL="0" indent="0" algn="l">
              <a:buNone/>
            </a:pPr>
            <a:r>
              <a:rPr lang="en-US" sz="1575" b="1" dirty="0">
                <a:solidFill>
                  <a:srgbClr val="A9640F"/>
                </a:solidFill>
                <a:latin typeface="Pretendard" pitchFamily="34" charset="0"/>
                <a:ea typeface="Pretendard" pitchFamily="34" charset="-122"/>
                <a:cs typeface="Pretendard" pitchFamily="34" charset="-120"/>
              </a:rPr>
              <a:t>PortWatch 배치 lag</a:t>
            </a:r>
            <a:endParaRPr lang="en-US" sz="1575" dirty="0"/>
          </a:p>
        </p:txBody>
      </p:sp>
      <p:sp>
        <p:nvSpPr>
          <p:cNvPr id="28" name="Text 26"/>
          <p:cNvSpPr/>
          <p:nvPr/>
        </p:nvSpPr>
        <p:spPr>
          <a:xfrm>
            <a:off x="13756958" y="7676198"/>
            <a:ext cx="3403349" cy="526732"/>
          </a:xfrm>
          <a:prstGeom prst="rect">
            <a:avLst/>
          </a:prstGeom>
          <a:noFill/>
          <a:ln/>
        </p:spPr>
        <p:txBody>
          <a:bodyPr wrap="square" lIns="25400" tIns="25400" rIns="25400" bIns="25400" rtlCol="0" anchor="t">
            <a:normAutofit/>
          </a:bodyPr>
          <a:lstStyle/>
          <a:p>
            <a:pPr marL="0" indent="0" algn="l">
              <a:lnSpc>
                <a:spcPct val="110560"/>
              </a:lnSpc>
              <a:buNone/>
            </a:pPr>
            <a:r>
              <a:rPr lang="en-US" sz="1425" dirty="0">
                <a:solidFill>
                  <a:srgbClr val="6F6A5F"/>
                </a:solidFill>
                <a:latin typeface="Pretendard" pitchFamily="34" charset="0"/>
                <a:ea typeface="Pretendard" pitchFamily="34" charset="-122"/>
                <a:cs typeface="Pretendard" pitchFamily="34" charset="-120"/>
              </a:rPr>
              <a:t>국내 3개 항만은 실측 선석으로 보정 → 지연 해소</a:t>
            </a:r>
            <a:endParaRPr lang="en-US" sz="1425" dirty="0"/>
          </a:p>
        </p:txBody>
      </p:sp>
      <p:sp>
        <p:nvSpPr>
          <p:cNvPr id="29" name="Shape 27"/>
          <p:cNvSpPr/>
          <p:nvPr/>
        </p:nvSpPr>
        <p:spPr>
          <a:xfrm>
            <a:off x="914400" y="8705850"/>
            <a:ext cx="16459200" cy="716280"/>
          </a:xfrm>
          <a:prstGeom prst="roundRect">
            <a:avLst>
              <a:gd name="adj" fmla="val 21277"/>
            </a:avLst>
          </a:prstGeom>
          <a:solidFill>
            <a:srgbClr val="ECE7DD"/>
          </a:solidFill>
          <a:ln/>
        </p:spPr>
      </p:sp>
      <p:sp>
        <p:nvSpPr>
          <p:cNvPr id="30" name="Text 28"/>
          <p:cNvSpPr/>
          <p:nvPr/>
        </p:nvSpPr>
        <p:spPr>
          <a:xfrm>
            <a:off x="1219200" y="8915400"/>
            <a:ext cx="1201817" cy="335280"/>
          </a:xfrm>
          <a:prstGeom prst="rect">
            <a:avLst/>
          </a:prstGeom>
          <a:noFill/>
          <a:ln/>
        </p:spPr>
        <p:txBody>
          <a:bodyPr wrap="none" lIns="25400" tIns="25400" rIns="25400" bIns="25400" rtlCol="0" anchor="t">
            <a:normAutofit/>
          </a:bodyPr>
          <a:lstStyle/>
          <a:p>
            <a:pPr marL="0" indent="0" algn="l">
              <a:buNone/>
            </a:pPr>
            <a:r>
              <a:rPr lang="en-US" sz="1950" b="1" dirty="0">
                <a:solidFill>
                  <a:srgbClr val="28666E"/>
                </a:solidFill>
                <a:latin typeface="Pretendard" pitchFamily="34" charset="0"/>
                <a:ea typeface="Pretendard" pitchFamily="34" charset="-122"/>
                <a:cs typeface="Pretendard" pitchFamily="34" charset="-120"/>
              </a:rPr>
              <a:t>한 화면에서</a:t>
            </a:r>
            <a:endParaRPr lang="en-US" sz="1950" dirty="0"/>
          </a:p>
        </p:txBody>
      </p:sp>
      <p:sp>
        <p:nvSpPr>
          <p:cNvPr id="31" name="Text 29"/>
          <p:cNvSpPr/>
          <p:nvPr/>
        </p:nvSpPr>
        <p:spPr>
          <a:xfrm>
            <a:off x="2592467" y="8928973"/>
            <a:ext cx="8553438" cy="308134"/>
          </a:xfrm>
          <a:prstGeom prst="rect">
            <a:avLst/>
          </a:prstGeom>
          <a:noFill/>
          <a:ln/>
        </p:spPr>
        <p:txBody>
          <a:bodyPr wrap="square" lIns="25400" tIns="25400" rIns="25400" bIns="25400" rtlCol="0" anchor="t">
            <a:normAutofit/>
          </a:bodyPr>
          <a:lstStyle/>
          <a:p>
            <a:pPr marL="0" indent="0" algn="l">
              <a:lnSpc>
                <a:spcPct val="114315"/>
              </a:lnSpc>
              <a:buNone/>
            </a:pPr>
            <a:r>
              <a:rPr lang="en-US" sz="1575" b="1" dirty="0">
                <a:solidFill>
                  <a:srgbClr val="12161D"/>
                </a:solidFill>
                <a:latin typeface="Pretendard" pitchFamily="34" charset="0"/>
                <a:ea typeface="Pretendard" pitchFamily="34" charset="-122"/>
                <a:cs typeface="Pretendard" pitchFamily="34" charset="-120"/>
              </a:rPr>
              <a:t>혼잡·운임·경로·기상·통관을 하나의 컨트롤타워로 </a:t>
            </a:r>
            <a:r>
              <a:rPr lang="en-US" sz="1575" dirty="0">
                <a:solidFill>
                  <a:srgbClr val="12161D"/>
                </a:solidFill>
                <a:latin typeface="Pretendard" pitchFamily="34" charset="0"/>
                <a:ea typeface="Pretendard" pitchFamily="34" charset="-122"/>
                <a:cs typeface="Pretendard" pitchFamily="34" charset="-120"/>
              </a:rPr>
              <a:t>— 변동성이 클수록 통합 가시성의 가치가 커집니다</a:t>
            </a:r>
            <a:endParaRPr lang="en-US" sz="1575" dirty="0"/>
          </a:p>
        </p:txBody>
      </p:sp>
      <p:sp>
        <p:nvSpPr>
          <p:cNvPr id="32" name="Shape 30"/>
          <p:cNvSpPr/>
          <p:nvPr/>
        </p:nvSpPr>
        <p:spPr>
          <a:xfrm>
            <a:off x="914400" y="9650730"/>
            <a:ext cx="16459200" cy="9525"/>
          </a:xfrm>
          <a:prstGeom prst="rect">
            <a:avLst/>
          </a:prstGeom>
          <a:solidFill>
            <a:srgbClr val="E9E4DC"/>
          </a:solidFill>
          <a:ln/>
        </p:spPr>
      </p:sp>
      <p:sp>
        <p:nvSpPr>
          <p:cNvPr id="33" name="Text 31"/>
          <p:cNvSpPr/>
          <p:nvPr/>
        </p:nvSpPr>
        <p:spPr>
          <a:xfrm>
            <a:off x="914400" y="9772650"/>
            <a:ext cx="9407879"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출처 · IMF PortWatch(위성 AIS, Focus 93) · 상하이해운거래소 SCFI/CCFI · searoute 사전계산 8,556구간 · TWL 경로 몬테카를로</a:t>
            </a:r>
            <a:endParaRPr lang="en-US" sz="1275" dirty="0"/>
          </a:p>
        </p:txBody>
      </p:sp>
      <p:sp>
        <p:nvSpPr>
          <p:cNvPr id="34" name="Text 32"/>
          <p:cNvSpPr/>
          <p:nvPr/>
        </p:nvSpPr>
        <p:spPr>
          <a:xfrm>
            <a:off x="17162384" y="9772650"/>
            <a:ext cx="287417"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08</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2987790" cy="1790700"/>
          </a:xfrm>
          <a:prstGeom prst="rect">
            <a:avLst/>
          </a:prstGeom>
          <a:noFill/>
          <a:ln/>
        </p:spPr>
        <p:txBody>
          <a:bodyPr wrap="square" lIns="25400" tIns="25400" rIns="25400" bIns="25400" rtlCol="0" anchor="t">
            <a:normAutofit/>
          </a:bodyPr>
          <a:lstStyle/>
          <a:p>
            <a:pPr marL="0" indent="0" algn="l">
              <a:lnSpc>
                <a:spcPct val="67055"/>
              </a:lnSpc>
              <a:buNone/>
            </a:pPr>
            <a:r>
              <a:rPr lang="en-US" sz="17250" b="1" kern="0" spc="-518" dirty="0">
                <a:solidFill>
                  <a:srgbClr val="222834"/>
                </a:solidFill>
                <a:latin typeface="Pretendard" pitchFamily="34" charset="0"/>
                <a:ea typeface="Pretendard" pitchFamily="34" charset="-122"/>
                <a:cs typeface="Pretendard" pitchFamily="34" charset="-120"/>
              </a:rPr>
              <a:t>02</a:t>
            </a:r>
            <a:endParaRPr lang="en-US" sz="17250" dirty="0"/>
          </a:p>
        </p:txBody>
      </p:sp>
      <p:sp>
        <p:nvSpPr>
          <p:cNvPr id="4" name="Text 2"/>
          <p:cNvSpPr/>
          <p:nvPr/>
        </p:nvSpPr>
        <p:spPr>
          <a:xfrm>
            <a:off x="4621173" y="3501390"/>
            <a:ext cx="5585425" cy="289560"/>
          </a:xfrm>
          <a:prstGeom prst="rect">
            <a:avLst/>
          </a:prstGeom>
          <a:noFill/>
          <a:ln/>
        </p:spPr>
        <p:txBody>
          <a:bodyPr wrap="square" lIns="25400" tIns="25400" rIns="25400" bIns="25400" rtlCol="0" anchor="t">
            <a:normAutofit/>
          </a:bodyPr>
          <a:lstStyle/>
          <a:p>
            <a:pPr marL="0" indent="0" algn="l">
              <a:buNone/>
            </a:pPr>
            <a:r>
              <a:rPr lang="en-US" sz="1650" b="1" kern="0" spc="297" dirty="0">
                <a:solidFill>
                  <a:srgbClr val="E4A24A"/>
                </a:solidFill>
                <a:latin typeface="Pretendard" pitchFamily="34" charset="0"/>
                <a:ea typeface="Pretendard" pitchFamily="34" charset="-122"/>
                <a:cs typeface="Pretendard" pitchFamily="34" charset="-120"/>
              </a:rPr>
              <a:t>PART 02 · PAIN POINTS</a:t>
            </a:r>
            <a:endParaRPr lang="en-US" sz="1650" dirty="0"/>
          </a:p>
        </p:txBody>
      </p:sp>
      <p:sp>
        <p:nvSpPr>
          <p:cNvPr id="5" name="Text 3"/>
          <p:cNvSpPr/>
          <p:nvPr/>
        </p:nvSpPr>
        <p:spPr>
          <a:xfrm>
            <a:off x="4621173" y="3867150"/>
            <a:ext cx="5585425" cy="1013460"/>
          </a:xfrm>
          <a:prstGeom prst="rect">
            <a:avLst/>
          </a:prstGeom>
          <a:noFill/>
          <a:ln/>
        </p:spPr>
        <p:txBody>
          <a:bodyPr wrap="square" lIns="25400" tIns="25400" rIns="25400" bIns="25400" rtlCol="0" anchor="t">
            <a:normAutofit/>
          </a:bodyPr>
          <a:lstStyle/>
          <a:p>
            <a:pPr marL="0" indent="0" algn="l">
              <a:buNone/>
            </a:pPr>
            <a:r>
              <a:rPr lang="en-US" sz="6450" b="1" kern="0" spc="129" dirty="0">
                <a:solidFill>
                  <a:srgbClr val="F5F3EE"/>
                </a:solidFill>
                <a:latin typeface="Pretendard" pitchFamily="34" charset="0"/>
                <a:ea typeface="Pretendard" pitchFamily="34" charset="-122"/>
                <a:cs typeface="Pretendard" pitchFamily="34" charset="-120"/>
              </a:rPr>
              <a:t>문제점</a:t>
            </a:r>
            <a:endParaRPr lang="en-US" sz="6450" dirty="0"/>
          </a:p>
        </p:txBody>
      </p:sp>
      <p:sp>
        <p:nvSpPr>
          <p:cNvPr id="6" name="Shape 4"/>
          <p:cNvSpPr/>
          <p:nvPr/>
        </p:nvSpPr>
        <p:spPr>
          <a:xfrm>
            <a:off x="4621173" y="5280660"/>
            <a:ext cx="76200" cy="76200"/>
          </a:xfrm>
          <a:prstGeom prst="rect">
            <a:avLst/>
          </a:prstGeom>
          <a:solidFill>
            <a:srgbClr val="E4A24A"/>
          </a:solidFill>
          <a:ln/>
        </p:spPr>
      </p:sp>
      <p:sp>
        <p:nvSpPr>
          <p:cNvPr id="7" name="Text 5"/>
          <p:cNvSpPr/>
          <p:nvPr/>
        </p:nvSpPr>
        <p:spPr>
          <a:xfrm>
            <a:off x="4868823" y="5166360"/>
            <a:ext cx="4853178"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통합 채널 부재 — 9개 사이트를 손으로 취합</a:t>
            </a:r>
            <a:endParaRPr lang="en-US" sz="2025" dirty="0"/>
          </a:p>
        </p:txBody>
      </p:sp>
      <p:sp>
        <p:nvSpPr>
          <p:cNvPr id="8" name="Shape 6"/>
          <p:cNvSpPr/>
          <p:nvPr/>
        </p:nvSpPr>
        <p:spPr>
          <a:xfrm>
            <a:off x="4621173" y="5737860"/>
            <a:ext cx="76200" cy="76200"/>
          </a:xfrm>
          <a:prstGeom prst="rect">
            <a:avLst/>
          </a:prstGeom>
          <a:solidFill>
            <a:srgbClr val="E4A24A"/>
          </a:solidFill>
          <a:ln/>
        </p:spPr>
      </p:sp>
      <p:sp>
        <p:nvSpPr>
          <p:cNvPr id="9" name="Text 7"/>
          <p:cNvSpPr/>
          <p:nvPr/>
        </p:nvSpPr>
        <p:spPr>
          <a:xfrm>
            <a:off x="4868823" y="5623560"/>
            <a:ext cx="5170123"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데이터 파편화 — 6개 소스, 실시간 가시성 부재</a:t>
            </a:r>
            <a:endParaRPr lang="en-US" sz="2025" dirty="0"/>
          </a:p>
        </p:txBody>
      </p:sp>
      <p:sp>
        <p:nvSpPr>
          <p:cNvPr id="10" name="Shape 8"/>
          <p:cNvSpPr/>
          <p:nvPr/>
        </p:nvSpPr>
        <p:spPr>
          <a:xfrm>
            <a:off x="4621173" y="6195060"/>
            <a:ext cx="76200" cy="76200"/>
          </a:xfrm>
          <a:prstGeom prst="rect">
            <a:avLst/>
          </a:prstGeom>
          <a:solidFill>
            <a:srgbClr val="E4A24A"/>
          </a:solidFill>
          <a:ln/>
        </p:spPr>
      </p:sp>
      <p:sp>
        <p:nvSpPr>
          <p:cNvPr id="11" name="Text 9"/>
          <p:cNvSpPr/>
          <p:nvPr/>
        </p:nvSpPr>
        <p:spPr>
          <a:xfrm>
            <a:off x="4868823" y="6080760"/>
            <a:ext cx="5313009"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신뢰성 공백 — 데모·가짜 데이터, 검증 절차 부재</a:t>
            </a:r>
            <a:endParaRPr lang="en-US" sz="2025" dirty="0"/>
          </a:p>
        </p:txBody>
      </p:sp>
      <p:sp>
        <p:nvSpPr>
          <p:cNvPr id="12" name="Shape 10"/>
          <p:cNvSpPr/>
          <p:nvPr/>
        </p:nvSpPr>
        <p:spPr>
          <a:xfrm>
            <a:off x="4621173" y="6652260"/>
            <a:ext cx="76200" cy="76200"/>
          </a:xfrm>
          <a:prstGeom prst="rect">
            <a:avLst/>
          </a:prstGeom>
          <a:solidFill>
            <a:srgbClr val="E4A24A"/>
          </a:solidFill>
          <a:ln/>
        </p:spPr>
      </p:sp>
      <p:sp>
        <p:nvSpPr>
          <p:cNvPr id="13" name="Text 11"/>
          <p:cNvSpPr/>
          <p:nvPr/>
        </p:nvSpPr>
        <p:spPr>
          <a:xfrm>
            <a:off x="4868823" y="6537960"/>
            <a:ext cx="5068491"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이력·공유 단절 — 개인 엑셀, 조직 자산화 실패</a:t>
            </a:r>
            <a:endParaRPr lang="en-US" sz="20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02 문제점 ·</a:t>
            </a:r>
            <a:r>
              <a:rPr lang="en-US" sz="1425" b="1" kern="0" spc="57" dirty="0">
                <a:solidFill>
                  <a:srgbClr val="28666E"/>
                </a:solidFill>
                <a:latin typeface="Pretendard" pitchFamily="34" charset="0"/>
                <a:ea typeface="Pretendard" pitchFamily="34" charset="-122"/>
                <a:cs typeface="Pretendard" pitchFamily="34" charset="-120"/>
              </a:rPr>
              <a:t>구조적 4대 문제</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컨트롤타워 부재가 낳는 구조적 4대 문제</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담당자·팀·경영이 모두 겪는 비효율과 리스크가 서로 맞물려 있습니다</a:t>
            </a:r>
            <a:endParaRPr lang="en-US" sz="1875" dirty="0"/>
          </a:p>
        </p:txBody>
      </p:sp>
      <p:sp>
        <p:nvSpPr>
          <p:cNvPr id="5" name="Shape 3"/>
          <p:cNvSpPr/>
          <p:nvPr/>
        </p:nvSpPr>
        <p:spPr>
          <a:xfrm>
            <a:off x="914400" y="2189917"/>
            <a:ext cx="8105775" cy="3492222"/>
          </a:xfrm>
          <a:prstGeom prst="roundRect">
            <a:avLst>
              <a:gd name="adj" fmla="val 4364"/>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83970" y="2502337"/>
            <a:ext cx="518279" cy="2905482"/>
          </a:xfrm>
          <a:prstGeom prst="rect">
            <a:avLst/>
          </a:prstGeom>
          <a:noFill/>
          <a:ln/>
        </p:spPr>
        <p:txBody>
          <a:bodyPr wrap="square" lIns="25400" tIns="25400" rIns="25400" bIns="25400" rtlCol="0" anchor="t">
            <a:normAutofit/>
          </a:bodyPr>
          <a:lstStyle/>
          <a:p>
            <a:pPr marL="0" indent="0" algn="l">
              <a:lnSpc>
                <a:spcPct val="83333"/>
              </a:lnSpc>
              <a:buNone/>
            </a:pPr>
            <a:r>
              <a:rPr lang="en-US" sz="3000" b="1" dirty="0">
                <a:solidFill>
                  <a:srgbClr val="28666E"/>
                </a:solidFill>
                <a:latin typeface="Pretendard" pitchFamily="34" charset="0"/>
                <a:ea typeface="Pretendard" pitchFamily="34" charset="-122"/>
                <a:cs typeface="Pretendard" pitchFamily="34" charset="-120"/>
              </a:rPr>
              <a:t>01</a:t>
            </a:r>
            <a:endParaRPr lang="en-US" sz="3000" dirty="0"/>
          </a:p>
        </p:txBody>
      </p:sp>
      <p:sp>
        <p:nvSpPr>
          <p:cNvPr id="7" name="Text 5"/>
          <p:cNvSpPr/>
          <p:nvPr/>
        </p:nvSpPr>
        <p:spPr>
          <a:xfrm>
            <a:off x="1992749" y="2502337"/>
            <a:ext cx="7323641" cy="3505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Pretendard" pitchFamily="34" charset="0"/>
                <a:ea typeface="Pretendard" pitchFamily="34" charset="-122"/>
                <a:cs typeface="Pretendard" pitchFamily="34" charset="-120"/>
              </a:rPr>
              <a:t>통합 채널 부재</a:t>
            </a:r>
            <a:endParaRPr lang="en-US" sz="2100" dirty="0"/>
          </a:p>
        </p:txBody>
      </p:sp>
      <p:sp>
        <p:nvSpPr>
          <p:cNvPr id="8" name="Text 6"/>
          <p:cNvSpPr/>
          <p:nvPr/>
        </p:nvSpPr>
        <p:spPr>
          <a:xfrm>
            <a:off x="1992749" y="2910007"/>
            <a:ext cx="6857591" cy="590550"/>
          </a:xfrm>
          <a:prstGeom prst="rect">
            <a:avLst/>
          </a:prstGeom>
          <a:noFill/>
          <a:ln/>
        </p:spPr>
        <p:txBody>
          <a:bodyPr wrap="square" lIns="25400" tIns="25400" rIns="25400" bIns="25400" rtlCol="0" anchor="t">
            <a:normAutofit/>
          </a:bodyPr>
          <a:lstStyle/>
          <a:p>
            <a:pPr marL="0" indent="0" algn="l">
              <a:lnSpc>
                <a:spcPct val="120833"/>
              </a:lnSpc>
              <a:buNone/>
            </a:pPr>
            <a:r>
              <a:rPr lang="en-US" sz="1500" dirty="0">
                <a:solidFill>
                  <a:srgbClr val="6F6A5F"/>
                </a:solidFill>
                <a:latin typeface="Pretendard" pitchFamily="34" charset="0"/>
                <a:ea typeface="Pretendard" pitchFamily="34" charset="-122"/>
                <a:cs typeface="Pretendard" pitchFamily="34" charset="-120"/>
              </a:rPr>
              <a:t>9개 터미널·6개 데이터 소스를 잇는 단일 조회 채널이 없어 매일 여러 사이트를 수작업으로 오간다. 취합에만 30~60분/일.</a:t>
            </a:r>
            <a:endParaRPr lang="en-US" sz="1500" dirty="0"/>
          </a:p>
        </p:txBody>
      </p:sp>
      <p:sp>
        <p:nvSpPr>
          <p:cNvPr id="9" name="Shape 7"/>
          <p:cNvSpPr/>
          <p:nvPr/>
        </p:nvSpPr>
        <p:spPr>
          <a:xfrm>
            <a:off x="9267825" y="2189917"/>
            <a:ext cx="8105775" cy="3492222"/>
          </a:xfrm>
          <a:prstGeom prst="roundRect">
            <a:avLst>
              <a:gd name="adj" fmla="val 4364"/>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0" name="Text 8"/>
          <p:cNvSpPr/>
          <p:nvPr/>
        </p:nvSpPr>
        <p:spPr>
          <a:xfrm>
            <a:off x="9637395" y="2502337"/>
            <a:ext cx="571500" cy="2905482"/>
          </a:xfrm>
          <a:prstGeom prst="rect">
            <a:avLst/>
          </a:prstGeom>
          <a:noFill/>
          <a:ln/>
        </p:spPr>
        <p:txBody>
          <a:bodyPr wrap="square" lIns="25400" tIns="25400" rIns="25400" bIns="25400" rtlCol="0" anchor="t">
            <a:normAutofit/>
          </a:bodyPr>
          <a:lstStyle/>
          <a:p>
            <a:pPr marL="0" indent="0" algn="l">
              <a:lnSpc>
                <a:spcPct val="83333"/>
              </a:lnSpc>
              <a:buNone/>
            </a:pPr>
            <a:r>
              <a:rPr lang="en-US" sz="3000" b="1" dirty="0">
                <a:solidFill>
                  <a:srgbClr val="28666E"/>
                </a:solidFill>
                <a:latin typeface="Pretendard" pitchFamily="34" charset="0"/>
                <a:ea typeface="Pretendard" pitchFamily="34" charset="-122"/>
                <a:cs typeface="Pretendard" pitchFamily="34" charset="-120"/>
              </a:rPr>
              <a:t>02</a:t>
            </a:r>
            <a:endParaRPr lang="en-US" sz="3000" dirty="0"/>
          </a:p>
        </p:txBody>
      </p:sp>
      <p:sp>
        <p:nvSpPr>
          <p:cNvPr id="11" name="Text 9"/>
          <p:cNvSpPr/>
          <p:nvPr/>
        </p:nvSpPr>
        <p:spPr>
          <a:xfrm>
            <a:off x="10399395" y="2502337"/>
            <a:ext cx="7265099" cy="3505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Pretendard" pitchFamily="34" charset="0"/>
                <a:ea typeface="Pretendard" pitchFamily="34" charset="-122"/>
                <a:cs typeface="Pretendard" pitchFamily="34" charset="-120"/>
              </a:rPr>
              <a:t>데이터 파편화</a:t>
            </a:r>
            <a:endParaRPr lang="en-US" sz="2100" dirty="0"/>
          </a:p>
        </p:txBody>
      </p:sp>
      <p:sp>
        <p:nvSpPr>
          <p:cNvPr id="12" name="Text 10"/>
          <p:cNvSpPr/>
          <p:nvPr/>
        </p:nvSpPr>
        <p:spPr>
          <a:xfrm>
            <a:off x="10399395" y="2910007"/>
            <a:ext cx="6802774" cy="590550"/>
          </a:xfrm>
          <a:prstGeom prst="rect">
            <a:avLst/>
          </a:prstGeom>
          <a:noFill/>
          <a:ln/>
        </p:spPr>
        <p:txBody>
          <a:bodyPr wrap="square" lIns="25400" tIns="25400" rIns="25400" bIns="25400" rtlCol="0" anchor="t">
            <a:normAutofit/>
          </a:bodyPr>
          <a:lstStyle/>
          <a:p>
            <a:pPr marL="0" indent="0" algn="l">
              <a:lnSpc>
                <a:spcPct val="120833"/>
              </a:lnSpc>
              <a:buNone/>
            </a:pPr>
            <a:r>
              <a:rPr lang="en-US" sz="1500" dirty="0">
                <a:solidFill>
                  <a:srgbClr val="6F6A5F"/>
                </a:solidFill>
                <a:latin typeface="Pretendard" pitchFamily="34" charset="0"/>
                <a:ea typeface="Pretendard" pitchFamily="34" charset="-122"/>
                <a:cs typeface="Pretendard" pitchFamily="34" charset="-120"/>
              </a:rPr>
              <a:t>선석·혼잡·선박·운임·기상·통관이 각기 다른 소스·포맷·주기로 흩어져 실시간 통합 가시성 부재. 크로스 조회 불가.</a:t>
            </a:r>
            <a:endParaRPr lang="en-US" sz="1500" dirty="0"/>
          </a:p>
        </p:txBody>
      </p:sp>
      <p:sp>
        <p:nvSpPr>
          <p:cNvPr id="13" name="Shape 11"/>
          <p:cNvSpPr/>
          <p:nvPr/>
        </p:nvSpPr>
        <p:spPr>
          <a:xfrm>
            <a:off x="914400" y="5929789"/>
            <a:ext cx="8105775" cy="3492341"/>
          </a:xfrm>
          <a:prstGeom prst="roundRect">
            <a:avLst>
              <a:gd name="adj" fmla="val 4364"/>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4" name="Text 12"/>
          <p:cNvSpPr/>
          <p:nvPr/>
        </p:nvSpPr>
        <p:spPr>
          <a:xfrm>
            <a:off x="1283970" y="6242209"/>
            <a:ext cx="582216" cy="2905601"/>
          </a:xfrm>
          <a:prstGeom prst="rect">
            <a:avLst/>
          </a:prstGeom>
          <a:noFill/>
          <a:ln/>
        </p:spPr>
        <p:txBody>
          <a:bodyPr wrap="square" lIns="25400" tIns="25400" rIns="25400" bIns="25400" rtlCol="0" anchor="t">
            <a:normAutofit/>
          </a:bodyPr>
          <a:lstStyle/>
          <a:p>
            <a:pPr marL="0" indent="0" algn="l">
              <a:lnSpc>
                <a:spcPct val="83333"/>
              </a:lnSpc>
              <a:buNone/>
            </a:pPr>
            <a:r>
              <a:rPr lang="en-US" sz="3000" b="1" dirty="0">
                <a:solidFill>
                  <a:srgbClr val="28666E"/>
                </a:solidFill>
                <a:latin typeface="Pretendard" pitchFamily="34" charset="0"/>
                <a:ea typeface="Pretendard" pitchFamily="34" charset="-122"/>
                <a:cs typeface="Pretendard" pitchFamily="34" charset="-120"/>
              </a:rPr>
              <a:t>03</a:t>
            </a:r>
            <a:endParaRPr lang="en-US" sz="3000" dirty="0"/>
          </a:p>
        </p:txBody>
      </p:sp>
      <p:sp>
        <p:nvSpPr>
          <p:cNvPr id="15" name="Text 13"/>
          <p:cNvSpPr/>
          <p:nvPr/>
        </p:nvSpPr>
        <p:spPr>
          <a:xfrm>
            <a:off x="2056686" y="6242209"/>
            <a:ext cx="7253312" cy="3505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Pretendard" pitchFamily="34" charset="0"/>
                <a:ea typeface="Pretendard" pitchFamily="34" charset="-122"/>
                <a:cs typeface="Pretendard" pitchFamily="34" charset="-120"/>
              </a:rPr>
              <a:t>신뢰성 공백</a:t>
            </a:r>
            <a:endParaRPr lang="en-US" sz="2100" dirty="0"/>
          </a:p>
        </p:txBody>
      </p:sp>
      <p:sp>
        <p:nvSpPr>
          <p:cNvPr id="16" name="Text 14"/>
          <p:cNvSpPr/>
          <p:nvPr/>
        </p:nvSpPr>
        <p:spPr>
          <a:xfrm>
            <a:off x="2056686" y="6649879"/>
            <a:ext cx="6791737" cy="590550"/>
          </a:xfrm>
          <a:prstGeom prst="rect">
            <a:avLst/>
          </a:prstGeom>
          <a:noFill/>
          <a:ln/>
        </p:spPr>
        <p:txBody>
          <a:bodyPr wrap="square" lIns="25400" tIns="25400" rIns="25400" bIns="25400" rtlCol="0" anchor="t">
            <a:normAutofit/>
          </a:bodyPr>
          <a:lstStyle/>
          <a:p>
            <a:pPr marL="0" indent="0" algn="l">
              <a:lnSpc>
                <a:spcPct val="120833"/>
              </a:lnSpc>
              <a:buNone/>
            </a:pPr>
            <a:r>
              <a:rPr lang="en-US" sz="1500" dirty="0">
                <a:solidFill>
                  <a:srgbClr val="6F6A5F"/>
                </a:solidFill>
                <a:latin typeface="Pretendard" pitchFamily="34" charset="0"/>
                <a:ea typeface="Pretendard" pitchFamily="34" charset="-122"/>
                <a:cs typeface="Pretendard" pitchFamily="34" charset="-120"/>
              </a:rPr>
              <a:t>데모 문구·가짜 난수가 섞여 현업 신뢰 저하. 원본 대비 검증·이상치 탐지·변경 감지 절차가 표준화되지 않음.</a:t>
            </a:r>
            <a:endParaRPr lang="en-US" sz="1500" dirty="0"/>
          </a:p>
        </p:txBody>
      </p:sp>
      <p:sp>
        <p:nvSpPr>
          <p:cNvPr id="17" name="Shape 15"/>
          <p:cNvSpPr/>
          <p:nvPr/>
        </p:nvSpPr>
        <p:spPr>
          <a:xfrm>
            <a:off x="9267825" y="5929789"/>
            <a:ext cx="8105775" cy="3492341"/>
          </a:xfrm>
          <a:prstGeom prst="roundRect">
            <a:avLst>
              <a:gd name="adj" fmla="val 4364"/>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9637395" y="6242209"/>
            <a:ext cx="590431" cy="2905601"/>
          </a:xfrm>
          <a:prstGeom prst="rect">
            <a:avLst/>
          </a:prstGeom>
          <a:noFill/>
          <a:ln/>
        </p:spPr>
        <p:txBody>
          <a:bodyPr wrap="square" lIns="25400" tIns="25400" rIns="25400" bIns="25400" rtlCol="0" anchor="t">
            <a:normAutofit/>
          </a:bodyPr>
          <a:lstStyle/>
          <a:p>
            <a:pPr marL="0" indent="0" algn="l">
              <a:lnSpc>
                <a:spcPct val="83333"/>
              </a:lnSpc>
              <a:buNone/>
            </a:pPr>
            <a:r>
              <a:rPr lang="en-US" sz="3000" b="1" dirty="0">
                <a:solidFill>
                  <a:srgbClr val="28666E"/>
                </a:solidFill>
                <a:latin typeface="Pretendard" pitchFamily="34" charset="0"/>
                <a:ea typeface="Pretendard" pitchFamily="34" charset="-122"/>
                <a:cs typeface="Pretendard" pitchFamily="34" charset="-120"/>
              </a:rPr>
              <a:t>04</a:t>
            </a:r>
            <a:endParaRPr lang="en-US" sz="3000" dirty="0"/>
          </a:p>
        </p:txBody>
      </p:sp>
      <p:sp>
        <p:nvSpPr>
          <p:cNvPr id="19" name="Text 17"/>
          <p:cNvSpPr/>
          <p:nvPr/>
        </p:nvSpPr>
        <p:spPr>
          <a:xfrm>
            <a:off x="10418326" y="6242209"/>
            <a:ext cx="7244275" cy="3505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Pretendard" pitchFamily="34" charset="0"/>
                <a:ea typeface="Pretendard" pitchFamily="34" charset="-122"/>
                <a:cs typeface="Pretendard" pitchFamily="34" charset="-120"/>
              </a:rPr>
              <a:t>이력·공유 단절</a:t>
            </a:r>
            <a:endParaRPr lang="en-US" sz="2100" dirty="0"/>
          </a:p>
        </p:txBody>
      </p:sp>
      <p:sp>
        <p:nvSpPr>
          <p:cNvPr id="20" name="Text 18"/>
          <p:cNvSpPr/>
          <p:nvPr/>
        </p:nvSpPr>
        <p:spPr>
          <a:xfrm>
            <a:off x="10418326" y="6649879"/>
            <a:ext cx="6783276" cy="590550"/>
          </a:xfrm>
          <a:prstGeom prst="rect">
            <a:avLst/>
          </a:prstGeom>
          <a:noFill/>
          <a:ln/>
        </p:spPr>
        <p:txBody>
          <a:bodyPr wrap="square" lIns="25400" tIns="25400" rIns="25400" bIns="25400" rtlCol="0" anchor="t">
            <a:normAutofit/>
          </a:bodyPr>
          <a:lstStyle/>
          <a:p>
            <a:pPr marL="0" indent="0" algn="l">
              <a:lnSpc>
                <a:spcPct val="120833"/>
              </a:lnSpc>
              <a:buNone/>
            </a:pPr>
            <a:r>
              <a:rPr lang="en-US" sz="1500" dirty="0">
                <a:solidFill>
                  <a:srgbClr val="6F6A5F"/>
                </a:solidFill>
                <a:latin typeface="Pretendard" pitchFamily="34" charset="0"/>
                <a:ea typeface="Pretendard" pitchFamily="34" charset="-122"/>
                <a:cs typeface="Pretendard" pitchFamily="34" charset="-120"/>
              </a:rPr>
              <a:t>취합 결과가 개인 엑셀에 정체되어 팀 공유·이력 비교·지연 통계 불가. 조직 지식으로 축적되지 않음.</a:t>
            </a:r>
            <a:endParaRPr lang="en-US" sz="1500" dirty="0"/>
          </a:p>
        </p:txBody>
      </p:sp>
      <p:sp>
        <p:nvSpPr>
          <p:cNvPr id="21" name="Shape 19"/>
          <p:cNvSpPr/>
          <p:nvPr/>
        </p:nvSpPr>
        <p:spPr>
          <a:xfrm>
            <a:off x="914400" y="9650730"/>
            <a:ext cx="16459200" cy="9525"/>
          </a:xfrm>
          <a:prstGeom prst="rect">
            <a:avLst/>
          </a:prstGeom>
          <a:solidFill>
            <a:srgbClr val="E9E4DC"/>
          </a:solidFill>
          <a:ln/>
        </p:spPr>
      </p:sp>
      <p:sp>
        <p:nvSpPr>
          <p:cNvPr id="22" name="Text 20"/>
          <p:cNvSpPr/>
          <p:nvPr/>
        </p:nvSpPr>
        <p:spPr>
          <a:xfrm>
            <a:off x="914400" y="9772650"/>
            <a:ext cx="6835652"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출처 · TWL SmartBPO PRD·SRS(담당자 피드백 기반) · 개발이력 · 상세기술서 · 현장 인터뷰 종합</a:t>
            </a:r>
            <a:endParaRPr lang="en-US" sz="1275" dirty="0"/>
          </a:p>
        </p:txBody>
      </p:sp>
      <p:sp>
        <p:nvSpPr>
          <p:cNvPr id="23" name="Text 21"/>
          <p:cNvSpPr/>
          <p:nvPr/>
        </p:nvSpPr>
        <p:spPr>
          <a:xfrm>
            <a:off x="17162621" y="9772650"/>
            <a:ext cx="287179"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09</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3056025" cy="1790700"/>
          </a:xfrm>
          <a:prstGeom prst="rect">
            <a:avLst/>
          </a:prstGeom>
          <a:noFill/>
          <a:ln/>
        </p:spPr>
        <p:txBody>
          <a:bodyPr wrap="square" lIns="25400" tIns="25400" rIns="25400" bIns="25400" rtlCol="0" anchor="t">
            <a:normAutofit/>
          </a:bodyPr>
          <a:lstStyle/>
          <a:p>
            <a:pPr marL="0" indent="0" algn="l">
              <a:lnSpc>
                <a:spcPct val="67055"/>
              </a:lnSpc>
              <a:buNone/>
            </a:pPr>
            <a:r>
              <a:rPr lang="en-US" sz="17250" b="1" kern="0" spc="-518" dirty="0">
                <a:solidFill>
                  <a:srgbClr val="222834"/>
                </a:solidFill>
                <a:latin typeface="Pretendard" pitchFamily="34" charset="0"/>
                <a:ea typeface="Pretendard" pitchFamily="34" charset="-122"/>
                <a:cs typeface="Pretendard" pitchFamily="34" charset="-120"/>
              </a:rPr>
              <a:t>03</a:t>
            </a:r>
            <a:endParaRPr lang="en-US" sz="17250" dirty="0"/>
          </a:p>
        </p:txBody>
      </p:sp>
      <p:sp>
        <p:nvSpPr>
          <p:cNvPr id="4" name="Text 2"/>
          <p:cNvSpPr/>
          <p:nvPr/>
        </p:nvSpPr>
        <p:spPr>
          <a:xfrm>
            <a:off x="4683205" y="3501390"/>
            <a:ext cx="6736509" cy="289560"/>
          </a:xfrm>
          <a:prstGeom prst="rect">
            <a:avLst/>
          </a:prstGeom>
          <a:noFill/>
          <a:ln/>
        </p:spPr>
        <p:txBody>
          <a:bodyPr wrap="square" lIns="25400" tIns="25400" rIns="25400" bIns="25400" rtlCol="0" anchor="t">
            <a:normAutofit/>
          </a:bodyPr>
          <a:lstStyle/>
          <a:p>
            <a:pPr marL="0" indent="0" algn="l">
              <a:buNone/>
            </a:pPr>
            <a:r>
              <a:rPr lang="en-US" sz="1650" b="1" kern="0" spc="297" dirty="0">
                <a:solidFill>
                  <a:srgbClr val="E4A24A"/>
                </a:solidFill>
                <a:latin typeface="Pretendard" pitchFamily="34" charset="0"/>
                <a:ea typeface="Pretendard" pitchFamily="34" charset="-122"/>
                <a:cs typeface="Pretendard" pitchFamily="34" charset="-120"/>
              </a:rPr>
              <a:t>PART 03 · THE SOLUTION</a:t>
            </a:r>
            <a:endParaRPr lang="en-US" sz="1650" dirty="0"/>
          </a:p>
        </p:txBody>
      </p:sp>
      <p:sp>
        <p:nvSpPr>
          <p:cNvPr id="5" name="Text 3"/>
          <p:cNvSpPr/>
          <p:nvPr/>
        </p:nvSpPr>
        <p:spPr>
          <a:xfrm>
            <a:off x="4683205" y="3867150"/>
            <a:ext cx="6736509" cy="1013460"/>
          </a:xfrm>
          <a:prstGeom prst="rect">
            <a:avLst/>
          </a:prstGeom>
          <a:noFill/>
          <a:ln/>
        </p:spPr>
        <p:txBody>
          <a:bodyPr wrap="square" lIns="25400" tIns="25400" rIns="25400" bIns="25400" rtlCol="0" anchor="t">
            <a:normAutofit/>
          </a:bodyPr>
          <a:lstStyle/>
          <a:p>
            <a:pPr marL="0" indent="0" algn="l">
              <a:buNone/>
            </a:pPr>
            <a:r>
              <a:rPr lang="en-US" sz="6450" b="1" kern="0" spc="129" dirty="0">
                <a:solidFill>
                  <a:srgbClr val="F5F3EE"/>
                </a:solidFill>
                <a:latin typeface="Pretendard" pitchFamily="34" charset="0"/>
                <a:ea typeface="Pretendard" pitchFamily="34" charset="-122"/>
                <a:cs typeface="Pretendard" pitchFamily="34" charset="-120"/>
              </a:rPr>
              <a:t>해결책</a:t>
            </a:r>
            <a:endParaRPr lang="en-US" sz="6450" dirty="0"/>
          </a:p>
        </p:txBody>
      </p:sp>
      <p:sp>
        <p:nvSpPr>
          <p:cNvPr id="6" name="Shape 4"/>
          <p:cNvSpPr/>
          <p:nvPr/>
        </p:nvSpPr>
        <p:spPr>
          <a:xfrm>
            <a:off x="4683205" y="5280660"/>
            <a:ext cx="76200" cy="76200"/>
          </a:xfrm>
          <a:prstGeom prst="rect">
            <a:avLst/>
          </a:prstGeom>
          <a:solidFill>
            <a:srgbClr val="E4A24A"/>
          </a:solidFill>
          <a:ln/>
        </p:spPr>
      </p:sp>
      <p:sp>
        <p:nvSpPr>
          <p:cNvPr id="7" name="Text 5"/>
          <p:cNvSpPr/>
          <p:nvPr/>
        </p:nvSpPr>
        <p:spPr>
          <a:xfrm>
            <a:off x="4930854" y="5166360"/>
            <a:ext cx="5901845"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8개 화면 하나로 — 조회·분석·실행을 잇는 컨트롤타워</a:t>
            </a:r>
            <a:endParaRPr lang="en-US" sz="2025" dirty="0"/>
          </a:p>
        </p:txBody>
      </p:sp>
      <p:sp>
        <p:nvSpPr>
          <p:cNvPr id="8" name="Shape 6"/>
          <p:cNvSpPr/>
          <p:nvPr/>
        </p:nvSpPr>
        <p:spPr>
          <a:xfrm>
            <a:off x="4683205" y="5737860"/>
            <a:ext cx="76200" cy="76200"/>
          </a:xfrm>
          <a:prstGeom prst="rect">
            <a:avLst/>
          </a:prstGeom>
          <a:solidFill>
            <a:srgbClr val="E4A24A"/>
          </a:solidFill>
          <a:ln/>
        </p:spPr>
      </p:sp>
      <p:sp>
        <p:nvSpPr>
          <p:cNvPr id="9" name="Text 7"/>
          <p:cNvSpPr/>
          <p:nvPr/>
        </p:nvSpPr>
        <p:spPr>
          <a:xfrm>
            <a:off x="4930854" y="5623560"/>
            <a:ext cx="6464094"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실데이터 파이프라인 — 수집→정규화→적재→표현 자동화</a:t>
            </a:r>
            <a:endParaRPr lang="en-US" sz="2025" dirty="0"/>
          </a:p>
        </p:txBody>
      </p:sp>
      <p:sp>
        <p:nvSpPr>
          <p:cNvPr id="10" name="Shape 8"/>
          <p:cNvSpPr/>
          <p:nvPr/>
        </p:nvSpPr>
        <p:spPr>
          <a:xfrm>
            <a:off x="4683205" y="6195060"/>
            <a:ext cx="76200" cy="76200"/>
          </a:xfrm>
          <a:prstGeom prst="rect">
            <a:avLst/>
          </a:prstGeom>
          <a:solidFill>
            <a:srgbClr val="E4A24A"/>
          </a:solidFill>
          <a:ln/>
        </p:spPr>
      </p:sp>
      <p:sp>
        <p:nvSpPr>
          <p:cNvPr id="11" name="Text 9"/>
          <p:cNvSpPr/>
          <p:nvPr/>
        </p:nvSpPr>
        <p:spPr>
          <a:xfrm>
            <a:off x="4930854" y="6080760"/>
            <a:ext cx="5346799"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무료 오픈API 스택 — 제로에 가까운 인프라 비용</a:t>
            </a:r>
            <a:endParaRPr lang="en-US" sz="2025" dirty="0"/>
          </a:p>
        </p:txBody>
      </p:sp>
      <p:sp>
        <p:nvSpPr>
          <p:cNvPr id="12" name="Shape 10"/>
          <p:cNvSpPr/>
          <p:nvPr/>
        </p:nvSpPr>
        <p:spPr>
          <a:xfrm>
            <a:off x="4683205" y="6652260"/>
            <a:ext cx="76200" cy="76200"/>
          </a:xfrm>
          <a:prstGeom prst="rect">
            <a:avLst/>
          </a:prstGeom>
          <a:solidFill>
            <a:srgbClr val="E4A24A"/>
          </a:solidFill>
          <a:ln/>
        </p:spPr>
      </p:sp>
      <p:sp>
        <p:nvSpPr>
          <p:cNvPr id="13" name="Text 11"/>
          <p:cNvSpPr/>
          <p:nvPr/>
        </p:nvSpPr>
        <p:spPr>
          <a:xfrm>
            <a:off x="4930854" y="6537960"/>
            <a:ext cx="5534739"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검증된 방법론 — PCI·몬테카를로로 리스크 정량화</a:t>
            </a:r>
            <a:endParaRPr lang="en-US" sz="20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03 해결책 ·</a:t>
            </a:r>
            <a:r>
              <a:rPr lang="en-US" sz="1425" b="1" kern="0" spc="57" dirty="0">
                <a:solidFill>
                  <a:srgbClr val="28666E"/>
                </a:solidFill>
                <a:latin typeface="Pretendard" pitchFamily="34" charset="0"/>
                <a:ea typeface="Pretendard" pitchFamily="34" charset="-122"/>
                <a:cs typeface="Pretendard" pitchFamily="34" charset="-120"/>
              </a:rPr>
              <a:t>컨트롤타워 개념</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조회에 그치지 않고 </a:t>
            </a:r>
            <a:r>
              <a:rPr lang="en-US" sz="4050" b="1" kern="0" spc="-81" dirty="0">
                <a:solidFill>
                  <a:srgbClr val="28666E"/>
                </a:solidFill>
                <a:latin typeface="Pretendard" pitchFamily="34" charset="0"/>
                <a:ea typeface="Pretendard" pitchFamily="34" charset="-122"/>
                <a:cs typeface="Pretendard" pitchFamily="34" charset="-120"/>
              </a:rPr>
              <a:t>실행까지 </a:t>
            </a:r>
            <a:r>
              <a:rPr lang="en-US" sz="4050" b="1" kern="0" spc="-81" dirty="0">
                <a:solidFill>
                  <a:srgbClr val="12161D"/>
                </a:solidFill>
                <a:latin typeface="Pretendard" pitchFamily="34" charset="0"/>
                <a:ea typeface="Pretendard" pitchFamily="34" charset="-122"/>
                <a:cs typeface="Pretendard" pitchFamily="34" charset="-120"/>
              </a:rPr>
              <a:t>잇는 통합 컨트롤타워</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6개 외부 소스 · 자동 파이프라인 · 8개 화면을 하나의 흐름으로</a:t>
            </a:r>
            <a:endParaRPr lang="en-US" sz="1875" dirty="0"/>
          </a:p>
        </p:txBody>
      </p:sp>
      <p:sp>
        <p:nvSpPr>
          <p:cNvPr id="5" name="Shape 3"/>
          <p:cNvSpPr/>
          <p:nvPr/>
        </p:nvSpPr>
        <p:spPr>
          <a:xfrm>
            <a:off x="914400" y="2132767"/>
            <a:ext cx="5321261" cy="1002030"/>
          </a:xfrm>
          <a:prstGeom prst="roundRect">
            <a:avLst>
              <a:gd name="adj" fmla="val 13308"/>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07770" y="2349937"/>
            <a:ext cx="5207972" cy="327660"/>
          </a:xfrm>
          <a:prstGeom prst="rect">
            <a:avLst/>
          </a:prstGeom>
          <a:noFill/>
          <a:ln/>
        </p:spPr>
        <p:txBody>
          <a:bodyPr wrap="square" lIns="25400" tIns="25400" rIns="25400" bIns="25400" rtlCol="0" anchor="t">
            <a:normAutofit/>
          </a:bodyPr>
          <a:lstStyle/>
          <a:p>
            <a:pPr marL="0" indent="0" algn="l">
              <a:buNone/>
            </a:pPr>
            <a:r>
              <a:rPr lang="en-US" sz="1875" b="1" dirty="0">
                <a:solidFill>
                  <a:srgbClr val="12161D"/>
                </a:solidFill>
                <a:latin typeface="Pretendard" pitchFamily="34" charset="0"/>
                <a:ea typeface="Pretendard" pitchFamily="34" charset="-122"/>
                <a:cs typeface="Pretendard" pitchFamily="34" charset="-120"/>
              </a:rPr>
              <a:t>터미널 공표</a:t>
            </a:r>
            <a:endParaRPr lang="en-US" sz="1875" dirty="0"/>
          </a:p>
        </p:txBody>
      </p:sp>
      <p:sp>
        <p:nvSpPr>
          <p:cNvPr id="7" name="Text 5"/>
          <p:cNvSpPr/>
          <p:nvPr/>
        </p:nvSpPr>
        <p:spPr>
          <a:xfrm>
            <a:off x="1207770" y="2696647"/>
            <a:ext cx="5207972"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선석배정 9곳 · 시트별 엑셀 (매일 06:00)</a:t>
            </a:r>
            <a:endParaRPr lang="en-US" sz="1425" dirty="0"/>
          </a:p>
        </p:txBody>
      </p:sp>
      <p:sp>
        <p:nvSpPr>
          <p:cNvPr id="8" name="Shape 6"/>
          <p:cNvSpPr/>
          <p:nvPr/>
        </p:nvSpPr>
        <p:spPr>
          <a:xfrm>
            <a:off x="6483311" y="2132767"/>
            <a:ext cx="5321261" cy="1002030"/>
          </a:xfrm>
          <a:prstGeom prst="roundRect">
            <a:avLst>
              <a:gd name="adj" fmla="val 13308"/>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9" name="Text 7"/>
          <p:cNvSpPr/>
          <p:nvPr/>
        </p:nvSpPr>
        <p:spPr>
          <a:xfrm>
            <a:off x="6776681" y="2349937"/>
            <a:ext cx="5207972" cy="327660"/>
          </a:xfrm>
          <a:prstGeom prst="rect">
            <a:avLst/>
          </a:prstGeom>
          <a:noFill/>
          <a:ln/>
        </p:spPr>
        <p:txBody>
          <a:bodyPr wrap="square" lIns="25400" tIns="25400" rIns="25400" bIns="25400" rtlCol="0" anchor="t">
            <a:normAutofit/>
          </a:bodyPr>
          <a:lstStyle/>
          <a:p>
            <a:pPr marL="0" indent="0" algn="l">
              <a:buNone/>
            </a:pPr>
            <a:r>
              <a:rPr lang="en-US" sz="1875" b="1" dirty="0">
                <a:solidFill>
                  <a:srgbClr val="12161D"/>
                </a:solidFill>
                <a:latin typeface="Pretendard" pitchFamily="34" charset="0"/>
                <a:ea typeface="Pretendard" pitchFamily="34" charset="-122"/>
                <a:cs typeface="Pretendard" pitchFamily="34" charset="-120"/>
              </a:rPr>
              <a:t>위성 · AIS</a:t>
            </a:r>
            <a:endParaRPr lang="en-US" sz="1875" dirty="0"/>
          </a:p>
        </p:txBody>
      </p:sp>
      <p:sp>
        <p:nvSpPr>
          <p:cNvPr id="10" name="Text 8"/>
          <p:cNvSpPr/>
          <p:nvPr/>
        </p:nvSpPr>
        <p:spPr>
          <a:xfrm>
            <a:off x="6776681" y="2696647"/>
            <a:ext cx="5207972"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PortWatch 혼잡도 · VesselFinder 위치</a:t>
            </a:r>
            <a:endParaRPr lang="en-US" sz="1425" dirty="0"/>
          </a:p>
        </p:txBody>
      </p:sp>
      <p:sp>
        <p:nvSpPr>
          <p:cNvPr id="11" name="Shape 9"/>
          <p:cNvSpPr/>
          <p:nvPr/>
        </p:nvSpPr>
        <p:spPr>
          <a:xfrm>
            <a:off x="12052221" y="2132767"/>
            <a:ext cx="5321261" cy="1002030"/>
          </a:xfrm>
          <a:prstGeom prst="roundRect">
            <a:avLst>
              <a:gd name="adj" fmla="val 13308"/>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12345591" y="2349937"/>
            <a:ext cx="5207972" cy="327660"/>
          </a:xfrm>
          <a:prstGeom prst="rect">
            <a:avLst/>
          </a:prstGeom>
          <a:noFill/>
          <a:ln/>
        </p:spPr>
        <p:txBody>
          <a:bodyPr wrap="square" lIns="25400" tIns="25400" rIns="25400" bIns="25400" rtlCol="0" anchor="t">
            <a:normAutofit/>
          </a:bodyPr>
          <a:lstStyle/>
          <a:p>
            <a:pPr marL="0" indent="0" algn="l">
              <a:buNone/>
            </a:pPr>
            <a:r>
              <a:rPr lang="en-US" sz="1875" b="1" dirty="0">
                <a:solidFill>
                  <a:srgbClr val="12161D"/>
                </a:solidFill>
                <a:latin typeface="Pretendard" pitchFamily="34" charset="0"/>
                <a:ea typeface="Pretendard" pitchFamily="34" charset="-122"/>
                <a:cs typeface="Pretendard" pitchFamily="34" charset="-120"/>
              </a:rPr>
              <a:t>지수 · 통관 · 기상</a:t>
            </a:r>
            <a:endParaRPr lang="en-US" sz="1875" dirty="0"/>
          </a:p>
        </p:txBody>
      </p:sp>
      <p:sp>
        <p:nvSpPr>
          <p:cNvPr id="13" name="Text 11"/>
          <p:cNvSpPr/>
          <p:nvPr/>
        </p:nvSpPr>
        <p:spPr>
          <a:xfrm>
            <a:off x="12345591" y="2696647"/>
            <a:ext cx="5207972"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SCFI·CCFI · 유니패스 · Open-Meteo</a:t>
            </a:r>
            <a:endParaRPr lang="en-US" sz="1425" dirty="0"/>
          </a:p>
        </p:txBody>
      </p:sp>
      <p:sp>
        <p:nvSpPr>
          <p:cNvPr id="14" name="Text 12"/>
          <p:cNvSpPr/>
          <p:nvPr/>
        </p:nvSpPr>
        <p:spPr>
          <a:xfrm>
            <a:off x="648337" y="3230047"/>
            <a:ext cx="5853387" cy="350520"/>
          </a:xfrm>
          <a:prstGeom prst="rect">
            <a:avLst/>
          </a:prstGeom>
          <a:noFill/>
          <a:ln/>
        </p:spPr>
        <p:txBody>
          <a:bodyPr wrap="square" lIns="25400" tIns="25400" rIns="25400" bIns="25400" rtlCol="0" anchor="t">
            <a:normAutofit/>
          </a:bodyPr>
          <a:lstStyle/>
          <a:p>
            <a:pPr marL="0" indent="0" algn="ctr">
              <a:buNone/>
            </a:pPr>
            <a:r>
              <a:rPr lang="en-US" sz="2100" dirty="0">
                <a:solidFill>
                  <a:srgbClr val="28666E"/>
                </a:solidFill>
                <a:latin typeface="Pretendard" pitchFamily="34" charset="0"/>
                <a:ea typeface="Pretendard" pitchFamily="34" charset="-122"/>
                <a:cs typeface="Pretendard" pitchFamily="34" charset="-120"/>
              </a:rPr>
              <a:t>↓</a:t>
            </a:r>
            <a:endParaRPr lang="en-US" sz="2100" dirty="0"/>
          </a:p>
        </p:txBody>
      </p:sp>
      <p:sp>
        <p:nvSpPr>
          <p:cNvPr id="15" name="Text 13"/>
          <p:cNvSpPr/>
          <p:nvPr/>
        </p:nvSpPr>
        <p:spPr>
          <a:xfrm>
            <a:off x="6217248" y="3230047"/>
            <a:ext cx="5853387" cy="350520"/>
          </a:xfrm>
          <a:prstGeom prst="rect">
            <a:avLst/>
          </a:prstGeom>
          <a:noFill/>
          <a:ln/>
        </p:spPr>
        <p:txBody>
          <a:bodyPr wrap="square" lIns="25400" tIns="25400" rIns="25400" bIns="25400" rtlCol="0" anchor="t">
            <a:normAutofit/>
          </a:bodyPr>
          <a:lstStyle/>
          <a:p>
            <a:pPr marL="0" indent="0" algn="ctr">
              <a:buNone/>
            </a:pPr>
            <a:r>
              <a:rPr lang="en-US" sz="2100" dirty="0">
                <a:solidFill>
                  <a:srgbClr val="28666E"/>
                </a:solidFill>
                <a:latin typeface="Pretendard" pitchFamily="34" charset="0"/>
                <a:ea typeface="Pretendard" pitchFamily="34" charset="-122"/>
                <a:cs typeface="Pretendard" pitchFamily="34" charset="-120"/>
              </a:rPr>
              <a:t>↓</a:t>
            </a:r>
            <a:endParaRPr lang="en-US" sz="2100" dirty="0"/>
          </a:p>
        </p:txBody>
      </p:sp>
      <p:sp>
        <p:nvSpPr>
          <p:cNvPr id="16" name="Text 14"/>
          <p:cNvSpPr/>
          <p:nvPr/>
        </p:nvSpPr>
        <p:spPr>
          <a:xfrm>
            <a:off x="11786158" y="3230047"/>
            <a:ext cx="5853387" cy="350520"/>
          </a:xfrm>
          <a:prstGeom prst="rect">
            <a:avLst/>
          </a:prstGeom>
          <a:noFill/>
          <a:ln/>
        </p:spPr>
        <p:txBody>
          <a:bodyPr wrap="square" lIns="25400" tIns="25400" rIns="25400" bIns="25400" rtlCol="0" anchor="t">
            <a:normAutofit/>
          </a:bodyPr>
          <a:lstStyle/>
          <a:p>
            <a:pPr marL="0" indent="0" algn="ctr">
              <a:buNone/>
            </a:pPr>
            <a:r>
              <a:rPr lang="en-US" sz="2100" dirty="0">
                <a:solidFill>
                  <a:srgbClr val="28666E"/>
                </a:solidFill>
                <a:latin typeface="Pretendard" pitchFamily="34" charset="0"/>
                <a:ea typeface="Pretendard" pitchFamily="34" charset="-122"/>
                <a:cs typeface="Pretendard" pitchFamily="34" charset="-120"/>
              </a:rPr>
              <a:t>↓</a:t>
            </a:r>
            <a:endParaRPr lang="en-US" sz="2100" dirty="0"/>
          </a:p>
        </p:txBody>
      </p:sp>
      <p:sp>
        <p:nvSpPr>
          <p:cNvPr id="17" name="Shape 15"/>
          <p:cNvSpPr/>
          <p:nvPr/>
        </p:nvSpPr>
        <p:spPr>
          <a:xfrm>
            <a:off x="914400" y="3637717"/>
            <a:ext cx="16459200" cy="5822514"/>
          </a:xfrm>
          <a:prstGeom prst="roundRect">
            <a:avLst>
              <a:gd name="adj" fmla="val 2945"/>
            </a:avLst>
          </a:prstGeom>
          <a:solidFill>
            <a:srgbClr val="12161D"/>
          </a:solidFill>
          <a:ln/>
        </p:spPr>
      </p:sp>
      <p:sp>
        <p:nvSpPr>
          <p:cNvPr id="18" name="Text 16"/>
          <p:cNvSpPr/>
          <p:nvPr/>
        </p:nvSpPr>
        <p:spPr>
          <a:xfrm>
            <a:off x="1238250" y="3885367"/>
            <a:ext cx="17392650" cy="266700"/>
          </a:xfrm>
          <a:prstGeom prst="rect">
            <a:avLst/>
          </a:prstGeom>
          <a:noFill/>
          <a:ln/>
        </p:spPr>
        <p:txBody>
          <a:bodyPr wrap="square" lIns="25400" tIns="25400" rIns="25400" bIns="25400" rtlCol="0" anchor="t">
            <a:normAutofit/>
          </a:bodyPr>
          <a:lstStyle/>
          <a:p>
            <a:pPr marL="0" indent="0" algn="l">
              <a:buNone/>
            </a:pPr>
            <a:r>
              <a:rPr lang="en-US" sz="1500" b="1" kern="0" spc="15" dirty="0">
                <a:solidFill>
                  <a:srgbClr val="5FA8AE"/>
                </a:solidFill>
                <a:latin typeface="Pretendard" pitchFamily="34" charset="0"/>
                <a:ea typeface="Pretendard" pitchFamily="34" charset="-122"/>
                <a:cs typeface="Pretendard" pitchFamily="34" charset="-120"/>
              </a:rPr>
              <a:t>자동 파이프라인 · 수집 → 정규화(공통 스키마) → 적재(Supabase) → 표현</a:t>
            </a:r>
            <a:endParaRPr lang="en-US" sz="1500" dirty="0"/>
          </a:p>
        </p:txBody>
      </p:sp>
      <p:sp>
        <p:nvSpPr>
          <p:cNvPr id="19" name="Shape 17"/>
          <p:cNvSpPr/>
          <p:nvPr/>
        </p:nvSpPr>
        <p:spPr>
          <a:xfrm>
            <a:off x="1238250" y="4323517"/>
            <a:ext cx="15240" cy="4850963"/>
          </a:xfrm>
          <a:prstGeom prst="rect">
            <a:avLst/>
          </a:prstGeom>
          <a:solidFill>
            <a:srgbClr val="28666E"/>
          </a:solidFill>
          <a:ln/>
        </p:spPr>
      </p:sp>
      <p:sp>
        <p:nvSpPr>
          <p:cNvPr id="20" name="Text 18"/>
          <p:cNvSpPr/>
          <p:nvPr/>
        </p:nvSpPr>
        <p:spPr>
          <a:xfrm>
            <a:off x="1443990" y="4323517"/>
            <a:ext cx="3886105"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Pretendard" pitchFamily="34" charset="0"/>
                <a:ea typeface="Pretendard" pitchFamily="34" charset="-122"/>
                <a:cs typeface="Pretendard" pitchFamily="34" charset="-120"/>
              </a:rPr>
              <a:t>① 실데이터 조회</a:t>
            </a:r>
            <a:endParaRPr lang="en-US" sz="1650" dirty="0"/>
          </a:p>
        </p:txBody>
      </p:sp>
      <p:sp>
        <p:nvSpPr>
          <p:cNvPr id="21" name="Text 19"/>
          <p:cNvSpPr/>
          <p:nvPr/>
        </p:nvSpPr>
        <p:spPr>
          <a:xfrm>
            <a:off x="1443990" y="4670227"/>
            <a:ext cx="3886105" cy="286703"/>
          </a:xfrm>
          <a:prstGeom prst="rect">
            <a:avLst/>
          </a:prstGeom>
          <a:noFill/>
          <a:ln/>
        </p:spPr>
        <p:txBody>
          <a:bodyPr wrap="square" lIns="25400" tIns="25400" rIns="25400" bIns="25400" rtlCol="0" anchor="t">
            <a:normAutofit/>
          </a:bodyPr>
          <a:lstStyle/>
          <a:p>
            <a:pPr marL="0" indent="0" algn="l">
              <a:lnSpc>
                <a:spcPct val="125481"/>
              </a:lnSpc>
              <a:buNone/>
            </a:pPr>
            <a:r>
              <a:rPr lang="en-US" sz="1350" dirty="0">
                <a:solidFill>
                  <a:srgbClr val="C9CCD1"/>
                </a:solidFill>
                <a:latin typeface="Pretendard" pitchFamily="34" charset="0"/>
                <a:ea typeface="Pretendard" pitchFamily="34" charset="-122"/>
                <a:cs typeface="Pretendard" pitchFamily="34" charset="-120"/>
              </a:rPr>
              <a:t>선석·혼잡·선박·운임·기상·통관을 한 화면에</a:t>
            </a:r>
            <a:endParaRPr lang="en-US" sz="1350" dirty="0"/>
          </a:p>
        </p:txBody>
      </p:sp>
      <p:sp>
        <p:nvSpPr>
          <p:cNvPr id="22" name="Shape 20"/>
          <p:cNvSpPr/>
          <p:nvPr/>
        </p:nvSpPr>
        <p:spPr>
          <a:xfrm>
            <a:off x="5262563" y="4323517"/>
            <a:ext cx="15240" cy="4850963"/>
          </a:xfrm>
          <a:prstGeom prst="rect">
            <a:avLst/>
          </a:prstGeom>
          <a:solidFill>
            <a:srgbClr val="28666E"/>
          </a:solidFill>
          <a:ln/>
        </p:spPr>
      </p:sp>
      <p:sp>
        <p:nvSpPr>
          <p:cNvPr id="23" name="Text 21"/>
          <p:cNvSpPr/>
          <p:nvPr/>
        </p:nvSpPr>
        <p:spPr>
          <a:xfrm>
            <a:off x="5468303" y="4323517"/>
            <a:ext cx="3886105"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Pretendard" pitchFamily="34" charset="0"/>
                <a:ea typeface="Pretendard" pitchFamily="34" charset="-122"/>
                <a:cs typeface="Pretendard" pitchFamily="34" charset="-120"/>
              </a:rPr>
              <a:t>② 리스크 분석</a:t>
            </a:r>
            <a:endParaRPr lang="en-US" sz="1650" dirty="0"/>
          </a:p>
        </p:txBody>
      </p:sp>
      <p:sp>
        <p:nvSpPr>
          <p:cNvPr id="24" name="Text 22"/>
          <p:cNvSpPr/>
          <p:nvPr/>
        </p:nvSpPr>
        <p:spPr>
          <a:xfrm>
            <a:off x="5468303" y="4670227"/>
            <a:ext cx="3886105" cy="286703"/>
          </a:xfrm>
          <a:prstGeom prst="rect">
            <a:avLst/>
          </a:prstGeom>
          <a:noFill/>
          <a:ln/>
        </p:spPr>
        <p:txBody>
          <a:bodyPr wrap="square" lIns="25400" tIns="25400" rIns="25400" bIns="25400" rtlCol="0" anchor="t">
            <a:normAutofit/>
          </a:bodyPr>
          <a:lstStyle/>
          <a:p>
            <a:pPr marL="0" indent="0" algn="l">
              <a:lnSpc>
                <a:spcPct val="125481"/>
              </a:lnSpc>
              <a:buNone/>
            </a:pPr>
            <a:r>
              <a:rPr lang="en-US" sz="1350" dirty="0">
                <a:solidFill>
                  <a:srgbClr val="C9CCD1"/>
                </a:solidFill>
                <a:latin typeface="Pretendard" pitchFamily="34" charset="0"/>
                <a:ea typeface="Pretendard" pitchFamily="34" charset="-122"/>
                <a:cs typeface="Pretendard" pitchFamily="34" charset="-120"/>
              </a:rPr>
              <a:t>PCI 혼잡도 · ETA 지연 · 경로 소요일 정량화</a:t>
            </a:r>
            <a:endParaRPr lang="en-US" sz="1350" dirty="0"/>
          </a:p>
        </p:txBody>
      </p:sp>
      <p:sp>
        <p:nvSpPr>
          <p:cNvPr id="25" name="Shape 23"/>
          <p:cNvSpPr/>
          <p:nvPr/>
        </p:nvSpPr>
        <p:spPr>
          <a:xfrm>
            <a:off x="9286875" y="4323517"/>
            <a:ext cx="15240" cy="4850963"/>
          </a:xfrm>
          <a:prstGeom prst="rect">
            <a:avLst/>
          </a:prstGeom>
          <a:solidFill>
            <a:srgbClr val="28666E"/>
          </a:solidFill>
          <a:ln/>
        </p:spPr>
      </p:sp>
      <p:sp>
        <p:nvSpPr>
          <p:cNvPr id="26" name="Text 24"/>
          <p:cNvSpPr/>
          <p:nvPr/>
        </p:nvSpPr>
        <p:spPr>
          <a:xfrm>
            <a:off x="9492615" y="4323517"/>
            <a:ext cx="3886105"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Pretendard" pitchFamily="34" charset="0"/>
                <a:ea typeface="Pretendard" pitchFamily="34" charset="-122"/>
                <a:cs typeface="Pretendard" pitchFamily="34" charset="-120"/>
              </a:rPr>
              <a:t>③ 실행 지원</a:t>
            </a:r>
            <a:endParaRPr lang="en-US" sz="1650" dirty="0"/>
          </a:p>
        </p:txBody>
      </p:sp>
      <p:sp>
        <p:nvSpPr>
          <p:cNvPr id="27" name="Text 25"/>
          <p:cNvSpPr/>
          <p:nvPr/>
        </p:nvSpPr>
        <p:spPr>
          <a:xfrm>
            <a:off x="9492615" y="4670227"/>
            <a:ext cx="3886105" cy="286703"/>
          </a:xfrm>
          <a:prstGeom prst="rect">
            <a:avLst/>
          </a:prstGeom>
          <a:noFill/>
          <a:ln/>
        </p:spPr>
        <p:txBody>
          <a:bodyPr wrap="square" lIns="25400" tIns="25400" rIns="25400" bIns="25400" rtlCol="0" anchor="t">
            <a:normAutofit/>
          </a:bodyPr>
          <a:lstStyle/>
          <a:p>
            <a:pPr marL="0" indent="0" algn="l">
              <a:lnSpc>
                <a:spcPct val="125481"/>
              </a:lnSpc>
              <a:buNone/>
            </a:pPr>
            <a:r>
              <a:rPr lang="en-US" sz="1350" dirty="0">
                <a:solidFill>
                  <a:srgbClr val="C9CCD1"/>
                </a:solidFill>
                <a:latin typeface="Pretendard" pitchFamily="34" charset="0"/>
                <a:ea typeface="Pretendard" pitchFamily="34" charset="-122"/>
                <a:cs typeface="Pretendard" pitchFamily="34" charset="-120"/>
              </a:rPr>
              <a:t>반입마감 임박 강조 · 화물통관 추적 · 경로 시뮬</a:t>
            </a:r>
            <a:endParaRPr lang="en-US" sz="1350" dirty="0"/>
          </a:p>
        </p:txBody>
      </p:sp>
      <p:sp>
        <p:nvSpPr>
          <p:cNvPr id="28" name="Shape 26"/>
          <p:cNvSpPr/>
          <p:nvPr/>
        </p:nvSpPr>
        <p:spPr>
          <a:xfrm>
            <a:off x="13311188" y="4323517"/>
            <a:ext cx="15240" cy="4850963"/>
          </a:xfrm>
          <a:prstGeom prst="rect">
            <a:avLst/>
          </a:prstGeom>
          <a:solidFill>
            <a:srgbClr val="28666E"/>
          </a:solidFill>
          <a:ln/>
        </p:spPr>
      </p:sp>
      <p:sp>
        <p:nvSpPr>
          <p:cNvPr id="29" name="Text 27"/>
          <p:cNvSpPr/>
          <p:nvPr/>
        </p:nvSpPr>
        <p:spPr>
          <a:xfrm>
            <a:off x="13516927" y="4323517"/>
            <a:ext cx="3886105"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Pretendard" pitchFamily="34" charset="0"/>
                <a:ea typeface="Pretendard" pitchFamily="34" charset="-122"/>
                <a:cs typeface="Pretendard" pitchFamily="34" charset="-120"/>
              </a:rPr>
              <a:t>④ 운영 · 자동화</a:t>
            </a:r>
            <a:endParaRPr lang="en-US" sz="1650" dirty="0"/>
          </a:p>
        </p:txBody>
      </p:sp>
      <p:sp>
        <p:nvSpPr>
          <p:cNvPr id="30" name="Text 28"/>
          <p:cNvSpPr/>
          <p:nvPr/>
        </p:nvSpPr>
        <p:spPr>
          <a:xfrm>
            <a:off x="13516927" y="4670227"/>
            <a:ext cx="3886105" cy="286703"/>
          </a:xfrm>
          <a:prstGeom prst="rect">
            <a:avLst/>
          </a:prstGeom>
          <a:noFill/>
          <a:ln/>
        </p:spPr>
        <p:txBody>
          <a:bodyPr wrap="square" lIns="25400" tIns="25400" rIns="25400" bIns="25400" rtlCol="0" anchor="t">
            <a:normAutofit/>
          </a:bodyPr>
          <a:lstStyle/>
          <a:p>
            <a:pPr marL="0" indent="0" algn="l">
              <a:lnSpc>
                <a:spcPct val="125481"/>
              </a:lnSpc>
              <a:buNone/>
            </a:pPr>
            <a:r>
              <a:rPr lang="en-US" sz="1350" dirty="0">
                <a:solidFill>
                  <a:srgbClr val="C9CCD1"/>
                </a:solidFill>
                <a:latin typeface="Pretendard" pitchFamily="34" charset="0"/>
                <a:ea typeface="Pretendard" pitchFamily="34" charset="-122"/>
                <a:cs typeface="Pretendard" pitchFamily="34" charset="-120"/>
              </a:rPr>
              <a:t>매일 자동수집 · 신선도 보드 · 장애 폴백</a:t>
            </a:r>
            <a:endParaRPr lang="en-US" sz="1350" dirty="0"/>
          </a:p>
        </p:txBody>
      </p:sp>
      <p:sp>
        <p:nvSpPr>
          <p:cNvPr id="31" name="Shape 29"/>
          <p:cNvSpPr/>
          <p:nvPr/>
        </p:nvSpPr>
        <p:spPr>
          <a:xfrm>
            <a:off x="914400" y="9650730"/>
            <a:ext cx="16459200" cy="9525"/>
          </a:xfrm>
          <a:prstGeom prst="rect">
            <a:avLst/>
          </a:prstGeom>
          <a:solidFill>
            <a:srgbClr val="E9E4DC"/>
          </a:solidFill>
          <a:ln/>
        </p:spPr>
      </p:sp>
      <p:sp>
        <p:nvSpPr>
          <p:cNvPr id="32" name="Text 30"/>
          <p:cNvSpPr/>
          <p:nvPr/>
        </p:nvSpPr>
        <p:spPr>
          <a:xfrm>
            <a:off x="914400" y="9772650"/>
            <a:ext cx="7380613"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순수 정적 웹 + Supabase + 배치 — 수집·저장·표현 3계층이 사람 손 없이 매일 도는 사내 컨트롤타워 구조</a:t>
            </a:r>
            <a:endParaRPr lang="en-US" sz="1275" dirty="0"/>
          </a:p>
        </p:txBody>
      </p:sp>
      <p:sp>
        <p:nvSpPr>
          <p:cNvPr id="33" name="Text 31"/>
          <p:cNvSpPr/>
          <p:nvPr/>
        </p:nvSpPr>
        <p:spPr>
          <a:xfrm>
            <a:off x="17190720" y="9772650"/>
            <a:ext cx="259080"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10</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03 해결책 ·</a:t>
            </a:r>
            <a:r>
              <a:rPr lang="en-US" sz="1425" b="1" kern="0" spc="57" dirty="0">
                <a:solidFill>
                  <a:srgbClr val="28666E"/>
                </a:solidFill>
                <a:latin typeface="Pretendard" pitchFamily="34" charset="0"/>
                <a:ea typeface="Pretendard" pitchFamily="34" charset="-122"/>
                <a:cs typeface="Pretendard" pitchFamily="34" charset="-120"/>
              </a:rPr>
              <a:t>핵심 기능</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8개 화면, 전부 실데이터 — 조회부터 리스크 분석까지</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데모 없이 공개·실측 데이터만으로 구성한 컨트롤타워 화면 구성</a:t>
            </a:r>
            <a:endParaRPr lang="en-US" sz="1875" dirty="0"/>
          </a:p>
        </p:txBody>
      </p:sp>
      <p:sp>
        <p:nvSpPr>
          <p:cNvPr id="5" name="Shape 3"/>
          <p:cNvSpPr/>
          <p:nvPr/>
        </p:nvSpPr>
        <p:spPr>
          <a:xfrm>
            <a:off x="914400" y="2170867"/>
            <a:ext cx="3957638" cy="3130272"/>
          </a:xfrm>
          <a:prstGeom prst="roundRect">
            <a:avLst>
              <a:gd name="adj" fmla="val 426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169670" y="2407087"/>
            <a:ext cx="3791807"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Pretendard" pitchFamily="34" charset="0"/>
                <a:ea typeface="Pretendard" pitchFamily="34" charset="-122"/>
                <a:cs typeface="Pretendard" pitchFamily="34" charset="-120"/>
              </a:rPr>
              <a:t>Port Insight</a:t>
            </a:r>
            <a:endParaRPr lang="en-US" sz="1725" dirty="0"/>
          </a:p>
        </p:txBody>
      </p:sp>
      <p:sp>
        <p:nvSpPr>
          <p:cNvPr id="7" name="Text 5"/>
          <p:cNvSpPr/>
          <p:nvPr/>
        </p:nvSpPr>
        <p:spPr>
          <a:xfrm>
            <a:off x="1169670" y="2742367"/>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글로벌 93개 항만 혼잡도(PCI) 게이지·지도·Top10</a:t>
            </a:r>
            <a:endParaRPr lang="en-US" sz="1350" dirty="0"/>
          </a:p>
        </p:txBody>
      </p:sp>
      <p:sp>
        <p:nvSpPr>
          <p:cNvPr id="8" name="Shape 6"/>
          <p:cNvSpPr/>
          <p:nvPr/>
        </p:nvSpPr>
        <p:spPr>
          <a:xfrm>
            <a:off x="1169670" y="4842034"/>
            <a:ext cx="1222415" cy="270510"/>
          </a:xfrm>
          <a:prstGeom prst="roundRect">
            <a:avLst>
              <a:gd name="adj" fmla="val 50000"/>
            </a:avLst>
          </a:prstGeom>
          <a:solidFill>
            <a:srgbClr val="E7EEEE"/>
          </a:solidFill>
          <a:ln/>
        </p:spPr>
      </p:sp>
      <p:sp>
        <p:nvSpPr>
          <p:cNvPr id="9" name="Text 7"/>
          <p:cNvSpPr/>
          <p:nvPr/>
        </p:nvSpPr>
        <p:spPr>
          <a:xfrm>
            <a:off x="1283970" y="4889659"/>
            <a:ext cx="1070015"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IMF PortWatch</a:t>
            </a:r>
            <a:endParaRPr lang="en-US" sz="1125" dirty="0"/>
          </a:p>
        </p:txBody>
      </p:sp>
      <p:sp>
        <p:nvSpPr>
          <p:cNvPr id="10" name="Shape 8"/>
          <p:cNvSpPr/>
          <p:nvPr/>
        </p:nvSpPr>
        <p:spPr>
          <a:xfrm>
            <a:off x="5081588" y="2170867"/>
            <a:ext cx="3957638" cy="3130272"/>
          </a:xfrm>
          <a:prstGeom prst="roundRect">
            <a:avLst>
              <a:gd name="adj" fmla="val 426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1" name="Text 9"/>
          <p:cNvSpPr/>
          <p:nvPr/>
        </p:nvSpPr>
        <p:spPr>
          <a:xfrm>
            <a:off x="5336857" y="2407087"/>
            <a:ext cx="3791807"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Pretendard" pitchFamily="34" charset="0"/>
                <a:ea typeface="Pretendard" pitchFamily="34" charset="-122"/>
                <a:cs typeface="Pretendard" pitchFamily="34" charset="-120"/>
              </a:rPr>
              <a:t>선석배정</a:t>
            </a:r>
            <a:endParaRPr lang="en-US" sz="1725" dirty="0"/>
          </a:p>
        </p:txBody>
      </p:sp>
      <p:sp>
        <p:nvSpPr>
          <p:cNvPr id="12" name="Text 10"/>
          <p:cNvSpPr/>
          <p:nvPr/>
        </p:nvSpPr>
        <p:spPr>
          <a:xfrm>
            <a:off x="5336857" y="2742367"/>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9개 터미널 통합 · 반입마감 임박 강조 · 그리드 UX</a:t>
            </a:r>
            <a:endParaRPr lang="en-US" sz="1350" dirty="0"/>
          </a:p>
        </p:txBody>
      </p:sp>
      <p:sp>
        <p:nvSpPr>
          <p:cNvPr id="13" name="Shape 11"/>
          <p:cNvSpPr/>
          <p:nvPr/>
        </p:nvSpPr>
        <p:spPr>
          <a:xfrm>
            <a:off x="5336857" y="4842034"/>
            <a:ext cx="879038" cy="270510"/>
          </a:xfrm>
          <a:prstGeom prst="roundRect">
            <a:avLst>
              <a:gd name="adj" fmla="val 50000"/>
            </a:avLst>
          </a:prstGeom>
          <a:solidFill>
            <a:srgbClr val="E7EEEE"/>
          </a:solidFill>
          <a:ln/>
        </p:spPr>
      </p:sp>
      <p:sp>
        <p:nvSpPr>
          <p:cNvPr id="14" name="Text 12"/>
          <p:cNvSpPr/>
          <p:nvPr/>
        </p:nvSpPr>
        <p:spPr>
          <a:xfrm>
            <a:off x="5451157" y="4889659"/>
            <a:ext cx="726638"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터미널 공표</a:t>
            </a:r>
            <a:endParaRPr lang="en-US" sz="1125" dirty="0"/>
          </a:p>
        </p:txBody>
      </p:sp>
      <p:sp>
        <p:nvSpPr>
          <p:cNvPr id="15" name="Shape 13"/>
          <p:cNvSpPr/>
          <p:nvPr/>
        </p:nvSpPr>
        <p:spPr>
          <a:xfrm>
            <a:off x="9248775" y="2170867"/>
            <a:ext cx="3957638" cy="3130272"/>
          </a:xfrm>
          <a:prstGeom prst="roundRect">
            <a:avLst>
              <a:gd name="adj" fmla="val 426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6" name="Text 14"/>
          <p:cNvSpPr/>
          <p:nvPr/>
        </p:nvSpPr>
        <p:spPr>
          <a:xfrm>
            <a:off x="9504045" y="2407087"/>
            <a:ext cx="3791807"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Pretendard" pitchFamily="34" charset="0"/>
                <a:ea typeface="Pretendard" pitchFamily="34" charset="-122"/>
                <a:cs typeface="Pretendard" pitchFamily="34" charset="-120"/>
              </a:rPr>
              <a:t>선박 위치</a:t>
            </a:r>
            <a:endParaRPr lang="en-US" sz="1725" dirty="0"/>
          </a:p>
        </p:txBody>
      </p:sp>
      <p:sp>
        <p:nvSpPr>
          <p:cNvPr id="17" name="Text 15"/>
          <p:cNvSpPr/>
          <p:nvPr/>
        </p:nvSpPr>
        <p:spPr>
          <a:xfrm>
            <a:off x="9504045" y="2742367"/>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실시간 AIS 지도 · 선명 검색→터미널 확대 이동</a:t>
            </a:r>
            <a:endParaRPr lang="en-US" sz="1350" dirty="0"/>
          </a:p>
        </p:txBody>
      </p:sp>
      <p:sp>
        <p:nvSpPr>
          <p:cNvPr id="18" name="Shape 16"/>
          <p:cNvSpPr/>
          <p:nvPr/>
        </p:nvSpPr>
        <p:spPr>
          <a:xfrm>
            <a:off x="9504045" y="4842034"/>
            <a:ext cx="1104900" cy="270510"/>
          </a:xfrm>
          <a:prstGeom prst="roundRect">
            <a:avLst>
              <a:gd name="adj" fmla="val 50000"/>
            </a:avLst>
          </a:prstGeom>
          <a:solidFill>
            <a:srgbClr val="E7EEEE"/>
          </a:solidFill>
          <a:ln/>
        </p:spPr>
      </p:sp>
      <p:sp>
        <p:nvSpPr>
          <p:cNvPr id="19" name="Text 17"/>
          <p:cNvSpPr/>
          <p:nvPr/>
        </p:nvSpPr>
        <p:spPr>
          <a:xfrm>
            <a:off x="9618345" y="4889659"/>
            <a:ext cx="952500"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VesselFinder</a:t>
            </a:r>
            <a:endParaRPr lang="en-US" sz="1125" dirty="0"/>
          </a:p>
        </p:txBody>
      </p:sp>
      <p:sp>
        <p:nvSpPr>
          <p:cNvPr id="20" name="Shape 18"/>
          <p:cNvSpPr/>
          <p:nvPr/>
        </p:nvSpPr>
        <p:spPr>
          <a:xfrm>
            <a:off x="13415963" y="2170867"/>
            <a:ext cx="3957638" cy="3130272"/>
          </a:xfrm>
          <a:prstGeom prst="roundRect">
            <a:avLst>
              <a:gd name="adj" fmla="val 426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1" name="Text 19"/>
          <p:cNvSpPr/>
          <p:nvPr/>
        </p:nvSpPr>
        <p:spPr>
          <a:xfrm>
            <a:off x="13671233" y="2407087"/>
            <a:ext cx="3791807"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Pretendard" pitchFamily="34" charset="0"/>
                <a:ea typeface="Pretendard" pitchFamily="34" charset="-122"/>
                <a:cs typeface="Pretendard" pitchFamily="34" charset="-120"/>
              </a:rPr>
              <a:t>화물 추적</a:t>
            </a:r>
            <a:endParaRPr lang="en-US" sz="1725" dirty="0"/>
          </a:p>
        </p:txBody>
      </p:sp>
      <p:sp>
        <p:nvSpPr>
          <p:cNvPr id="22" name="Text 20"/>
          <p:cNvSpPr/>
          <p:nvPr/>
        </p:nvSpPr>
        <p:spPr>
          <a:xfrm>
            <a:off x="13671233" y="2742367"/>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MBL/HBL/AWB 통관 진행 타임라인 조회</a:t>
            </a:r>
            <a:endParaRPr lang="en-US" sz="1350" dirty="0"/>
          </a:p>
        </p:txBody>
      </p:sp>
      <p:sp>
        <p:nvSpPr>
          <p:cNvPr id="23" name="Shape 21"/>
          <p:cNvSpPr/>
          <p:nvPr/>
        </p:nvSpPr>
        <p:spPr>
          <a:xfrm>
            <a:off x="13671233" y="4842034"/>
            <a:ext cx="1125974" cy="270510"/>
          </a:xfrm>
          <a:prstGeom prst="roundRect">
            <a:avLst>
              <a:gd name="adj" fmla="val 50000"/>
            </a:avLst>
          </a:prstGeom>
          <a:solidFill>
            <a:srgbClr val="E7EEEE"/>
          </a:solidFill>
          <a:ln/>
        </p:spPr>
      </p:sp>
      <p:sp>
        <p:nvSpPr>
          <p:cNvPr id="24" name="Text 22"/>
          <p:cNvSpPr/>
          <p:nvPr/>
        </p:nvSpPr>
        <p:spPr>
          <a:xfrm>
            <a:off x="13785533" y="4889659"/>
            <a:ext cx="973574"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관세청 유니패스</a:t>
            </a:r>
            <a:endParaRPr lang="en-US" sz="1125" dirty="0"/>
          </a:p>
        </p:txBody>
      </p:sp>
      <p:sp>
        <p:nvSpPr>
          <p:cNvPr id="25" name="Shape 23"/>
          <p:cNvSpPr/>
          <p:nvPr/>
        </p:nvSpPr>
        <p:spPr>
          <a:xfrm>
            <a:off x="914400" y="5510689"/>
            <a:ext cx="3957638" cy="3130391"/>
          </a:xfrm>
          <a:prstGeom prst="roundRect">
            <a:avLst>
              <a:gd name="adj" fmla="val 426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6" name="Text 24"/>
          <p:cNvSpPr/>
          <p:nvPr/>
        </p:nvSpPr>
        <p:spPr>
          <a:xfrm>
            <a:off x="1169670" y="5746909"/>
            <a:ext cx="3791807"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Pretendard" pitchFamily="34" charset="0"/>
                <a:ea typeface="Pretendard" pitchFamily="34" charset="-122"/>
                <a:cs typeface="Pretendard" pitchFamily="34" charset="-120"/>
              </a:rPr>
              <a:t>경로 분석</a:t>
            </a:r>
            <a:endParaRPr lang="en-US" sz="1725" dirty="0"/>
          </a:p>
        </p:txBody>
      </p:sp>
      <p:sp>
        <p:nvSpPr>
          <p:cNvPr id="27" name="Text 25"/>
          <p:cNvSpPr/>
          <p:nvPr/>
        </p:nvSpPr>
        <p:spPr>
          <a:xfrm>
            <a:off x="1169670" y="6082189"/>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해상 항로 + 소요일 몬테카를로 (P10/P50/P90)</a:t>
            </a:r>
            <a:endParaRPr lang="en-US" sz="1350" dirty="0"/>
          </a:p>
        </p:txBody>
      </p:sp>
      <p:sp>
        <p:nvSpPr>
          <p:cNvPr id="28" name="Shape 26"/>
          <p:cNvSpPr/>
          <p:nvPr/>
        </p:nvSpPr>
        <p:spPr>
          <a:xfrm>
            <a:off x="1169670" y="8181975"/>
            <a:ext cx="1257419" cy="270510"/>
          </a:xfrm>
          <a:prstGeom prst="roundRect">
            <a:avLst>
              <a:gd name="adj" fmla="val 50000"/>
            </a:avLst>
          </a:prstGeom>
          <a:solidFill>
            <a:srgbClr val="E7EEEE"/>
          </a:solidFill>
          <a:ln/>
        </p:spPr>
      </p:sp>
      <p:sp>
        <p:nvSpPr>
          <p:cNvPr id="29" name="Text 27"/>
          <p:cNvSpPr/>
          <p:nvPr/>
        </p:nvSpPr>
        <p:spPr>
          <a:xfrm>
            <a:off x="1283970" y="8229600"/>
            <a:ext cx="1105019"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searoute 8,556</a:t>
            </a:r>
            <a:endParaRPr lang="en-US" sz="1125" dirty="0"/>
          </a:p>
        </p:txBody>
      </p:sp>
      <p:sp>
        <p:nvSpPr>
          <p:cNvPr id="30" name="Shape 28"/>
          <p:cNvSpPr/>
          <p:nvPr/>
        </p:nvSpPr>
        <p:spPr>
          <a:xfrm>
            <a:off x="5081588" y="5510689"/>
            <a:ext cx="3957638" cy="3130391"/>
          </a:xfrm>
          <a:prstGeom prst="roundRect">
            <a:avLst>
              <a:gd name="adj" fmla="val 426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31" name="Text 29"/>
          <p:cNvSpPr/>
          <p:nvPr/>
        </p:nvSpPr>
        <p:spPr>
          <a:xfrm>
            <a:off x="5336857" y="5746909"/>
            <a:ext cx="3791807"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Pretendard" pitchFamily="34" charset="0"/>
                <a:ea typeface="Pretendard" pitchFamily="34" charset="-122"/>
                <a:cs typeface="Pretendard" pitchFamily="34" charset="-120"/>
              </a:rPr>
              <a:t>운임지수</a:t>
            </a:r>
            <a:endParaRPr lang="en-US" sz="1725" dirty="0"/>
          </a:p>
        </p:txBody>
      </p:sp>
      <p:sp>
        <p:nvSpPr>
          <p:cNvPr id="32" name="Text 30"/>
          <p:cNvSpPr/>
          <p:nvPr/>
        </p:nvSpPr>
        <p:spPr>
          <a:xfrm>
            <a:off x="5336857" y="6082189"/>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SCFI/CCFI 종합·항로별 주간 스트립</a:t>
            </a:r>
            <a:endParaRPr lang="en-US" sz="1350" dirty="0"/>
          </a:p>
        </p:txBody>
      </p:sp>
      <p:sp>
        <p:nvSpPr>
          <p:cNvPr id="33" name="Shape 31"/>
          <p:cNvSpPr/>
          <p:nvPr/>
        </p:nvSpPr>
        <p:spPr>
          <a:xfrm>
            <a:off x="5336857" y="8181975"/>
            <a:ext cx="969526" cy="270510"/>
          </a:xfrm>
          <a:prstGeom prst="roundRect">
            <a:avLst>
              <a:gd name="adj" fmla="val 50000"/>
            </a:avLst>
          </a:prstGeom>
          <a:solidFill>
            <a:srgbClr val="E7EEEE"/>
          </a:solidFill>
          <a:ln/>
        </p:spPr>
      </p:sp>
      <p:sp>
        <p:nvSpPr>
          <p:cNvPr id="34" name="Text 32"/>
          <p:cNvSpPr/>
          <p:nvPr/>
        </p:nvSpPr>
        <p:spPr>
          <a:xfrm>
            <a:off x="5451157" y="8229600"/>
            <a:ext cx="817126"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상하이거래소</a:t>
            </a:r>
            <a:endParaRPr lang="en-US" sz="1125" dirty="0"/>
          </a:p>
        </p:txBody>
      </p:sp>
      <p:sp>
        <p:nvSpPr>
          <p:cNvPr id="35" name="Shape 33"/>
          <p:cNvSpPr/>
          <p:nvPr/>
        </p:nvSpPr>
        <p:spPr>
          <a:xfrm>
            <a:off x="9248775" y="5510689"/>
            <a:ext cx="3957638" cy="3130391"/>
          </a:xfrm>
          <a:prstGeom prst="roundRect">
            <a:avLst>
              <a:gd name="adj" fmla="val 426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36" name="Text 34"/>
          <p:cNvSpPr/>
          <p:nvPr/>
        </p:nvSpPr>
        <p:spPr>
          <a:xfrm>
            <a:off x="9504045" y="5746909"/>
            <a:ext cx="3791807"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Pretendard" pitchFamily="34" charset="0"/>
                <a:ea typeface="Pretendard" pitchFamily="34" charset="-122"/>
                <a:cs typeface="Pretendard" pitchFamily="34" charset="-120"/>
              </a:rPr>
              <a:t>항만 기상</a:t>
            </a:r>
            <a:endParaRPr lang="en-US" sz="1725" dirty="0"/>
          </a:p>
        </p:txBody>
      </p:sp>
      <p:sp>
        <p:nvSpPr>
          <p:cNvPr id="37" name="Text 35"/>
          <p:cNvSpPr/>
          <p:nvPr/>
        </p:nvSpPr>
        <p:spPr>
          <a:xfrm>
            <a:off x="9504045" y="6082189"/>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파고·풍속 카드 · 등급 경고(≥2.5m 높음)</a:t>
            </a:r>
            <a:endParaRPr lang="en-US" sz="1350" dirty="0"/>
          </a:p>
        </p:txBody>
      </p:sp>
      <p:sp>
        <p:nvSpPr>
          <p:cNvPr id="38" name="Shape 36"/>
          <p:cNvSpPr/>
          <p:nvPr/>
        </p:nvSpPr>
        <p:spPr>
          <a:xfrm>
            <a:off x="9504045" y="8181975"/>
            <a:ext cx="1081326" cy="270510"/>
          </a:xfrm>
          <a:prstGeom prst="roundRect">
            <a:avLst>
              <a:gd name="adj" fmla="val 50000"/>
            </a:avLst>
          </a:prstGeom>
          <a:solidFill>
            <a:srgbClr val="E7EEEE"/>
          </a:solidFill>
          <a:ln/>
        </p:spPr>
      </p:sp>
      <p:sp>
        <p:nvSpPr>
          <p:cNvPr id="39" name="Text 37"/>
          <p:cNvSpPr/>
          <p:nvPr/>
        </p:nvSpPr>
        <p:spPr>
          <a:xfrm>
            <a:off x="9618345" y="8229600"/>
            <a:ext cx="928926"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Open-Meteo</a:t>
            </a:r>
            <a:endParaRPr lang="en-US" sz="1125" dirty="0"/>
          </a:p>
        </p:txBody>
      </p:sp>
      <p:sp>
        <p:nvSpPr>
          <p:cNvPr id="40" name="Shape 38"/>
          <p:cNvSpPr/>
          <p:nvPr/>
        </p:nvSpPr>
        <p:spPr>
          <a:xfrm>
            <a:off x="13415963" y="5510689"/>
            <a:ext cx="3957638" cy="3130391"/>
          </a:xfrm>
          <a:prstGeom prst="roundRect">
            <a:avLst>
              <a:gd name="adj" fmla="val 4260"/>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41" name="Text 39"/>
          <p:cNvSpPr/>
          <p:nvPr/>
        </p:nvSpPr>
        <p:spPr>
          <a:xfrm>
            <a:off x="13671233" y="5746909"/>
            <a:ext cx="3791807"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Pretendard" pitchFamily="34" charset="0"/>
                <a:ea typeface="Pretendard" pitchFamily="34" charset="-122"/>
                <a:cs typeface="Pretendard" pitchFamily="34" charset="-120"/>
              </a:rPr>
              <a:t>데이터 현황</a:t>
            </a:r>
            <a:endParaRPr lang="en-US" sz="1725" dirty="0"/>
          </a:p>
        </p:txBody>
      </p:sp>
      <p:sp>
        <p:nvSpPr>
          <p:cNvPr id="42" name="Text 40"/>
          <p:cNvSpPr/>
          <p:nvPr/>
        </p:nvSpPr>
        <p:spPr>
          <a:xfrm>
            <a:off x="13671233" y="6082189"/>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판정 배너·흐름도·신선도 게이지·7일 타임라인</a:t>
            </a:r>
            <a:endParaRPr lang="en-US" sz="1350" dirty="0"/>
          </a:p>
        </p:txBody>
      </p:sp>
      <p:sp>
        <p:nvSpPr>
          <p:cNvPr id="43" name="Shape 41"/>
          <p:cNvSpPr/>
          <p:nvPr/>
        </p:nvSpPr>
        <p:spPr>
          <a:xfrm>
            <a:off x="13671233" y="8181975"/>
            <a:ext cx="755452" cy="270510"/>
          </a:xfrm>
          <a:prstGeom prst="roundRect">
            <a:avLst>
              <a:gd name="adj" fmla="val 50000"/>
            </a:avLst>
          </a:prstGeom>
          <a:solidFill>
            <a:srgbClr val="E7EEEE"/>
          </a:solidFill>
          <a:ln/>
        </p:spPr>
      </p:sp>
      <p:sp>
        <p:nvSpPr>
          <p:cNvPr id="44" name="Text 42"/>
          <p:cNvSpPr/>
          <p:nvPr/>
        </p:nvSpPr>
        <p:spPr>
          <a:xfrm>
            <a:off x="13785533" y="8229600"/>
            <a:ext cx="603052"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운영 보드</a:t>
            </a:r>
            <a:endParaRPr lang="en-US" sz="1125" dirty="0"/>
          </a:p>
        </p:txBody>
      </p:sp>
      <p:sp>
        <p:nvSpPr>
          <p:cNvPr id="45" name="Shape 43"/>
          <p:cNvSpPr/>
          <p:nvPr/>
        </p:nvSpPr>
        <p:spPr>
          <a:xfrm>
            <a:off x="914400" y="8850630"/>
            <a:ext cx="16459200" cy="609600"/>
          </a:xfrm>
          <a:prstGeom prst="roundRect">
            <a:avLst>
              <a:gd name="adj" fmla="val 21875"/>
            </a:avLst>
          </a:prstGeom>
          <a:solidFill>
            <a:srgbClr val="ECE7DD"/>
          </a:solidFill>
          <a:ln/>
        </p:spPr>
      </p:sp>
      <p:sp>
        <p:nvSpPr>
          <p:cNvPr id="46" name="Text 44"/>
          <p:cNvSpPr/>
          <p:nvPr/>
        </p:nvSpPr>
        <p:spPr>
          <a:xfrm>
            <a:off x="1200150" y="9022080"/>
            <a:ext cx="16381476"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b="1" dirty="0">
                <a:solidFill>
                  <a:srgbClr val="28666E"/>
                </a:solidFill>
                <a:latin typeface="Pretendard" pitchFamily="34" charset="0"/>
                <a:ea typeface="Pretendard" pitchFamily="34" charset="-122"/>
                <a:cs typeface="Pretendard" pitchFamily="34" charset="-120"/>
              </a:rPr>
              <a:t>실데이터 원칙 </a:t>
            </a:r>
            <a:r>
              <a:rPr lang="en-US" sz="1500" dirty="0">
                <a:solidFill>
                  <a:srgbClr val="12161D"/>
                </a:solidFill>
                <a:highlight>
                  <a:srgbClr val="ECE7DD"/>
                </a:highlight>
                <a:latin typeface="Pretendard" pitchFamily="34" charset="0"/>
                <a:ea typeface="Pretendard" pitchFamily="34" charset="-122"/>
                <a:cs typeface="Pretendard" pitchFamily="34" charset="-120"/>
              </a:rPr>
              <a:t>— 데모·가짜 난수 배제, 공개·무인증 소스만 사용. 국내 혼잡은 실측 선석으로 보정하고, 추정치(PCI·소요일)는 명확히 구분해 표기합니다.</a:t>
            </a:r>
            <a:endParaRPr lang="en-US" sz="1500" dirty="0"/>
          </a:p>
        </p:txBody>
      </p:sp>
      <p:sp>
        <p:nvSpPr>
          <p:cNvPr id="47" name="Shape 45"/>
          <p:cNvSpPr/>
          <p:nvPr/>
        </p:nvSpPr>
        <p:spPr>
          <a:xfrm>
            <a:off x="914400" y="9650730"/>
            <a:ext cx="16459200" cy="9525"/>
          </a:xfrm>
          <a:prstGeom prst="rect">
            <a:avLst/>
          </a:prstGeom>
          <a:solidFill>
            <a:srgbClr val="E9E4DC"/>
          </a:solidFill>
          <a:ln/>
        </p:spPr>
      </p:sp>
      <p:sp>
        <p:nvSpPr>
          <p:cNvPr id="48" name="Text 46"/>
          <p:cNvSpPr/>
          <p:nvPr/>
        </p:nvSpPr>
        <p:spPr>
          <a:xfrm>
            <a:off x="914400" y="9772650"/>
            <a:ext cx="5807285"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기능 구성 · 개발이력 §2 최종 기능(8개 화면, 전부 실데이터) · 배포판 동작 검증 완료</a:t>
            </a:r>
            <a:endParaRPr lang="en-US" sz="1275" dirty="0"/>
          </a:p>
        </p:txBody>
      </p:sp>
      <p:sp>
        <p:nvSpPr>
          <p:cNvPr id="49" name="Text 47"/>
          <p:cNvSpPr/>
          <p:nvPr/>
        </p:nvSpPr>
        <p:spPr>
          <a:xfrm>
            <a:off x="17221795" y="9772650"/>
            <a:ext cx="228005"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11</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03 해결책 ·</a:t>
            </a:r>
            <a:r>
              <a:rPr lang="en-US" sz="1425" b="1" kern="0" spc="57" dirty="0">
                <a:solidFill>
                  <a:srgbClr val="28666E"/>
                </a:solidFill>
                <a:latin typeface="Pretendard" pitchFamily="34" charset="0"/>
                <a:ea typeface="Pretendard" pitchFamily="34" charset="-122"/>
                <a:cs typeface="Pretendard" pitchFamily="34" charset="-120"/>
              </a:rPr>
              <a:t>운영·기술 모델</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무료 오픈API 스택 — 데이터·코드가 사내 자산으로</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유료 API·상용 솔루션 없이, 공개 데이터와 오픈소스만으로 운영</a:t>
            </a:r>
            <a:endParaRPr lang="en-US" sz="1875" dirty="0"/>
          </a:p>
        </p:txBody>
      </p:sp>
      <p:sp>
        <p:nvSpPr>
          <p:cNvPr id="5" name="Shape 3"/>
          <p:cNvSpPr/>
          <p:nvPr/>
        </p:nvSpPr>
        <p:spPr>
          <a:xfrm>
            <a:off x="914400" y="2189917"/>
            <a:ext cx="3929063" cy="634829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26820" y="2483287"/>
            <a:ext cx="3634645" cy="2209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Pretendard" pitchFamily="34" charset="0"/>
                <a:ea typeface="Pretendard" pitchFamily="34" charset="-122"/>
                <a:cs typeface="Pretendard" pitchFamily="34" charset="-120"/>
              </a:rPr>
              <a:t>데이터 · 무료 공개</a:t>
            </a:r>
            <a:endParaRPr lang="en-US" sz="1200" dirty="0"/>
          </a:p>
        </p:txBody>
      </p:sp>
      <p:sp>
        <p:nvSpPr>
          <p:cNvPr id="7" name="Text 5"/>
          <p:cNvSpPr/>
          <p:nvPr/>
        </p:nvSpPr>
        <p:spPr>
          <a:xfrm>
            <a:off x="1226820" y="2742367"/>
            <a:ext cx="3634645" cy="34290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Pretendard" pitchFamily="34" charset="0"/>
                <a:ea typeface="Pretendard" pitchFamily="34" charset="-122"/>
                <a:cs typeface="Pretendard" pitchFamily="34" charset="-120"/>
              </a:rPr>
              <a:t>데이터 소스</a:t>
            </a:r>
            <a:endParaRPr lang="en-US" sz="2025" dirty="0"/>
          </a:p>
        </p:txBody>
      </p:sp>
      <p:sp>
        <p:nvSpPr>
          <p:cNvPr id="8" name="Text 6"/>
          <p:cNvSpPr/>
          <p:nvPr/>
        </p:nvSpPr>
        <p:spPr>
          <a:xfrm>
            <a:off x="1226820" y="3161467"/>
            <a:ext cx="3403349" cy="4668083"/>
          </a:xfrm>
          <a:prstGeom prst="rect">
            <a:avLst/>
          </a:prstGeom>
          <a:noFill/>
          <a:ln/>
        </p:spPr>
        <p:txBody>
          <a:bodyPr wrap="square" lIns="25400" tIns="25400" rIns="25400" bIns="25400" rtlCol="0" anchor="t">
            <a:normAutofit/>
          </a:bodyPr>
          <a:lstStyle/>
          <a:p>
            <a:pPr marL="0" indent="0" algn="l">
              <a:lnSpc>
                <a:spcPct val="122845"/>
              </a:lnSpc>
              <a:buNone/>
            </a:pPr>
            <a:r>
              <a:rPr lang="en-US" sz="1425" dirty="0">
                <a:solidFill>
                  <a:srgbClr val="6F6A5F"/>
                </a:solidFill>
                <a:latin typeface="Pretendard" pitchFamily="34" charset="0"/>
                <a:ea typeface="Pretendard" pitchFamily="34" charset="-122"/>
                <a:cs typeface="Pretendard" pitchFamily="34" charset="-120"/>
              </a:rPr>
              <a:t>IMF PortWatch · Open-Meteo · VesselFinder · SCFI/CCFI · 유니패스 · searoute — 전부 무인증·공개</a:t>
            </a:r>
            <a:endParaRPr lang="en-US" sz="1425" dirty="0"/>
          </a:p>
        </p:txBody>
      </p:sp>
      <p:sp>
        <p:nvSpPr>
          <p:cNvPr id="9" name="Shape 7"/>
          <p:cNvSpPr/>
          <p:nvPr/>
        </p:nvSpPr>
        <p:spPr>
          <a:xfrm>
            <a:off x="1226820" y="7924800"/>
            <a:ext cx="3304222" cy="9525"/>
          </a:xfrm>
          <a:prstGeom prst="rect">
            <a:avLst/>
          </a:prstGeom>
          <a:solidFill>
            <a:srgbClr val="E9E4DC"/>
          </a:solidFill>
          <a:ln/>
        </p:spPr>
      </p:sp>
      <p:sp>
        <p:nvSpPr>
          <p:cNvPr id="10" name="Text 8"/>
          <p:cNvSpPr/>
          <p:nvPr/>
        </p:nvSpPr>
        <p:spPr>
          <a:xfrm>
            <a:off x="1226820" y="8046720"/>
            <a:ext cx="3403349" cy="23622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Pretendard" pitchFamily="34" charset="0"/>
                <a:ea typeface="Pretendard" pitchFamily="34" charset="-122"/>
                <a:cs typeface="Pretendard" pitchFamily="34" charset="-120"/>
              </a:rPr>
              <a:t>예 · 유료 API 0원</a:t>
            </a:r>
            <a:endParaRPr lang="en-US" sz="1350" dirty="0"/>
          </a:p>
        </p:txBody>
      </p:sp>
      <p:sp>
        <p:nvSpPr>
          <p:cNvPr id="11" name="Shape 9"/>
          <p:cNvSpPr/>
          <p:nvPr/>
        </p:nvSpPr>
        <p:spPr>
          <a:xfrm>
            <a:off x="5091113" y="2189917"/>
            <a:ext cx="3929063" cy="634829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5403532" y="2483287"/>
            <a:ext cx="3634645" cy="2209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Pretendard" pitchFamily="34" charset="0"/>
                <a:ea typeface="Pretendard" pitchFamily="34" charset="-122"/>
                <a:cs typeface="Pretendard" pitchFamily="34" charset="-120"/>
              </a:rPr>
              <a:t>저장·배포 · 무료 티어</a:t>
            </a:r>
            <a:endParaRPr lang="en-US" sz="1200" dirty="0"/>
          </a:p>
        </p:txBody>
      </p:sp>
      <p:sp>
        <p:nvSpPr>
          <p:cNvPr id="13" name="Text 11"/>
          <p:cNvSpPr/>
          <p:nvPr/>
        </p:nvSpPr>
        <p:spPr>
          <a:xfrm>
            <a:off x="5403532" y="2742367"/>
            <a:ext cx="3634645" cy="34290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Pretendard" pitchFamily="34" charset="0"/>
                <a:ea typeface="Pretendard" pitchFamily="34" charset="-122"/>
                <a:cs typeface="Pretendard" pitchFamily="34" charset="-120"/>
              </a:rPr>
              <a:t>인프라</a:t>
            </a:r>
            <a:endParaRPr lang="en-US" sz="2025" dirty="0"/>
          </a:p>
        </p:txBody>
      </p:sp>
      <p:sp>
        <p:nvSpPr>
          <p:cNvPr id="14" name="Text 12"/>
          <p:cNvSpPr/>
          <p:nvPr/>
        </p:nvSpPr>
        <p:spPr>
          <a:xfrm>
            <a:off x="5403532" y="3161467"/>
            <a:ext cx="3403349" cy="4668083"/>
          </a:xfrm>
          <a:prstGeom prst="rect">
            <a:avLst/>
          </a:prstGeom>
          <a:noFill/>
          <a:ln/>
        </p:spPr>
        <p:txBody>
          <a:bodyPr wrap="square" lIns="25400" tIns="25400" rIns="25400" bIns="25400" rtlCol="0" anchor="t">
            <a:normAutofit/>
          </a:bodyPr>
          <a:lstStyle/>
          <a:p>
            <a:pPr marL="0" indent="0" algn="l">
              <a:lnSpc>
                <a:spcPct val="122845"/>
              </a:lnSpc>
              <a:buNone/>
            </a:pPr>
            <a:r>
              <a:rPr lang="en-US" sz="1425" dirty="0">
                <a:solidFill>
                  <a:srgbClr val="6F6A5F"/>
                </a:solidFill>
                <a:latin typeface="Pretendard" pitchFamily="34" charset="0"/>
                <a:ea typeface="Pretendard" pitchFamily="34" charset="-122"/>
                <a:cs typeface="Pretendard" pitchFamily="34" charset="-120"/>
              </a:rPr>
              <a:t>Supabase(Postgres · RLS 읽기전용) + GitHub Pages 자동배포 (Netlify 크레딧 소진 대체)</a:t>
            </a:r>
            <a:endParaRPr lang="en-US" sz="1425" dirty="0"/>
          </a:p>
        </p:txBody>
      </p:sp>
      <p:sp>
        <p:nvSpPr>
          <p:cNvPr id="15" name="Shape 13"/>
          <p:cNvSpPr/>
          <p:nvPr/>
        </p:nvSpPr>
        <p:spPr>
          <a:xfrm>
            <a:off x="5403532" y="7924800"/>
            <a:ext cx="3304222" cy="9525"/>
          </a:xfrm>
          <a:prstGeom prst="rect">
            <a:avLst/>
          </a:prstGeom>
          <a:solidFill>
            <a:srgbClr val="E9E4DC"/>
          </a:solidFill>
          <a:ln/>
        </p:spPr>
      </p:sp>
      <p:sp>
        <p:nvSpPr>
          <p:cNvPr id="16" name="Text 14"/>
          <p:cNvSpPr/>
          <p:nvPr/>
        </p:nvSpPr>
        <p:spPr>
          <a:xfrm>
            <a:off x="5403532" y="8046720"/>
            <a:ext cx="3403349" cy="23622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Pretendard" pitchFamily="34" charset="0"/>
                <a:ea typeface="Pretendard" pitchFamily="34" charset="-122"/>
                <a:cs typeface="Pretendard" pitchFamily="34" charset="-120"/>
              </a:rPr>
              <a:t>예 · 인프라 월 0원</a:t>
            </a:r>
            <a:endParaRPr lang="en-US" sz="1350" dirty="0"/>
          </a:p>
        </p:txBody>
      </p:sp>
      <p:sp>
        <p:nvSpPr>
          <p:cNvPr id="17" name="Shape 15"/>
          <p:cNvSpPr/>
          <p:nvPr/>
        </p:nvSpPr>
        <p:spPr>
          <a:xfrm>
            <a:off x="9267825" y="2189917"/>
            <a:ext cx="3929063" cy="634829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9580245" y="2483287"/>
            <a:ext cx="3634645" cy="2209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Pretendard" pitchFamily="34" charset="0"/>
                <a:ea typeface="Pretendard" pitchFamily="34" charset="-122"/>
                <a:cs typeface="Pretendard" pitchFamily="34" charset="-120"/>
              </a:rPr>
              <a:t>자동화 · 키 불필요</a:t>
            </a:r>
            <a:endParaRPr lang="en-US" sz="1200" dirty="0"/>
          </a:p>
        </p:txBody>
      </p:sp>
      <p:sp>
        <p:nvSpPr>
          <p:cNvPr id="19" name="Text 17"/>
          <p:cNvSpPr/>
          <p:nvPr/>
        </p:nvSpPr>
        <p:spPr>
          <a:xfrm>
            <a:off x="9580245" y="2742367"/>
            <a:ext cx="3634645" cy="34290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Pretendard" pitchFamily="34" charset="0"/>
                <a:ea typeface="Pretendard" pitchFamily="34" charset="-122"/>
                <a:cs typeface="Pretendard" pitchFamily="34" charset="-120"/>
              </a:rPr>
              <a:t>스케줄</a:t>
            </a:r>
            <a:endParaRPr lang="en-US" sz="2025" dirty="0"/>
          </a:p>
        </p:txBody>
      </p:sp>
      <p:sp>
        <p:nvSpPr>
          <p:cNvPr id="20" name="Text 18"/>
          <p:cNvSpPr/>
          <p:nvPr/>
        </p:nvSpPr>
        <p:spPr>
          <a:xfrm>
            <a:off x="9580245" y="3161467"/>
            <a:ext cx="3403349" cy="4668083"/>
          </a:xfrm>
          <a:prstGeom prst="rect">
            <a:avLst/>
          </a:prstGeom>
          <a:noFill/>
          <a:ln/>
        </p:spPr>
        <p:txBody>
          <a:bodyPr wrap="square" lIns="25400" tIns="25400" rIns="25400" bIns="25400" rtlCol="0" anchor="t">
            <a:normAutofit/>
          </a:bodyPr>
          <a:lstStyle/>
          <a:p>
            <a:pPr marL="0" indent="0" algn="l">
              <a:lnSpc>
                <a:spcPct val="122845"/>
              </a:lnSpc>
              <a:buNone/>
            </a:pPr>
            <a:r>
              <a:rPr lang="en-US" sz="1425" dirty="0">
                <a:solidFill>
                  <a:srgbClr val="6F6A5F"/>
                </a:solidFill>
                <a:latin typeface="Pretendard" pitchFamily="34" charset="0"/>
                <a:ea typeface="Pretendard" pitchFamily="34" charset="-122"/>
                <a:cs typeface="Pretendard" pitchFamily="34" charset="-120"/>
              </a:rPr>
              <a:t>매일 06시대 자동수집(선석 06:08·혼잡 06:27·운임 월간) · MCP 연동 SQL 적재</a:t>
            </a:r>
            <a:endParaRPr lang="en-US" sz="1425" dirty="0"/>
          </a:p>
        </p:txBody>
      </p:sp>
      <p:sp>
        <p:nvSpPr>
          <p:cNvPr id="21" name="Shape 19"/>
          <p:cNvSpPr/>
          <p:nvPr/>
        </p:nvSpPr>
        <p:spPr>
          <a:xfrm>
            <a:off x="9580245" y="7924800"/>
            <a:ext cx="3304222" cy="9525"/>
          </a:xfrm>
          <a:prstGeom prst="rect">
            <a:avLst/>
          </a:prstGeom>
          <a:solidFill>
            <a:srgbClr val="E9E4DC"/>
          </a:solidFill>
          <a:ln/>
        </p:spPr>
      </p:sp>
      <p:sp>
        <p:nvSpPr>
          <p:cNvPr id="22" name="Text 20"/>
          <p:cNvSpPr/>
          <p:nvPr/>
        </p:nvSpPr>
        <p:spPr>
          <a:xfrm>
            <a:off x="9580245" y="8046720"/>
            <a:ext cx="3403349" cy="23622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Pretendard" pitchFamily="34" charset="0"/>
                <a:ea typeface="Pretendard" pitchFamily="34" charset="-122"/>
                <a:cs typeface="Pretendard" pitchFamily="34" charset="-120"/>
              </a:rPr>
              <a:t>예 · 무인 스케줄 3종</a:t>
            </a:r>
            <a:endParaRPr lang="en-US" sz="1350" dirty="0"/>
          </a:p>
        </p:txBody>
      </p:sp>
      <p:sp>
        <p:nvSpPr>
          <p:cNvPr id="23" name="Shape 21"/>
          <p:cNvSpPr/>
          <p:nvPr/>
        </p:nvSpPr>
        <p:spPr>
          <a:xfrm>
            <a:off x="13444538" y="2189917"/>
            <a:ext cx="3929063" cy="634829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4" name="Text 22"/>
          <p:cNvSpPr/>
          <p:nvPr/>
        </p:nvSpPr>
        <p:spPr>
          <a:xfrm>
            <a:off x="13756958" y="2483287"/>
            <a:ext cx="3634645" cy="2209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Pretendard" pitchFamily="34" charset="0"/>
                <a:ea typeface="Pretendard" pitchFamily="34" charset="-122"/>
                <a:cs typeface="Pretendard" pitchFamily="34" charset="-120"/>
              </a:rPr>
              <a:t>프런트 · 오픈소스</a:t>
            </a:r>
            <a:endParaRPr lang="en-US" sz="1200" dirty="0"/>
          </a:p>
        </p:txBody>
      </p:sp>
      <p:sp>
        <p:nvSpPr>
          <p:cNvPr id="25" name="Text 23"/>
          <p:cNvSpPr/>
          <p:nvPr/>
        </p:nvSpPr>
        <p:spPr>
          <a:xfrm>
            <a:off x="13756958" y="2742367"/>
            <a:ext cx="3634645" cy="34290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Pretendard" pitchFamily="34" charset="0"/>
                <a:ea typeface="Pretendard" pitchFamily="34" charset="-122"/>
                <a:cs typeface="Pretendard" pitchFamily="34" charset="-120"/>
              </a:rPr>
              <a:t>스택</a:t>
            </a:r>
            <a:endParaRPr lang="en-US" sz="2025" dirty="0"/>
          </a:p>
        </p:txBody>
      </p:sp>
      <p:sp>
        <p:nvSpPr>
          <p:cNvPr id="26" name="Text 24"/>
          <p:cNvSpPr/>
          <p:nvPr/>
        </p:nvSpPr>
        <p:spPr>
          <a:xfrm>
            <a:off x="13756958" y="3161467"/>
            <a:ext cx="3403349" cy="4668083"/>
          </a:xfrm>
          <a:prstGeom prst="rect">
            <a:avLst/>
          </a:prstGeom>
          <a:noFill/>
          <a:ln/>
        </p:spPr>
        <p:txBody>
          <a:bodyPr wrap="square" lIns="25400" tIns="25400" rIns="25400" bIns="25400" rtlCol="0" anchor="t">
            <a:normAutofit/>
          </a:bodyPr>
          <a:lstStyle/>
          <a:p>
            <a:pPr marL="0" indent="0" algn="l">
              <a:lnSpc>
                <a:spcPct val="122845"/>
              </a:lnSpc>
              <a:buNone/>
            </a:pPr>
            <a:r>
              <a:rPr lang="en-US" sz="1425" dirty="0">
                <a:solidFill>
                  <a:srgbClr val="6F6A5F"/>
                </a:solidFill>
                <a:latin typeface="Pretendard" pitchFamily="34" charset="0"/>
                <a:ea typeface="Pretendard" pitchFamily="34" charset="-122"/>
                <a:cs typeface="Pretendard" pitchFamily="34" charset="-120"/>
              </a:rPr>
              <a:t>정적 HTML/CSS/JS + Leaflet 지도 + React·TypeScript(MIT) 이관 중 — 빌드리스에서 SPA로</a:t>
            </a:r>
            <a:endParaRPr lang="en-US" sz="1425" dirty="0"/>
          </a:p>
        </p:txBody>
      </p:sp>
      <p:sp>
        <p:nvSpPr>
          <p:cNvPr id="27" name="Shape 25"/>
          <p:cNvSpPr/>
          <p:nvPr/>
        </p:nvSpPr>
        <p:spPr>
          <a:xfrm>
            <a:off x="13756958" y="7924800"/>
            <a:ext cx="3304222" cy="9525"/>
          </a:xfrm>
          <a:prstGeom prst="rect">
            <a:avLst/>
          </a:prstGeom>
          <a:solidFill>
            <a:srgbClr val="E9E4DC"/>
          </a:solidFill>
          <a:ln/>
        </p:spPr>
      </p:sp>
      <p:sp>
        <p:nvSpPr>
          <p:cNvPr id="28" name="Text 26"/>
          <p:cNvSpPr/>
          <p:nvPr/>
        </p:nvSpPr>
        <p:spPr>
          <a:xfrm>
            <a:off x="13756958" y="8046720"/>
            <a:ext cx="3403349" cy="23622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Pretendard" pitchFamily="34" charset="0"/>
                <a:ea typeface="Pretendard" pitchFamily="34" charset="-122"/>
                <a:cs typeface="Pretendard" pitchFamily="34" charset="-120"/>
              </a:rPr>
              <a:t>예 · 라이선스 0원</a:t>
            </a:r>
            <a:endParaRPr lang="en-US" sz="1350" dirty="0"/>
          </a:p>
        </p:txBody>
      </p:sp>
      <p:sp>
        <p:nvSpPr>
          <p:cNvPr id="29" name="Shape 27"/>
          <p:cNvSpPr/>
          <p:nvPr/>
        </p:nvSpPr>
        <p:spPr>
          <a:xfrm>
            <a:off x="914400" y="8785860"/>
            <a:ext cx="16459200" cy="655320"/>
          </a:xfrm>
          <a:prstGeom prst="roundRect">
            <a:avLst>
              <a:gd name="adj" fmla="val 23256"/>
            </a:avLst>
          </a:prstGeom>
          <a:solidFill>
            <a:srgbClr val="ECE7DD"/>
          </a:solidFill>
          <a:ln/>
        </p:spPr>
      </p:sp>
      <p:sp>
        <p:nvSpPr>
          <p:cNvPr id="30" name="Text 28"/>
          <p:cNvSpPr/>
          <p:nvPr/>
        </p:nvSpPr>
        <p:spPr>
          <a:xfrm>
            <a:off x="1219200" y="8976360"/>
            <a:ext cx="917615" cy="312420"/>
          </a:xfrm>
          <a:prstGeom prst="rect">
            <a:avLst/>
          </a:prstGeom>
          <a:noFill/>
          <a:ln/>
        </p:spPr>
        <p:txBody>
          <a:bodyPr wrap="none" lIns="25400" tIns="25400" rIns="25400" bIns="25400" rtlCol="0" anchor="t">
            <a:normAutofit/>
          </a:bodyPr>
          <a:lstStyle/>
          <a:p>
            <a:pPr marL="0" indent="0" algn="l">
              <a:buNone/>
            </a:pPr>
            <a:r>
              <a:rPr lang="en-US" sz="1800" b="1" dirty="0">
                <a:solidFill>
                  <a:srgbClr val="28666E"/>
                </a:solidFill>
                <a:latin typeface="Pretendard" pitchFamily="34" charset="0"/>
                <a:ea typeface="Pretendard" pitchFamily="34" charset="-122"/>
                <a:cs typeface="Pretendard" pitchFamily="34" charset="-120"/>
              </a:rPr>
              <a:t>상용 대비</a:t>
            </a:r>
            <a:endParaRPr lang="en-US" sz="1800" dirty="0"/>
          </a:p>
        </p:txBody>
      </p:sp>
      <p:sp>
        <p:nvSpPr>
          <p:cNvPr id="31" name="Text 29"/>
          <p:cNvSpPr/>
          <p:nvPr/>
        </p:nvSpPr>
        <p:spPr>
          <a:xfrm>
            <a:off x="2308265" y="8980170"/>
            <a:ext cx="10980944"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b="1" dirty="0">
                <a:solidFill>
                  <a:srgbClr val="12161D"/>
                </a:solidFill>
                <a:latin typeface="Pretendard" pitchFamily="34" charset="0"/>
                <a:ea typeface="Pretendard" pitchFamily="34" charset="-122"/>
                <a:cs typeface="Pretendard" pitchFamily="34" charset="-120"/>
              </a:rPr>
              <a:t>Ocean Visibility(tradlinx 등)는 유료·로그인·느림 </a:t>
            </a:r>
            <a:r>
              <a:rPr lang="en-US" sz="1500" dirty="0">
                <a:solidFill>
                  <a:srgbClr val="12161D"/>
                </a:solidFill>
                <a:latin typeface="Pretendard" pitchFamily="34" charset="0"/>
                <a:ea typeface="Pretendard" pitchFamily="34" charset="-122"/>
                <a:cs typeface="Pretendard" pitchFamily="34" charset="-120"/>
              </a:rPr>
              <a:t>— 본 스택은 전부 무료, 무엇보다 데이터와 코드가 그대로 사내 자산으로 남습니다</a:t>
            </a:r>
            <a:endParaRPr lang="en-US" sz="1500" dirty="0"/>
          </a:p>
        </p:txBody>
      </p:sp>
      <p:sp>
        <p:nvSpPr>
          <p:cNvPr id="32" name="Shape 30"/>
          <p:cNvSpPr/>
          <p:nvPr/>
        </p:nvSpPr>
        <p:spPr>
          <a:xfrm>
            <a:off x="914400" y="9650730"/>
            <a:ext cx="16459200" cy="9525"/>
          </a:xfrm>
          <a:prstGeom prst="rect">
            <a:avLst/>
          </a:prstGeom>
          <a:solidFill>
            <a:srgbClr val="E9E4DC"/>
          </a:solidFill>
          <a:ln/>
        </p:spPr>
      </p:sp>
      <p:sp>
        <p:nvSpPr>
          <p:cNvPr id="33" name="Text 31"/>
          <p:cNvSpPr/>
          <p:nvPr/>
        </p:nvSpPr>
        <p:spPr>
          <a:xfrm>
            <a:off x="914400" y="9772650"/>
            <a:ext cx="7417546"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출처 · TWL 물류포털 상세기술서 §1·§4·§5(아키텍처·프런트·운영) · 개발이력 §3 데이터 파이프라인·자동화</a:t>
            </a:r>
            <a:endParaRPr lang="en-US" sz="1275" dirty="0"/>
          </a:p>
        </p:txBody>
      </p:sp>
      <p:sp>
        <p:nvSpPr>
          <p:cNvPr id="34" name="Text 32"/>
          <p:cNvSpPr/>
          <p:nvPr/>
        </p:nvSpPr>
        <p:spPr>
          <a:xfrm>
            <a:off x="17198816" y="9772650"/>
            <a:ext cx="250984"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12</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3107758" cy="1790700"/>
          </a:xfrm>
          <a:prstGeom prst="rect">
            <a:avLst/>
          </a:prstGeom>
          <a:noFill/>
          <a:ln/>
        </p:spPr>
        <p:txBody>
          <a:bodyPr wrap="square" lIns="25400" tIns="25400" rIns="25400" bIns="25400" rtlCol="0" anchor="t">
            <a:normAutofit/>
          </a:bodyPr>
          <a:lstStyle/>
          <a:p>
            <a:pPr marL="0" indent="0" algn="l">
              <a:lnSpc>
                <a:spcPct val="67055"/>
              </a:lnSpc>
              <a:buNone/>
            </a:pPr>
            <a:r>
              <a:rPr lang="en-US" sz="17250" b="1" kern="0" spc="-518" dirty="0">
                <a:solidFill>
                  <a:srgbClr val="222834"/>
                </a:solidFill>
                <a:latin typeface="Pretendard" pitchFamily="34" charset="0"/>
                <a:ea typeface="Pretendard" pitchFamily="34" charset="-122"/>
                <a:cs typeface="Pretendard" pitchFamily="34" charset="-120"/>
              </a:rPr>
              <a:t>04</a:t>
            </a:r>
            <a:endParaRPr lang="en-US" sz="17250" dirty="0"/>
          </a:p>
        </p:txBody>
      </p:sp>
      <p:sp>
        <p:nvSpPr>
          <p:cNvPr id="4" name="Text 2"/>
          <p:cNvSpPr/>
          <p:nvPr/>
        </p:nvSpPr>
        <p:spPr>
          <a:xfrm>
            <a:off x="4730234" y="3501390"/>
            <a:ext cx="5500950" cy="289560"/>
          </a:xfrm>
          <a:prstGeom prst="rect">
            <a:avLst/>
          </a:prstGeom>
          <a:noFill/>
          <a:ln/>
        </p:spPr>
        <p:txBody>
          <a:bodyPr wrap="square" lIns="25400" tIns="25400" rIns="25400" bIns="25400" rtlCol="0" anchor="t">
            <a:normAutofit/>
          </a:bodyPr>
          <a:lstStyle/>
          <a:p>
            <a:pPr marL="0" indent="0" algn="l">
              <a:buNone/>
            </a:pPr>
            <a:r>
              <a:rPr lang="en-US" sz="1650" b="1" kern="0" spc="297" dirty="0">
                <a:solidFill>
                  <a:srgbClr val="E4A24A"/>
                </a:solidFill>
                <a:latin typeface="Pretendard" pitchFamily="34" charset="0"/>
                <a:ea typeface="Pretendard" pitchFamily="34" charset="-122"/>
                <a:cs typeface="Pretendard" pitchFamily="34" charset="-120"/>
              </a:rPr>
              <a:t>PART 04 · FEASIBILITY &amp; SCALE</a:t>
            </a:r>
            <a:endParaRPr lang="en-US" sz="1650" dirty="0"/>
          </a:p>
        </p:txBody>
      </p:sp>
      <p:sp>
        <p:nvSpPr>
          <p:cNvPr id="5" name="Text 3"/>
          <p:cNvSpPr/>
          <p:nvPr/>
        </p:nvSpPr>
        <p:spPr>
          <a:xfrm>
            <a:off x="4730234" y="3867150"/>
            <a:ext cx="5500950" cy="1013460"/>
          </a:xfrm>
          <a:prstGeom prst="rect">
            <a:avLst/>
          </a:prstGeom>
          <a:noFill/>
          <a:ln/>
        </p:spPr>
        <p:txBody>
          <a:bodyPr wrap="square" lIns="25400" tIns="25400" rIns="25400" bIns="25400" rtlCol="0" anchor="t">
            <a:normAutofit/>
          </a:bodyPr>
          <a:lstStyle/>
          <a:p>
            <a:pPr marL="0" indent="0" algn="l">
              <a:buNone/>
            </a:pPr>
            <a:r>
              <a:rPr lang="en-US" sz="6450" b="1" kern="0" spc="129" dirty="0">
                <a:solidFill>
                  <a:srgbClr val="F5F3EE"/>
                </a:solidFill>
                <a:latin typeface="Pretendard" pitchFamily="34" charset="0"/>
                <a:ea typeface="Pretendard" pitchFamily="34" charset="-122"/>
                <a:cs typeface="Pretendard" pitchFamily="34" charset="-120"/>
              </a:rPr>
              <a:t>타당성 · 확장성</a:t>
            </a:r>
            <a:endParaRPr lang="en-US" sz="6450" dirty="0"/>
          </a:p>
        </p:txBody>
      </p:sp>
      <p:sp>
        <p:nvSpPr>
          <p:cNvPr id="6" name="Shape 4"/>
          <p:cNvSpPr/>
          <p:nvPr/>
        </p:nvSpPr>
        <p:spPr>
          <a:xfrm>
            <a:off x="4730234" y="5280660"/>
            <a:ext cx="76200" cy="76200"/>
          </a:xfrm>
          <a:prstGeom prst="rect">
            <a:avLst/>
          </a:prstGeom>
          <a:solidFill>
            <a:srgbClr val="E4A24A"/>
          </a:solidFill>
          <a:ln/>
        </p:spPr>
      </p:sp>
      <p:sp>
        <p:nvSpPr>
          <p:cNvPr id="7" name="Text 5"/>
          <p:cNvSpPr/>
          <p:nvPr/>
        </p:nvSpPr>
        <p:spPr>
          <a:xfrm>
            <a:off x="4977884" y="5166360"/>
            <a:ext cx="4364141"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제로에 가까운 인프라 비용 — 무료 스택</a:t>
            </a:r>
            <a:endParaRPr lang="en-US" sz="2025" dirty="0"/>
          </a:p>
        </p:txBody>
      </p:sp>
      <p:sp>
        <p:nvSpPr>
          <p:cNvPr id="8" name="Shape 6"/>
          <p:cNvSpPr/>
          <p:nvPr/>
        </p:nvSpPr>
        <p:spPr>
          <a:xfrm>
            <a:off x="4730234" y="5737860"/>
            <a:ext cx="76200" cy="76200"/>
          </a:xfrm>
          <a:prstGeom prst="rect">
            <a:avLst/>
          </a:prstGeom>
          <a:solidFill>
            <a:srgbClr val="E4A24A"/>
          </a:solidFill>
          <a:ln/>
        </p:spPr>
      </p:sp>
      <p:sp>
        <p:nvSpPr>
          <p:cNvPr id="9" name="Text 7"/>
          <p:cNvSpPr/>
          <p:nvPr/>
        </p:nvSpPr>
        <p:spPr>
          <a:xfrm>
            <a:off x="4977884" y="5623560"/>
            <a:ext cx="4315813"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5일 만에 v1 — 8개 화면 실데이터 검증</a:t>
            </a:r>
            <a:endParaRPr lang="en-US" sz="2025" dirty="0"/>
          </a:p>
        </p:txBody>
      </p:sp>
      <p:sp>
        <p:nvSpPr>
          <p:cNvPr id="10" name="Shape 8"/>
          <p:cNvSpPr/>
          <p:nvPr/>
        </p:nvSpPr>
        <p:spPr>
          <a:xfrm>
            <a:off x="4730234" y="6195060"/>
            <a:ext cx="76200" cy="76200"/>
          </a:xfrm>
          <a:prstGeom prst="rect">
            <a:avLst/>
          </a:prstGeom>
          <a:solidFill>
            <a:srgbClr val="E4A24A"/>
          </a:solidFill>
          <a:ln/>
        </p:spPr>
      </p:sp>
      <p:sp>
        <p:nvSpPr>
          <p:cNvPr id="11" name="Text 9"/>
          <p:cNvSpPr/>
          <p:nvPr/>
        </p:nvSpPr>
        <p:spPr>
          <a:xfrm>
            <a:off x="4977884" y="6080760"/>
            <a:ext cx="3996773"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PCI 방법론 — 혼잡도·소요일 정량화</a:t>
            </a:r>
            <a:endParaRPr lang="en-US" sz="2025" dirty="0"/>
          </a:p>
        </p:txBody>
      </p:sp>
      <p:sp>
        <p:nvSpPr>
          <p:cNvPr id="12" name="Shape 10"/>
          <p:cNvSpPr/>
          <p:nvPr/>
        </p:nvSpPr>
        <p:spPr>
          <a:xfrm>
            <a:off x="4730234" y="6652260"/>
            <a:ext cx="76200" cy="76200"/>
          </a:xfrm>
          <a:prstGeom prst="rect">
            <a:avLst/>
          </a:prstGeom>
          <a:solidFill>
            <a:srgbClr val="E4A24A"/>
          </a:solidFill>
          <a:ln/>
        </p:spPr>
      </p:sp>
      <p:sp>
        <p:nvSpPr>
          <p:cNvPr id="13" name="Text 11"/>
          <p:cNvSpPr/>
          <p:nvPr/>
        </p:nvSpPr>
        <p:spPr>
          <a:xfrm>
            <a:off x="4977884" y="6537960"/>
            <a:ext cx="4578013" cy="34290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Pretendard" pitchFamily="34" charset="0"/>
                <a:ea typeface="Pretendard" pitchFamily="34" charset="-122"/>
                <a:cs typeface="Pretendard" pitchFamily="34" charset="-120"/>
              </a:rPr>
              <a:t>확장 로드맵 · 외부 검증 — 표준 기반 해자</a:t>
            </a:r>
            <a:endParaRPr lang="en-US" sz="20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04 타당성 ·</a:t>
            </a:r>
            <a:r>
              <a:rPr lang="en-US" sz="1425" b="1" kern="0" spc="57" dirty="0">
                <a:solidFill>
                  <a:srgbClr val="28666E"/>
                </a:solidFill>
                <a:latin typeface="Pretendard" pitchFamily="34" charset="0"/>
                <a:ea typeface="Pretendard" pitchFamily="34" charset="-122"/>
                <a:cs typeface="Pretendard" pitchFamily="34" charset="-120"/>
              </a:rPr>
              <a:t>구축·운영 비용</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유료 스택이었다면? — 제로 비용의 구조적 우위</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데이터·인프라·라이선스 전 구간 무료 — 상용 대비 절감액이 곧 타당성</a:t>
            </a:r>
            <a:endParaRPr lang="en-US" sz="1875" dirty="0"/>
          </a:p>
        </p:txBody>
      </p:sp>
      <p:sp>
        <p:nvSpPr>
          <p:cNvPr id="5" name="Shape 3"/>
          <p:cNvSpPr/>
          <p:nvPr/>
        </p:nvSpPr>
        <p:spPr>
          <a:xfrm>
            <a:off x="914400" y="2189917"/>
            <a:ext cx="7040166" cy="7251264"/>
          </a:xfrm>
          <a:prstGeom prst="roundRect">
            <a:avLst>
              <a:gd name="adj" fmla="val 21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303020" y="2521387"/>
            <a:ext cx="6889218" cy="266700"/>
          </a:xfrm>
          <a:prstGeom prst="rect">
            <a:avLst/>
          </a:prstGeom>
          <a:noFill/>
          <a:ln/>
        </p:spPr>
        <p:txBody>
          <a:bodyPr wrap="square" lIns="25400" tIns="25400" rIns="25400" bIns="25400" rtlCol="0" anchor="t">
            <a:normAutofit/>
          </a:bodyPr>
          <a:lstStyle/>
          <a:p>
            <a:pPr marL="0" indent="0" algn="l">
              <a:buNone/>
            </a:pPr>
            <a:r>
              <a:rPr lang="en-US" sz="1500" dirty="0">
                <a:solidFill>
                  <a:srgbClr val="6F6A5F"/>
                </a:solidFill>
                <a:latin typeface="Pretendard" pitchFamily="34" charset="0"/>
                <a:ea typeface="Pretendard" pitchFamily="34" charset="-122"/>
                <a:cs typeface="Pretendard" pitchFamily="34" charset="-120"/>
              </a:rPr>
              <a:t>월 인프라 · 데이터 비용</a:t>
            </a:r>
            <a:endParaRPr lang="en-US" sz="1500" dirty="0"/>
          </a:p>
        </p:txBody>
      </p:sp>
      <p:sp>
        <p:nvSpPr>
          <p:cNvPr id="7" name="Text 5"/>
          <p:cNvSpPr/>
          <p:nvPr/>
        </p:nvSpPr>
        <p:spPr>
          <a:xfrm>
            <a:off x="1303020" y="2807137"/>
            <a:ext cx="1804488" cy="998220"/>
          </a:xfrm>
          <a:prstGeom prst="rect">
            <a:avLst/>
          </a:prstGeom>
          <a:noFill/>
          <a:ln/>
        </p:spPr>
        <p:txBody>
          <a:bodyPr wrap="square" lIns="25400" tIns="25400" rIns="25400" bIns="25400" rtlCol="0" anchor="t">
            <a:normAutofit/>
          </a:bodyPr>
          <a:lstStyle/>
          <a:p>
            <a:pPr marL="0" indent="0" algn="l">
              <a:lnSpc>
                <a:spcPct val="75449"/>
              </a:lnSpc>
              <a:buNone/>
            </a:pPr>
            <a:r>
              <a:rPr lang="en-US" sz="8400" b="1" kern="0" spc="-252" dirty="0">
                <a:solidFill>
                  <a:srgbClr val="28666E"/>
                </a:solidFill>
                <a:latin typeface="Pretendard" pitchFamily="34" charset="0"/>
                <a:ea typeface="Pretendard" pitchFamily="34" charset="-122"/>
                <a:cs typeface="Pretendard" pitchFamily="34" charset="-120"/>
              </a:rPr>
              <a:t>₩0</a:t>
            </a:r>
            <a:endParaRPr lang="en-US" sz="8400" dirty="0"/>
          </a:p>
        </p:txBody>
      </p:sp>
      <p:sp>
        <p:nvSpPr>
          <p:cNvPr id="8" name="Text 6"/>
          <p:cNvSpPr/>
          <p:nvPr/>
        </p:nvSpPr>
        <p:spPr>
          <a:xfrm>
            <a:off x="3019663" y="3355777"/>
            <a:ext cx="476369" cy="419100"/>
          </a:xfrm>
          <a:prstGeom prst="rect">
            <a:avLst/>
          </a:prstGeom>
          <a:noFill/>
          <a:ln/>
        </p:spPr>
        <p:txBody>
          <a:bodyPr wrap="square" lIns="25400" tIns="25400" rIns="25400" bIns="25400" rtlCol="0" anchor="t">
            <a:normAutofit/>
          </a:bodyPr>
          <a:lstStyle/>
          <a:p>
            <a:pPr marL="0" indent="0" algn="l">
              <a:buNone/>
            </a:pPr>
            <a:r>
              <a:rPr lang="en-US" sz="2550" b="1" dirty="0">
                <a:solidFill>
                  <a:srgbClr val="28666E"/>
                </a:solidFill>
                <a:latin typeface="Pretendard" pitchFamily="34" charset="0"/>
                <a:ea typeface="Pretendard" pitchFamily="34" charset="-122"/>
                <a:cs typeface="Pretendard" pitchFamily="34" charset="-120"/>
              </a:rPr>
              <a:t>/월</a:t>
            </a:r>
            <a:endParaRPr lang="en-US" sz="2550" dirty="0"/>
          </a:p>
        </p:txBody>
      </p:sp>
      <p:sp>
        <p:nvSpPr>
          <p:cNvPr id="9" name="Shape 7"/>
          <p:cNvSpPr/>
          <p:nvPr/>
        </p:nvSpPr>
        <p:spPr>
          <a:xfrm>
            <a:off x="1303020" y="4338757"/>
            <a:ext cx="6262926" cy="9525"/>
          </a:xfrm>
          <a:prstGeom prst="rect">
            <a:avLst/>
          </a:prstGeom>
          <a:solidFill>
            <a:srgbClr val="E9E4DC"/>
          </a:solidFill>
          <a:ln/>
        </p:spPr>
      </p:sp>
      <p:sp>
        <p:nvSpPr>
          <p:cNvPr id="10" name="Text 8"/>
          <p:cNvSpPr/>
          <p:nvPr/>
        </p:nvSpPr>
        <p:spPr>
          <a:xfrm>
            <a:off x="1303020" y="4014907"/>
            <a:ext cx="1409581" cy="26670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Pretendard" pitchFamily="34" charset="0"/>
                <a:ea typeface="Pretendard" pitchFamily="34" charset="-122"/>
                <a:cs typeface="Pretendard" pitchFamily="34" charset="-120"/>
              </a:rPr>
              <a:t>데이터 (공개 API)</a:t>
            </a:r>
            <a:endParaRPr lang="en-US" sz="1500" dirty="0"/>
          </a:p>
        </p:txBody>
      </p:sp>
      <p:sp>
        <p:nvSpPr>
          <p:cNvPr id="11" name="Text 9"/>
          <p:cNvSpPr/>
          <p:nvPr/>
        </p:nvSpPr>
        <p:spPr>
          <a:xfrm>
            <a:off x="7275433" y="4014907"/>
            <a:ext cx="366712" cy="26670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Pretendard" pitchFamily="34" charset="0"/>
                <a:ea typeface="Pretendard" pitchFamily="34" charset="-122"/>
                <a:cs typeface="Pretendard" pitchFamily="34" charset="-120"/>
              </a:rPr>
              <a:t>0원</a:t>
            </a:r>
            <a:endParaRPr lang="en-US" sz="1500" dirty="0"/>
          </a:p>
        </p:txBody>
      </p:sp>
      <p:sp>
        <p:nvSpPr>
          <p:cNvPr id="12" name="Shape 10"/>
          <p:cNvSpPr/>
          <p:nvPr/>
        </p:nvSpPr>
        <p:spPr>
          <a:xfrm>
            <a:off x="1303020" y="4784527"/>
            <a:ext cx="6262926" cy="9525"/>
          </a:xfrm>
          <a:prstGeom prst="rect">
            <a:avLst/>
          </a:prstGeom>
          <a:solidFill>
            <a:srgbClr val="E9E4DC"/>
          </a:solidFill>
          <a:ln/>
        </p:spPr>
      </p:sp>
      <p:sp>
        <p:nvSpPr>
          <p:cNvPr id="13" name="Text 11"/>
          <p:cNvSpPr/>
          <p:nvPr/>
        </p:nvSpPr>
        <p:spPr>
          <a:xfrm>
            <a:off x="1303020" y="4460677"/>
            <a:ext cx="1807845" cy="26670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Pretendard" pitchFamily="34" charset="0"/>
                <a:ea typeface="Pretendard" pitchFamily="34" charset="-122"/>
                <a:cs typeface="Pretendard" pitchFamily="34" charset="-120"/>
              </a:rPr>
              <a:t>저장 (Supabase 무료)</a:t>
            </a:r>
            <a:endParaRPr lang="en-US" sz="1500" dirty="0"/>
          </a:p>
        </p:txBody>
      </p:sp>
      <p:sp>
        <p:nvSpPr>
          <p:cNvPr id="14" name="Text 12"/>
          <p:cNvSpPr/>
          <p:nvPr/>
        </p:nvSpPr>
        <p:spPr>
          <a:xfrm>
            <a:off x="7275433" y="4460677"/>
            <a:ext cx="366712" cy="26670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Pretendard" pitchFamily="34" charset="0"/>
                <a:ea typeface="Pretendard" pitchFamily="34" charset="-122"/>
                <a:cs typeface="Pretendard" pitchFamily="34" charset="-120"/>
              </a:rPr>
              <a:t>0원</a:t>
            </a:r>
            <a:endParaRPr lang="en-US" sz="1500" dirty="0"/>
          </a:p>
        </p:txBody>
      </p:sp>
      <p:sp>
        <p:nvSpPr>
          <p:cNvPr id="15" name="Shape 13"/>
          <p:cNvSpPr/>
          <p:nvPr/>
        </p:nvSpPr>
        <p:spPr>
          <a:xfrm>
            <a:off x="1303020" y="5230296"/>
            <a:ext cx="6262926" cy="9525"/>
          </a:xfrm>
          <a:prstGeom prst="rect">
            <a:avLst/>
          </a:prstGeom>
          <a:solidFill>
            <a:srgbClr val="E9E4DC"/>
          </a:solidFill>
          <a:ln/>
        </p:spPr>
      </p:sp>
      <p:sp>
        <p:nvSpPr>
          <p:cNvPr id="16" name="Text 14"/>
          <p:cNvSpPr/>
          <p:nvPr/>
        </p:nvSpPr>
        <p:spPr>
          <a:xfrm>
            <a:off x="1303020" y="4906446"/>
            <a:ext cx="1760220" cy="26670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Pretendard" pitchFamily="34" charset="0"/>
                <a:ea typeface="Pretendard" pitchFamily="34" charset="-122"/>
                <a:cs typeface="Pretendard" pitchFamily="34" charset="-120"/>
              </a:rPr>
              <a:t>배포 (GitHub Pages)</a:t>
            </a:r>
            <a:endParaRPr lang="en-US" sz="1500" dirty="0"/>
          </a:p>
        </p:txBody>
      </p:sp>
      <p:sp>
        <p:nvSpPr>
          <p:cNvPr id="17" name="Text 15"/>
          <p:cNvSpPr/>
          <p:nvPr/>
        </p:nvSpPr>
        <p:spPr>
          <a:xfrm>
            <a:off x="7275433" y="4906446"/>
            <a:ext cx="366712" cy="26670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Pretendard" pitchFamily="34" charset="0"/>
                <a:ea typeface="Pretendard" pitchFamily="34" charset="-122"/>
                <a:cs typeface="Pretendard" pitchFamily="34" charset="-120"/>
              </a:rPr>
              <a:t>0원</a:t>
            </a:r>
            <a:endParaRPr lang="en-US" sz="1500" dirty="0"/>
          </a:p>
        </p:txBody>
      </p:sp>
      <p:sp>
        <p:nvSpPr>
          <p:cNvPr id="18" name="Text 16"/>
          <p:cNvSpPr/>
          <p:nvPr/>
        </p:nvSpPr>
        <p:spPr>
          <a:xfrm>
            <a:off x="1303020" y="5352217"/>
            <a:ext cx="1571030" cy="26670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Pretendard" pitchFamily="34" charset="0"/>
                <a:ea typeface="Pretendard" pitchFamily="34" charset="-122"/>
                <a:cs typeface="Pretendard" pitchFamily="34" charset="-120"/>
              </a:rPr>
              <a:t>라이선스 (오픈소스)</a:t>
            </a:r>
            <a:endParaRPr lang="en-US" sz="1500" dirty="0"/>
          </a:p>
        </p:txBody>
      </p:sp>
      <p:sp>
        <p:nvSpPr>
          <p:cNvPr id="19" name="Text 17"/>
          <p:cNvSpPr/>
          <p:nvPr/>
        </p:nvSpPr>
        <p:spPr>
          <a:xfrm>
            <a:off x="7275433" y="5352217"/>
            <a:ext cx="366712" cy="26670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Pretendard" pitchFamily="34" charset="0"/>
                <a:ea typeface="Pretendard" pitchFamily="34" charset="-122"/>
                <a:cs typeface="Pretendard" pitchFamily="34" charset="-120"/>
              </a:rPr>
              <a:t>0원</a:t>
            </a:r>
            <a:endParaRPr lang="en-US" sz="1500" dirty="0"/>
          </a:p>
        </p:txBody>
      </p:sp>
      <p:sp>
        <p:nvSpPr>
          <p:cNvPr id="20" name="Shape 18"/>
          <p:cNvSpPr/>
          <p:nvPr/>
        </p:nvSpPr>
        <p:spPr>
          <a:xfrm>
            <a:off x="1303020" y="8551545"/>
            <a:ext cx="6262926" cy="558165"/>
          </a:xfrm>
          <a:prstGeom prst="roundRect">
            <a:avLst>
              <a:gd name="adj" fmla="val 20478"/>
            </a:avLst>
          </a:prstGeom>
          <a:solidFill>
            <a:srgbClr val="ECE7DD"/>
          </a:solidFill>
          <a:ln/>
        </p:spPr>
      </p:sp>
      <p:sp>
        <p:nvSpPr>
          <p:cNvPr id="21" name="Text 19"/>
          <p:cNvSpPr/>
          <p:nvPr/>
        </p:nvSpPr>
        <p:spPr>
          <a:xfrm>
            <a:off x="1512570" y="8703945"/>
            <a:ext cx="6031714" cy="291465"/>
          </a:xfrm>
          <a:prstGeom prst="rect">
            <a:avLst/>
          </a:prstGeom>
          <a:noFill/>
          <a:ln/>
        </p:spPr>
        <p:txBody>
          <a:bodyPr wrap="square" lIns="25400" tIns="25400" rIns="25400" bIns="25400" rtlCol="0" anchor="t">
            <a:normAutofit/>
          </a:bodyPr>
          <a:lstStyle/>
          <a:p>
            <a:pPr marL="0" indent="0" algn="l">
              <a:lnSpc>
                <a:spcPct val="114655"/>
              </a:lnSpc>
              <a:buNone/>
            </a:pPr>
            <a:r>
              <a:rPr lang="en-US" sz="1425" b="1" dirty="0">
                <a:solidFill>
                  <a:srgbClr val="A9640F"/>
                </a:solidFill>
                <a:latin typeface="Pretendard" pitchFamily="34" charset="0"/>
                <a:ea typeface="Pretendard" pitchFamily="34" charset="-122"/>
                <a:cs typeface="Pretendard" pitchFamily="34" charset="-120"/>
              </a:rPr>
              <a:t>유일 비용 = 개발 인건비 </a:t>
            </a:r>
            <a:r>
              <a:rPr lang="en-US" sz="1425" dirty="0">
                <a:solidFill>
                  <a:srgbClr val="12161D"/>
                </a:solidFill>
                <a:highlight>
                  <a:srgbClr val="ECE7DD"/>
                </a:highlight>
                <a:latin typeface="Pretendard" pitchFamily="34" charset="0"/>
                <a:ea typeface="Pretendard" pitchFamily="34" charset="-122"/>
                <a:cs typeface="Pretendard" pitchFamily="34" charset="-120"/>
              </a:rPr>
              <a:t>(5일)</a:t>
            </a:r>
            <a:endParaRPr lang="en-US" sz="1425" dirty="0"/>
          </a:p>
        </p:txBody>
      </p:sp>
      <p:sp>
        <p:nvSpPr>
          <p:cNvPr id="22" name="Shape 20"/>
          <p:cNvSpPr/>
          <p:nvPr/>
        </p:nvSpPr>
        <p:spPr>
          <a:xfrm>
            <a:off x="8221266" y="2189917"/>
            <a:ext cx="9152334" cy="7251264"/>
          </a:xfrm>
          <a:prstGeom prst="roundRect">
            <a:avLst>
              <a:gd name="adj" fmla="val 2102"/>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3" name="Text 21"/>
          <p:cNvSpPr/>
          <p:nvPr/>
        </p:nvSpPr>
        <p:spPr>
          <a:xfrm>
            <a:off x="8609886" y="2502337"/>
            <a:ext cx="9212604"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12161D"/>
                </a:solidFill>
                <a:latin typeface="Pretendard" pitchFamily="34" charset="0"/>
                <a:ea typeface="Pretendard" pitchFamily="34" charset="-122"/>
                <a:cs typeface="Pretendard" pitchFamily="34" charset="-120"/>
              </a:rPr>
              <a:t>상용 스택 → 무료 대체 매핑</a:t>
            </a:r>
            <a:endParaRPr lang="en-US" sz="1650" dirty="0"/>
          </a:p>
        </p:txBody>
      </p:sp>
      <p:sp>
        <p:nvSpPr>
          <p:cNvPr id="24" name="Text 22"/>
          <p:cNvSpPr/>
          <p:nvPr/>
        </p:nvSpPr>
        <p:spPr>
          <a:xfrm>
            <a:off x="8609886" y="2982397"/>
            <a:ext cx="4099846" cy="220980"/>
          </a:xfrm>
          <a:prstGeom prst="rect">
            <a:avLst/>
          </a:prstGeom>
          <a:noFill/>
          <a:ln/>
        </p:spPr>
        <p:txBody>
          <a:bodyPr wrap="square" lIns="25400" tIns="25400" rIns="25400" bIns="25400" rtlCol="0" anchor="t">
            <a:normAutofit/>
          </a:bodyPr>
          <a:lstStyle/>
          <a:p>
            <a:pPr marL="0" indent="0" algn="l">
              <a:buNone/>
            </a:pPr>
            <a:r>
              <a:rPr lang="en-US" sz="1200" b="1" dirty="0">
                <a:solidFill>
                  <a:srgbClr val="9AA0A6"/>
                </a:solidFill>
                <a:latin typeface="Pretendard" pitchFamily="34" charset="0"/>
                <a:ea typeface="Pretendard" pitchFamily="34" charset="-122"/>
                <a:cs typeface="Pretendard" pitchFamily="34" charset="-120"/>
              </a:rPr>
              <a:t>상용 구성</a:t>
            </a:r>
            <a:endParaRPr lang="en-US" sz="1200" dirty="0"/>
          </a:p>
        </p:txBody>
      </p:sp>
      <p:sp>
        <p:nvSpPr>
          <p:cNvPr id="25" name="Text 23"/>
          <p:cNvSpPr/>
          <p:nvPr/>
        </p:nvSpPr>
        <p:spPr>
          <a:xfrm>
            <a:off x="12884944" y="2982397"/>
            <a:ext cx="4510040" cy="2209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본 스택 (무료)</a:t>
            </a:r>
            <a:endParaRPr lang="en-US" sz="1200" dirty="0"/>
          </a:p>
        </p:txBody>
      </p:sp>
      <p:sp>
        <p:nvSpPr>
          <p:cNvPr id="26" name="Shape 24"/>
          <p:cNvSpPr/>
          <p:nvPr/>
        </p:nvSpPr>
        <p:spPr>
          <a:xfrm>
            <a:off x="8609886" y="3298627"/>
            <a:ext cx="8375095" cy="9525"/>
          </a:xfrm>
          <a:prstGeom prst="rect">
            <a:avLst/>
          </a:prstGeom>
          <a:solidFill>
            <a:srgbClr val="E9E4DC"/>
          </a:solidFill>
          <a:ln/>
        </p:spPr>
      </p:sp>
      <p:sp>
        <p:nvSpPr>
          <p:cNvPr id="27" name="Text 25"/>
          <p:cNvSpPr/>
          <p:nvPr/>
        </p:nvSpPr>
        <p:spPr>
          <a:xfrm>
            <a:off x="8609886" y="3439597"/>
            <a:ext cx="4099846" cy="25908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Pretendard" pitchFamily="34" charset="0"/>
                <a:ea typeface="Pretendard" pitchFamily="34" charset="-122"/>
                <a:cs typeface="Pretendard" pitchFamily="34" charset="-120"/>
              </a:rPr>
              <a:t>항만 혼잡 데이터 </a:t>
            </a:r>
            <a:r>
              <a:rPr lang="en-US" sz="1425" dirty="0">
                <a:solidFill>
                  <a:srgbClr val="9AA0A6"/>
                </a:solidFill>
                <a:latin typeface="Pretendard" pitchFamily="34" charset="0"/>
                <a:ea typeface="Pretendard" pitchFamily="34" charset="-122"/>
                <a:cs typeface="Pretendard" pitchFamily="34" charset="-120"/>
              </a:rPr>
              <a:t>구독</a:t>
            </a:r>
            <a:endParaRPr lang="en-US" sz="1425" dirty="0"/>
          </a:p>
        </p:txBody>
      </p:sp>
      <p:sp>
        <p:nvSpPr>
          <p:cNvPr id="28" name="Text 26"/>
          <p:cNvSpPr/>
          <p:nvPr/>
        </p:nvSpPr>
        <p:spPr>
          <a:xfrm>
            <a:off x="12527518" y="3439597"/>
            <a:ext cx="243126"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28666E"/>
                </a:solidFill>
                <a:latin typeface="Pretendard" pitchFamily="34" charset="0"/>
                <a:ea typeface="Pretendard" pitchFamily="34" charset="-122"/>
                <a:cs typeface="Pretendard" pitchFamily="34" charset="-120"/>
              </a:rPr>
              <a:t>→</a:t>
            </a:r>
            <a:endParaRPr lang="en-US" sz="1425" dirty="0"/>
          </a:p>
        </p:txBody>
      </p:sp>
      <p:sp>
        <p:nvSpPr>
          <p:cNvPr id="29" name="Text 27"/>
          <p:cNvSpPr/>
          <p:nvPr/>
        </p:nvSpPr>
        <p:spPr>
          <a:xfrm>
            <a:off x="12884944" y="3439597"/>
            <a:ext cx="4510040"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Pretendard" pitchFamily="34" charset="0"/>
                <a:ea typeface="Pretendard" pitchFamily="34" charset="-122"/>
                <a:cs typeface="Pretendard" pitchFamily="34" charset="-120"/>
              </a:rPr>
              <a:t>IMF PortWatch </a:t>
            </a:r>
            <a:r>
              <a:rPr lang="en-US" sz="1425" dirty="0">
                <a:solidFill>
                  <a:srgbClr val="12161D"/>
                </a:solidFill>
                <a:latin typeface="Pretendard" pitchFamily="34" charset="0"/>
                <a:ea typeface="Pretendard" pitchFamily="34" charset="-122"/>
                <a:cs typeface="Pretendard" pitchFamily="34" charset="-120"/>
              </a:rPr>
              <a:t>위성 AIS(공개)</a:t>
            </a:r>
            <a:endParaRPr lang="en-US" sz="1425" dirty="0"/>
          </a:p>
        </p:txBody>
      </p:sp>
      <p:sp>
        <p:nvSpPr>
          <p:cNvPr id="30" name="Shape 28"/>
          <p:cNvSpPr/>
          <p:nvPr/>
        </p:nvSpPr>
        <p:spPr>
          <a:xfrm>
            <a:off x="8609886" y="3793927"/>
            <a:ext cx="8375095" cy="9525"/>
          </a:xfrm>
          <a:prstGeom prst="rect">
            <a:avLst/>
          </a:prstGeom>
          <a:solidFill>
            <a:srgbClr val="E9E4DC"/>
          </a:solidFill>
          <a:ln/>
        </p:spPr>
      </p:sp>
      <p:sp>
        <p:nvSpPr>
          <p:cNvPr id="31" name="Text 29"/>
          <p:cNvSpPr/>
          <p:nvPr/>
        </p:nvSpPr>
        <p:spPr>
          <a:xfrm>
            <a:off x="8609886" y="3934897"/>
            <a:ext cx="4099846" cy="25908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Pretendard" pitchFamily="34" charset="0"/>
                <a:ea typeface="Pretendard" pitchFamily="34" charset="-122"/>
                <a:cs typeface="Pretendard" pitchFamily="34" charset="-120"/>
              </a:rPr>
              <a:t>지도·지오코딩 </a:t>
            </a:r>
            <a:r>
              <a:rPr lang="en-US" sz="1425" dirty="0">
                <a:solidFill>
                  <a:srgbClr val="9AA0A6"/>
                </a:solidFill>
                <a:latin typeface="Pretendard" pitchFamily="34" charset="0"/>
                <a:ea typeface="Pretendard" pitchFamily="34" charset="-122"/>
                <a:cs typeface="Pretendard" pitchFamily="34" charset="-120"/>
              </a:rPr>
              <a:t>종량 API</a:t>
            </a:r>
            <a:endParaRPr lang="en-US" sz="1425" dirty="0"/>
          </a:p>
        </p:txBody>
      </p:sp>
      <p:sp>
        <p:nvSpPr>
          <p:cNvPr id="32" name="Text 30"/>
          <p:cNvSpPr/>
          <p:nvPr/>
        </p:nvSpPr>
        <p:spPr>
          <a:xfrm>
            <a:off x="12527518" y="3934897"/>
            <a:ext cx="243126"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28666E"/>
                </a:solidFill>
                <a:latin typeface="Pretendard" pitchFamily="34" charset="0"/>
                <a:ea typeface="Pretendard" pitchFamily="34" charset="-122"/>
                <a:cs typeface="Pretendard" pitchFamily="34" charset="-120"/>
              </a:rPr>
              <a:t>→</a:t>
            </a:r>
            <a:endParaRPr lang="en-US" sz="1425" dirty="0"/>
          </a:p>
        </p:txBody>
      </p:sp>
      <p:sp>
        <p:nvSpPr>
          <p:cNvPr id="33" name="Text 31"/>
          <p:cNvSpPr/>
          <p:nvPr/>
        </p:nvSpPr>
        <p:spPr>
          <a:xfrm>
            <a:off x="12884944" y="3934897"/>
            <a:ext cx="4510040"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Pretendard" pitchFamily="34" charset="0"/>
                <a:ea typeface="Pretendard" pitchFamily="34" charset="-122"/>
                <a:cs typeface="Pretendard" pitchFamily="34" charset="-120"/>
              </a:rPr>
              <a:t>Leaflet + CARTO </a:t>
            </a:r>
            <a:r>
              <a:rPr lang="en-US" sz="1425" dirty="0">
                <a:solidFill>
                  <a:srgbClr val="12161D"/>
                </a:solidFill>
                <a:latin typeface="Pretendard" pitchFamily="34" charset="0"/>
                <a:ea typeface="Pretendard" pitchFamily="34" charset="-122"/>
                <a:cs typeface="Pretendard" pitchFamily="34" charset="-120"/>
              </a:rPr>
              <a:t>타일</a:t>
            </a:r>
            <a:endParaRPr lang="en-US" sz="1425" dirty="0"/>
          </a:p>
        </p:txBody>
      </p:sp>
      <p:sp>
        <p:nvSpPr>
          <p:cNvPr id="34" name="Shape 32"/>
          <p:cNvSpPr/>
          <p:nvPr/>
        </p:nvSpPr>
        <p:spPr>
          <a:xfrm>
            <a:off x="8609886" y="4289227"/>
            <a:ext cx="8375095" cy="9525"/>
          </a:xfrm>
          <a:prstGeom prst="rect">
            <a:avLst/>
          </a:prstGeom>
          <a:solidFill>
            <a:srgbClr val="E9E4DC"/>
          </a:solidFill>
          <a:ln/>
        </p:spPr>
      </p:sp>
      <p:sp>
        <p:nvSpPr>
          <p:cNvPr id="35" name="Text 33"/>
          <p:cNvSpPr/>
          <p:nvPr/>
        </p:nvSpPr>
        <p:spPr>
          <a:xfrm>
            <a:off x="8609886" y="4430197"/>
            <a:ext cx="4099846" cy="25908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Pretendard" pitchFamily="34" charset="0"/>
                <a:ea typeface="Pretendard" pitchFamily="34" charset="-122"/>
                <a:cs typeface="Pretendard" pitchFamily="34" charset="-120"/>
              </a:rPr>
              <a:t>DB·호스팅 </a:t>
            </a:r>
            <a:r>
              <a:rPr lang="en-US" sz="1425" dirty="0">
                <a:solidFill>
                  <a:srgbClr val="9AA0A6"/>
                </a:solidFill>
                <a:latin typeface="Pretendard" pitchFamily="34" charset="0"/>
                <a:ea typeface="Pretendard" pitchFamily="34" charset="-122"/>
                <a:cs typeface="Pretendard" pitchFamily="34" charset="-120"/>
              </a:rPr>
              <a:t>클라우드 유료</a:t>
            </a:r>
            <a:endParaRPr lang="en-US" sz="1425" dirty="0"/>
          </a:p>
        </p:txBody>
      </p:sp>
      <p:sp>
        <p:nvSpPr>
          <p:cNvPr id="36" name="Text 34"/>
          <p:cNvSpPr/>
          <p:nvPr/>
        </p:nvSpPr>
        <p:spPr>
          <a:xfrm>
            <a:off x="12527518" y="4430197"/>
            <a:ext cx="243126"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28666E"/>
                </a:solidFill>
                <a:latin typeface="Pretendard" pitchFamily="34" charset="0"/>
                <a:ea typeface="Pretendard" pitchFamily="34" charset="-122"/>
                <a:cs typeface="Pretendard" pitchFamily="34" charset="-120"/>
              </a:rPr>
              <a:t>→</a:t>
            </a:r>
            <a:endParaRPr lang="en-US" sz="1425" dirty="0"/>
          </a:p>
        </p:txBody>
      </p:sp>
      <p:sp>
        <p:nvSpPr>
          <p:cNvPr id="37" name="Text 35"/>
          <p:cNvSpPr/>
          <p:nvPr/>
        </p:nvSpPr>
        <p:spPr>
          <a:xfrm>
            <a:off x="12884944" y="4430197"/>
            <a:ext cx="4510040"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Pretendard" pitchFamily="34" charset="0"/>
                <a:ea typeface="Pretendard" pitchFamily="34" charset="-122"/>
                <a:cs typeface="Pretendard" pitchFamily="34" charset="-120"/>
              </a:rPr>
              <a:t>Supabase 무료 </a:t>
            </a:r>
            <a:r>
              <a:rPr lang="en-US" sz="1425" dirty="0">
                <a:solidFill>
                  <a:srgbClr val="12161D"/>
                </a:solidFill>
                <a:latin typeface="Pretendard" pitchFamily="34" charset="0"/>
                <a:ea typeface="Pretendard" pitchFamily="34" charset="-122"/>
                <a:cs typeface="Pretendard" pitchFamily="34" charset="-120"/>
              </a:rPr>
              <a:t>+ GitHub Pages</a:t>
            </a:r>
            <a:endParaRPr lang="en-US" sz="1425" dirty="0"/>
          </a:p>
        </p:txBody>
      </p:sp>
      <p:sp>
        <p:nvSpPr>
          <p:cNvPr id="38" name="Shape 36"/>
          <p:cNvSpPr/>
          <p:nvPr/>
        </p:nvSpPr>
        <p:spPr>
          <a:xfrm>
            <a:off x="8609886" y="4784527"/>
            <a:ext cx="8375095" cy="9525"/>
          </a:xfrm>
          <a:prstGeom prst="rect">
            <a:avLst/>
          </a:prstGeom>
          <a:solidFill>
            <a:srgbClr val="E9E4DC"/>
          </a:solidFill>
          <a:ln/>
        </p:spPr>
      </p:sp>
      <p:sp>
        <p:nvSpPr>
          <p:cNvPr id="39" name="Text 37"/>
          <p:cNvSpPr/>
          <p:nvPr/>
        </p:nvSpPr>
        <p:spPr>
          <a:xfrm>
            <a:off x="8609886" y="4925496"/>
            <a:ext cx="4099846" cy="25908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Pretendard" pitchFamily="34" charset="0"/>
                <a:ea typeface="Pretendard" pitchFamily="34" charset="-122"/>
                <a:cs typeface="Pretendard" pitchFamily="34" charset="-120"/>
              </a:rPr>
              <a:t>가시성 SaaS </a:t>
            </a:r>
            <a:r>
              <a:rPr lang="en-US" sz="1425" dirty="0">
                <a:solidFill>
                  <a:srgbClr val="9AA0A6"/>
                </a:solidFill>
                <a:latin typeface="Pretendard" pitchFamily="34" charset="0"/>
                <a:ea typeface="Pretendard" pitchFamily="34" charset="-122"/>
                <a:cs typeface="Pretendard" pitchFamily="34" charset="-120"/>
              </a:rPr>
              <a:t>tradlinx 등</a:t>
            </a:r>
            <a:endParaRPr lang="en-US" sz="1425" dirty="0"/>
          </a:p>
        </p:txBody>
      </p:sp>
      <p:sp>
        <p:nvSpPr>
          <p:cNvPr id="40" name="Text 38"/>
          <p:cNvSpPr/>
          <p:nvPr/>
        </p:nvSpPr>
        <p:spPr>
          <a:xfrm>
            <a:off x="12527518" y="4925496"/>
            <a:ext cx="243126"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28666E"/>
                </a:solidFill>
                <a:latin typeface="Pretendard" pitchFamily="34" charset="0"/>
                <a:ea typeface="Pretendard" pitchFamily="34" charset="-122"/>
                <a:cs typeface="Pretendard" pitchFamily="34" charset="-120"/>
              </a:rPr>
              <a:t>→</a:t>
            </a:r>
            <a:endParaRPr lang="en-US" sz="1425" dirty="0"/>
          </a:p>
        </p:txBody>
      </p:sp>
      <p:sp>
        <p:nvSpPr>
          <p:cNvPr id="41" name="Text 39"/>
          <p:cNvSpPr/>
          <p:nvPr/>
        </p:nvSpPr>
        <p:spPr>
          <a:xfrm>
            <a:off x="12884944" y="4925496"/>
            <a:ext cx="4510040"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Pretendard" pitchFamily="34" charset="0"/>
                <a:ea typeface="Pretendard" pitchFamily="34" charset="-122"/>
                <a:cs typeface="Pretendard" pitchFamily="34" charset="-120"/>
              </a:rPr>
              <a:t>공개데이터 통합·정제</a:t>
            </a:r>
            <a:endParaRPr lang="en-US" sz="1425" dirty="0"/>
          </a:p>
        </p:txBody>
      </p:sp>
      <p:sp>
        <p:nvSpPr>
          <p:cNvPr id="42" name="Text 40"/>
          <p:cNvSpPr/>
          <p:nvPr/>
        </p:nvSpPr>
        <p:spPr>
          <a:xfrm>
            <a:off x="8609886" y="8875395"/>
            <a:ext cx="8626347" cy="291465"/>
          </a:xfrm>
          <a:prstGeom prst="rect">
            <a:avLst/>
          </a:prstGeom>
          <a:noFill/>
          <a:ln/>
        </p:spPr>
        <p:txBody>
          <a:bodyPr wrap="square" lIns="25400" tIns="25400" rIns="25400" bIns="25400" rtlCol="0" anchor="t">
            <a:normAutofit/>
          </a:bodyPr>
          <a:lstStyle/>
          <a:p>
            <a:pPr marL="0" indent="0" algn="l">
              <a:lnSpc>
                <a:spcPct val="114655"/>
              </a:lnSpc>
              <a:buNone/>
            </a:pPr>
            <a:r>
              <a:rPr lang="en-US" sz="1425" dirty="0">
                <a:solidFill>
                  <a:srgbClr val="6F6A5F"/>
                </a:solidFill>
                <a:latin typeface="Pretendard" pitchFamily="34" charset="0"/>
                <a:ea typeface="Pretendard" pitchFamily="34" charset="-122"/>
                <a:cs typeface="Pretendard" pitchFamily="34" charset="-120"/>
              </a:rPr>
              <a:t>확장 시에도 </a:t>
            </a:r>
            <a:r>
              <a:rPr lang="en-US" sz="1425" b="1" dirty="0">
                <a:solidFill>
                  <a:srgbClr val="12161D"/>
                </a:solidFill>
                <a:latin typeface="Pretendard" pitchFamily="34" charset="0"/>
                <a:ea typeface="Pretendard" pitchFamily="34" charset="-122"/>
                <a:cs typeface="Pretendard" pitchFamily="34" charset="-120"/>
              </a:rPr>
              <a:t>종량 과금으로 점진 대응 </a:t>
            </a:r>
            <a:r>
              <a:rPr lang="en-US" sz="1425" dirty="0">
                <a:solidFill>
                  <a:srgbClr val="6F6A5F"/>
                </a:solidFill>
                <a:latin typeface="Pretendard" pitchFamily="34" charset="0"/>
                <a:ea typeface="Pretendard" pitchFamily="34" charset="-122"/>
                <a:cs typeface="Pretendard" pitchFamily="34" charset="-120"/>
              </a:rPr>
              <a:t>— 초기 고정비 없이 시작</a:t>
            </a:r>
            <a:endParaRPr lang="en-US" sz="1425" dirty="0"/>
          </a:p>
        </p:txBody>
      </p:sp>
      <p:sp>
        <p:nvSpPr>
          <p:cNvPr id="43" name="Shape 41"/>
          <p:cNvSpPr/>
          <p:nvPr/>
        </p:nvSpPr>
        <p:spPr>
          <a:xfrm>
            <a:off x="914400" y="9650730"/>
            <a:ext cx="16459200" cy="9525"/>
          </a:xfrm>
          <a:prstGeom prst="rect">
            <a:avLst/>
          </a:prstGeom>
          <a:solidFill>
            <a:srgbClr val="E9E4DC"/>
          </a:solidFill>
          <a:ln/>
        </p:spPr>
      </p:sp>
      <p:sp>
        <p:nvSpPr>
          <p:cNvPr id="44" name="Text 42"/>
          <p:cNvSpPr/>
          <p:nvPr/>
        </p:nvSpPr>
        <p:spPr>
          <a:xfrm>
            <a:off x="914400" y="9772650"/>
            <a:ext cx="9329428"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출처 · TWL 물류포털 상세기술서 §5 운영(무료 티어·RLS) · 개발이력 §11(GitHub Pages 자동배포) · 오픈API 41건 조사(무인증 우선)</a:t>
            </a:r>
            <a:endParaRPr lang="en-US" sz="1275" dirty="0"/>
          </a:p>
        </p:txBody>
      </p:sp>
      <p:sp>
        <p:nvSpPr>
          <p:cNvPr id="45" name="Text 43"/>
          <p:cNvSpPr/>
          <p:nvPr/>
        </p:nvSpPr>
        <p:spPr>
          <a:xfrm>
            <a:off x="17194173" y="9772650"/>
            <a:ext cx="255627"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13</a:t>
            </a:r>
            <a:endParaRPr lang="en-US" sz="12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04 타당성 ·</a:t>
            </a:r>
            <a:r>
              <a:rPr lang="en-US" sz="1425" b="1" kern="0" spc="57" dirty="0">
                <a:solidFill>
                  <a:srgbClr val="28666E"/>
                </a:solidFill>
                <a:latin typeface="Pretendard" pitchFamily="34" charset="0"/>
                <a:ea typeface="Pretendard" pitchFamily="34" charset="-122"/>
                <a:cs typeface="Pretendard" pitchFamily="34" charset="-120"/>
              </a:rPr>
              <a:t>개발 성과·검증</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5일 만에 v1, 8개 화면 — 전부 실데이터로 검증</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짧은 기간에 상용 수준 기능을 실데이터로 구현하고 E2E 검증까지 완료</a:t>
            </a:r>
            <a:endParaRPr lang="en-US" sz="1875" dirty="0"/>
          </a:p>
        </p:txBody>
      </p:sp>
      <p:sp>
        <p:nvSpPr>
          <p:cNvPr id="5" name="Shape 3"/>
          <p:cNvSpPr/>
          <p:nvPr/>
        </p:nvSpPr>
        <p:spPr>
          <a:xfrm>
            <a:off x="914400" y="2189917"/>
            <a:ext cx="7710607" cy="6348293"/>
          </a:xfrm>
          <a:prstGeom prst="roundRect">
            <a:avLst>
              <a:gd name="adj" fmla="val 2401"/>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303020" y="2521387"/>
            <a:ext cx="7626704" cy="266700"/>
          </a:xfrm>
          <a:prstGeom prst="rect">
            <a:avLst/>
          </a:prstGeom>
          <a:noFill/>
          <a:ln/>
        </p:spPr>
        <p:txBody>
          <a:bodyPr wrap="square" lIns="25400" tIns="25400" rIns="25400" bIns="25400" rtlCol="0" anchor="t">
            <a:normAutofit/>
          </a:bodyPr>
          <a:lstStyle/>
          <a:p>
            <a:pPr marL="0" indent="0" algn="l">
              <a:buNone/>
            </a:pPr>
            <a:r>
              <a:rPr lang="en-US" sz="1500" dirty="0">
                <a:solidFill>
                  <a:srgbClr val="6F6A5F"/>
                </a:solidFill>
                <a:latin typeface="Pretendard" pitchFamily="34" charset="0"/>
                <a:ea typeface="Pretendard" pitchFamily="34" charset="-122"/>
                <a:cs typeface="Pretendard" pitchFamily="34" charset="-120"/>
              </a:rPr>
              <a:t>개발 기간 (2026-07-24 → 07-28)</a:t>
            </a:r>
            <a:endParaRPr lang="en-US" sz="1500" dirty="0"/>
          </a:p>
        </p:txBody>
      </p:sp>
      <p:sp>
        <p:nvSpPr>
          <p:cNvPr id="7" name="Text 5"/>
          <p:cNvSpPr/>
          <p:nvPr/>
        </p:nvSpPr>
        <p:spPr>
          <a:xfrm>
            <a:off x="1303020" y="2807137"/>
            <a:ext cx="724495" cy="998220"/>
          </a:xfrm>
          <a:prstGeom prst="rect">
            <a:avLst/>
          </a:prstGeom>
          <a:noFill/>
          <a:ln/>
        </p:spPr>
        <p:txBody>
          <a:bodyPr wrap="square" lIns="25400" tIns="25400" rIns="25400" bIns="25400" rtlCol="0" anchor="t">
            <a:normAutofit/>
          </a:bodyPr>
          <a:lstStyle/>
          <a:p>
            <a:pPr marL="0" indent="0" algn="l">
              <a:lnSpc>
                <a:spcPct val="75449"/>
              </a:lnSpc>
              <a:buNone/>
            </a:pPr>
            <a:r>
              <a:rPr lang="en-US" sz="8400" b="1" kern="0" spc="-252" dirty="0">
                <a:solidFill>
                  <a:srgbClr val="12161D"/>
                </a:solidFill>
                <a:latin typeface="Pretendard" pitchFamily="34" charset="0"/>
                <a:ea typeface="Pretendard" pitchFamily="34" charset="-122"/>
                <a:cs typeface="Pretendard" pitchFamily="34" charset="-120"/>
              </a:rPr>
              <a:t>5</a:t>
            </a:r>
            <a:endParaRPr lang="en-US" sz="8400" dirty="0"/>
          </a:p>
        </p:txBody>
      </p:sp>
      <p:sp>
        <p:nvSpPr>
          <p:cNvPr id="8" name="Text 6"/>
          <p:cNvSpPr/>
          <p:nvPr/>
        </p:nvSpPr>
        <p:spPr>
          <a:xfrm>
            <a:off x="2065615" y="3294817"/>
            <a:ext cx="1790998" cy="495300"/>
          </a:xfrm>
          <a:prstGeom prst="rect">
            <a:avLst/>
          </a:prstGeom>
          <a:noFill/>
          <a:ln/>
        </p:spPr>
        <p:txBody>
          <a:bodyPr wrap="square" lIns="25400" tIns="25400" rIns="25400" bIns="25400" rtlCol="0" anchor="t">
            <a:normAutofit/>
          </a:bodyPr>
          <a:lstStyle/>
          <a:p>
            <a:pPr marL="0" indent="0" algn="l">
              <a:buNone/>
            </a:pPr>
            <a:r>
              <a:rPr lang="en-US" sz="3000" b="1" dirty="0">
                <a:solidFill>
                  <a:srgbClr val="12161D"/>
                </a:solidFill>
                <a:latin typeface="Pretendard" pitchFamily="34" charset="0"/>
                <a:ea typeface="Pretendard" pitchFamily="34" charset="-122"/>
                <a:cs typeface="Pretendard" pitchFamily="34" charset="-120"/>
              </a:rPr>
              <a:t>일 · 11단계</a:t>
            </a:r>
            <a:endParaRPr lang="en-US" sz="3000" dirty="0"/>
          </a:p>
        </p:txBody>
      </p:sp>
      <p:sp>
        <p:nvSpPr>
          <p:cNvPr id="9" name="Text 7"/>
          <p:cNvSpPr/>
          <p:nvPr/>
        </p:nvSpPr>
        <p:spPr>
          <a:xfrm>
            <a:off x="1303020" y="3805357"/>
            <a:ext cx="7626704" cy="274320"/>
          </a:xfrm>
          <a:prstGeom prst="rect">
            <a:avLst/>
          </a:prstGeom>
          <a:noFill/>
          <a:ln/>
        </p:spPr>
        <p:txBody>
          <a:bodyPr wrap="square" lIns="25400" tIns="25400" rIns="25400" bIns="25400" rtlCol="0" anchor="t">
            <a:normAutofit/>
          </a:bodyPr>
          <a:lstStyle/>
          <a:p>
            <a:pPr marL="0" indent="0" algn="l">
              <a:buNone/>
            </a:pPr>
            <a:r>
              <a:rPr lang="en-US" sz="1575" dirty="0">
                <a:solidFill>
                  <a:srgbClr val="6F6A5F"/>
                </a:solidFill>
                <a:latin typeface="Pretendard" pitchFamily="34" charset="0"/>
                <a:ea typeface="Pretendard" pitchFamily="34" charset="-122"/>
                <a:cs typeface="Pretendard" pitchFamily="34" charset="-120"/>
              </a:rPr>
              <a:t>8개 화면 전부 실데이터 · 배포판 동작 검증</a:t>
            </a:r>
            <a:endParaRPr lang="en-US" sz="1575" dirty="0"/>
          </a:p>
        </p:txBody>
      </p:sp>
      <p:sp>
        <p:nvSpPr>
          <p:cNvPr id="10" name="Shape 8"/>
          <p:cNvSpPr/>
          <p:nvPr/>
        </p:nvSpPr>
        <p:spPr>
          <a:xfrm>
            <a:off x="1303020" y="7479030"/>
            <a:ext cx="793552" cy="316230"/>
          </a:xfrm>
          <a:prstGeom prst="roundRect">
            <a:avLst>
              <a:gd name="adj" fmla="val 50000"/>
            </a:avLst>
          </a:prstGeom>
          <a:solidFill>
            <a:srgbClr val="E7EEEE"/>
          </a:solidFill>
          <a:ln/>
        </p:spPr>
      </p:sp>
      <p:sp>
        <p:nvSpPr>
          <p:cNvPr id="11" name="Text 9"/>
          <p:cNvSpPr/>
          <p:nvPr/>
        </p:nvSpPr>
        <p:spPr>
          <a:xfrm>
            <a:off x="1436370" y="7545705"/>
            <a:ext cx="603052" cy="2209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선석배정</a:t>
            </a:r>
            <a:endParaRPr lang="en-US" sz="1200" dirty="0"/>
          </a:p>
        </p:txBody>
      </p:sp>
      <p:sp>
        <p:nvSpPr>
          <p:cNvPr id="12" name="Shape 10"/>
          <p:cNvSpPr/>
          <p:nvPr/>
        </p:nvSpPr>
        <p:spPr>
          <a:xfrm>
            <a:off x="2191822" y="7479030"/>
            <a:ext cx="1457563" cy="316230"/>
          </a:xfrm>
          <a:prstGeom prst="roundRect">
            <a:avLst>
              <a:gd name="adj" fmla="val 50000"/>
            </a:avLst>
          </a:prstGeom>
          <a:solidFill>
            <a:srgbClr val="E7EEEE"/>
          </a:solidFill>
          <a:ln/>
        </p:spPr>
      </p:sp>
      <p:sp>
        <p:nvSpPr>
          <p:cNvPr id="13" name="Text 11"/>
          <p:cNvSpPr/>
          <p:nvPr/>
        </p:nvSpPr>
        <p:spPr>
          <a:xfrm>
            <a:off x="2325172" y="7545705"/>
            <a:ext cx="1267063" cy="2209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Port Insight · PCI</a:t>
            </a:r>
            <a:endParaRPr lang="en-US" sz="1200" dirty="0"/>
          </a:p>
        </p:txBody>
      </p:sp>
      <p:sp>
        <p:nvSpPr>
          <p:cNvPr id="14" name="Shape 12"/>
          <p:cNvSpPr/>
          <p:nvPr/>
        </p:nvSpPr>
        <p:spPr>
          <a:xfrm>
            <a:off x="3744635" y="7479030"/>
            <a:ext cx="828675" cy="316230"/>
          </a:xfrm>
          <a:prstGeom prst="roundRect">
            <a:avLst>
              <a:gd name="adj" fmla="val 50000"/>
            </a:avLst>
          </a:prstGeom>
          <a:solidFill>
            <a:srgbClr val="E7EEEE"/>
          </a:solidFill>
          <a:ln/>
        </p:spPr>
      </p:sp>
      <p:sp>
        <p:nvSpPr>
          <p:cNvPr id="15" name="Text 13"/>
          <p:cNvSpPr/>
          <p:nvPr/>
        </p:nvSpPr>
        <p:spPr>
          <a:xfrm>
            <a:off x="3877985" y="7545705"/>
            <a:ext cx="638175" cy="2209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선박 위치</a:t>
            </a:r>
            <a:endParaRPr lang="en-US" sz="1200" dirty="0"/>
          </a:p>
        </p:txBody>
      </p:sp>
      <p:sp>
        <p:nvSpPr>
          <p:cNvPr id="16" name="Shape 14"/>
          <p:cNvSpPr/>
          <p:nvPr/>
        </p:nvSpPr>
        <p:spPr>
          <a:xfrm>
            <a:off x="4668560" y="7479030"/>
            <a:ext cx="828675" cy="316230"/>
          </a:xfrm>
          <a:prstGeom prst="roundRect">
            <a:avLst>
              <a:gd name="adj" fmla="val 50000"/>
            </a:avLst>
          </a:prstGeom>
          <a:solidFill>
            <a:srgbClr val="E7EEEE"/>
          </a:solidFill>
          <a:ln/>
        </p:spPr>
      </p:sp>
      <p:sp>
        <p:nvSpPr>
          <p:cNvPr id="17" name="Text 15"/>
          <p:cNvSpPr/>
          <p:nvPr/>
        </p:nvSpPr>
        <p:spPr>
          <a:xfrm>
            <a:off x="4801910" y="7545705"/>
            <a:ext cx="638175" cy="2209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화물 추적</a:t>
            </a:r>
            <a:endParaRPr lang="en-US" sz="1200" dirty="0"/>
          </a:p>
        </p:txBody>
      </p:sp>
      <p:sp>
        <p:nvSpPr>
          <p:cNvPr id="18" name="Shape 16"/>
          <p:cNvSpPr/>
          <p:nvPr/>
        </p:nvSpPr>
        <p:spPr>
          <a:xfrm>
            <a:off x="5592485" y="7479030"/>
            <a:ext cx="828675" cy="316230"/>
          </a:xfrm>
          <a:prstGeom prst="roundRect">
            <a:avLst>
              <a:gd name="adj" fmla="val 50000"/>
            </a:avLst>
          </a:prstGeom>
          <a:solidFill>
            <a:srgbClr val="E7EEEE"/>
          </a:solidFill>
          <a:ln/>
        </p:spPr>
      </p:sp>
      <p:sp>
        <p:nvSpPr>
          <p:cNvPr id="19" name="Text 17"/>
          <p:cNvSpPr/>
          <p:nvPr/>
        </p:nvSpPr>
        <p:spPr>
          <a:xfrm>
            <a:off x="5725835" y="7545705"/>
            <a:ext cx="638175" cy="2209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경로 분석</a:t>
            </a:r>
            <a:endParaRPr lang="en-US" sz="1200" dirty="0"/>
          </a:p>
        </p:txBody>
      </p:sp>
      <p:sp>
        <p:nvSpPr>
          <p:cNvPr id="20" name="Shape 18"/>
          <p:cNvSpPr/>
          <p:nvPr/>
        </p:nvSpPr>
        <p:spPr>
          <a:xfrm>
            <a:off x="6516410" y="7479030"/>
            <a:ext cx="828675" cy="316230"/>
          </a:xfrm>
          <a:prstGeom prst="roundRect">
            <a:avLst>
              <a:gd name="adj" fmla="val 50000"/>
            </a:avLst>
          </a:prstGeom>
          <a:solidFill>
            <a:srgbClr val="E7EEEE"/>
          </a:solidFill>
          <a:ln/>
        </p:spPr>
      </p:sp>
      <p:sp>
        <p:nvSpPr>
          <p:cNvPr id="21" name="Text 19"/>
          <p:cNvSpPr/>
          <p:nvPr/>
        </p:nvSpPr>
        <p:spPr>
          <a:xfrm>
            <a:off x="6649760" y="7545705"/>
            <a:ext cx="638175" cy="2209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운영 보드</a:t>
            </a:r>
            <a:endParaRPr lang="en-US" sz="1200" dirty="0"/>
          </a:p>
        </p:txBody>
      </p:sp>
      <p:sp>
        <p:nvSpPr>
          <p:cNvPr id="22" name="Shape 20"/>
          <p:cNvSpPr/>
          <p:nvPr/>
        </p:nvSpPr>
        <p:spPr>
          <a:xfrm>
            <a:off x="1303020" y="7890510"/>
            <a:ext cx="1351717" cy="316230"/>
          </a:xfrm>
          <a:prstGeom prst="roundRect">
            <a:avLst>
              <a:gd name="adj" fmla="val 50000"/>
            </a:avLst>
          </a:prstGeom>
          <a:solidFill>
            <a:srgbClr val="E7EEEE"/>
          </a:solidFill>
          <a:ln/>
        </p:spPr>
      </p:sp>
      <p:sp>
        <p:nvSpPr>
          <p:cNvPr id="23" name="Text 21"/>
          <p:cNvSpPr/>
          <p:nvPr/>
        </p:nvSpPr>
        <p:spPr>
          <a:xfrm>
            <a:off x="1436370" y="7957185"/>
            <a:ext cx="1161217" cy="2209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Pretendard" pitchFamily="34" charset="0"/>
                <a:ea typeface="Pretendard" pitchFamily="34" charset="-122"/>
                <a:cs typeface="Pretendard" pitchFamily="34" charset="-120"/>
              </a:rPr>
              <a:t>배포 · React 이관</a:t>
            </a:r>
            <a:endParaRPr lang="en-US" sz="1200" dirty="0"/>
          </a:p>
        </p:txBody>
      </p:sp>
      <p:sp>
        <p:nvSpPr>
          <p:cNvPr id="24" name="Shape 22"/>
          <p:cNvSpPr/>
          <p:nvPr/>
        </p:nvSpPr>
        <p:spPr>
          <a:xfrm>
            <a:off x="8891707" y="2189917"/>
            <a:ext cx="4136112" cy="3069312"/>
          </a:xfrm>
          <a:prstGeom prst="roundRect">
            <a:avLst>
              <a:gd name="adj" fmla="val 49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5" name="Text 23"/>
          <p:cNvSpPr/>
          <p:nvPr/>
        </p:nvSpPr>
        <p:spPr>
          <a:xfrm>
            <a:off x="9185077" y="2445187"/>
            <a:ext cx="3904310"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선석 정규화 E2E</a:t>
            </a:r>
            <a:endParaRPr lang="en-US" sz="1350" dirty="0"/>
          </a:p>
        </p:txBody>
      </p:sp>
      <p:sp>
        <p:nvSpPr>
          <p:cNvPr id="26" name="Text 24"/>
          <p:cNvSpPr/>
          <p:nvPr/>
        </p:nvSpPr>
        <p:spPr>
          <a:xfrm>
            <a:off x="9185077" y="4120039"/>
            <a:ext cx="1086802" cy="693420"/>
          </a:xfrm>
          <a:prstGeom prst="rect">
            <a:avLst/>
          </a:prstGeom>
          <a:noFill/>
          <a:ln/>
        </p:spPr>
        <p:txBody>
          <a:bodyPr wrap="square" lIns="25400" tIns="25400" rIns="25400" bIns="25400" rtlCol="0" anchor="t">
            <a:normAutofit/>
          </a:bodyPr>
          <a:lstStyle/>
          <a:p>
            <a:pPr marL="0" indent="0" algn="l">
              <a:buNone/>
            </a:pPr>
            <a:r>
              <a:rPr lang="en-US" sz="4350" b="1" kern="0" spc="-87" dirty="0">
                <a:solidFill>
                  <a:srgbClr val="12161D"/>
                </a:solidFill>
                <a:latin typeface="Pretendard" pitchFamily="34" charset="0"/>
                <a:ea typeface="Pretendard" pitchFamily="34" charset="-122"/>
                <a:cs typeface="Pretendard" pitchFamily="34" charset="-120"/>
              </a:rPr>
              <a:t>224</a:t>
            </a:r>
            <a:endParaRPr lang="en-US" sz="4350" dirty="0"/>
          </a:p>
        </p:txBody>
      </p:sp>
      <p:sp>
        <p:nvSpPr>
          <p:cNvPr id="27" name="Text 25"/>
          <p:cNvSpPr/>
          <p:nvPr/>
        </p:nvSpPr>
        <p:spPr>
          <a:xfrm>
            <a:off x="10252829" y="4424839"/>
            <a:ext cx="273844" cy="31242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Pretendard" pitchFamily="34" charset="0"/>
                <a:ea typeface="Pretendard" pitchFamily="34" charset="-122"/>
                <a:cs typeface="Pretendard" pitchFamily="34" charset="-120"/>
              </a:rPr>
              <a:t>건</a:t>
            </a:r>
            <a:endParaRPr lang="en-US" sz="1800" dirty="0"/>
          </a:p>
        </p:txBody>
      </p:sp>
      <p:sp>
        <p:nvSpPr>
          <p:cNvPr id="28" name="Text 26"/>
          <p:cNvSpPr/>
          <p:nvPr/>
        </p:nvSpPr>
        <p:spPr>
          <a:xfrm>
            <a:off x="9185077" y="4813459"/>
            <a:ext cx="390431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필터·검색·마감강조 통과 (중복 제거 후 223)</a:t>
            </a:r>
            <a:endParaRPr lang="en-US" sz="1275" dirty="0"/>
          </a:p>
        </p:txBody>
      </p:sp>
      <p:sp>
        <p:nvSpPr>
          <p:cNvPr id="29" name="Shape 27"/>
          <p:cNvSpPr/>
          <p:nvPr/>
        </p:nvSpPr>
        <p:spPr>
          <a:xfrm>
            <a:off x="13237369" y="2189917"/>
            <a:ext cx="4136231" cy="3069312"/>
          </a:xfrm>
          <a:prstGeom prst="roundRect">
            <a:avLst>
              <a:gd name="adj" fmla="val 49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30" name="Text 28"/>
          <p:cNvSpPr/>
          <p:nvPr/>
        </p:nvSpPr>
        <p:spPr>
          <a:xfrm>
            <a:off x="13530739" y="2445187"/>
            <a:ext cx="3904440"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PortWatch 실데이터</a:t>
            </a:r>
            <a:endParaRPr lang="en-US" sz="1350" dirty="0"/>
          </a:p>
        </p:txBody>
      </p:sp>
      <p:sp>
        <p:nvSpPr>
          <p:cNvPr id="31" name="Text 29"/>
          <p:cNvSpPr/>
          <p:nvPr/>
        </p:nvSpPr>
        <p:spPr>
          <a:xfrm>
            <a:off x="13530739" y="4120039"/>
            <a:ext cx="1836313" cy="693420"/>
          </a:xfrm>
          <a:prstGeom prst="rect">
            <a:avLst/>
          </a:prstGeom>
          <a:noFill/>
          <a:ln/>
        </p:spPr>
        <p:txBody>
          <a:bodyPr wrap="square" lIns="25400" tIns="25400" rIns="25400" bIns="25400" rtlCol="0" anchor="t">
            <a:normAutofit/>
          </a:bodyPr>
          <a:lstStyle/>
          <a:p>
            <a:pPr marL="0" indent="0" algn="l">
              <a:buNone/>
            </a:pPr>
            <a:r>
              <a:rPr lang="en-US" sz="4350" b="1" kern="0" spc="-87" dirty="0">
                <a:solidFill>
                  <a:srgbClr val="12161D"/>
                </a:solidFill>
                <a:latin typeface="Pretendard" pitchFamily="34" charset="0"/>
                <a:ea typeface="Pretendard" pitchFamily="34" charset="-122"/>
                <a:cs typeface="Pretendard" pitchFamily="34" charset="-120"/>
              </a:rPr>
              <a:t>10,212</a:t>
            </a:r>
            <a:endParaRPr lang="en-US" sz="4350" dirty="0"/>
          </a:p>
        </p:txBody>
      </p:sp>
      <p:sp>
        <p:nvSpPr>
          <p:cNvPr id="32" name="Text 30"/>
          <p:cNvSpPr/>
          <p:nvPr/>
        </p:nvSpPr>
        <p:spPr>
          <a:xfrm>
            <a:off x="15257264" y="4424839"/>
            <a:ext cx="273844" cy="31242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Pretendard" pitchFamily="34" charset="0"/>
                <a:ea typeface="Pretendard" pitchFamily="34" charset="-122"/>
                <a:cs typeface="Pretendard" pitchFamily="34" charset="-120"/>
              </a:rPr>
              <a:t>행</a:t>
            </a:r>
            <a:endParaRPr lang="en-US" sz="1800" dirty="0"/>
          </a:p>
        </p:txBody>
      </p:sp>
      <p:sp>
        <p:nvSpPr>
          <p:cNvPr id="33" name="Text 31"/>
          <p:cNvSpPr/>
          <p:nvPr/>
        </p:nvSpPr>
        <p:spPr>
          <a:xfrm>
            <a:off x="13530739" y="4813459"/>
            <a:ext cx="390444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 93개 항만 PCI 산출·화면 반영</a:t>
            </a:r>
            <a:endParaRPr lang="en-US" sz="1275" dirty="0"/>
          </a:p>
        </p:txBody>
      </p:sp>
      <p:sp>
        <p:nvSpPr>
          <p:cNvPr id="34" name="Shape 32"/>
          <p:cNvSpPr/>
          <p:nvPr/>
        </p:nvSpPr>
        <p:spPr>
          <a:xfrm>
            <a:off x="8891707" y="5468779"/>
            <a:ext cx="4136112" cy="3069431"/>
          </a:xfrm>
          <a:prstGeom prst="roundRect">
            <a:avLst>
              <a:gd name="adj" fmla="val 49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35" name="Text 33"/>
          <p:cNvSpPr/>
          <p:nvPr/>
        </p:nvSpPr>
        <p:spPr>
          <a:xfrm>
            <a:off x="9185077" y="5724049"/>
            <a:ext cx="3904310"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선석 14일 백필</a:t>
            </a:r>
            <a:endParaRPr lang="en-US" sz="1350" dirty="0"/>
          </a:p>
        </p:txBody>
      </p:sp>
      <p:sp>
        <p:nvSpPr>
          <p:cNvPr id="36" name="Text 34"/>
          <p:cNvSpPr/>
          <p:nvPr/>
        </p:nvSpPr>
        <p:spPr>
          <a:xfrm>
            <a:off x="9185077" y="7399020"/>
            <a:ext cx="1565077" cy="693420"/>
          </a:xfrm>
          <a:prstGeom prst="rect">
            <a:avLst/>
          </a:prstGeom>
          <a:noFill/>
          <a:ln/>
        </p:spPr>
        <p:txBody>
          <a:bodyPr wrap="square" lIns="25400" tIns="25400" rIns="25400" bIns="25400" rtlCol="0" anchor="t">
            <a:normAutofit/>
          </a:bodyPr>
          <a:lstStyle/>
          <a:p>
            <a:pPr marL="0" indent="0" algn="l">
              <a:buNone/>
            </a:pPr>
            <a:r>
              <a:rPr lang="en-US" sz="4350" b="1" kern="0" spc="-87" dirty="0">
                <a:solidFill>
                  <a:srgbClr val="28666E"/>
                </a:solidFill>
                <a:latin typeface="Pretendard" pitchFamily="34" charset="0"/>
                <a:ea typeface="Pretendard" pitchFamily="34" charset="-122"/>
                <a:cs typeface="Pretendard" pitchFamily="34" charset="-120"/>
              </a:rPr>
              <a:t>3,218</a:t>
            </a:r>
            <a:endParaRPr lang="en-US" sz="4350" dirty="0"/>
          </a:p>
        </p:txBody>
      </p:sp>
      <p:sp>
        <p:nvSpPr>
          <p:cNvPr id="37" name="Text 35"/>
          <p:cNvSpPr/>
          <p:nvPr/>
        </p:nvSpPr>
        <p:spPr>
          <a:xfrm>
            <a:off x="10665023" y="7703820"/>
            <a:ext cx="273844" cy="312420"/>
          </a:xfrm>
          <a:prstGeom prst="rect">
            <a:avLst/>
          </a:prstGeom>
          <a:noFill/>
          <a:ln/>
        </p:spPr>
        <p:txBody>
          <a:bodyPr wrap="square" lIns="25400" tIns="25400" rIns="25400" bIns="25400" rtlCol="0" anchor="t">
            <a:normAutofit/>
          </a:bodyPr>
          <a:lstStyle/>
          <a:p>
            <a:pPr marL="0" indent="0" algn="l">
              <a:buNone/>
            </a:pPr>
            <a:r>
              <a:rPr lang="en-US" sz="1800" b="1" dirty="0">
                <a:solidFill>
                  <a:srgbClr val="28666E"/>
                </a:solidFill>
                <a:latin typeface="Pretendard" pitchFamily="34" charset="0"/>
                <a:ea typeface="Pretendard" pitchFamily="34" charset="-122"/>
                <a:cs typeface="Pretendard" pitchFamily="34" charset="-120"/>
              </a:rPr>
              <a:t>건</a:t>
            </a:r>
            <a:endParaRPr lang="en-US" sz="1800" dirty="0"/>
          </a:p>
        </p:txBody>
      </p:sp>
      <p:sp>
        <p:nvSpPr>
          <p:cNvPr id="38" name="Text 36"/>
          <p:cNvSpPr/>
          <p:nvPr/>
        </p:nvSpPr>
        <p:spPr>
          <a:xfrm>
            <a:off x="9185077" y="8092440"/>
            <a:ext cx="390431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헤더 변형 8종 자동 대응 · 그리드 UX 6시나리오</a:t>
            </a:r>
            <a:endParaRPr lang="en-US" sz="1275" dirty="0"/>
          </a:p>
        </p:txBody>
      </p:sp>
      <p:sp>
        <p:nvSpPr>
          <p:cNvPr id="39" name="Shape 37"/>
          <p:cNvSpPr/>
          <p:nvPr/>
        </p:nvSpPr>
        <p:spPr>
          <a:xfrm>
            <a:off x="13237369" y="5468779"/>
            <a:ext cx="4136231" cy="3069431"/>
          </a:xfrm>
          <a:prstGeom prst="roundRect">
            <a:avLst>
              <a:gd name="adj" fmla="val 49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40" name="Text 38"/>
          <p:cNvSpPr/>
          <p:nvPr/>
        </p:nvSpPr>
        <p:spPr>
          <a:xfrm>
            <a:off x="13530739" y="5724049"/>
            <a:ext cx="3904440"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콘솔 오류 · 보안 이슈</a:t>
            </a:r>
            <a:endParaRPr lang="en-US" sz="1350" dirty="0"/>
          </a:p>
        </p:txBody>
      </p:sp>
      <p:sp>
        <p:nvSpPr>
          <p:cNvPr id="41" name="Text 39"/>
          <p:cNvSpPr/>
          <p:nvPr/>
        </p:nvSpPr>
        <p:spPr>
          <a:xfrm>
            <a:off x="13530739" y="7399020"/>
            <a:ext cx="441841" cy="693420"/>
          </a:xfrm>
          <a:prstGeom prst="rect">
            <a:avLst/>
          </a:prstGeom>
          <a:noFill/>
          <a:ln/>
        </p:spPr>
        <p:txBody>
          <a:bodyPr wrap="square" lIns="25400" tIns="25400" rIns="25400" bIns="25400" rtlCol="0" anchor="t">
            <a:normAutofit/>
          </a:bodyPr>
          <a:lstStyle/>
          <a:p>
            <a:pPr marL="0" indent="0" algn="l">
              <a:buNone/>
            </a:pPr>
            <a:r>
              <a:rPr lang="en-US" sz="4350" b="1" kern="0" spc="-87" dirty="0">
                <a:solidFill>
                  <a:srgbClr val="28666E"/>
                </a:solidFill>
                <a:latin typeface="Pretendard" pitchFamily="34" charset="0"/>
                <a:ea typeface="Pretendard" pitchFamily="34" charset="-122"/>
                <a:cs typeface="Pretendard" pitchFamily="34" charset="-120"/>
              </a:rPr>
              <a:t>0</a:t>
            </a:r>
            <a:endParaRPr lang="en-US" sz="4350" dirty="0"/>
          </a:p>
        </p:txBody>
      </p:sp>
      <p:sp>
        <p:nvSpPr>
          <p:cNvPr id="42" name="Text 40"/>
          <p:cNvSpPr/>
          <p:nvPr/>
        </p:nvSpPr>
        <p:spPr>
          <a:xfrm>
            <a:off x="13953530" y="7703820"/>
            <a:ext cx="273844" cy="312420"/>
          </a:xfrm>
          <a:prstGeom prst="rect">
            <a:avLst/>
          </a:prstGeom>
          <a:noFill/>
          <a:ln/>
        </p:spPr>
        <p:txBody>
          <a:bodyPr wrap="square" lIns="25400" tIns="25400" rIns="25400" bIns="25400" rtlCol="0" anchor="t">
            <a:normAutofit/>
          </a:bodyPr>
          <a:lstStyle/>
          <a:p>
            <a:pPr marL="0" indent="0" algn="l">
              <a:buNone/>
            </a:pPr>
            <a:r>
              <a:rPr lang="en-US" sz="1800" b="1" dirty="0">
                <a:solidFill>
                  <a:srgbClr val="28666E"/>
                </a:solidFill>
                <a:latin typeface="Pretendard" pitchFamily="34" charset="0"/>
                <a:ea typeface="Pretendard" pitchFamily="34" charset="-122"/>
                <a:cs typeface="Pretendard" pitchFamily="34" charset="-120"/>
              </a:rPr>
              <a:t>건</a:t>
            </a:r>
            <a:endParaRPr lang="en-US" sz="1800" dirty="0"/>
          </a:p>
        </p:txBody>
      </p:sp>
      <p:sp>
        <p:nvSpPr>
          <p:cNvPr id="43" name="Text 41"/>
          <p:cNvSpPr/>
          <p:nvPr/>
        </p:nvSpPr>
        <p:spPr>
          <a:xfrm>
            <a:off x="13530739" y="8092440"/>
            <a:ext cx="390444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Supabase 보안 어드바이저 0 · 회사명·이메일 통일</a:t>
            </a:r>
            <a:endParaRPr lang="en-US" sz="1275" dirty="0"/>
          </a:p>
        </p:txBody>
      </p:sp>
      <p:sp>
        <p:nvSpPr>
          <p:cNvPr id="44" name="Shape 42"/>
          <p:cNvSpPr/>
          <p:nvPr/>
        </p:nvSpPr>
        <p:spPr>
          <a:xfrm>
            <a:off x="914400" y="8785860"/>
            <a:ext cx="16459200" cy="655320"/>
          </a:xfrm>
          <a:prstGeom prst="roundRect">
            <a:avLst>
              <a:gd name="adj" fmla="val 23256"/>
            </a:avLst>
          </a:prstGeom>
          <a:solidFill>
            <a:srgbClr val="ECE7DD"/>
          </a:solidFill>
          <a:ln/>
        </p:spPr>
      </p:sp>
      <p:sp>
        <p:nvSpPr>
          <p:cNvPr id="45" name="Text 43"/>
          <p:cNvSpPr/>
          <p:nvPr/>
        </p:nvSpPr>
        <p:spPr>
          <a:xfrm>
            <a:off x="1219200" y="8976360"/>
            <a:ext cx="1636978" cy="312420"/>
          </a:xfrm>
          <a:prstGeom prst="rect">
            <a:avLst/>
          </a:prstGeom>
          <a:noFill/>
          <a:ln/>
        </p:spPr>
        <p:txBody>
          <a:bodyPr wrap="none" lIns="25400" tIns="25400" rIns="25400" bIns="25400" rtlCol="0" anchor="t">
            <a:normAutofit/>
          </a:bodyPr>
          <a:lstStyle/>
          <a:p>
            <a:pPr marL="0" indent="0" algn="l">
              <a:buNone/>
            </a:pPr>
            <a:r>
              <a:rPr lang="en-US" sz="1800" b="1" dirty="0">
                <a:solidFill>
                  <a:srgbClr val="28666E"/>
                </a:solidFill>
                <a:latin typeface="Pretendard" pitchFamily="34" charset="0"/>
                <a:ea typeface="Pretendard" pitchFamily="34" charset="-122"/>
                <a:cs typeface="Pretendard" pitchFamily="34" charset="-120"/>
              </a:rPr>
              <a:t>BUILD vs BUY</a:t>
            </a:r>
            <a:endParaRPr lang="en-US" sz="1800" dirty="0"/>
          </a:p>
        </p:txBody>
      </p:sp>
      <p:sp>
        <p:nvSpPr>
          <p:cNvPr id="46" name="Text 44"/>
          <p:cNvSpPr/>
          <p:nvPr/>
        </p:nvSpPr>
        <p:spPr>
          <a:xfrm>
            <a:off x="2955012" y="8980170"/>
            <a:ext cx="9753898"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b="1" dirty="0">
                <a:solidFill>
                  <a:srgbClr val="12161D"/>
                </a:solidFill>
                <a:latin typeface="Pretendard" pitchFamily="34" charset="0"/>
                <a:ea typeface="Pretendard" pitchFamily="34" charset="-122"/>
                <a:cs typeface="Pretendard" pitchFamily="34" charset="-120"/>
              </a:rPr>
              <a:t>자체 구축 5일 · ₩0 vs 완성 가시성 솔루션 구독 </a:t>
            </a:r>
            <a:r>
              <a:rPr lang="en-US" sz="1500" dirty="0">
                <a:solidFill>
                  <a:srgbClr val="12161D"/>
                </a:solidFill>
                <a:latin typeface="Pretendard" pitchFamily="34" charset="0"/>
                <a:ea typeface="Pretendard" pitchFamily="34" charset="-122"/>
                <a:cs typeface="Pretendard" pitchFamily="34" charset="-120"/>
              </a:rPr>
              <a:t>— 비용 우위에 더해, 데이터와 코드가 그대로 사내 자산으로 축적됩니다</a:t>
            </a:r>
            <a:endParaRPr lang="en-US" sz="1500" dirty="0"/>
          </a:p>
        </p:txBody>
      </p:sp>
      <p:sp>
        <p:nvSpPr>
          <p:cNvPr id="47" name="Shape 45"/>
          <p:cNvSpPr/>
          <p:nvPr/>
        </p:nvSpPr>
        <p:spPr>
          <a:xfrm>
            <a:off x="914400" y="9650730"/>
            <a:ext cx="16459200" cy="9525"/>
          </a:xfrm>
          <a:prstGeom prst="rect">
            <a:avLst/>
          </a:prstGeom>
          <a:solidFill>
            <a:srgbClr val="E9E4DC"/>
          </a:solidFill>
          <a:ln/>
        </p:spPr>
      </p:sp>
      <p:sp>
        <p:nvSpPr>
          <p:cNvPr id="48" name="Text 46"/>
          <p:cNvSpPr/>
          <p:nvPr/>
        </p:nvSpPr>
        <p:spPr>
          <a:xfrm>
            <a:off x="914400" y="9772650"/>
            <a:ext cx="651189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출처 · 개발이력 §1 타임라인(11단계) · §5 검증 이력(224건·10,212행·3,218건·오류 0·보안 0)</a:t>
            </a:r>
            <a:endParaRPr lang="en-US" sz="1275" dirty="0"/>
          </a:p>
        </p:txBody>
      </p:sp>
      <p:sp>
        <p:nvSpPr>
          <p:cNvPr id="49" name="Text 47"/>
          <p:cNvSpPr/>
          <p:nvPr/>
        </p:nvSpPr>
        <p:spPr>
          <a:xfrm>
            <a:off x="17191196" y="9772650"/>
            <a:ext cx="258604"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14</a:t>
            </a:r>
            <a:endParaRPr lang="en-US" sz="12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5715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04 타당성 ·</a:t>
            </a:r>
            <a:r>
              <a:rPr lang="en-US" sz="1425" b="1" kern="0" spc="57" dirty="0">
                <a:solidFill>
                  <a:srgbClr val="28666E"/>
                </a:solidFill>
                <a:latin typeface="Pretendard" pitchFamily="34" charset="0"/>
                <a:ea typeface="Pretendard" pitchFamily="34" charset="-122"/>
                <a:cs typeface="Pretendard" pitchFamily="34" charset="-120"/>
              </a:rPr>
              <a:t>PCI 방법론 (Port Congestion Index)</a:t>
            </a:r>
            <a:endParaRPr lang="en-US" sz="1425" dirty="0"/>
          </a:p>
        </p:txBody>
      </p:sp>
      <p:sp>
        <p:nvSpPr>
          <p:cNvPr id="3" name="Text 1"/>
          <p:cNvSpPr/>
          <p:nvPr/>
        </p:nvSpPr>
        <p:spPr>
          <a:xfrm>
            <a:off x="914400" y="868680"/>
            <a:ext cx="18105120" cy="552450"/>
          </a:xfrm>
          <a:prstGeom prst="rect">
            <a:avLst/>
          </a:prstGeom>
          <a:noFill/>
          <a:ln/>
        </p:spPr>
        <p:txBody>
          <a:bodyPr wrap="square" lIns="25400" tIns="25400" rIns="25400" bIns="25400" rtlCol="0" anchor="t">
            <a:normAutofit/>
          </a:bodyPr>
          <a:lstStyle/>
          <a:p>
            <a:pPr marL="0" indent="0" algn="l">
              <a:lnSpc>
                <a:spcPct val="91216"/>
              </a:lnSpc>
              <a:buNone/>
            </a:pPr>
            <a:r>
              <a:rPr lang="en-US" sz="3750" b="1" kern="0" spc="-75" dirty="0">
                <a:solidFill>
                  <a:srgbClr val="12161D"/>
                </a:solidFill>
                <a:latin typeface="Pretendard" pitchFamily="34" charset="0"/>
                <a:ea typeface="Pretendard" pitchFamily="34" charset="-122"/>
                <a:cs typeface="Pretendard" pitchFamily="34" charset="-120"/>
              </a:rPr>
              <a:t>근거 있는 혼잡도 — PCI = </a:t>
            </a:r>
            <a:r>
              <a:rPr lang="en-US" sz="3750" b="1" kern="0" spc="-75" dirty="0">
                <a:solidFill>
                  <a:srgbClr val="28666E"/>
                </a:solidFill>
                <a:latin typeface="Pretendard" pitchFamily="34" charset="0"/>
                <a:ea typeface="Pretendard" pitchFamily="34" charset="-122"/>
                <a:cs typeface="Pretendard" pitchFamily="34" charset="-120"/>
              </a:rPr>
              <a:t>0.60 활동 + 0.25 물동 + 0.15 모멘텀</a:t>
            </a:r>
            <a:endParaRPr lang="en-US" sz="3750" dirty="0"/>
          </a:p>
        </p:txBody>
      </p:sp>
      <p:sp>
        <p:nvSpPr>
          <p:cNvPr id="4" name="Text 2"/>
          <p:cNvSpPr/>
          <p:nvPr/>
        </p:nvSpPr>
        <p:spPr>
          <a:xfrm>
            <a:off x="914400" y="1478280"/>
            <a:ext cx="18105120" cy="312420"/>
          </a:xfrm>
          <a:prstGeom prst="rect">
            <a:avLst/>
          </a:prstGeom>
          <a:noFill/>
          <a:ln/>
        </p:spPr>
        <p:txBody>
          <a:bodyPr wrap="square" lIns="25400" tIns="25400" rIns="25400" bIns="25400" rtlCol="0" anchor="t">
            <a:normAutofit/>
          </a:bodyPr>
          <a:lstStyle/>
          <a:p>
            <a:pPr marL="0" indent="0" algn="l">
              <a:buNone/>
            </a:pPr>
            <a:r>
              <a:rPr lang="en-US" sz="1800" dirty="0">
                <a:solidFill>
                  <a:srgbClr val="6F6A5F"/>
                </a:solidFill>
                <a:latin typeface="Pretendard" pitchFamily="34" charset="0"/>
                <a:ea typeface="Pretendard" pitchFamily="34" charset="-122"/>
                <a:cs typeface="Pretendard" pitchFamily="34" charset="-120"/>
              </a:rPr>
              <a:t>위성 AIS 실데이터를 백분위·시그모이드로 정규화 — 국내는 실측 선석으로 보정</a:t>
            </a:r>
            <a:endParaRPr lang="en-US" sz="1800" dirty="0"/>
          </a:p>
        </p:txBody>
      </p:sp>
      <p:sp>
        <p:nvSpPr>
          <p:cNvPr id="5" name="Shape 3"/>
          <p:cNvSpPr/>
          <p:nvPr/>
        </p:nvSpPr>
        <p:spPr>
          <a:xfrm>
            <a:off x="914400" y="2000250"/>
            <a:ext cx="3957638" cy="1540669"/>
          </a:xfrm>
          <a:prstGeom prst="roundRect">
            <a:avLst>
              <a:gd name="adj" fmla="val 865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188720" y="2236470"/>
            <a:ext cx="3749897"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활동량 · Activity</a:t>
            </a:r>
            <a:endParaRPr lang="en-US" sz="1350" dirty="0"/>
          </a:p>
        </p:txBody>
      </p:sp>
      <p:sp>
        <p:nvSpPr>
          <p:cNvPr id="7" name="Text 5"/>
          <p:cNvSpPr/>
          <p:nvPr/>
        </p:nvSpPr>
        <p:spPr>
          <a:xfrm>
            <a:off x="1188720" y="2491740"/>
            <a:ext cx="839152" cy="552450"/>
          </a:xfrm>
          <a:prstGeom prst="rect">
            <a:avLst/>
          </a:prstGeom>
          <a:noFill/>
          <a:ln/>
        </p:spPr>
        <p:txBody>
          <a:bodyPr wrap="square" lIns="25400" tIns="25400" rIns="25400" bIns="25400" rtlCol="0" anchor="t">
            <a:normAutofit/>
          </a:bodyPr>
          <a:lstStyle/>
          <a:p>
            <a:pPr marL="0" indent="0" algn="l">
              <a:lnSpc>
                <a:spcPct val="75843"/>
              </a:lnSpc>
              <a:buNone/>
            </a:pPr>
            <a:r>
              <a:rPr lang="en-US" sz="4500" b="1" dirty="0">
                <a:solidFill>
                  <a:srgbClr val="28666E"/>
                </a:solidFill>
                <a:latin typeface="Pretendard" pitchFamily="34" charset="0"/>
                <a:ea typeface="Pretendard" pitchFamily="34" charset="-122"/>
                <a:cs typeface="Pretendard" pitchFamily="34" charset="-120"/>
              </a:rPr>
              <a:t>60</a:t>
            </a:r>
            <a:endParaRPr lang="en-US" sz="4500" dirty="0"/>
          </a:p>
        </p:txBody>
      </p:sp>
      <p:sp>
        <p:nvSpPr>
          <p:cNvPr id="8" name="Text 6"/>
          <p:cNvSpPr/>
          <p:nvPr/>
        </p:nvSpPr>
        <p:spPr>
          <a:xfrm>
            <a:off x="2008823" y="2712720"/>
            <a:ext cx="313968"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28666E"/>
                </a:solidFill>
                <a:latin typeface="Pretendard" pitchFamily="34" charset="0"/>
                <a:ea typeface="Pretendard" pitchFamily="34" charset="-122"/>
                <a:cs typeface="Pretendard" pitchFamily="34" charset="-120"/>
              </a:rPr>
              <a:t>%</a:t>
            </a:r>
            <a:endParaRPr lang="en-US" sz="1950" dirty="0"/>
          </a:p>
        </p:txBody>
      </p:sp>
      <p:sp>
        <p:nvSpPr>
          <p:cNvPr id="9" name="Text 7"/>
          <p:cNvSpPr/>
          <p:nvPr/>
        </p:nvSpPr>
        <p:spPr>
          <a:xfrm>
            <a:off x="1188720" y="3086100"/>
            <a:ext cx="3749897" cy="256699"/>
          </a:xfrm>
          <a:prstGeom prst="rect">
            <a:avLst/>
          </a:prstGeom>
          <a:noFill/>
          <a:ln/>
        </p:spPr>
        <p:txBody>
          <a:bodyPr wrap="square" lIns="25400" tIns="25400" rIns="25400" bIns="25400" rtlCol="0" anchor="t">
            <a:normAutofit/>
          </a:bodyPr>
          <a:lstStyle/>
          <a:p>
            <a:pPr marL="0" indent="0" algn="l">
              <a:lnSpc>
                <a:spcPct val="114750"/>
              </a:lnSpc>
              <a:buNone/>
            </a:pPr>
            <a:r>
              <a:rPr lang="en-US" sz="1275" dirty="0">
                <a:solidFill>
                  <a:srgbClr val="6F6A5F"/>
                </a:solidFill>
                <a:latin typeface="Pretendard" pitchFamily="34" charset="0"/>
                <a:ea typeface="Pretendard" pitchFamily="34" charset="-122"/>
                <a:cs typeface="Pretendard" pitchFamily="34" charset="-120"/>
              </a:rPr>
              <a:t>최근 7일 평균 기항수 → 120일 분포 백분위</a:t>
            </a:r>
            <a:endParaRPr lang="en-US" sz="1275" dirty="0"/>
          </a:p>
        </p:txBody>
      </p:sp>
      <p:sp>
        <p:nvSpPr>
          <p:cNvPr id="10" name="Shape 8"/>
          <p:cNvSpPr/>
          <p:nvPr/>
        </p:nvSpPr>
        <p:spPr>
          <a:xfrm>
            <a:off x="5081588" y="2000250"/>
            <a:ext cx="3957638" cy="1540669"/>
          </a:xfrm>
          <a:prstGeom prst="roundRect">
            <a:avLst>
              <a:gd name="adj" fmla="val 865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1" name="Text 9"/>
          <p:cNvSpPr/>
          <p:nvPr/>
        </p:nvSpPr>
        <p:spPr>
          <a:xfrm>
            <a:off x="5355907" y="2236470"/>
            <a:ext cx="3749897"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물동량 · Volume</a:t>
            </a:r>
            <a:endParaRPr lang="en-US" sz="1350" dirty="0"/>
          </a:p>
        </p:txBody>
      </p:sp>
      <p:sp>
        <p:nvSpPr>
          <p:cNvPr id="12" name="Text 10"/>
          <p:cNvSpPr/>
          <p:nvPr/>
        </p:nvSpPr>
        <p:spPr>
          <a:xfrm>
            <a:off x="5355907" y="2491740"/>
            <a:ext cx="794028" cy="552450"/>
          </a:xfrm>
          <a:prstGeom prst="rect">
            <a:avLst/>
          </a:prstGeom>
          <a:noFill/>
          <a:ln/>
        </p:spPr>
        <p:txBody>
          <a:bodyPr wrap="square" lIns="25400" tIns="25400" rIns="25400" bIns="25400" rtlCol="0" anchor="t">
            <a:normAutofit/>
          </a:bodyPr>
          <a:lstStyle/>
          <a:p>
            <a:pPr marL="0" indent="0" algn="l">
              <a:lnSpc>
                <a:spcPct val="75843"/>
              </a:lnSpc>
              <a:buNone/>
            </a:pPr>
            <a:r>
              <a:rPr lang="en-US" sz="4500" b="1" dirty="0">
                <a:solidFill>
                  <a:srgbClr val="28666E"/>
                </a:solidFill>
                <a:latin typeface="Pretendard" pitchFamily="34" charset="0"/>
                <a:ea typeface="Pretendard" pitchFamily="34" charset="-122"/>
                <a:cs typeface="Pretendard" pitchFamily="34" charset="-120"/>
              </a:rPr>
              <a:t>25</a:t>
            </a:r>
            <a:endParaRPr lang="en-US" sz="4500" dirty="0"/>
          </a:p>
        </p:txBody>
      </p:sp>
      <p:sp>
        <p:nvSpPr>
          <p:cNvPr id="13" name="Text 11"/>
          <p:cNvSpPr/>
          <p:nvPr/>
        </p:nvSpPr>
        <p:spPr>
          <a:xfrm>
            <a:off x="6130886" y="2712720"/>
            <a:ext cx="313968"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28666E"/>
                </a:solidFill>
                <a:latin typeface="Pretendard" pitchFamily="34" charset="0"/>
                <a:ea typeface="Pretendard" pitchFamily="34" charset="-122"/>
                <a:cs typeface="Pretendard" pitchFamily="34" charset="-120"/>
              </a:rPr>
              <a:t>%</a:t>
            </a:r>
            <a:endParaRPr lang="en-US" sz="1950" dirty="0"/>
          </a:p>
        </p:txBody>
      </p:sp>
      <p:sp>
        <p:nvSpPr>
          <p:cNvPr id="14" name="Text 12"/>
          <p:cNvSpPr/>
          <p:nvPr/>
        </p:nvSpPr>
        <p:spPr>
          <a:xfrm>
            <a:off x="5355907" y="3086100"/>
            <a:ext cx="3749897" cy="256699"/>
          </a:xfrm>
          <a:prstGeom prst="rect">
            <a:avLst/>
          </a:prstGeom>
          <a:noFill/>
          <a:ln/>
        </p:spPr>
        <p:txBody>
          <a:bodyPr wrap="square" lIns="25400" tIns="25400" rIns="25400" bIns="25400" rtlCol="0" anchor="t">
            <a:normAutofit/>
          </a:bodyPr>
          <a:lstStyle/>
          <a:p>
            <a:pPr marL="0" indent="0" algn="l">
              <a:lnSpc>
                <a:spcPct val="114750"/>
              </a:lnSpc>
              <a:buNone/>
            </a:pPr>
            <a:r>
              <a:rPr lang="en-US" sz="1275" dirty="0">
                <a:solidFill>
                  <a:srgbClr val="6F6A5F"/>
                </a:solidFill>
                <a:latin typeface="Pretendard" pitchFamily="34" charset="0"/>
                <a:ea typeface="Pretendard" pitchFamily="34" charset="-122"/>
                <a:cs typeface="Pretendard" pitchFamily="34" charset="-120"/>
              </a:rPr>
              <a:t>(import + export) 동일 백분위 방식</a:t>
            </a:r>
            <a:endParaRPr lang="en-US" sz="1275" dirty="0"/>
          </a:p>
        </p:txBody>
      </p:sp>
      <p:sp>
        <p:nvSpPr>
          <p:cNvPr id="15" name="Shape 13"/>
          <p:cNvSpPr/>
          <p:nvPr/>
        </p:nvSpPr>
        <p:spPr>
          <a:xfrm>
            <a:off x="9248775" y="2000250"/>
            <a:ext cx="3957638" cy="1540669"/>
          </a:xfrm>
          <a:prstGeom prst="roundRect">
            <a:avLst>
              <a:gd name="adj" fmla="val 865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6" name="Text 14"/>
          <p:cNvSpPr/>
          <p:nvPr/>
        </p:nvSpPr>
        <p:spPr>
          <a:xfrm>
            <a:off x="9523095" y="2236470"/>
            <a:ext cx="3749897"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모멘텀 · Momentum</a:t>
            </a:r>
            <a:endParaRPr lang="en-US" sz="1350" dirty="0"/>
          </a:p>
        </p:txBody>
      </p:sp>
      <p:sp>
        <p:nvSpPr>
          <p:cNvPr id="17" name="Text 15"/>
          <p:cNvSpPr/>
          <p:nvPr/>
        </p:nvSpPr>
        <p:spPr>
          <a:xfrm>
            <a:off x="9523095" y="2491740"/>
            <a:ext cx="714137" cy="552450"/>
          </a:xfrm>
          <a:prstGeom prst="rect">
            <a:avLst/>
          </a:prstGeom>
          <a:noFill/>
          <a:ln/>
        </p:spPr>
        <p:txBody>
          <a:bodyPr wrap="square" lIns="25400" tIns="25400" rIns="25400" bIns="25400" rtlCol="0" anchor="t">
            <a:normAutofit/>
          </a:bodyPr>
          <a:lstStyle/>
          <a:p>
            <a:pPr marL="0" indent="0" algn="l">
              <a:lnSpc>
                <a:spcPct val="75843"/>
              </a:lnSpc>
              <a:buNone/>
            </a:pPr>
            <a:r>
              <a:rPr lang="en-US" sz="4500" b="1" dirty="0">
                <a:solidFill>
                  <a:srgbClr val="28666E"/>
                </a:solidFill>
                <a:latin typeface="Pretendard" pitchFamily="34" charset="0"/>
                <a:ea typeface="Pretendard" pitchFamily="34" charset="-122"/>
                <a:cs typeface="Pretendard" pitchFamily="34" charset="-120"/>
              </a:rPr>
              <a:t>15</a:t>
            </a:r>
            <a:endParaRPr lang="en-US" sz="4500" dirty="0"/>
          </a:p>
        </p:txBody>
      </p:sp>
      <p:sp>
        <p:nvSpPr>
          <p:cNvPr id="18" name="Text 16"/>
          <p:cNvSpPr/>
          <p:nvPr/>
        </p:nvSpPr>
        <p:spPr>
          <a:xfrm>
            <a:off x="10218182" y="2712720"/>
            <a:ext cx="313968"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28666E"/>
                </a:solidFill>
                <a:latin typeface="Pretendard" pitchFamily="34" charset="0"/>
                <a:ea typeface="Pretendard" pitchFamily="34" charset="-122"/>
                <a:cs typeface="Pretendard" pitchFamily="34" charset="-120"/>
              </a:rPr>
              <a:t>%</a:t>
            </a:r>
            <a:endParaRPr lang="en-US" sz="1950" dirty="0"/>
          </a:p>
        </p:txBody>
      </p:sp>
      <p:sp>
        <p:nvSpPr>
          <p:cNvPr id="19" name="Text 17"/>
          <p:cNvSpPr/>
          <p:nvPr/>
        </p:nvSpPr>
        <p:spPr>
          <a:xfrm>
            <a:off x="9523095" y="3086100"/>
            <a:ext cx="3749897" cy="256699"/>
          </a:xfrm>
          <a:prstGeom prst="rect">
            <a:avLst/>
          </a:prstGeom>
          <a:noFill/>
          <a:ln/>
        </p:spPr>
        <p:txBody>
          <a:bodyPr wrap="square" lIns="25400" tIns="25400" rIns="25400" bIns="25400" rtlCol="0" anchor="t">
            <a:normAutofit/>
          </a:bodyPr>
          <a:lstStyle/>
          <a:p>
            <a:pPr marL="0" indent="0" algn="l">
              <a:lnSpc>
                <a:spcPct val="114750"/>
              </a:lnSpc>
              <a:buNone/>
            </a:pPr>
            <a:r>
              <a:rPr lang="en-US" sz="1275" dirty="0">
                <a:solidFill>
                  <a:srgbClr val="6F6A5F"/>
                </a:solidFill>
                <a:latin typeface="Pretendard" pitchFamily="34" charset="0"/>
                <a:ea typeface="Pretendard" pitchFamily="34" charset="-122"/>
                <a:cs typeface="Pretendard" pitchFamily="34" charset="-120"/>
              </a:rPr>
              <a:t>(최근7일−직전7일)/직전7일 → 시그모이드 k=6</a:t>
            </a:r>
            <a:endParaRPr lang="en-US" sz="1275" dirty="0"/>
          </a:p>
        </p:txBody>
      </p:sp>
      <p:sp>
        <p:nvSpPr>
          <p:cNvPr id="20" name="Shape 18"/>
          <p:cNvSpPr/>
          <p:nvPr/>
        </p:nvSpPr>
        <p:spPr>
          <a:xfrm>
            <a:off x="13415963" y="2000250"/>
            <a:ext cx="3957638" cy="1540669"/>
          </a:xfrm>
          <a:prstGeom prst="roundRect">
            <a:avLst>
              <a:gd name="adj" fmla="val 865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1" name="Text 19"/>
          <p:cNvSpPr/>
          <p:nvPr/>
        </p:nvSpPr>
        <p:spPr>
          <a:xfrm>
            <a:off x="13690283" y="2236470"/>
            <a:ext cx="3749897"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국내 보정</a:t>
            </a:r>
            <a:endParaRPr lang="en-US" sz="1350" dirty="0"/>
          </a:p>
        </p:txBody>
      </p:sp>
      <p:sp>
        <p:nvSpPr>
          <p:cNvPr id="22" name="Text 20"/>
          <p:cNvSpPr/>
          <p:nvPr/>
        </p:nvSpPr>
        <p:spPr>
          <a:xfrm>
            <a:off x="13690283" y="2491740"/>
            <a:ext cx="445770" cy="552450"/>
          </a:xfrm>
          <a:prstGeom prst="rect">
            <a:avLst/>
          </a:prstGeom>
          <a:noFill/>
          <a:ln/>
        </p:spPr>
        <p:txBody>
          <a:bodyPr wrap="square" lIns="25400" tIns="25400" rIns="25400" bIns="25400" rtlCol="0" anchor="t">
            <a:normAutofit/>
          </a:bodyPr>
          <a:lstStyle/>
          <a:p>
            <a:pPr marL="0" indent="0" algn="l">
              <a:lnSpc>
                <a:spcPct val="75843"/>
              </a:lnSpc>
              <a:buNone/>
            </a:pPr>
            <a:r>
              <a:rPr lang="en-US" sz="4500" b="1" dirty="0">
                <a:solidFill>
                  <a:srgbClr val="12161D"/>
                </a:solidFill>
                <a:latin typeface="Pretendard" pitchFamily="34" charset="0"/>
                <a:ea typeface="Pretendard" pitchFamily="34" charset="-122"/>
                <a:cs typeface="Pretendard" pitchFamily="34" charset="-120"/>
              </a:rPr>
              <a:t>3</a:t>
            </a:r>
            <a:endParaRPr lang="en-US" sz="4500" dirty="0"/>
          </a:p>
        </p:txBody>
      </p:sp>
      <p:sp>
        <p:nvSpPr>
          <p:cNvPr id="23" name="Text 21"/>
          <p:cNvSpPr/>
          <p:nvPr/>
        </p:nvSpPr>
        <p:spPr>
          <a:xfrm>
            <a:off x="14117002" y="2712720"/>
            <a:ext cx="775454"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개 항만</a:t>
            </a:r>
            <a:endParaRPr lang="en-US" sz="1950" dirty="0"/>
          </a:p>
        </p:txBody>
      </p:sp>
      <p:sp>
        <p:nvSpPr>
          <p:cNvPr id="24" name="Text 22"/>
          <p:cNvSpPr/>
          <p:nvPr/>
        </p:nvSpPr>
        <p:spPr>
          <a:xfrm>
            <a:off x="13690283" y="3086100"/>
            <a:ext cx="3749897" cy="256699"/>
          </a:xfrm>
          <a:prstGeom prst="rect">
            <a:avLst/>
          </a:prstGeom>
          <a:noFill/>
          <a:ln/>
        </p:spPr>
        <p:txBody>
          <a:bodyPr wrap="square" lIns="25400" tIns="25400" rIns="25400" bIns="25400" rtlCol="0" anchor="t">
            <a:normAutofit/>
          </a:bodyPr>
          <a:lstStyle/>
          <a:p>
            <a:pPr marL="0" indent="0" algn="l">
              <a:lnSpc>
                <a:spcPct val="114750"/>
              </a:lnSpc>
              <a:buNone/>
            </a:pPr>
            <a:r>
              <a:rPr lang="en-US" sz="1275" dirty="0">
                <a:solidFill>
                  <a:srgbClr val="6F6A5F"/>
                </a:solidFill>
                <a:latin typeface="Pretendard" pitchFamily="34" charset="0"/>
                <a:ea typeface="Pretendard" pitchFamily="34" charset="-122"/>
                <a:cs typeface="Pretendard" pitchFamily="34" charset="-120"/>
              </a:rPr>
              <a:t>부산·광양·인천 waiting·berthed 실측 교체</a:t>
            </a:r>
            <a:endParaRPr lang="en-US" sz="1275" dirty="0"/>
          </a:p>
        </p:txBody>
      </p:sp>
      <p:sp>
        <p:nvSpPr>
          <p:cNvPr id="25" name="Shape 23"/>
          <p:cNvSpPr/>
          <p:nvPr/>
        </p:nvSpPr>
        <p:spPr>
          <a:xfrm>
            <a:off x="914400" y="3750469"/>
            <a:ext cx="9478923" cy="5747861"/>
          </a:xfrm>
          <a:prstGeom prst="roundRect">
            <a:avLst>
              <a:gd name="adj" fmla="val 2651"/>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6" name="Text 24"/>
          <p:cNvSpPr/>
          <p:nvPr/>
        </p:nvSpPr>
        <p:spPr>
          <a:xfrm>
            <a:off x="1245870" y="4024789"/>
            <a:ext cx="9697581" cy="274320"/>
          </a:xfrm>
          <a:prstGeom prst="rect">
            <a:avLst/>
          </a:prstGeom>
          <a:noFill/>
          <a:ln/>
        </p:spPr>
        <p:txBody>
          <a:bodyPr wrap="square" lIns="25400" tIns="25400" rIns="25400" bIns="25400" rtlCol="0" anchor="t">
            <a:normAutofit/>
          </a:bodyPr>
          <a:lstStyle/>
          <a:p>
            <a:pPr marL="0" indent="0" algn="l">
              <a:buNone/>
            </a:pPr>
            <a:r>
              <a:rPr lang="en-US" sz="1575" b="1" dirty="0">
                <a:solidFill>
                  <a:srgbClr val="12161D"/>
                </a:solidFill>
                <a:latin typeface="Pretendard" pitchFamily="34" charset="0"/>
                <a:ea typeface="Pretendard" pitchFamily="34" charset="-122"/>
                <a:cs typeface="Pretendard" pitchFamily="34" charset="-120"/>
              </a:rPr>
              <a:t>글로벌 리스크 등급 규칙 · 지연 추정</a:t>
            </a:r>
            <a:endParaRPr lang="en-US" sz="1575" dirty="0"/>
          </a:p>
        </p:txBody>
      </p:sp>
      <p:sp>
        <p:nvSpPr>
          <p:cNvPr id="27" name="Shape 25"/>
          <p:cNvSpPr/>
          <p:nvPr/>
        </p:nvSpPr>
        <p:spPr>
          <a:xfrm>
            <a:off x="1245870" y="4451509"/>
            <a:ext cx="8815983" cy="133350"/>
          </a:xfrm>
          <a:prstGeom prst="roundRect">
            <a:avLst>
              <a:gd name="adj" fmla="val 50000"/>
            </a:avLst>
          </a:prstGeom>
          <a:gradFill rotWithShape="1">
            <a:gsLst>
              <a:gs pos="0">
                <a:srgbClr val="28666E">
                  <a:alpha val="100000"/>
                </a:srgbClr>
              </a:gs>
              <a:gs pos="45000">
                <a:srgbClr val="5FA8AE">
                  <a:alpha val="100000"/>
                </a:srgbClr>
              </a:gs>
              <a:gs pos="62000">
                <a:srgbClr val="C9A24A">
                  <a:alpha val="100000"/>
                </a:srgbClr>
              </a:gs>
              <a:gs pos="100000">
                <a:srgbClr val="A9640F">
                  <a:alpha val="100000"/>
                </a:srgbClr>
              </a:gs>
            </a:gsLst>
            <a:lin ang="0" scaled="0"/>
          </a:gradFill>
          <a:ln/>
        </p:spPr>
      </p:sp>
      <p:sp>
        <p:nvSpPr>
          <p:cNvPr id="28" name="Text 26"/>
          <p:cNvSpPr/>
          <p:nvPr/>
        </p:nvSpPr>
        <p:spPr>
          <a:xfrm>
            <a:off x="1245870" y="4642009"/>
            <a:ext cx="417552" cy="213360"/>
          </a:xfrm>
          <a:prstGeom prst="rect">
            <a:avLst/>
          </a:prstGeom>
          <a:noFill/>
          <a:ln/>
        </p:spPr>
        <p:txBody>
          <a:bodyPr wrap="square" lIns="25400" tIns="25400" rIns="25400" bIns="25400" rtlCol="0" anchor="t">
            <a:normAutofit/>
          </a:bodyPr>
          <a:lstStyle/>
          <a:p>
            <a:pPr marL="0" indent="0" algn="l">
              <a:buNone/>
            </a:pPr>
            <a:r>
              <a:rPr lang="en-US" sz="1125" dirty="0">
                <a:solidFill>
                  <a:srgbClr val="9AA0A6"/>
                </a:solidFill>
                <a:latin typeface="Pretendard" pitchFamily="34" charset="0"/>
                <a:ea typeface="Pretendard" pitchFamily="34" charset="-122"/>
                <a:cs typeface="Pretendard" pitchFamily="34" charset="-120"/>
              </a:rPr>
              <a:t>PCI 0</a:t>
            </a:r>
            <a:endParaRPr lang="en-US" sz="1125" dirty="0"/>
          </a:p>
        </p:txBody>
      </p:sp>
      <p:sp>
        <p:nvSpPr>
          <p:cNvPr id="29" name="Text 27"/>
          <p:cNvSpPr/>
          <p:nvPr/>
        </p:nvSpPr>
        <p:spPr>
          <a:xfrm>
            <a:off x="4220051" y="4642009"/>
            <a:ext cx="246578" cy="213360"/>
          </a:xfrm>
          <a:prstGeom prst="rect">
            <a:avLst/>
          </a:prstGeom>
          <a:noFill/>
          <a:ln/>
        </p:spPr>
        <p:txBody>
          <a:bodyPr wrap="square" lIns="25400" tIns="25400" rIns="25400" bIns="25400" rtlCol="0" anchor="t">
            <a:normAutofit/>
          </a:bodyPr>
          <a:lstStyle/>
          <a:p>
            <a:pPr marL="0" indent="0" algn="l">
              <a:buNone/>
            </a:pPr>
            <a:r>
              <a:rPr lang="en-US" sz="1125" dirty="0">
                <a:solidFill>
                  <a:srgbClr val="9AA0A6"/>
                </a:solidFill>
                <a:latin typeface="Pretendard" pitchFamily="34" charset="0"/>
                <a:ea typeface="Pretendard" pitchFamily="34" charset="-122"/>
                <a:cs typeface="Pretendard" pitchFamily="34" charset="-120"/>
              </a:rPr>
              <a:t>50</a:t>
            </a:r>
            <a:endParaRPr lang="en-US" sz="1125" dirty="0"/>
          </a:p>
        </p:txBody>
      </p:sp>
      <p:sp>
        <p:nvSpPr>
          <p:cNvPr id="30" name="Text 28"/>
          <p:cNvSpPr/>
          <p:nvPr/>
        </p:nvSpPr>
        <p:spPr>
          <a:xfrm>
            <a:off x="7023378" y="4642009"/>
            <a:ext cx="248960" cy="213360"/>
          </a:xfrm>
          <a:prstGeom prst="rect">
            <a:avLst/>
          </a:prstGeom>
          <a:noFill/>
          <a:ln/>
        </p:spPr>
        <p:txBody>
          <a:bodyPr wrap="square" lIns="25400" tIns="25400" rIns="25400" bIns="25400" rtlCol="0" anchor="t">
            <a:normAutofit/>
          </a:bodyPr>
          <a:lstStyle/>
          <a:p>
            <a:pPr marL="0" indent="0" algn="l">
              <a:buNone/>
            </a:pPr>
            <a:r>
              <a:rPr lang="en-US" sz="1125" dirty="0">
                <a:solidFill>
                  <a:srgbClr val="9AA0A6"/>
                </a:solidFill>
                <a:latin typeface="Pretendard" pitchFamily="34" charset="0"/>
                <a:ea typeface="Pretendard" pitchFamily="34" charset="-122"/>
                <a:cs typeface="Pretendard" pitchFamily="34" charset="-120"/>
              </a:rPr>
              <a:t>60</a:t>
            </a:r>
            <a:endParaRPr lang="en-US" sz="1125" dirty="0"/>
          </a:p>
        </p:txBody>
      </p:sp>
      <p:sp>
        <p:nvSpPr>
          <p:cNvPr id="31" name="Text 29"/>
          <p:cNvSpPr/>
          <p:nvPr/>
        </p:nvSpPr>
        <p:spPr>
          <a:xfrm>
            <a:off x="9828966" y="4642009"/>
            <a:ext cx="309086" cy="213360"/>
          </a:xfrm>
          <a:prstGeom prst="rect">
            <a:avLst/>
          </a:prstGeom>
          <a:noFill/>
          <a:ln/>
        </p:spPr>
        <p:txBody>
          <a:bodyPr wrap="square" lIns="25400" tIns="25400" rIns="25400" bIns="25400" rtlCol="0" anchor="t">
            <a:normAutofit/>
          </a:bodyPr>
          <a:lstStyle/>
          <a:p>
            <a:pPr marL="0" indent="0" algn="l">
              <a:buNone/>
            </a:pPr>
            <a:r>
              <a:rPr lang="en-US" sz="1125" dirty="0">
                <a:solidFill>
                  <a:srgbClr val="9AA0A6"/>
                </a:solidFill>
                <a:latin typeface="Pretendard" pitchFamily="34" charset="0"/>
                <a:ea typeface="Pretendard" pitchFamily="34" charset="-122"/>
                <a:cs typeface="Pretendard" pitchFamily="34" charset="-120"/>
              </a:rPr>
              <a:t>100</a:t>
            </a:r>
            <a:endParaRPr lang="en-US" sz="1125" dirty="0"/>
          </a:p>
        </p:txBody>
      </p:sp>
      <p:sp>
        <p:nvSpPr>
          <p:cNvPr id="32" name="Shape 30"/>
          <p:cNvSpPr/>
          <p:nvPr/>
        </p:nvSpPr>
        <p:spPr>
          <a:xfrm>
            <a:off x="1245870" y="5051584"/>
            <a:ext cx="133350" cy="133350"/>
          </a:xfrm>
          <a:prstGeom prst="roundRect">
            <a:avLst>
              <a:gd name="adj" fmla="val 21429"/>
            </a:avLst>
          </a:prstGeom>
          <a:solidFill>
            <a:srgbClr val="A9640F"/>
          </a:solidFill>
          <a:ln/>
        </p:spPr>
      </p:sp>
      <p:sp>
        <p:nvSpPr>
          <p:cNvPr id="33" name="Text 31"/>
          <p:cNvSpPr/>
          <p:nvPr/>
        </p:nvSpPr>
        <p:spPr>
          <a:xfrm>
            <a:off x="1512570" y="5007769"/>
            <a:ext cx="517327"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Pretendard" pitchFamily="34" charset="0"/>
                <a:ea typeface="Pretendard" pitchFamily="34" charset="-122"/>
                <a:cs typeface="Pretendard" pitchFamily="34" charset="-120"/>
              </a:rPr>
              <a:t>HIGH</a:t>
            </a:r>
            <a:endParaRPr lang="en-US" sz="1425" dirty="0"/>
          </a:p>
        </p:txBody>
      </p:sp>
      <p:sp>
        <p:nvSpPr>
          <p:cNvPr id="34" name="Text 32"/>
          <p:cNvSpPr/>
          <p:nvPr/>
        </p:nvSpPr>
        <p:spPr>
          <a:xfrm>
            <a:off x="2087047" y="5007769"/>
            <a:ext cx="2725853"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critical ≥ 15 또는 평균 PCI ≥ 60</a:t>
            </a:r>
            <a:endParaRPr lang="en-US" sz="1425" dirty="0"/>
          </a:p>
        </p:txBody>
      </p:sp>
      <p:sp>
        <p:nvSpPr>
          <p:cNvPr id="35" name="Shape 33"/>
          <p:cNvSpPr/>
          <p:nvPr/>
        </p:nvSpPr>
        <p:spPr>
          <a:xfrm>
            <a:off x="1245870" y="5386864"/>
            <a:ext cx="133350" cy="133350"/>
          </a:xfrm>
          <a:prstGeom prst="roundRect">
            <a:avLst>
              <a:gd name="adj" fmla="val 21429"/>
            </a:avLst>
          </a:prstGeom>
          <a:solidFill>
            <a:srgbClr val="9AA0A6"/>
          </a:solidFill>
          <a:ln/>
        </p:spPr>
      </p:sp>
      <p:sp>
        <p:nvSpPr>
          <p:cNvPr id="36" name="Text 34"/>
          <p:cNvSpPr/>
          <p:nvPr/>
        </p:nvSpPr>
        <p:spPr>
          <a:xfrm>
            <a:off x="1512570" y="5343049"/>
            <a:ext cx="804743"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Pretendard" pitchFamily="34" charset="0"/>
                <a:ea typeface="Pretendard" pitchFamily="34" charset="-122"/>
                <a:cs typeface="Pretendard" pitchFamily="34" charset="-120"/>
              </a:rPr>
              <a:t>MEDIUM</a:t>
            </a:r>
            <a:endParaRPr lang="en-US" sz="1425" dirty="0"/>
          </a:p>
        </p:txBody>
      </p:sp>
      <p:sp>
        <p:nvSpPr>
          <p:cNvPr id="37" name="Text 35"/>
          <p:cNvSpPr/>
          <p:nvPr/>
        </p:nvSpPr>
        <p:spPr>
          <a:xfrm>
            <a:off x="2374463" y="5343049"/>
            <a:ext cx="2637187"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critical ≥ 8 또는 평균 PCI ≥ 50</a:t>
            </a:r>
            <a:endParaRPr lang="en-US" sz="1425" dirty="0"/>
          </a:p>
        </p:txBody>
      </p:sp>
      <p:sp>
        <p:nvSpPr>
          <p:cNvPr id="38" name="Shape 36"/>
          <p:cNvSpPr/>
          <p:nvPr/>
        </p:nvSpPr>
        <p:spPr>
          <a:xfrm>
            <a:off x="1245870" y="5722144"/>
            <a:ext cx="133350" cy="133350"/>
          </a:xfrm>
          <a:prstGeom prst="roundRect">
            <a:avLst>
              <a:gd name="adj" fmla="val 21429"/>
            </a:avLst>
          </a:prstGeom>
          <a:solidFill>
            <a:srgbClr val="28666E"/>
          </a:solidFill>
          <a:ln/>
        </p:spPr>
      </p:sp>
      <p:sp>
        <p:nvSpPr>
          <p:cNvPr id="39" name="Text 37"/>
          <p:cNvSpPr/>
          <p:nvPr/>
        </p:nvSpPr>
        <p:spPr>
          <a:xfrm>
            <a:off x="1512570" y="5678329"/>
            <a:ext cx="482441" cy="25908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Pretendard" pitchFamily="34" charset="0"/>
                <a:ea typeface="Pretendard" pitchFamily="34" charset="-122"/>
                <a:cs typeface="Pretendard" pitchFamily="34" charset="-120"/>
              </a:rPr>
              <a:t>LOW</a:t>
            </a:r>
            <a:endParaRPr lang="en-US" sz="1425" dirty="0"/>
          </a:p>
        </p:txBody>
      </p:sp>
      <p:sp>
        <p:nvSpPr>
          <p:cNvPr id="40" name="Text 38"/>
          <p:cNvSpPr/>
          <p:nvPr/>
        </p:nvSpPr>
        <p:spPr>
          <a:xfrm>
            <a:off x="2052161" y="5678329"/>
            <a:ext cx="434459" cy="25908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Pretendard" pitchFamily="34" charset="0"/>
                <a:ea typeface="Pretendard" pitchFamily="34" charset="-122"/>
                <a:cs typeface="Pretendard" pitchFamily="34" charset="-120"/>
              </a:rPr>
              <a:t>그 외</a:t>
            </a:r>
            <a:endParaRPr lang="en-US" sz="1425" dirty="0"/>
          </a:p>
        </p:txBody>
      </p:sp>
      <p:sp>
        <p:nvSpPr>
          <p:cNvPr id="41" name="Shape 39"/>
          <p:cNvSpPr/>
          <p:nvPr/>
        </p:nvSpPr>
        <p:spPr>
          <a:xfrm>
            <a:off x="1245870" y="8676084"/>
            <a:ext cx="8815983" cy="547926"/>
          </a:xfrm>
          <a:prstGeom prst="roundRect">
            <a:avLst>
              <a:gd name="adj" fmla="val 20860"/>
            </a:avLst>
          </a:prstGeom>
          <a:solidFill>
            <a:srgbClr val="F3EFE7"/>
          </a:solidFill>
          <a:ln/>
        </p:spPr>
      </p:sp>
      <p:sp>
        <p:nvSpPr>
          <p:cNvPr id="42" name="Text 40"/>
          <p:cNvSpPr/>
          <p:nvPr/>
        </p:nvSpPr>
        <p:spPr>
          <a:xfrm>
            <a:off x="1455420" y="8828484"/>
            <a:ext cx="8661362" cy="281226"/>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highlight>
                  <a:srgbClr val="F3EFE7"/>
                </a:highlight>
                <a:latin typeface="Courier New" pitchFamily="34" charset="0"/>
                <a:ea typeface="Courier New" pitchFamily="34" charset="-122"/>
                <a:cs typeface="Courier New" pitchFamily="34" charset="-120"/>
              </a:rPr>
              <a:t>delay_h = (PCI / 100)</a:t>
            </a:r>
            <a:r>
              <a:rPr lang="en-US" sz="1187" baseline="30000" dirty="0">
                <a:solidFill>
                  <a:srgbClr val="12161D"/>
                </a:solidFill>
                <a:latin typeface="Courier New" pitchFamily="34" charset="0"/>
                <a:ea typeface="Courier New" pitchFamily="34" charset="-122"/>
                <a:cs typeface="Courier New" pitchFamily="34" charset="-120"/>
              </a:rPr>
              <a:t>1.5 </a:t>
            </a:r>
            <a:r>
              <a:rPr lang="en-US" sz="1425" dirty="0">
                <a:solidFill>
                  <a:srgbClr val="12161D"/>
                </a:solidFill>
                <a:highlight>
                  <a:srgbClr val="F3EFE7"/>
                </a:highlight>
                <a:latin typeface="Courier New" pitchFamily="34" charset="0"/>
                <a:ea typeface="Courier New" pitchFamily="34" charset="-122"/>
                <a:cs typeface="Courier New" pitchFamily="34" charset="-120"/>
              </a:rPr>
              <a:t>× 48h · berthed = 최근 7일 평균 기항</a:t>
            </a:r>
            <a:endParaRPr lang="en-US" sz="1425" dirty="0"/>
          </a:p>
        </p:txBody>
      </p:sp>
      <p:sp>
        <p:nvSpPr>
          <p:cNvPr id="43" name="Shape 41"/>
          <p:cNvSpPr/>
          <p:nvPr/>
        </p:nvSpPr>
        <p:spPr>
          <a:xfrm>
            <a:off x="10602873" y="3750469"/>
            <a:ext cx="6770608" cy="5747861"/>
          </a:xfrm>
          <a:prstGeom prst="roundRect">
            <a:avLst>
              <a:gd name="adj" fmla="val 2651"/>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44" name="Text 42"/>
          <p:cNvSpPr/>
          <p:nvPr/>
        </p:nvSpPr>
        <p:spPr>
          <a:xfrm>
            <a:off x="10915293" y="4024789"/>
            <a:ext cx="6760345" cy="274320"/>
          </a:xfrm>
          <a:prstGeom prst="rect">
            <a:avLst/>
          </a:prstGeom>
          <a:noFill/>
          <a:ln/>
        </p:spPr>
        <p:txBody>
          <a:bodyPr wrap="square" lIns="25400" tIns="25400" rIns="25400" bIns="25400" rtlCol="0" anchor="t">
            <a:normAutofit/>
          </a:bodyPr>
          <a:lstStyle/>
          <a:p>
            <a:pPr marL="0" indent="0" algn="l">
              <a:buNone/>
            </a:pPr>
            <a:r>
              <a:rPr lang="en-US" sz="1575" b="1" dirty="0">
                <a:solidFill>
                  <a:srgbClr val="12161D"/>
                </a:solidFill>
                <a:latin typeface="Pretendard" pitchFamily="34" charset="0"/>
                <a:ea typeface="Pretendard" pitchFamily="34" charset="-122"/>
                <a:cs typeface="Pretendard" pitchFamily="34" charset="-120"/>
              </a:rPr>
              <a:t>산출 · 검증</a:t>
            </a:r>
            <a:endParaRPr lang="en-US" sz="1575" dirty="0"/>
          </a:p>
        </p:txBody>
      </p:sp>
      <p:sp>
        <p:nvSpPr>
          <p:cNvPr id="45" name="Shape 43"/>
          <p:cNvSpPr/>
          <p:nvPr/>
        </p:nvSpPr>
        <p:spPr>
          <a:xfrm>
            <a:off x="10915293" y="4735354"/>
            <a:ext cx="6145768" cy="9525"/>
          </a:xfrm>
          <a:prstGeom prst="rect">
            <a:avLst/>
          </a:prstGeom>
          <a:solidFill>
            <a:srgbClr val="E9E4DC"/>
          </a:solidFill>
          <a:ln/>
        </p:spPr>
      </p:sp>
      <p:sp>
        <p:nvSpPr>
          <p:cNvPr id="46" name="Text 44"/>
          <p:cNvSpPr/>
          <p:nvPr/>
        </p:nvSpPr>
        <p:spPr>
          <a:xfrm>
            <a:off x="10915293" y="4432459"/>
            <a:ext cx="372666"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원천</a:t>
            </a:r>
            <a:endParaRPr lang="en-US" sz="1350" dirty="0"/>
          </a:p>
        </p:txBody>
      </p:sp>
      <p:sp>
        <p:nvSpPr>
          <p:cNvPr id="47" name="Text 45"/>
          <p:cNvSpPr/>
          <p:nvPr/>
        </p:nvSpPr>
        <p:spPr>
          <a:xfrm>
            <a:off x="14226897" y="4432459"/>
            <a:ext cx="2834164" cy="236220"/>
          </a:xfrm>
          <a:prstGeom prst="rect">
            <a:avLst/>
          </a:prstGeom>
          <a:noFill/>
          <a:ln/>
        </p:spPr>
        <p:txBody>
          <a:bodyPr wrap="square" lIns="25400" tIns="25400" rIns="25400" bIns="25400" rtlCol="0" anchor="t">
            <a:normAutofit/>
          </a:bodyPr>
          <a:lstStyle/>
          <a:p>
            <a:pPr marL="0" indent="0" algn="r">
              <a:buNone/>
            </a:pPr>
            <a:r>
              <a:rPr lang="en-US" sz="1350" b="1" dirty="0">
                <a:solidFill>
                  <a:srgbClr val="12161D"/>
                </a:solidFill>
                <a:latin typeface="Pretendard" pitchFamily="34" charset="0"/>
                <a:ea typeface="Pretendard" pitchFamily="34" charset="-122"/>
                <a:cs typeface="Pretendard" pitchFamily="34" charset="-120"/>
              </a:rPr>
              <a:t>Daily_Ports_Data · ArcGIS(무인증)</a:t>
            </a:r>
            <a:endParaRPr lang="en-US" sz="1350" dirty="0"/>
          </a:p>
        </p:txBody>
      </p:sp>
      <p:sp>
        <p:nvSpPr>
          <p:cNvPr id="48" name="Shape 46"/>
          <p:cNvSpPr/>
          <p:nvPr/>
        </p:nvSpPr>
        <p:spPr>
          <a:xfrm>
            <a:off x="10915293" y="5169694"/>
            <a:ext cx="6145768" cy="9525"/>
          </a:xfrm>
          <a:prstGeom prst="rect">
            <a:avLst/>
          </a:prstGeom>
          <a:solidFill>
            <a:srgbClr val="E9E4DC"/>
          </a:solidFill>
          <a:ln/>
        </p:spPr>
      </p:sp>
      <p:sp>
        <p:nvSpPr>
          <p:cNvPr id="49" name="Text 47"/>
          <p:cNvSpPr/>
          <p:nvPr/>
        </p:nvSpPr>
        <p:spPr>
          <a:xfrm>
            <a:off x="10915293" y="4866799"/>
            <a:ext cx="372666"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쿼리</a:t>
            </a:r>
            <a:endParaRPr lang="en-US" sz="1350" dirty="0"/>
          </a:p>
        </p:txBody>
      </p:sp>
      <p:sp>
        <p:nvSpPr>
          <p:cNvPr id="50" name="Text 48"/>
          <p:cNvSpPr/>
          <p:nvPr/>
        </p:nvSpPr>
        <p:spPr>
          <a:xfrm>
            <a:off x="14719471" y="4866799"/>
            <a:ext cx="2341590" cy="236220"/>
          </a:xfrm>
          <a:prstGeom prst="rect">
            <a:avLst/>
          </a:prstGeom>
          <a:noFill/>
          <a:ln/>
        </p:spPr>
        <p:txBody>
          <a:bodyPr wrap="square" lIns="25400" tIns="25400" rIns="25400" bIns="25400" rtlCol="0" anchor="t">
            <a:normAutofit/>
          </a:bodyPr>
          <a:lstStyle/>
          <a:p>
            <a:pPr marL="0" indent="0" algn="r">
              <a:buNone/>
            </a:pPr>
            <a:r>
              <a:rPr lang="en-US" sz="1350" b="1" dirty="0">
                <a:solidFill>
                  <a:srgbClr val="12161D"/>
                </a:solidFill>
                <a:latin typeface="Pretendard" pitchFamily="34" charset="0"/>
                <a:ea typeface="Pretendard" pitchFamily="34" charset="-122"/>
                <a:cs typeface="Pretendard" pitchFamily="34" charset="-120"/>
              </a:rPr>
              <a:t>portid 8청크 × 120일 · 페이징</a:t>
            </a:r>
            <a:endParaRPr lang="en-US" sz="1350" dirty="0"/>
          </a:p>
        </p:txBody>
      </p:sp>
      <p:sp>
        <p:nvSpPr>
          <p:cNvPr id="51" name="Shape 49"/>
          <p:cNvSpPr/>
          <p:nvPr/>
        </p:nvSpPr>
        <p:spPr>
          <a:xfrm>
            <a:off x="10915293" y="5604034"/>
            <a:ext cx="6145768" cy="9525"/>
          </a:xfrm>
          <a:prstGeom prst="rect">
            <a:avLst/>
          </a:prstGeom>
          <a:solidFill>
            <a:srgbClr val="E9E4DC"/>
          </a:solidFill>
          <a:ln/>
        </p:spPr>
      </p:sp>
      <p:sp>
        <p:nvSpPr>
          <p:cNvPr id="52" name="Text 50"/>
          <p:cNvSpPr/>
          <p:nvPr/>
        </p:nvSpPr>
        <p:spPr>
          <a:xfrm>
            <a:off x="10915293" y="5301139"/>
            <a:ext cx="372666"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매핑</a:t>
            </a:r>
            <a:endParaRPr lang="en-US" sz="1350" dirty="0"/>
          </a:p>
        </p:txBody>
      </p:sp>
      <p:sp>
        <p:nvSpPr>
          <p:cNvPr id="53" name="Text 51"/>
          <p:cNvSpPr/>
          <p:nvPr/>
        </p:nvSpPr>
        <p:spPr>
          <a:xfrm>
            <a:off x="14924127" y="5301139"/>
            <a:ext cx="2350627" cy="23622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Pretendard" pitchFamily="34" charset="0"/>
                <a:ea typeface="Pretendard" pitchFamily="34" charset="-122"/>
                <a:cs typeface="Pretendard" pitchFamily="34" charset="-120"/>
              </a:rPr>
              <a:t>Focus 93 ↔ portid · 93/93</a:t>
            </a:r>
            <a:endParaRPr lang="en-US" sz="1350" dirty="0"/>
          </a:p>
        </p:txBody>
      </p:sp>
      <p:sp>
        <p:nvSpPr>
          <p:cNvPr id="54" name="Shape 52"/>
          <p:cNvSpPr/>
          <p:nvPr/>
        </p:nvSpPr>
        <p:spPr>
          <a:xfrm>
            <a:off x="10915293" y="6038374"/>
            <a:ext cx="6145768" cy="9525"/>
          </a:xfrm>
          <a:prstGeom prst="rect">
            <a:avLst/>
          </a:prstGeom>
          <a:solidFill>
            <a:srgbClr val="E9E4DC"/>
          </a:solidFill>
          <a:ln/>
        </p:spPr>
      </p:sp>
      <p:sp>
        <p:nvSpPr>
          <p:cNvPr id="55" name="Text 53"/>
          <p:cNvSpPr/>
          <p:nvPr/>
        </p:nvSpPr>
        <p:spPr>
          <a:xfrm>
            <a:off x="10915293" y="5735479"/>
            <a:ext cx="372666"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실적</a:t>
            </a:r>
            <a:endParaRPr lang="en-US" sz="1350" dirty="0"/>
          </a:p>
        </p:txBody>
      </p:sp>
      <p:sp>
        <p:nvSpPr>
          <p:cNvPr id="56" name="Text 54"/>
          <p:cNvSpPr/>
          <p:nvPr/>
        </p:nvSpPr>
        <p:spPr>
          <a:xfrm>
            <a:off x="15627548" y="5735479"/>
            <a:ext cx="1576864" cy="23622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Pretendard" pitchFamily="34" charset="0"/>
                <a:ea typeface="Pretendard" pitchFamily="34" charset="-122"/>
                <a:cs typeface="Pretendard" pitchFamily="34" charset="-120"/>
              </a:rPr>
              <a:t>10,212행 → 93 PCI</a:t>
            </a:r>
            <a:endParaRPr lang="en-US" sz="1350" dirty="0"/>
          </a:p>
        </p:txBody>
      </p:sp>
      <p:sp>
        <p:nvSpPr>
          <p:cNvPr id="57" name="Text 55"/>
          <p:cNvSpPr/>
          <p:nvPr/>
        </p:nvSpPr>
        <p:spPr>
          <a:xfrm>
            <a:off x="10915293" y="6169819"/>
            <a:ext cx="372666"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지연</a:t>
            </a:r>
            <a:endParaRPr lang="en-US" sz="1350" dirty="0"/>
          </a:p>
        </p:txBody>
      </p:sp>
      <p:sp>
        <p:nvSpPr>
          <p:cNvPr id="58" name="Text 56"/>
          <p:cNvSpPr/>
          <p:nvPr/>
        </p:nvSpPr>
        <p:spPr>
          <a:xfrm>
            <a:off x="14453997" y="6169819"/>
            <a:ext cx="2607064" cy="236220"/>
          </a:xfrm>
          <a:prstGeom prst="rect">
            <a:avLst/>
          </a:prstGeom>
          <a:noFill/>
          <a:ln/>
        </p:spPr>
        <p:txBody>
          <a:bodyPr wrap="square" lIns="25400" tIns="25400" rIns="25400" bIns="25400" rtlCol="0" anchor="t">
            <a:normAutofit/>
          </a:bodyPr>
          <a:lstStyle/>
          <a:p>
            <a:pPr marL="0" indent="0" algn="r">
              <a:buNone/>
            </a:pPr>
            <a:r>
              <a:rPr lang="en-US" sz="1350" b="1" dirty="0">
                <a:solidFill>
                  <a:srgbClr val="12161D"/>
                </a:solidFill>
                <a:latin typeface="Pretendard" pitchFamily="34" charset="0"/>
                <a:ea typeface="Pretendard" pitchFamily="34" charset="-122"/>
                <a:cs typeface="Pretendard" pitchFamily="34" charset="-120"/>
              </a:rPr>
              <a:t>배치 lag 7~10일 → 국내 실측 보정</a:t>
            </a:r>
            <a:endParaRPr lang="en-US" sz="1350" dirty="0"/>
          </a:p>
        </p:txBody>
      </p:sp>
      <p:sp>
        <p:nvSpPr>
          <p:cNvPr id="59" name="Text 57"/>
          <p:cNvSpPr/>
          <p:nvPr/>
        </p:nvSpPr>
        <p:spPr>
          <a:xfrm>
            <a:off x="10915293" y="8997315"/>
            <a:ext cx="6330142" cy="264795"/>
          </a:xfrm>
          <a:prstGeom prst="rect">
            <a:avLst/>
          </a:prstGeom>
          <a:noFill/>
          <a:ln/>
        </p:spPr>
        <p:txBody>
          <a:bodyPr wrap="square" lIns="25400" tIns="25400" rIns="25400" bIns="25400" rtlCol="0" anchor="t">
            <a:normAutofit/>
          </a:bodyPr>
          <a:lstStyle/>
          <a:p>
            <a:pPr marL="0" indent="0" algn="l">
              <a:lnSpc>
                <a:spcPct val="119000"/>
              </a:lnSpc>
              <a:buNone/>
            </a:pPr>
            <a:r>
              <a:rPr lang="en-US" sz="1275" dirty="0">
                <a:solidFill>
                  <a:srgbClr val="6F6A5F"/>
                </a:solidFill>
                <a:latin typeface="Pretendard" pitchFamily="34" charset="0"/>
                <a:ea typeface="Pretendard" pitchFamily="34" charset="-122"/>
                <a:cs typeface="Pretendard" pitchFamily="34" charset="-120"/>
              </a:rPr>
              <a:t>추정치(PCI·delay_h)는 화면에 </a:t>
            </a:r>
            <a:r>
              <a:rPr lang="en-US" sz="1275" b="1" dirty="0">
                <a:solidFill>
                  <a:srgbClr val="12161D"/>
                </a:solidFill>
                <a:latin typeface="Pretendard" pitchFamily="34" charset="0"/>
                <a:ea typeface="Pretendard" pitchFamily="34" charset="-122"/>
                <a:cs typeface="Pretendard" pitchFamily="34" charset="-120"/>
              </a:rPr>
              <a:t>근거·기간 병기</a:t>
            </a:r>
            <a:r>
              <a:rPr lang="en-US" sz="1275" dirty="0">
                <a:solidFill>
                  <a:srgbClr val="6F6A5F"/>
                </a:solidFill>
                <a:latin typeface="Pretendard" pitchFamily="34" charset="0"/>
                <a:ea typeface="Pretendard" pitchFamily="34" charset="-122"/>
                <a:cs typeface="Pretendard" pitchFamily="34" charset="-120"/>
              </a:rPr>
              <a:t>로 명시</a:t>
            </a:r>
            <a:endParaRPr lang="en-US" sz="1275" dirty="0"/>
          </a:p>
        </p:txBody>
      </p:sp>
      <p:sp>
        <p:nvSpPr>
          <p:cNvPr id="60" name="Shape 58"/>
          <p:cNvSpPr/>
          <p:nvPr/>
        </p:nvSpPr>
        <p:spPr>
          <a:xfrm>
            <a:off x="914400" y="9669780"/>
            <a:ext cx="16459200" cy="9525"/>
          </a:xfrm>
          <a:prstGeom prst="rect">
            <a:avLst/>
          </a:prstGeom>
          <a:solidFill>
            <a:srgbClr val="E9E4DC"/>
          </a:solidFill>
          <a:ln/>
        </p:spPr>
      </p:sp>
      <p:sp>
        <p:nvSpPr>
          <p:cNvPr id="61" name="Text 59"/>
          <p:cNvSpPr/>
          <p:nvPr/>
        </p:nvSpPr>
        <p:spPr>
          <a:xfrm>
            <a:off x="914400" y="9791700"/>
            <a:ext cx="846713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방법론 · TWL 물류포털 상세기술서 §3.2 PCI v2 산식 · IMF PortWatch(위성 AIS) · 추정 기반값은 실데이터 축적 시 갱신</a:t>
            </a:r>
            <a:endParaRPr lang="en-US" sz="1275" dirty="0"/>
          </a:p>
        </p:txBody>
      </p:sp>
      <p:sp>
        <p:nvSpPr>
          <p:cNvPr id="62" name="Text 60"/>
          <p:cNvSpPr/>
          <p:nvPr/>
        </p:nvSpPr>
        <p:spPr>
          <a:xfrm>
            <a:off x="17196078" y="9791700"/>
            <a:ext cx="25372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15</a:t>
            </a:r>
            <a:endParaRPr lang="en-US" sz="12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04 확장성 ·</a:t>
            </a:r>
            <a:r>
              <a:rPr lang="en-US" sz="1425" b="1" kern="0" spc="57" dirty="0">
                <a:solidFill>
                  <a:srgbClr val="28666E"/>
                </a:solidFill>
                <a:latin typeface="Pretendard" pitchFamily="34" charset="0"/>
                <a:ea typeface="Pretendard" pitchFamily="34" charset="-122"/>
                <a:cs typeface="Pretendard" pitchFamily="34" charset="-120"/>
              </a:rPr>
              <a:t>단계별 로드맵</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v1 완료 → M1 핵심 → M2 확대 → M3 고도화</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담당자 피드백을 요구사항으로 — 이미 운영 중인 v1 위에 단계적 확장</a:t>
            </a:r>
            <a:endParaRPr lang="en-US" sz="1875" dirty="0"/>
          </a:p>
        </p:txBody>
      </p:sp>
      <p:sp>
        <p:nvSpPr>
          <p:cNvPr id="5" name="Shape 3"/>
          <p:cNvSpPr/>
          <p:nvPr/>
        </p:nvSpPr>
        <p:spPr>
          <a:xfrm>
            <a:off x="914400" y="2208967"/>
            <a:ext cx="3929063" cy="721316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45870" y="2521387"/>
            <a:ext cx="474107" cy="449580"/>
          </a:xfrm>
          <a:prstGeom prst="rect">
            <a:avLst/>
          </a:prstGeom>
          <a:noFill/>
          <a:ln/>
        </p:spPr>
        <p:txBody>
          <a:bodyPr wrap="square" lIns="25400" tIns="25400" rIns="25400" bIns="25400" rtlCol="0" anchor="t">
            <a:normAutofit/>
          </a:bodyPr>
          <a:lstStyle/>
          <a:p>
            <a:pPr marL="0" indent="0" algn="l">
              <a:buNone/>
            </a:pPr>
            <a:r>
              <a:rPr lang="en-US" sz="2700" b="1" dirty="0">
                <a:solidFill>
                  <a:srgbClr val="28666E"/>
                </a:solidFill>
                <a:latin typeface="Pretendard" pitchFamily="34" charset="0"/>
                <a:ea typeface="Pretendard" pitchFamily="34" charset="-122"/>
                <a:cs typeface="Pretendard" pitchFamily="34" charset="-120"/>
              </a:rPr>
              <a:t>01</a:t>
            </a:r>
            <a:endParaRPr lang="en-US" sz="2700" dirty="0"/>
          </a:p>
        </p:txBody>
      </p:sp>
      <p:sp>
        <p:nvSpPr>
          <p:cNvPr id="7" name="Shape 5"/>
          <p:cNvSpPr/>
          <p:nvPr/>
        </p:nvSpPr>
        <p:spPr>
          <a:xfrm>
            <a:off x="1758077" y="2591872"/>
            <a:ext cx="971312" cy="270510"/>
          </a:xfrm>
          <a:prstGeom prst="roundRect">
            <a:avLst>
              <a:gd name="adj" fmla="val 50000"/>
            </a:avLst>
          </a:prstGeom>
          <a:solidFill>
            <a:srgbClr val="28666E"/>
          </a:solidFill>
          <a:ln/>
        </p:spPr>
      </p:sp>
      <p:sp>
        <p:nvSpPr>
          <p:cNvPr id="8" name="Text 6"/>
          <p:cNvSpPr/>
          <p:nvPr/>
        </p:nvSpPr>
        <p:spPr>
          <a:xfrm>
            <a:off x="1881902" y="2639497"/>
            <a:ext cx="799862"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FFFFFF"/>
                </a:solidFill>
                <a:latin typeface="Pretendard" pitchFamily="34" charset="0"/>
                <a:ea typeface="Pretendard" pitchFamily="34" charset="-122"/>
                <a:cs typeface="Pretendard" pitchFamily="34" charset="-120"/>
              </a:rPr>
              <a:t>완료 · 운영중</a:t>
            </a:r>
            <a:endParaRPr lang="en-US" sz="1125" dirty="0"/>
          </a:p>
        </p:txBody>
      </p:sp>
      <p:sp>
        <p:nvSpPr>
          <p:cNvPr id="9" name="Text 7"/>
          <p:cNvSpPr/>
          <p:nvPr/>
        </p:nvSpPr>
        <p:spPr>
          <a:xfrm>
            <a:off x="1245870" y="3085267"/>
            <a:ext cx="3592735" cy="34290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Pretendard" pitchFamily="34" charset="0"/>
                <a:ea typeface="Pretendard" pitchFamily="34" charset="-122"/>
                <a:cs typeface="Pretendard" pitchFamily="34" charset="-120"/>
              </a:rPr>
              <a:t>v1 운영</a:t>
            </a:r>
            <a:endParaRPr lang="en-US" sz="2025" dirty="0"/>
          </a:p>
        </p:txBody>
      </p:sp>
      <p:sp>
        <p:nvSpPr>
          <p:cNvPr id="10" name="Text 8"/>
          <p:cNvSpPr/>
          <p:nvPr/>
        </p:nvSpPr>
        <p:spPr>
          <a:xfrm>
            <a:off x="1245870" y="3504367"/>
            <a:ext cx="3364106" cy="5643443"/>
          </a:xfrm>
          <a:prstGeom prst="rect">
            <a:avLst/>
          </a:prstGeom>
          <a:noFill/>
          <a:ln/>
        </p:spPr>
        <p:txBody>
          <a:bodyPr wrap="square" lIns="25400" tIns="25400" rIns="25400" bIns="25400" rtlCol="0" anchor="t">
            <a:normAutofit/>
          </a:bodyPr>
          <a:lstStyle/>
          <a:p>
            <a:pPr marL="0" indent="0" algn="l">
              <a:lnSpc>
                <a:spcPct val="122845"/>
              </a:lnSpc>
              <a:buNone/>
            </a:pPr>
            <a:r>
              <a:rPr lang="en-US" sz="1425" dirty="0">
                <a:solidFill>
                  <a:srgbClr val="6F6A5F"/>
                </a:solidFill>
                <a:latin typeface="Pretendard" pitchFamily="34" charset="0"/>
                <a:ea typeface="Pretendard" pitchFamily="34" charset="-122"/>
                <a:cs typeface="Pretendard" pitchFamily="34" charset="-120"/>
              </a:rPr>
              <a:t>8개 화면 실데이터 · 매일 자동수집 3종 · GitHub Pages 배포 — 이미 사내 운영 중.</a:t>
            </a:r>
            <a:endParaRPr lang="en-US" sz="1425" dirty="0"/>
          </a:p>
        </p:txBody>
      </p:sp>
      <p:sp>
        <p:nvSpPr>
          <p:cNvPr id="11" name="Shape 9"/>
          <p:cNvSpPr/>
          <p:nvPr/>
        </p:nvSpPr>
        <p:spPr>
          <a:xfrm>
            <a:off x="5091113" y="2208967"/>
            <a:ext cx="3929063" cy="721316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5422582" y="2521387"/>
            <a:ext cx="521970" cy="449580"/>
          </a:xfrm>
          <a:prstGeom prst="rect">
            <a:avLst/>
          </a:prstGeom>
          <a:noFill/>
          <a:ln/>
        </p:spPr>
        <p:txBody>
          <a:bodyPr wrap="square" lIns="25400" tIns="25400" rIns="25400" bIns="25400" rtlCol="0" anchor="t">
            <a:normAutofit/>
          </a:bodyPr>
          <a:lstStyle/>
          <a:p>
            <a:pPr marL="0" indent="0" algn="l">
              <a:buNone/>
            </a:pPr>
            <a:r>
              <a:rPr lang="en-US" sz="2700" b="1" dirty="0">
                <a:solidFill>
                  <a:srgbClr val="28666E"/>
                </a:solidFill>
                <a:latin typeface="Pretendard" pitchFamily="34" charset="0"/>
                <a:ea typeface="Pretendard" pitchFamily="34" charset="-122"/>
                <a:cs typeface="Pretendard" pitchFamily="34" charset="-120"/>
              </a:rPr>
              <a:t>02</a:t>
            </a:r>
            <a:endParaRPr lang="en-US" sz="2700" dirty="0"/>
          </a:p>
        </p:txBody>
      </p:sp>
      <p:sp>
        <p:nvSpPr>
          <p:cNvPr id="13" name="Shape 11"/>
          <p:cNvSpPr/>
          <p:nvPr/>
        </p:nvSpPr>
        <p:spPr>
          <a:xfrm>
            <a:off x="5982653" y="2591872"/>
            <a:ext cx="793909" cy="270510"/>
          </a:xfrm>
          <a:prstGeom prst="roundRect">
            <a:avLst>
              <a:gd name="adj" fmla="val 50000"/>
            </a:avLst>
          </a:prstGeom>
          <a:solidFill>
            <a:srgbClr val="E7EEEE"/>
          </a:solidFill>
          <a:ln/>
        </p:spPr>
      </p:sp>
      <p:sp>
        <p:nvSpPr>
          <p:cNvPr id="14" name="Text 12"/>
          <p:cNvSpPr/>
          <p:nvPr/>
        </p:nvSpPr>
        <p:spPr>
          <a:xfrm>
            <a:off x="6106478" y="2639497"/>
            <a:ext cx="622459"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M1 · 핵심</a:t>
            </a:r>
            <a:endParaRPr lang="en-US" sz="1125" dirty="0"/>
          </a:p>
        </p:txBody>
      </p:sp>
      <p:sp>
        <p:nvSpPr>
          <p:cNvPr id="15" name="Text 13"/>
          <p:cNvSpPr/>
          <p:nvPr/>
        </p:nvSpPr>
        <p:spPr>
          <a:xfrm>
            <a:off x="5422582" y="3085267"/>
            <a:ext cx="3592735" cy="34290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Pretendard" pitchFamily="34" charset="0"/>
                <a:ea typeface="Pretendard" pitchFamily="34" charset="-122"/>
                <a:cs typeface="Pretendard" pitchFamily="34" charset="-120"/>
              </a:rPr>
              <a:t>피드백 반영</a:t>
            </a:r>
            <a:endParaRPr lang="en-US" sz="2025" dirty="0"/>
          </a:p>
        </p:txBody>
      </p:sp>
      <p:sp>
        <p:nvSpPr>
          <p:cNvPr id="16" name="Text 14"/>
          <p:cNvSpPr/>
          <p:nvPr/>
        </p:nvSpPr>
        <p:spPr>
          <a:xfrm>
            <a:off x="5422582" y="3504367"/>
            <a:ext cx="3364106" cy="5643443"/>
          </a:xfrm>
          <a:prstGeom prst="rect">
            <a:avLst/>
          </a:prstGeom>
          <a:noFill/>
          <a:ln/>
        </p:spPr>
        <p:txBody>
          <a:bodyPr wrap="square" lIns="25400" tIns="25400" rIns="25400" bIns="25400" rtlCol="0" anchor="t">
            <a:normAutofit/>
          </a:bodyPr>
          <a:lstStyle/>
          <a:p>
            <a:pPr marL="0" indent="0" algn="l">
              <a:lnSpc>
                <a:spcPct val="122845"/>
              </a:lnSpc>
              <a:buNone/>
            </a:pPr>
            <a:r>
              <a:rPr lang="en-US" sz="1425" dirty="0">
                <a:solidFill>
                  <a:srgbClr val="6F6A5F"/>
                </a:solidFill>
                <a:latin typeface="Pretendard" pitchFamily="34" charset="0"/>
                <a:ea typeface="Pretendard" pitchFamily="34" charset="-122"/>
                <a:cs typeface="Pretendard" pitchFamily="34" charset="-120"/>
              </a:rPr>
              <a:t>포트 검색(LOCODE 자동완성) · 국내/해외 탭 분리 · 선석 터미널 8곳 확대 · Ship Schedule 3뷰.</a:t>
            </a:r>
            <a:endParaRPr lang="en-US" sz="1425" dirty="0"/>
          </a:p>
        </p:txBody>
      </p:sp>
      <p:sp>
        <p:nvSpPr>
          <p:cNvPr id="17" name="Shape 15"/>
          <p:cNvSpPr/>
          <p:nvPr/>
        </p:nvSpPr>
        <p:spPr>
          <a:xfrm>
            <a:off x="9267825" y="2208967"/>
            <a:ext cx="3929063" cy="721316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9599295" y="2521387"/>
            <a:ext cx="531614" cy="449580"/>
          </a:xfrm>
          <a:prstGeom prst="rect">
            <a:avLst/>
          </a:prstGeom>
          <a:noFill/>
          <a:ln/>
        </p:spPr>
        <p:txBody>
          <a:bodyPr wrap="square" lIns="25400" tIns="25400" rIns="25400" bIns="25400" rtlCol="0" anchor="t">
            <a:normAutofit/>
          </a:bodyPr>
          <a:lstStyle/>
          <a:p>
            <a:pPr marL="0" indent="0" algn="l">
              <a:buNone/>
            </a:pPr>
            <a:r>
              <a:rPr lang="en-US" sz="2700" b="1" dirty="0">
                <a:solidFill>
                  <a:srgbClr val="28666E"/>
                </a:solidFill>
                <a:latin typeface="Pretendard" pitchFamily="34" charset="0"/>
                <a:ea typeface="Pretendard" pitchFamily="34" charset="-122"/>
                <a:cs typeface="Pretendard" pitchFamily="34" charset="-120"/>
              </a:rPr>
              <a:t>03</a:t>
            </a:r>
            <a:endParaRPr lang="en-US" sz="2700" dirty="0"/>
          </a:p>
        </p:txBody>
      </p:sp>
      <p:sp>
        <p:nvSpPr>
          <p:cNvPr id="19" name="Shape 17"/>
          <p:cNvSpPr/>
          <p:nvPr/>
        </p:nvSpPr>
        <p:spPr>
          <a:xfrm>
            <a:off x="10169010" y="2591872"/>
            <a:ext cx="814149" cy="270510"/>
          </a:xfrm>
          <a:prstGeom prst="roundRect">
            <a:avLst>
              <a:gd name="adj" fmla="val 50000"/>
            </a:avLst>
          </a:prstGeom>
          <a:solidFill>
            <a:srgbClr val="E7EEEE"/>
          </a:solidFill>
          <a:ln/>
        </p:spPr>
      </p:sp>
      <p:sp>
        <p:nvSpPr>
          <p:cNvPr id="20" name="Text 18"/>
          <p:cNvSpPr/>
          <p:nvPr/>
        </p:nvSpPr>
        <p:spPr>
          <a:xfrm>
            <a:off x="10292835" y="2639497"/>
            <a:ext cx="642699"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M2 · 확대</a:t>
            </a:r>
            <a:endParaRPr lang="en-US" sz="1125" dirty="0"/>
          </a:p>
        </p:txBody>
      </p:sp>
      <p:sp>
        <p:nvSpPr>
          <p:cNvPr id="21" name="Text 19"/>
          <p:cNvSpPr/>
          <p:nvPr/>
        </p:nvSpPr>
        <p:spPr>
          <a:xfrm>
            <a:off x="9599295" y="3085267"/>
            <a:ext cx="3592735" cy="34290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Pretendard" pitchFamily="34" charset="0"/>
                <a:ea typeface="Pretendard" pitchFamily="34" charset="-122"/>
                <a:cs typeface="Pretendard" pitchFamily="34" charset="-120"/>
              </a:rPr>
              <a:t>해외 확대</a:t>
            </a:r>
            <a:endParaRPr lang="en-US" sz="2025" dirty="0"/>
          </a:p>
        </p:txBody>
      </p:sp>
      <p:sp>
        <p:nvSpPr>
          <p:cNvPr id="22" name="Text 20"/>
          <p:cNvSpPr/>
          <p:nvPr/>
        </p:nvSpPr>
        <p:spPr>
          <a:xfrm>
            <a:off x="9599295" y="3504367"/>
            <a:ext cx="3364106" cy="5643443"/>
          </a:xfrm>
          <a:prstGeom prst="rect">
            <a:avLst/>
          </a:prstGeom>
          <a:noFill/>
          <a:ln/>
        </p:spPr>
        <p:txBody>
          <a:bodyPr wrap="square" lIns="25400" tIns="25400" rIns="25400" bIns="25400" rtlCol="0" anchor="t">
            <a:normAutofit/>
          </a:bodyPr>
          <a:lstStyle/>
          <a:p>
            <a:pPr marL="0" indent="0" algn="l">
              <a:lnSpc>
                <a:spcPct val="122845"/>
              </a:lnSpc>
              <a:buNone/>
            </a:pPr>
            <a:r>
              <a:rPr lang="en-US" sz="1425" dirty="0">
                <a:solidFill>
                  <a:srgbClr val="6F6A5F"/>
                </a:solidFill>
                <a:latin typeface="Pretendard" pitchFamily="34" charset="0"/>
                <a:ea typeface="Pretendard" pitchFamily="34" charset="-122"/>
                <a:cs typeface="Pretendard" pitchFamily="34" charset="-120"/>
              </a:rPr>
              <a:t>해외 터미널 스케줄 · 확인필요 터미널 매핑 · ICON 중복 정리 · 성능 캐시 &lt;3초.</a:t>
            </a:r>
            <a:endParaRPr lang="en-US" sz="1425" dirty="0"/>
          </a:p>
        </p:txBody>
      </p:sp>
      <p:sp>
        <p:nvSpPr>
          <p:cNvPr id="23" name="Shape 21"/>
          <p:cNvSpPr/>
          <p:nvPr/>
        </p:nvSpPr>
        <p:spPr>
          <a:xfrm>
            <a:off x="13444538" y="2208967"/>
            <a:ext cx="3929063" cy="721316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4" name="Text 22"/>
          <p:cNvSpPr/>
          <p:nvPr/>
        </p:nvSpPr>
        <p:spPr>
          <a:xfrm>
            <a:off x="13776008" y="2521387"/>
            <a:ext cx="538996" cy="449580"/>
          </a:xfrm>
          <a:prstGeom prst="rect">
            <a:avLst/>
          </a:prstGeom>
          <a:noFill/>
          <a:ln/>
        </p:spPr>
        <p:txBody>
          <a:bodyPr wrap="square" lIns="25400" tIns="25400" rIns="25400" bIns="25400" rtlCol="0" anchor="t">
            <a:normAutofit/>
          </a:bodyPr>
          <a:lstStyle/>
          <a:p>
            <a:pPr marL="0" indent="0" algn="l">
              <a:buNone/>
            </a:pPr>
            <a:r>
              <a:rPr lang="en-US" sz="2700" b="1" dirty="0">
                <a:solidFill>
                  <a:srgbClr val="28666E"/>
                </a:solidFill>
                <a:latin typeface="Pretendard" pitchFamily="34" charset="0"/>
                <a:ea typeface="Pretendard" pitchFamily="34" charset="-122"/>
                <a:cs typeface="Pretendard" pitchFamily="34" charset="-120"/>
              </a:rPr>
              <a:t>04</a:t>
            </a:r>
            <a:endParaRPr lang="en-US" sz="2700" dirty="0"/>
          </a:p>
        </p:txBody>
      </p:sp>
      <p:sp>
        <p:nvSpPr>
          <p:cNvPr id="25" name="Shape 23"/>
          <p:cNvSpPr/>
          <p:nvPr/>
        </p:nvSpPr>
        <p:spPr>
          <a:xfrm>
            <a:off x="14353104" y="2591872"/>
            <a:ext cx="941665" cy="270510"/>
          </a:xfrm>
          <a:prstGeom prst="roundRect">
            <a:avLst>
              <a:gd name="adj" fmla="val 50000"/>
            </a:avLst>
          </a:prstGeom>
          <a:solidFill>
            <a:srgbClr val="E7EEEE"/>
          </a:solidFill>
          <a:ln/>
        </p:spPr>
      </p:sp>
      <p:sp>
        <p:nvSpPr>
          <p:cNvPr id="26" name="Text 24"/>
          <p:cNvSpPr/>
          <p:nvPr/>
        </p:nvSpPr>
        <p:spPr>
          <a:xfrm>
            <a:off x="14476929" y="2639497"/>
            <a:ext cx="770215" cy="21336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Pretendard" pitchFamily="34" charset="0"/>
                <a:ea typeface="Pretendard" pitchFamily="34" charset="-122"/>
                <a:cs typeface="Pretendard" pitchFamily="34" charset="-120"/>
              </a:rPr>
              <a:t>M3 · 고도화</a:t>
            </a:r>
            <a:endParaRPr lang="en-US" sz="1125" dirty="0"/>
          </a:p>
        </p:txBody>
      </p:sp>
      <p:sp>
        <p:nvSpPr>
          <p:cNvPr id="27" name="Text 25"/>
          <p:cNvSpPr/>
          <p:nvPr/>
        </p:nvSpPr>
        <p:spPr>
          <a:xfrm>
            <a:off x="13776008" y="3085267"/>
            <a:ext cx="3592735" cy="34290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Pretendard" pitchFamily="34" charset="0"/>
                <a:ea typeface="Pretendard" pitchFamily="34" charset="-122"/>
                <a:cs typeface="Pretendard" pitchFamily="34" charset="-120"/>
              </a:rPr>
              <a:t>지능화</a:t>
            </a:r>
            <a:endParaRPr lang="en-US" sz="2025" dirty="0"/>
          </a:p>
        </p:txBody>
      </p:sp>
      <p:sp>
        <p:nvSpPr>
          <p:cNvPr id="28" name="Text 26"/>
          <p:cNvSpPr/>
          <p:nvPr/>
        </p:nvSpPr>
        <p:spPr>
          <a:xfrm>
            <a:off x="13776008" y="3504367"/>
            <a:ext cx="3364106" cy="5643443"/>
          </a:xfrm>
          <a:prstGeom prst="rect">
            <a:avLst/>
          </a:prstGeom>
          <a:noFill/>
          <a:ln/>
        </p:spPr>
        <p:txBody>
          <a:bodyPr wrap="square" lIns="25400" tIns="25400" rIns="25400" bIns="25400" rtlCol="0" anchor="t">
            <a:normAutofit/>
          </a:bodyPr>
          <a:lstStyle/>
          <a:p>
            <a:pPr marL="0" indent="0" algn="l">
              <a:lnSpc>
                <a:spcPct val="122845"/>
              </a:lnSpc>
              <a:buNone/>
            </a:pPr>
            <a:r>
              <a:rPr lang="en-US" sz="1425" dirty="0">
                <a:solidFill>
                  <a:srgbClr val="6F6A5F"/>
                </a:solidFill>
                <a:latin typeface="Pretendard" pitchFamily="34" charset="0"/>
                <a:ea typeface="Pretendard" pitchFamily="34" charset="-122"/>
                <a:cs typeface="Pretendard" pitchFamily="34" charset="-120"/>
              </a:rPr>
              <a:t>v3 지표(UNCTAD 선석점유율·Erlang C·CPPI) · React 컷오버 · 벤치마크(surff·tradlinx).</a:t>
            </a:r>
            <a:endParaRPr lang="en-US" sz="1425" dirty="0"/>
          </a:p>
        </p:txBody>
      </p:sp>
      <p:sp>
        <p:nvSpPr>
          <p:cNvPr id="29" name="Shape 27"/>
          <p:cNvSpPr/>
          <p:nvPr/>
        </p:nvSpPr>
        <p:spPr>
          <a:xfrm>
            <a:off x="914400" y="9650730"/>
            <a:ext cx="16459200" cy="9525"/>
          </a:xfrm>
          <a:prstGeom prst="rect">
            <a:avLst/>
          </a:prstGeom>
          <a:solidFill>
            <a:srgbClr val="E9E4DC"/>
          </a:solidFill>
          <a:ln/>
        </p:spPr>
      </p:sp>
      <p:sp>
        <p:nvSpPr>
          <p:cNvPr id="30" name="Text 28"/>
          <p:cNvSpPr/>
          <p:nvPr/>
        </p:nvSpPr>
        <p:spPr>
          <a:xfrm>
            <a:off x="914400" y="9772650"/>
            <a:ext cx="862534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출처 · SRS §7 마일스톤(M1~M3) · 개발이력 §6 남은 과제 · v3 방법론(UNCTAD·Erlang C·CPPI) 실데이터 사전 검증 완료</a:t>
            </a:r>
            <a:endParaRPr lang="en-US" sz="1275" dirty="0"/>
          </a:p>
        </p:txBody>
      </p:sp>
      <p:sp>
        <p:nvSpPr>
          <p:cNvPr id="31" name="Text 29"/>
          <p:cNvSpPr/>
          <p:nvPr/>
        </p:nvSpPr>
        <p:spPr>
          <a:xfrm>
            <a:off x="17193577" y="9772650"/>
            <a:ext cx="25622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16</a:t>
            </a:r>
            <a:endParaRPr lang="en-US" sz="12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04 확장성 ·</a:t>
            </a:r>
            <a:r>
              <a:rPr lang="en-US" sz="1425" b="1" kern="0" spc="57" dirty="0">
                <a:solidFill>
                  <a:srgbClr val="28666E"/>
                </a:solidFill>
                <a:latin typeface="Pretendard" pitchFamily="34" charset="0"/>
                <a:ea typeface="Pretendard" pitchFamily="34" charset="-122"/>
                <a:cs typeface="Pretendard" pitchFamily="34" charset="-120"/>
              </a:rPr>
              <a:t>확장 방향</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국내 컨트롤타워를 발판으로, 해외·지능화로</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규제·데이터 표준 위에 쌓은 파이프라인이 그대로 재사용 가능한 확장 자산</a:t>
            </a:r>
            <a:endParaRPr lang="en-US" sz="1875" dirty="0"/>
          </a:p>
        </p:txBody>
      </p:sp>
      <p:sp>
        <p:nvSpPr>
          <p:cNvPr id="5" name="Shape 3"/>
          <p:cNvSpPr/>
          <p:nvPr/>
        </p:nvSpPr>
        <p:spPr>
          <a:xfrm>
            <a:off x="914400" y="2228017"/>
            <a:ext cx="609600" cy="28575"/>
          </a:xfrm>
          <a:prstGeom prst="rect">
            <a:avLst/>
          </a:prstGeom>
          <a:solidFill>
            <a:srgbClr val="28666E"/>
          </a:solidFill>
          <a:ln/>
        </p:spPr>
      </p:sp>
      <p:sp>
        <p:nvSpPr>
          <p:cNvPr id="6" name="Text 4"/>
          <p:cNvSpPr/>
          <p:nvPr/>
        </p:nvSpPr>
        <p:spPr>
          <a:xfrm>
            <a:off x="914400" y="2447092"/>
            <a:ext cx="4306253"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해외 확장</a:t>
            </a:r>
            <a:endParaRPr lang="en-US" sz="1950" dirty="0"/>
          </a:p>
        </p:txBody>
      </p:sp>
      <p:sp>
        <p:nvSpPr>
          <p:cNvPr id="7" name="Text 5"/>
          <p:cNvSpPr/>
          <p:nvPr/>
        </p:nvSpPr>
        <p:spPr>
          <a:xfrm>
            <a:off x="914400" y="293477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Ship Schedule 3뷰 (Route·Vessel·Port)</a:t>
            </a:r>
            <a:endParaRPr lang="en-US" sz="1500" dirty="0"/>
          </a:p>
        </p:txBody>
      </p:sp>
      <p:sp>
        <p:nvSpPr>
          <p:cNvPr id="8" name="Text 6"/>
          <p:cNvSpPr/>
          <p:nvPr/>
        </p:nvSpPr>
        <p:spPr>
          <a:xfrm>
            <a:off x="914400" y="333482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해외 터미널 스케줄 (LOCODE 기반)</a:t>
            </a:r>
            <a:endParaRPr lang="en-US" sz="1500" dirty="0"/>
          </a:p>
        </p:txBody>
      </p:sp>
      <p:sp>
        <p:nvSpPr>
          <p:cNvPr id="9" name="Text 7"/>
          <p:cNvSpPr/>
          <p:nvPr/>
        </p:nvSpPr>
        <p:spPr>
          <a:xfrm>
            <a:off x="914400" y="373487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searates 대비 </a:t>
            </a:r>
            <a:r>
              <a:rPr lang="en-US" sz="1500" b="1" dirty="0">
                <a:solidFill>
                  <a:srgbClr val="4A4A4A"/>
                </a:solidFill>
                <a:latin typeface="Pretendard" pitchFamily="34" charset="0"/>
                <a:ea typeface="Pretendard" pitchFamily="34" charset="-122"/>
                <a:cs typeface="Pretendard" pitchFamily="34" charset="-120"/>
              </a:rPr>
              <a:t>속도 우위 </a:t>
            </a:r>
            <a:r>
              <a:rPr lang="en-US" sz="1500" dirty="0">
                <a:solidFill>
                  <a:srgbClr val="4A4A4A"/>
                </a:solidFill>
                <a:latin typeface="Pretendard" pitchFamily="34" charset="0"/>
                <a:ea typeface="Pretendard" pitchFamily="34" charset="-122"/>
                <a:cs typeface="Pretendard" pitchFamily="34" charset="-120"/>
              </a:rPr>
              <a:t>(캐시 &lt;3초)</a:t>
            </a:r>
            <a:endParaRPr lang="en-US" sz="1500" dirty="0"/>
          </a:p>
        </p:txBody>
      </p:sp>
      <p:sp>
        <p:nvSpPr>
          <p:cNvPr id="10" name="Shape 8"/>
          <p:cNvSpPr/>
          <p:nvPr/>
        </p:nvSpPr>
        <p:spPr>
          <a:xfrm>
            <a:off x="5095875" y="2228017"/>
            <a:ext cx="609600" cy="28575"/>
          </a:xfrm>
          <a:prstGeom prst="rect">
            <a:avLst/>
          </a:prstGeom>
          <a:solidFill>
            <a:srgbClr val="28666E"/>
          </a:solidFill>
          <a:ln/>
        </p:spPr>
      </p:sp>
      <p:sp>
        <p:nvSpPr>
          <p:cNvPr id="11" name="Text 9"/>
          <p:cNvSpPr/>
          <p:nvPr/>
        </p:nvSpPr>
        <p:spPr>
          <a:xfrm>
            <a:off x="5095875" y="2447092"/>
            <a:ext cx="4306253"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지능화</a:t>
            </a:r>
            <a:endParaRPr lang="en-US" sz="1950" dirty="0"/>
          </a:p>
        </p:txBody>
      </p:sp>
      <p:sp>
        <p:nvSpPr>
          <p:cNvPr id="12" name="Text 10"/>
          <p:cNvSpPr/>
          <p:nvPr/>
        </p:nvSpPr>
        <p:spPr>
          <a:xfrm>
            <a:off x="5095875" y="293477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ETA 지연 리스크 (로그정규 적합)</a:t>
            </a:r>
            <a:endParaRPr lang="en-US" sz="1500" dirty="0"/>
          </a:p>
        </p:txBody>
      </p:sp>
      <p:sp>
        <p:nvSpPr>
          <p:cNvPr id="13" name="Text 11"/>
          <p:cNvSpPr/>
          <p:nvPr/>
        </p:nvSpPr>
        <p:spPr>
          <a:xfrm>
            <a:off x="5095875" y="333482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경로 몬테카를로 P10/P50/P90</a:t>
            </a:r>
            <a:endParaRPr lang="en-US" sz="1500" dirty="0"/>
          </a:p>
        </p:txBody>
      </p:sp>
      <p:sp>
        <p:nvSpPr>
          <p:cNvPr id="14" name="Text 12"/>
          <p:cNvSpPr/>
          <p:nvPr/>
        </p:nvSpPr>
        <p:spPr>
          <a:xfrm>
            <a:off x="5095875" y="373487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v3 UNCTAD·Erlang C·CPPI 생산성</a:t>
            </a:r>
            <a:endParaRPr lang="en-US" sz="1500" dirty="0"/>
          </a:p>
        </p:txBody>
      </p:sp>
      <p:sp>
        <p:nvSpPr>
          <p:cNvPr id="15" name="Shape 13"/>
          <p:cNvSpPr/>
          <p:nvPr/>
        </p:nvSpPr>
        <p:spPr>
          <a:xfrm>
            <a:off x="9277350" y="2228017"/>
            <a:ext cx="609600" cy="28575"/>
          </a:xfrm>
          <a:prstGeom prst="rect">
            <a:avLst/>
          </a:prstGeom>
          <a:solidFill>
            <a:srgbClr val="28666E"/>
          </a:solidFill>
          <a:ln/>
        </p:spPr>
      </p:sp>
      <p:sp>
        <p:nvSpPr>
          <p:cNvPr id="16" name="Text 14"/>
          <p:cNvSpPr/>
          <p:nvPr/>
        </p:nvSpPr>
        <p:spPr>
          <a:xfrm>
            <a:off x="9277350" y="2447092"/>
            <a:ext cx="4306253"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전사·계열사</a:t>
            </a:r>
            <a:endParaRPr lang="en-US" sz="1950" dirty="0"/>
          </a:p>
        </p:txBody>
      </p:sp>
      <p:sp>
        <p:nvSpPr>
          <p:cNvPr id="17" name="Text 15"/>
          <p:cNvSpPr/>
          <p:nvPr/>
        </p:nvSpPr>
        <p:spPr>
          <a:xfrm>
            <a:off x="9277350" y="293477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법인·계열사 본사 배포</a:t>
            </a:r>
            <a:endParaRPr lang="en-US" sz="1500" dirty="0"/>
          </a:p>
        </p:txBody>
      </p:sp>
      <p:sp>
        <p:nvSpPr>
          <p:cNvPr id="18" name="Text 16"/>
          <p:cNvSpPr/>
          <p:nvPr/>
        </p:nvSpPr>
        <p:spPr>
          <a:xfrm>
            <a:off x="9277350" y="333482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국내/해외 탭 통합 운영</a:t>
            </a:r>
            <a:endParaRPr lang="en-US" sz="1500" dirty="0"/>
          </a:p>
        </p:txBody>
      </p:sp>
      <p:sp>
        <p:nvSpPr>
          <p:cNvPr id="19" name="Text 17"/>
          <p:cNvSpPr/>
          <p:nvPr/>
        </p:nvSpPr>
        <p:spPr>
          <a:xfrm>
            <a:off x="9277350" y="373487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역할별 관심 선박 구독·알림</a:t>
            </a:r>
            <a:endParaRPr lang="en-US" sz="1500" dirty="0"/>
          </a:p>
        </p:txBody>
      </p:sp>
      <p:sp>
        <p:nvSpPr>
          <p:cNvPr id="20" name="Shape 18"/>
          <p:cNvSpPr/>
          <p:nvPr/>
        </p:nvSpPr>
        <p:spPr>
          <a:xfrm>
            <a:off x="13458825" y="2228017"/>
            <a:ext cx="609600" cy="28575"/>
          </a:xfrm>
          <a:prstGeom prst="rect">
            <a:avLst/>
          </a:prstGeom>
          <a:solidFill>
            <a:srgbClr val="28666E"/>
          </a:solidFill>
          <a:ln/>
        </p:spPr>
      </p:sp>
      <p:sp>
        <p:nvSpPr>
          <p:cNvPr id="21" name="Text 19"/>
          <p:cNvSpPr/>
          <p:nvPr/>
        </p:nvSpPr>
        <p:spPr>
          <a:xfrm>
            <a:off x="13458825" y="2447092"/>
            <a:ext cx="4306253" cy="33528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Pretendard" pitchFamily="34" charset="0"/>
                <a:ea typeface="Pretendard" pitchFamily="34" charset="-122"/>
                <a:cs typeface="Pretendard" pitchFamily="34" charset="-120"/>
              </a:rPr>
              <a:t>플랫폼화</a:t>
            </a:r>
            <a:endParaRPr lang="en-US" sz="1950" dirty="0"/>
          </a:p>
        </p:txBody>
      </p:sp>
      <p:sp>
        <p:nvSpPr>
          <p:cNvPr id="22" name="Text 20"/>
          <p:cNvSpPr/>
          <p:nvPr/>
        </p:nvSpPr>
        <p:spPr>
          <a:xfrm>
            <a:off x="13458825" y="293477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React·TS 재사용 DataGrid</a:t>
            </a:r>
            <a:endParaRPr lang="en-US" sz="1500" dirty="0"/>
          </a:p>
        </p:txBody>
      </p:sp>
      <p:sp>
        <p:nvSpPr>
          <p:cNvPr id="23" name="Text 21"/>
          <p:cNvSpPr/>
          <p:nvPr/>
        </p:nvSpPr>
        <p:spPr>
          <a:xfrm>
            <a:off x="13458825" y="333482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파서 플러그인 (추가=설정+파서)</a:t>
            </a:r>
            <a:endParaRPr lang="en-US" sz="1500" dirty="0"/>
          </a:p>
        </p:txBody>
      </p:sp>
      <p:sp>
        <p:nvSpPr>
          <p:cNvPr id="24" name="Text 22"/>
          <p:cNvSpPr/>
          <p:nvPr/>
        </p:nvSpPr>
        <p:spPr>
          <a:xfrm>
            <a:off x="13458825" y="3734872"/>
            <a:ext cx="4306253" cy="304800"/>
          </a:xfrm>
          <a:prstGeom prst="rect">
            <a:avLst/>
          </a:prstGeom>
          <a:noFill/>
          <a:ln/>
        </p:spPr>
        <p:txBody>
          <a:bodyPr wrap="square" lIns="25400" tIns="25400" rIns="25400" bIns="25400" rtlCol="0" anchor="t">
            <a:normAutofit/>
          </a:bodyPr>
          <a:lstStyle/>
          <a:p>
            <a:pPr marL="0" indent="0" algn="l">
              <a:lnSpc>
                <a:spcPct val="116667"/>
              </a:lnSpc>
              <a:buNone/>
            </a:pPr>
            <a:r>
              <a:rPr lang="en-US" sz="1500" dirty="0">
                <a:solidFill>
                  <a:srgbClr val="4A4A4A"/>
                </a:solidFill>
                <a:latin typeface="Pretendard" pitchFamily="34" charset="0"/>
                <a:ea typeface="Pretendard" pitchFamily="34" charset="-122"/>
                <a:cs typeface="Pretendard" pitchFamily="34" charset="-120"/>
              </a:rPr>
              <a:t>통관·컨테이너 트래킹 연계</a:t>
            </a:r>
            <a:endParaRPr lang="en-US" sz="1500" dirty="0"/>
          </a:p>
        </p:txBody>
      </p:sp>
      <p:sp>
        <p:nvSpPr>
          <p:cNvPr id="25" name="Shape 23"/>
          <p:cNvSpPr/>
          <p:nvPr/>
        </p:nvSpPr>
        <p:spPr>
          <a:xfrm>
            <a:off x="914400" y="9650730"/>
            <a:ext cx="16459200" cy="9525"/>
          </a:xfrm>
          <a:prstGeom prst="rect">
            <a:avLst/>
          </a:prstGeom>
          <a:solidFill>
            <a:srgbClr val="E9E4DC"/>
          </a:solidFill>
          <a:ln/>
        </p:spPr>
      </p:sp>
      <p:sp>
        <p:nvSpPr>
          <p:cNvPr id="26" name="Text 24"/>
          <p:cNvSpPr/>
          <p:nvPr/>
        </p:nvSpPr>
        <p:spPr>
          <a:xfrm>
            <a:off x="914400" y="9772650"/>
            <a:ext cx="7982808"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확장 전략 · SRS §3·§6 확장 요건 · 개발이력 §6 남은 과제 — 무료·표준 기반 파이프라인이 재사용 가능한 확장 자산</a:t>
            </a:r>
            <a:endParaRPr lang="en-US" sz="1275" dirty="0"/>
          </a:p>
        </p:txBody>
      </p:sp>
      <p:sp>
        <p:nvSpPr>
          <p:cNvPr id="27" name="Text 25"/>
          <p:cNvSpPr/>
          <p:nvPr/>
        </p:nvSpPr>
        <p:spPr>
          <a:xfrm>
            <a:off x="17204531" y="9772650"/>
            <a:ext cx="245269"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17</a:t>
            </a:r>
            <a:endParaRPr lang="en-US" sz="12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25908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Pretendard" pitchFamily="34" charset="0"/>
                <a:ea typeface="Pretendard" pitchFamily="34" charset="-122"/>
                <a:cs typeface="Pretendard" pitchFamily="34" charset="-120"/>
              </a:rPr>
              <a:t>04 타당성 ·</a:t>
            </a:r>
            <a:r>
              <a:rPr lang="en-US" sz="1425" b="1" kern="0" spc="57" dirty="0">
                <a:solidFill>
                  <a:srgbClr val="28666E"/>
                </a:solidFill>
                <a:latin typeface="Pretendard" pitchFamily="34" charset="0"/>
                <a:ea typeface="Pretendard" pitchFamily="34" charset="-122"/>
                <a:cs typeface="Pretendard" pitchFamily="34" charset="-120"/>
              </a:rPr>
              <a:t>외부 검증</a:t>
            </a:r>
            <a:endParaRPr lang="en-US" sz="1425" dirty="0"/>
          </a:p>
        </p:txBody>
      </p:sp>
      <p:sp>
        <p:nvSpPr>
          <p:cNvPr id="3" name="Text 1"/>
          <p:cNvSpPr/>
          <p:nvPr/>
        </p:nvSpPr>
        <p:spPr>
          <a:xfrm>
            <a:off x="914400" y="925830"/>
            <a:ext cx="18105120" cy="593527"/>
          </a:xfrm>
          <a:prstGeom prst="rect">
            <a:avLst/>
          </a:prstGeom>
          <a:noFill/>
          <a:ln/>
        </p:spPr>
        <p:txBody>
          <a:bodyPr wrap="square" lIns="25400" tIns="25400" rIns="25400" bIns="25400" rtlCol="0" anchor="t">
            <a:normAutofit/>
          </a:bodyPr>
          <a:lstStyle/>
          <a:p>
            <a:pPr marL="0" indent="0" algn="l">
              <a:lnSpc>
                <a:spcPct val="91125"/>
              </a:lnSpc>
              <a:buNone/>
            </a:pPr>
            <a:r>
              <a:rPr lang="en-US" sz="4050" b="1" kern="0" spc="-81" dirty="0">
                <a:solidFill>
                  <a:srgbClr val="12161D"/>
                </a:solidFill>
                <a:latin typeface="Pretendard" pitchFamily="34" charset="0"/>
                <a:ea typeface="Pretendard" pitchFamily="34" charset="-122"/>
                <a:cs typeface="Pretendard" pitchFamily="34" charset="-120"/>
              </a:rPr>
              <a:t>우리 주장이 아니라, 공개 기관 데이터가 뒷받침합니다</a:t>
            </a:r>
            <a:endParaRPr lang="en-US" sz="4050" dirty="0"/>
          </a:p>
        </p:txBody>
      </p:sp>
      <p:sp>
        <p:nvSpPr>
          <p:cNvPr id="4" name="Text 2"/>
          <p:cNvSpPr/>
          <p:nvPr/>
        </p:nvSpPr>
        <p:spPr>
          <a:xfrm>
            <a:off x="914400" y="1595557"/>
            <a:ext cx="18105120" cy="32766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Pretendard" pitchFamily="34" charset="0"/>
                <a:ea typeface="Pretendard" pitchFamily="34" charset="-122"/>
                <a:cs typeface="Pretendard" pitchFamily="34" charset="-120"/>
              </a:rPr>
              <a:t>글로벌 공신력 있는 무료 공개 소스로 지표를 실호출·검증</a:t>
            </a:r>
            <a:endParaRPr lang="en-US" sz="1875" dirty="0"/>
          </a:p>
        </p:txBody>
      </p:sp>
      <p:sp>
        <p:nvSpPr>
          <p:cNvPr id="5" name="Shape 3"/>
          <p:cNvSpPr/>
          <p:nvPr/>
        </p:nvSpPr>
        <p:spPr>
          <a:xfrm>
            <a:off x="914400" y="2208967"/>
            <a:ext cx="3943350" cy="723221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26820" y="2502337"/>
            <a:ext cx="3650361" cy="31242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Pretendard" pitchFamily="34" charset="0"/>
                <a:ea typeface="Pretendard" pitchFamily="34" charset="-122"/>
                <a:cs typeface="Pretendard" pitchFamily="34" charset="-120"/>
              </a:rPr>
              <a:t>IMF PortWatch</a:t>
            </a:r>
            <a:endParaRPr lang="en-US" sz="1800" dirty="0"/>
          </a:p>
        </p:txBody>
      </p:sp>
      <p:sp>
        <p:nvSpPr>
          <p:cNvPr id="7" name="Text 5"/>
          <p:cNvSpPr/>
          <p:nvPr/>
        </p:nvSpPr>
        <p:spPr>
          <a:xfrm>
            <a:off x="1226820" y="2814757"/>
            <a:ext cx="3650361"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위성 AIS 항만 모니터링</a:t>
            </a:r>
            <a:endParaRPr lang="en-US" sz="1350" dirty="0"/>
          </a:p>
        </p:txBody>
      </p:sp>
      <p:sp>
        <p:nvSpPr>
          <p:cNvPr id="8" name="Text 6"/>
          <p:cNvSpPr/>
          <p:nvPr/>
        </p:nvSpPr>
        <p:spPr>
          <a:xfrm>
            <a:off x="1226820" y="8382000"/>
            <a:ext cx="720090" cy="483870"/>
          </a:xfrm>
          <a:prstGeom prst="rect">
            <a:avLst/>
          </a:prstGeom>
          <a:noFill/>
          <a:ln/>
        </p:spPr>
        <p:txBody>
          <a:bodyPr wrap="square" lIns="25400" tIns="25400" rIns="25400" bIns="25400" rtlCol="0" anchor="t">
            <a:normAutofit/>
          </a:bodyPr>
          <a:lstStyle/>
          <a:p>
            <a:pPr marL="0" indent="0" algn="l">
              <a:lnSpc>
                <a:spcPct val="75000"/>
              </a:lnSpc>
              <a:buNone/>
            </a:pPr>
            <a:r>
              <a:rPr lang="en-US" sz="3900" b="1" dirty="0">
                <a:solidFill>
                  <a:srgbClr val="28666E"/>
                </a:solidFill>
                <a:latin typeface="Pretendard" pitchFamily="34" charset="0"/>
                <a:ea typeface="Pretendard" pitchFamily="34" charset="-122"/>
                <a:cs typeface="Pretendard" pitchFamily="34" charset="-120"/>
              </a:rPr>
              <a:t>93</a:t>
            </a:r>
            <a:endParaRPr lang="en-US" sz="3900" dirty="0"/>
          </a:p>
        </p:txBody>
      </p:sp>
      <p:sp>
        <p:nvSpPr>
          <p:cNvPr id="9" name="Text 7"/>
          <p:cNvSpPr/>
          <p:nvPr/>
        </p:nvSpPr>
        <p:spPr>
          <a:xfrm>
            <a:off x="1927860" y="8580120"/>
            <a:ext cx="667822"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Pretendard" pitchFamily="34" charset="0"/>
                <a:ea typeface="Pretendard" pitchFamily="34" charset="-122"/>
                <a:cs typeface="Pretendard" pitchFamily="34" charset="-120"/>
              </a:rPr>
              <a:t>개 항만</a:t>
            </a:r>
            <a:endParaRPr lang="en-US" sz="1650" dirty="0"/>
          </a:p>
        </p:txBody>
      </p:sp>
      <p:sp>
        <p:nvSpPr>
          <p:cNvPr id="10" name="Text 8"/>
          <p:cNvSpPr/>
          <p:nvPr/>
        </p:nvSpPr>
        <p:spPr>
          <a:xfrm>
            <a:off x="1226820" y="8907780"/>
            <a:ext cx="3650361"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Focus Port 매핑 93/93 · PCI 산출 근거</a:t>
            </a:r>
            <a:endParaRPr lang="en-US" sz="1350" dirty="0"/>
          </a:p>
        </p:txBody>
      </p:sp>
      <p:sp>
        <p:nvSpPr>
          <p:cNvPr id="11" name="Shape 9"/>
          <p:cNvSpPr/>
          <p:nvPr/>
        </p:nvSpPr>
        <p:spPr>
          <a:xfrm>
            <a:off x="5086350" y="2208967"/>
            <a:ext cx="3943350" cy="723221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5398770" y="2502337"/>
            <a:ext cx="3650361" cy="31242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Pretendard" pitchFamily="34" charset="0"/>
                <a:ea typeface="Pretendard" pitchFamily="34" charset="-122"/>
                <a:cs typeface="Pretendard" pitchFamily="34" charset="-120"/>
              </a:rPr>
              <a:t>UNCTAD</a:t>
            </a:r>
            <a:endParaRPr lang="en-US" sz="1800" dirty="0"/>
          </a:p>
        </p:txBody>
      </p:sp>
      <p:sp>
        <p:nvSpPr>
          <p:cNvPr id="13" name="Text 11"/>
          <p:cNvSpPr/>
          <p:nvPr/>
        </p:nvSpPr>
        <p:spPr>
          <a:xfrm>
            <a:off x="5398770" y="2814757"/>
            <a:ext cx="3650361"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선석점유율 · Port Performance</a:t>
            </a:r>
            <a:endParaRPr lang="en-US" sz="1350" dirty="0"/>
          </a:p>
        </p:txBody>
      </p:sp>
      <p:sp>
        <p:nvSpPr>
          <p:cNvPr id="14" name="Text 12"/>
          <p:cNvSpPr/>
          <p:nvPr/>
        </p:nvSpPr>
        <p:spPr>
          <a:xfrm>
            <a:off x="5398770" y="8145780"/>
            <a:ext cx="1885688" cy="483870"/>
          </a:xfrm>
          <a:prstGeom prst="rect">
            <a:avLst/>
          </a:prstGeom>
          <a:noFill/>
          <a:ln/>
        </p:spPr>
        <p:txBody>
          <a:bodyPr wrap="square" lIns="25400" tIns="25400" rIns="25400" bIns="25400" rtlCol="0" anchor="t">
            <a:normAutofit/>
          </a:bodyPr>
          <a:lstStyle/>
          <a:p>
            <a:pPr marL="0" indent="0" algn="l">
              <a:lnSpc>
                <a:spcPct val="75000"/>
              </a:lnSpc>
              <a:buNone/>
            </a:pPr>
            <a:r>
              <a:rPr lang="en-US" sz="3900" b="1" dirty="0">
                <a:solidFill>
                  <a:srgbClr val="28666E"/>
                </a:solidFill>
                <a:latin typeface="Pretendard" pitchFamily="34" charset="0"/>
                <a:ea typeface="Pretendard" pitchFamily="34" charset="-122"/>
                <a:cs typeface="Pretendard" pitchFamily="34" charset="-120"/>
              </a:rPr>
              <a:t>ρ=0.86</a:t>
            </a:r>
            <a:endParaRPr lang="en-US" sz="3900" dirty="0"/>
          </a:p>
        </p:txBody>
      </p:sp>
      <p:sp>
        <p:nvSpPr>
          <p:cNvPr id="15" name="Text 13"/>
          <p:cNvSpPr/>
          <p:nvPr/>
        </p:nvSpPr>
        <p:spPr>
          <a:xfrm>
            <a:off x="5398770" y="8667750"/>
            <a:ext cx="3418065" cy="51816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부산 PNIT Erlang C 사전 검증(Wq≈65h) · v3 근거</a:t>
            </a:r>
            <a:endParaRPr lang="en-US" sz="1350" dirty="0"/>
          </a:p>
        </p:txBody>
      </p:sp>
      <p:sp>
        <p:nvSpPr>
          <p:cNvPr id="16" name="Shape 14"/>
          <p:cNvSpPr/>
          <p:nvPr/>
        </p:nvSpPr>
        <p:spPr>
          <a:xfrm>
            <a:off x="9258300" y="2208967"/>
            <a:ext cx="3943350" cy="723221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7" name="Text 15"/>
          <p:cNvSpPr/>
          <p:nvPr/>
        </p:nvSpPr>
        <p:spPr>
          <a:xfrm>
            <a:off x="9570720" y="2502337"/>
            <a:ext cx="3650361" cy="31242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Pretendard" pitchFamily="34" charset="0"/>
                <a:ea typeface="Pretendard" pitchFamily="34" charset="-122"/>
                <a:cs typeface="Pretendard" pitchFamily="34" charset="-120"/>
              </a:rPr>
              <a:t>Open-Meteo · AIS</a:t>
            </a:r>
            <a:endParaRPr lang="en-US" sz="1800" dirty="0"/>
          </a:p>
        </p:txBody>
      </p:sp>
      <p:sp>
        <p:nvSpPr>
          <p:cNvPr id="18" name="Text 16"/>
          <p:cNvSpPr/>
          <p:nvPr/>
        </p:nvSpPr>
        <p:spPr>
          <a:xfrm>
            <a:off x="9570720" y="2814757"/>
            <a:ext cx="3650361"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해양기상 · 선박 위치</a:t>
            </a:r>
            <a:endParaRPr lang="en-US" sz="1350" dirty="0"/>
          </a:p>
        </p:txBody>
      </p:sp>
      <p:sp>
        <p:nvSpPr>
          <p:cNvPr id="19" name="Text 17"/>
          <p:cNvSpPr/>
          <p:nvPr/>
        </p:nvSpPr>
        <p:spPr>
          <a:xfrm>
            <a:off x="9570720" y="8382000"/>
            <a:ext cx="1057632" cy="483870"/>
          </a:xfrm>
          <a:prstGeom prst="rect">
            <a:avLst/>
          </a:prstGeom>
          <a:noFill/>
          <a:ln/>
        </p:spPr>
        <p:txBody>
          <a:bodyPr wrap="square" lIns="25400" tIns="25400" rIns="25400" bIns="25400" rtlCol="0" anchor="t">
            <a:normAutofit/>
          </a:bodyPr>
          <a:lstStyle/>
          <a:p>
            <a:pPr marL="0" indent="0" algn="l">
              <a:lnSpc>
                <a:spcPct val="75000"/>
              </a:lnSpc>
              <a:buNone/>
            </a:pPr>
            <a:r>
              <a:rPr lang="en-US" sz="3900" b="1" dirty="0">
                <a:solidFill>
                  <a:srgbClr val="28666E"/>
                </a:solidFill>
                <a:latin typeface="Pretendard" pitchFamily="34" charset="0"/>
                <a:ea typeface="Pretendard" pitchFamily="34" charset="-122"/>
                <a:cs typeface="Pretendard" pitchFamily="34" charset="-120"/>
              </a:rPr>
              <a:t>200</a:t>
            </a:r>
            <a:endParaRPr lang="en-US" sz="3900" dirty="0"/>
          </a:p>
        </p:txBody>
      </p:sp>
      <p:sp>
        <p:nvSpPr>
          <p:cNvPr id="20" name="Text 18"/>
          <p:cNvSpPr/>
          <p:nvPr/>
        </p:nvSpPr>
        <p:spPr>
          <a:xfrm>
            <a:off x="10609302" y="8580120"/>
            <a:ext cx="373023"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Pretendard" pitchFamily="34" charset="0"/>
                <a:ea typeface="Pretendard" pitchFamily="34" charset="-122"/>
                <a:cs typeface="Pretendard" pitchFamily="34" charset="-120"/>
              </a:rPr>
              <a:t>OK</a:t>
            </a:r>
            <a:endParaRPr lang="en-US" sz="1650" dirty="0"/>
          </a:p>
        </p:txBody>
      </p:sp>
      <p:sp>
        <p:nvSpPr>
          <p:cNvPr id="21" name="Text 19"/>
          <p:cNvSpPr/>
          <p:nvPr/>
        </p:nvSpPr>
        <p:spPr>
          <a:xfrm>
            <a:off x="9570720" y="8907780"/>
            <a:ext cx="3650361"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무인증 실호출 확인 · 실시간 파고·풍속·선박</a:t>
            </a:r>
            <a:endParaRPr lang="en-US" sz="1350" dirty="0"/>
          </a:p>
        </p:txBody>
      </p:sp>
      <p:sp>
        <p:nvSpPr>
          <p:cNvPr id="22" name="Shape 20"/>
          <p:cNvSpPr/>
          <p:nvPr/>
        </p:nvSpPr>
        <p:spPr>
          <a:xfrm>
            <a:off x="13430250" y="2208967"/>
            <a:ext cx="3943350" cy="723221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3" name="Text 21"/>
          <p:cNvSpPr/>
          <p:nvPr/>
        </p:nvSpPr>
        <p:spPr>
          <a:xfrm>
            <a:off x="13742670" y="2502337"/>
            <a:ext cx="3650361" cy="31242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Pretendard" pitchFamily="34" charset="0"/>
                <a:ea typeface="Pretendard" pitchFamily="34" charset="-122"/>
                <a:cs typeface="Pretendard" pitchFamily="34" charset="-120"/>
              </a:rPr>
              <a:t>유니패스 · searoute</a:t>
            </a:r>
            <a:endParaRPr lang="en-US" sz="1800" dirty="0"/>
          </a:p>
        </p:txBody>
      </p:sp>
      <p:sp>
        <p:nvSpPr>
          <p:cNvPr id="24" name="Text 22"/>
          <p:cNvSpPr/>
          <p:nvPr/>
        </p:nvSpPr>
        <p:spPr>
          <a:xfrm>
            <a:off x="13742670" y="2814757"/>
            <a:ext cx="3650361" cy="23622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Pretendard" pitchFamily="34" charset="0"/>
                <a:ea typeface="Pretendard" pitchFamily="34" charset="-122"/>
                <a:cs typeface="Pretendard" pitchFamily="34" charset="-120"/>
              </a:rPr>
              <a:t>통관 · 해상 항로</a:t>
            </a:r>
            <a:endParaRPr lang="en-US" sz="1350" dirty="0"/>
          </a:p>
        </p:txBody>
      </p:sp>
      <p:sp>
        <p:nvSpPr>
          <p:cNvPr id="25" name="Text 23"/>
          <p:cNvSpPr/>
          <p:nvPr/>
        </p:nvSpPr>
        <p:spPr>
          <a:xfrm>
            <a:off x="13742670" y="8382000"/>
            <a:ext cx="1556826" cy="483870"/>
          </a:xfrm>
          <a:prstGeom prst="rect">
            <a:avLst/>
          </a:prstGeom>
          <a:noFill/>
          <a:ln/>
        </p:spPr>
        <p:txBody>
          <a:bodyPr wrap="square" lIns="25400" tIns="25400" rIns="25400" bIns="25400" rtlCol="0" anchor="t">
            <a:normAutofit/>
          </a:bodyPr>
          <a:lstStyle/>
          <a:p>
            <a:pPr marL="0" indent="0" algn="l">
              <a:lnSpc>
                <a:spcPct val="75000"/>
              </a:lnSpc>
              <a:buNone/>
            </a:pPr>
            <a:r>
              <a:rPr lang="en-US" sz="3900" b="1" dirty="0">
                <a:solidFill>
                  <a:srgbClr val="28666E"/>
                </a:solidFill>
                <a:latin typeface="Pretendard" pitchFamily="34" charset="0"/>
                <a:ea typeface="Pretendard" pitchFamily="34" charset="-122"/>
                <a:cs typeface="Pretendard" pitchFamily="34" charset="-120"/>
              </a:rPr>
              <a:t>8,556</a:t>
            </a:r>
            <a:endParaRPr lang="en-US" sz="3900" dirty="0"/>
          </a:p>
        </p:txBody>
      </p:sp>
      <p:sp>
        <p:nvSpPr>
          <p:cNvPr id="26" name="Text 24"/>
          <p:cNvSpPr/>
          <p:nvPr/>
        </p:nvSpPr>
        <p:spPr>
          <a:xfrm>
            <a:off x="15215117" y="8580120"/>
            <a:ext cx="438507" cy="28956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Pretendard" pitchFamily="34" charset="0"/>
                <a:ea typeface="Pretendard" pitchFamily="34" charset="-122"/>
                <a:cs typeface="Pretendard" pitchFamily="34" charset="-120"/>
              </a:rPr>
              <a:t>구간</a:t>
            </a:r>
            <a:endParaRPr lang="en-US" sz="1650" dirty="0"/>
          </a:p>
        </p:txBody>
      </p:sp>
      <p:sp>
        <p:nvSpPr>
          <p:cNvPr id="27" name="Text 25"/>
          <p:cNvSpPr/>
          <p:nvPr/>
        </p:nvSpPr>
        <p:spPr>
          <a:xfrm>
            <a:off x="13742670" y="8907780"/>
            <a:ext cx="3650361"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Pretendard" pitchFamily="34" charset="0"/>
                <a:ea typeface="Pretendard" pitchFamily="34" charset="-122"/>
                <a:cs typeface="Pretendard" pitchFamily="34" charset="-120"/>
              </a:rPr>
              <a:t>관세청 통관(MBL/HBL/AWB) · 오픈소스 항로</a:t>
            </a:r>
            <a:endParaRPr lang="en-US" sz="1350" dirty="0"/>
          </a:p>
        </p:txBody>
      </p:sp>
      <p:sp>
        <p:nvSpPr>
          <p:cNvPr id="28" name="Shape 26"/>
          <p:cNvSpPr/>
          <p:nvPr/>
        </p:nvSpPr>
        <p:spPr>
          <a:xfrm>
            <a:off x="914400" y="9650730"/>
            <a:ext cx="16459200" cy="9525"/>
          </a:xfrm>
          <a:prstGeom prst="rect">
            <a:avLst/>
          </a:prstGeom>
          <a:solidFill>
            <a:srgbClr val="E9E4DC"/>
          </a:solidFill>
          <a:ln/>
        </p:spPr>
      </p:sp>
      <p:sp>
        <p:nvSpPr>
          <p:cNvPr id="29" name="Text 27"/>
          <p:cNvSpPr/>
          <p:nvPr/>
        </p:nvSpPr>
        <p:spPr>
          <a:xfrm>
            <a:off x="914400" y="9772650"/>
            <a:ext cx="851532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Pretendard" pitchFamily="34" charset="0"/>
                <a:ea typeface="Pretendard" pitchFamily="34" charset="-122"/>
                <a:cs typeface="Pretendard" pitchFamily="34" charset="-120"/>
              </a:rPr>
              <a:t>시장데이터(IMF) · 방법론(UNCTAD) · 실시간(Open-Meteo·AIS) · 공공(관세청) — 네 갈래 독립 공개 소스가 지표의 근거</a:t>
            </a:r>
            <a:endParaRPr lang="en-US" sz="1275" dirty="0"/>
          </a:p>
        </p:txBody>
      </p:sp>
      <p:sp>
        <p:nvSpPr>
          <p:cNvPr id="30" name="Text 28"/>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Pretendard" pitchFamily="34" charset="0"/>
                <a:ea typeface="Pretendard" pitchFamily="34" charset="-122"/>
                <a:cs typeface="Pretendard" pitchFamily="34" charset="-120"/>
              </a:rPr>
              <a:t>18</a:t>
            </a:r>
            <a:endParaRPr lang="en-US" sz="12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3163491"/>
            <a:ext cx="17602200" cy="289560"/>
          </a:xfrm>
          <a:prstGeom prst="rect">
            <a:avLst/>
          </a:prstGeom>
          <a:noFill/>
          <a:ln/>
        </p:spPr>
        <p:txBody>
          <a:bodyPr wrap="square" lIns="25400" tIns="25400" rIns="25400" bIns="25400" rtlCol="0" anchor="t">
            <a:normAutofit/>
          </a:bodyPr>
          <a:lstStyle/>
          <a:p>
            <a:pPr marL="0" indent="0" algn="l">
              <a:buNone/>
            </a:pPr>
            <a:r>
              <a:rPr lang="en-US" sz="1650" b="1" kern="0" spc="363" dirty="0">
                <a:solidFill>
                  <a:srgbClr val="E4A24A"/>
                </a:solidFill>
                <a:latin typeface="Pretendard" pitchFamily="34" charset="0"/>
                <a:ea typeface="Pretendard" pitchFamily="34" charset="-122"/>
                <a:cs typeface="Pretendard" pitchFamily="34" charset="-120"/>
              </a:rPr>
              <a:t>WHY NOW</a:t>
            </a:r>
            <a:endParaRPr lang="en-US" sz="1650" dirty="0"/>
          </a:p>
        </p:txBody>
      </p:sp>
      <p:sp>
        <p:nvSpPr>
          <p:cNvPr id="4" name="Text 2"/>
          <p:cNvSpPr/>
          <p:nvPr/>
        </p:nvSpPr>
        <p:spPr>
          <a:xfrm>
            <a:off x="1143000" y="3586401"/>
            <a:ext cx="15716250" cy="607695"/>
          </a:xfrm>
          <a:prstGeom prst="rect">
            <a:avLst/>
          </a:prstGeom>
          <a:noFill/>
          <a:ln/>
        </p:spPr>
        <p:txBody>
          <a:bodyPr wrap="square" lIns="25400" tIns="25400" rIns="25400" bIns="25400" rtlCol="0" anchor="t">
            <a:normAutofit/>
          </a:bodyPr>
          <a:lstStyle/>
          <a:p>
            <a:pPr marL="0" indent="0" algn="l">
              <a:lnSpc>
                <a:spcPct val="95833"/>
              </a:lnSpc>
              <a:buNone/>
            </a:pPr>
            <a:r>
              <a:rPr lang="en-US" sz="3900" b="1" kern="0" spc="-39" dirty="0">
                <a:solidFill>
                  <a:srgbClr val="F5F3EE"/>
                </a:solidFill>
                <a:latin typeface="Pretendard" pitchFamily="34" charset="0"/>
                <a:ea typeface="Pretendard" pitchFamily="34" charset="-122"/>
                <a:cs typeface="Pretendard" pitchFamily="34" charset="-120"/>
              </a:rPr>
              <a:t>정보는 흩어져 있고, 취합은 수작업이며, 데이터는 아직 데모입니다</a:t>
            </a:r>
            <a:endParaRPr lang="en-US" sz="3900" dirty="0"/>
          </a:p>
        </p:txBody>
      </p:sp>
      <p:sp>
        <p:nvSpPr>
          <p:cNvPr id="5" name="Shape 3"/>
          <p:cNvSpPr/>
          <p:nvPr/>
        </p:nvSpPr>
        <p:spPr>
          <a:xfrm>
            <a:off x="1143000" y="4651296"/>
            <a:ext cx="3757613" cy="19050"/>
          </a:xfrm>
          <a:prstGeom prst="rect">
            <a:avLst/>
          </a:prstGeom>
          <a:solidFill>
            <a:srgbClr val="E4A24A"/>
          </a:solidFill>
          <a:ln/>
        </p:spPr>
      </p:sp>
      <p:sp>
        <p:nvSpPr>
          <p:cNvPr id="6" name="Text 4"/>
          <p:cNvSpPr/>
          <p:nvPr/>
        </p:nvSpPr>
        <p:spPr>
          <a:xfrm>
            <a:off x="1143000" y="4841796"/>
            <a:ext cx="4133374"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Pretendard" pitchFamily="34" charset="0"/>
                <a:ea typeface="Pretendard" pitchFamily="34" charset="-122"/>
                <a:cs typeface="Pretendard" pitchFamily="34" charset="-120"/>
              </a:rPr>
              <a:t>실증된 실데이터</a:t>
            </a:r>
            <a:endParaRPr lang="en-US" sz="1725" dirty="0"/>
          </a:p>
        </p:txBody>
      </p:sp>
      <p:sp>
        <p:nvSpPr>
          <p:cNvPr id="7" name="Text 5"/>
          <p:cNvSpPr/>
          <p:nvPr/>
        </p:nvSpPr>
        <p:spPr>
          <a:xfrm>
            <a:off x="1143000" y="5196126"/>
            <a:ext cx="4133374" cy="300514"/>
          </a:xfrm>
          <a:prstGeom prst="rect">
            <a:avLst/>
          </a:prstGeom>
          <a:noFill/>
          <a:ln/>
        </p:spPr>
        <p:txBody>
          <a:bodyPr wrap="square" lIns="25400" tIns="25400" rIns="25400" bIns="25400" rtlCol="0" anchor="t">
            <a:normAutofit/>
          </a:bodyPr>
          <a:lstStyle/>
          <a:p>
            <a:pPr marL="0" indent="0" algn="l">
              <a:lnSpc>
                <a:spcPct val="118750"/>
              </a:lnSpc>
              <a:buNone/>
            </a:pPr>
            <a:r>
              <a:rPr lang="en-US" sz="1425" dirty="0">
                <a:solidFill>
                  <a:srgbClr val="C9CCD1"/>
                </a:solidFill>
                <a:latin typeface="Pretendard" pitchFamily="34" charset="0"/>
                <a:ea typeface="Pretendard" pitchFamily="34" charset="-122"/>
                <a:cs typeface="Pretendard" pitchFamily="34" charset="-120"/>
              </a:rPr>
              <a:t>8개 화면 · 224건·10,212행 검증 · 이미 운영 중</a:t>
            </a:r>
            <a:endParaRPr lang="en-US" sz="1425" dirty="0"/>
          </a:p>
        </p:txBody>
      </p:sp>
      <p:sp>
        <p:nvSpPr>
          <p:cNvPr id="8" name="Shape 6"/>
          <p:cNvSpPr/>
          <p:nvPr/>
        </p:nvSpPr>
        <p:spPr>
          <a:xfrm>
            <a:off x="5224463" y="4651296"/>
            <a:ext cx="3757613" cy="19050"/>
          </a:xfrm>
          <a:prstGeom prst="rect">
            <a:avLst/>
          </a:prstGeom>
          <a:solidFill>
            <a:srgbClr val="E4A24A"/>
          </a:solidFill>
          <a:ln/>
        </p:spPr>
      </p:sp>
      <p:sp>
        <p:nvSpPr>
          <p:cNvPr id="9" name="Text 7"/>
          <p:cNvSpPr/>
          <p:nvPr/>
        </p:nvSpPr>
        <p:spPr>
          <a:xfrm>
            <a:off x="5224463" y="4841796"/>
            <a:ext cx="4133374"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Pretendard" pitchFamily="34" charset="0"/>
                <a:ea typeface="Pretendard" pitchFamily="34" charset="-122"/>
                <a:cs typeface="Pretendard" pitchFamily="34" charset="-120"/>
              </a:rPr>
              <a:t>제로 비용</a:t>
            </a:r>
            <a:endParaRPr lang="en-US" sz="1725" dirty="0"/>
          </a:p>
        </p:txBody>
      </p:sp>
      <p:sp>
        <p:nvSpPr>
          <p:cNvPr id="10" name="Text 8"/>
          <p:cNvSpPr/>
          <p:nvPr/>
        </p:nvSpPr>
        <p:spPr>
          <a:xfrm>
            <a:off x="5224463" y="5196126"/>
            <a:ext cx="4133374" cy="300514"/>
          </a:xfrm>
          <a:prstGeom prst="rect">
            <a:avLst/>
          </a:prstGeom>
          <a:noFill/>
          <a:ln/>
        </p:spPr>
        <p:txBody>
          <a:bodyPr wrap="square" lIns="25400" tIns="25400" rIns="25400" bIns="25400" rtlCol="0" anchor="t">
            <a:normAutofit/>
          </a:bodyPr>
          <a:lstStyle/>
          <a:p>
            <a:pPr marL="0" indent="0" algn="l">
              <a:lnSpc>
                <a:spcPct val="118750"/>
              </a:lnSpc>
              <a:buNone/>
            </a:pPr>
            <a:r>
              <a:rPr lang="en-US" sz="1425" dirty="0">
                <a:solidFill>
                  <a:srgbClr val="C9CCD1"/>
                </a:solidFill>
                <a:latin typeface="Pretendard" pitchFamily="34" charset="0"/>
                <a:ea typeface="Pretendard" pitchFamily="34" charset="-122"/>
                <a:cs typeface="Pretendard" pitchFamily="34" charset="-120"/>
              </a:rPr>
              <a:t>무료 오픈API · GitHub Pages — 인프라 월 0원</a:t>
            </a:r>
            <a:endParaRPr lang="en-US" sz="1425" dirty="0"/>
          </a:p>
        </p:txBody>
      </p:sp>
      <p:sp>
        <p:nvSpPr>
          <p:cNvPr id="11" name="Shape 9"/>
          <p:cNvSpPr/>
          <p:nvPr/>
        </p:nvSpPr>
        <p:spPr>
          <a:xfrm>
            <a:off x="9305925" y="4651296"/>
            <a:ext cx="3757613" cy="19050"/>
          </a:xfrm>
          <a:prstGeom prst="rect">
            <a:avLst/>
          </a:prstGeom>
          <a:solidFill>
            <a:srgbClr val="E4A24A"/>
          </a:solidFill>
          <a:ln/>
        </p:spPr>
      </p:sp>
      <p:sp>
        <p:nvSpPr>
          <p:cNvPr id="12" name="Text 10"/>
          <p:cNvSpPr/>
          <p:nvPr/>
        </p:nvSpPr>
        <p:spPr>
          <a:xfrm>
            <a:off x="9305925" y="4841796"/>
            <a:ext cx="4133374"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Pretendard" pitchFamily="34" charset="0"/>
                <a:ea typeface="Pretendard" pitchFamily="34" charset="-122"/>
                <a:cs typeface="Pretendard" pitchFamily="34" charset="-120"/>
              </a:rPr>
              <a:t>확장 로드맵</a:t>
            </a:r>
            <a:endParaRPr lang="en-US" sz="1725" dirty="0"/>
          </a:p>
        </p:txBody>
      </p:sp>
      <p:sp>
        <p:nvSpPr>
          <p:cNvPr id="13" name="Text 11"/>
          <p:cNvSpPr/>
          <p:nvPr/>
        </p:nvSpPr>
        <p:spPr>
          <a:xfrm>
            <a:off x="9305925" y="5196126"/>
            <a:ext cx="4133374" cy="300514"/>
          </a:xfrm>
          <a:prstGeom prst="rect">
            <a:avLst/>
          </a:prstGeom>
          <a:noFill/>
          <a:ln/>
        </p:spPr>
        <p:txBody>
          <a:bodyPr wrap="square" lIns="25400" tIns="25400" rIns="25400" bIns="25400" rtlCol="0" anchor="t">
            <a:normAutofit/>
          </a:bodyPr>
          <a:lstStyle/>
          <a:p>
            <a:pPr marL="0" indent="0" algn="l">
              <a:lnSpc>
                <a:spcPct val="118750"/>
              </a:lnSpc>
              <a:buNone/>
            </a:pPr>
            <a:r>
              <a:rPr lang="en-US" sz="1425" dirty="0">
                <a:solidFill>
                  <a:srgbClr val="C9CCD1"/>
                </a:solidFill>
                <a:latin typeface="Pretendard" pitchFamily="34" charset="0"/>
                <a:ea typeface="Pretendard" pitchFamily="34" charset="-122"/>
                <a:cs typeface="Pretendard" pitchFamily="34" charset="-120"/>
              </a:rPr>
              <a:t>해외 · Ship Schedule · v3 지표 (M1~M3)</a:t>
            </a:r>
            <a:endParaRPr lang="en-US" sz="1425" dirty="0"/>
          </a:p>
        </p:txBody>
      </p:sp>
      <p:sp>
        <p:nvSpPr>
          <p:cNvPr id="14" name="Shape 12"/>
          <p:cNvSpPr/>
          <p:nvPr/>
        </p:nvSpPr>
        <p:spPr>
          <a:xfrm>
            <a:off x="13387388" y="4651296"/>
            <a:ext cx="3757613" cy="19050"/>
          </a:xfrm>
          <a:prstGeom prst="rect">
            <a:avLst/>
          </a:prstGeom>
          <a:solidFill>
            <a:srgbClr val="E4A24A"/>
          </a:solidFill>
          <a:ln/>
        </p:spPr>
      </p:sp>
      <p:sp>
        <p:nvSpPr>
          <p:cNvPr id="15" name="Text 13"/>
          <p:cNvSpPr/>
          <p:nvPr/>
        </p:nvSpPr>
        <p:spPr>
          <a:xfrm>
            <a:off x="13387388" y="4841796"/>
            <a:ext cx="4133374" cy="29718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Pretendard" pitchFamily="34" charset="0"/>
                <a:ea typeface="Pretendard" pitchFamily="34" charset="-122"/>
                <a:cs typeface="Pretendard" pitchFamily="34" charset="-120"/>
              </a:rPr>
              <a:t>지금</a:t>
            </a:r>
            <a:endParaRPr lang="en-US" sz="1725" dirty="0"/>
          </a:p>
        </p:txBody>
      </p:sp>
      <p:sp>
        <p:nvSpPr>
          <p:cNvPr id="16" name="Text 14"/>
          <p:cNvSpPr/>
          <p:nvPr/>
        </p:nvSpPr>
        <p:spPr>
          <a:xfrm>
            <a:off x="13387388" y="5196126"/>
            <a:ext cx="4133374" cy="300514"/>
          </a:xfrm>
          <a:prstGeom prst="rect">
            <a:avLst/>
          </a:prstGeom>
          <a:noFill/>
          <a:ln/>
        </p:spPr>
        <p:txBody>
          <a:bodyPr wrap="square" lIns="25400" tIns="25400" rIns="25400" bIns="25400" rtlCol="0" anchor="t">
            <a:normAutofit/>
          </a:bodyPr>
          <a:lstStyle/>
          <a:p>
            <a:pPr marL="0" indent="0" algn="l">
              <a:lnSpc>
                <a:spcPct val="118750"/>
              </a:lnSpc>
              <a:buNone/>
            </a:pPr>
            <a:r>
              <a:rPr lang="en-US" sz="1425" dirty="0">
                <a:solidFill>
                  <a:srgbClr val="C9CCD1"/>
                </a:solidFill>
                <a:latin typeface="Pretendard" pitchFamily="34" charset="0"/>
                <a:ea typeface="Pretendard" pitchFamily="34" charset="-122"/>
                <a:cs typeface="Pretendard" pitchFamily="34" charset="-120"/>
              </a:rPr>
              <a:t>담당자 피드백 확보 · 5일 만에 v1 · 선점 시점</a:t>
            </a:r>
            <a:endParaRPr lang="en-US" sz="1425" dirty="0"/>
          </a:p>
        </p:txBody>
      </p:sp>
      <p:sp>
        <p:nvSpPr>
          <p:cNvPr id="17" name="Text 15"/>
          <p:cNvSpPr/>
          <p:nvPr/>
        </p:nvSpPr>
        <p:spPr>
          <a:xfrm>
            <a:off x="1143000" y="5991939"/>
            <a:ext cx="17602200" cy="464820"/>
          </a:xfrm>
          <a:prstGeom prst="rect">
            <a:avLst/>
          </a:prstGeom>
          <a:noFill/>
          <a:ln/>
        </p:spPr>
        <p:txBody>
          <a:bodyPr wrap="square" lIns="25400" tIns="25400" rIns="25400" bIns="25400" rtlCol="0" anchor="t">
            <a:normAutofit/>
          </a:bodyPr>
          <a:lstStyle/>
          <a:p>
            <a:pPr marL="0" indent="0" algn="l">
              <a:buNone/>
            </a:pPr>
            <a:r>
              <a:rPr lang="en-US" sz="2850" b="1" kern="0" spc="-29" dirty="0">
                <a:solidFill>
                  <a:srgbClr val="F5F3EE"/>
                </a:solidFill>
                <a:latin typeface="Pretendard" pitchFamily="34" charset="0"/>
                <a:ea typeface="Pretendard" pitchFamily="34" charset="-122"/>
                <a:cs typeface="Pretendard" pitchFamily="34" charset="-120"/>
              </a:rPr>
              <a:t>가시성을 넘어, </a:t>
            </a:r>
            <a:r>
              <a:rPr lang="en-US" sz="2850" b="1" kern="0" spc="-29" dirty="0">
                <a:solidFill>
                  <a:srgbClr val="E4A24A"/>
                </a:solidFill>
                <a:latin typeface="Pretendard" pitchFamily="34" charset="0"/>
                <a:ea typeface="Pretendard" pitchFamily="34" charset="-122"/>
                <a:cs typeface="Pretendard" pitchFamily="34" charset="-120"/>
              </a:rPr>
              <a:t>‘실행하는 컨트롤타워’</a:t>
            </a:r>
            <a:r>
              <a:rPr lang="en-US" sz="2850" b="1" kern="0" spc="-29" dirty="0">
                <a:solidFill>
                  <a:srgbClr val="F5F3EE"/>
                </a:solidFill>
                <a:latin typeface="Pretendard" pitchFamily="34" charset="0"/>
                <a:ea typeface="Pretendard" pitchFamily="34" charset="-122"/>
                <a:cs typeface="Pretendard" pitchFamily="34" charset="-120"/>
              </a:rPr>
              <a:t>가 되겠습니다</a:t>
            </a:r>
            <a:endParaRPr lang="en-US" sz="2850" dirty="0"/>
          </a:p>
        </p:txBody>
      </p:sp>
      <p:sp>
        <p:nvSpPr>
          <p:cNvPr id="18" name="Text 16"/>
          <p:cNvSpPr/>
          <p:nvPr/>
        </p:nvSpPr>
        <p:spPr>
          <a:xfrm>
            <a:off x="1143000" y="9525000"/>
            <a:ext cx="4370296" cy="266700"/>
          </a:xfrm>
          <a:prstGeom prst="rect">
            <a:avLst/>
          </a:prstGeom>
          <a:noFill/>
          <a:ln/>
        </p:spPr>
        <p:txBody>
          <a:bodyPr wrap="square" lIns="25400" tIns="25400" rIns="25400" bIns="25400" rtlCol="0" anchor="t">
            <a:normAutofit/>
          </a:bodyPr>
          <a:lstStyle/>
          <a:p>
            <a:pPr marL="0" indent="0" algn="l">
              <a:buNone/>
            </a:pPr>
            <a:r>
              <a:rPr lang="en-US" sz="1500" dirty="0">
                <a:solidFill>
                  <a:srgbClr val="9AA0A6"/>
                </a:solidFill>
                <a:latin typeface="Pretendard" pitchFamily="34" charset="0"/>
                <a:ea typeface="Pretendard" pitchFamily="34" charset="-122"/>
                <a:cs typeface="Pretendard" pitchFamily="34" charset="-120"/>
              </a:rPr>
              <a:t>AI 기반 글로벌 공급망 컨트롤타워 · TWL SmartBPO</a:t>
            </a:r>
            <a:endParaRPr lang="en-US" sz="1500" dirty="0"/>
          </a:p>
        </p:txBody>
      </p:sp>
      <p:sp>
        <p:nvSpPr>
          <p:cNvPr id="19" name="Text 17"/>
          <p:cNvSpPr/>
          <p:nvPr/>
        </p:nvSpPr>
        <p:spPr>
          <a:xfrm>
            <a:off x="15844242" y="9525000"/>
            <a:ext cx="1430834" cy="266700"/>
          </a:xfrm>
          <a:prstGeom prst="rect">
            <a:avLst/>
          </a:prstGeom>
          <a:noFill/>
          <a:ln/>
        </p:spPr>
        <p:txBody>
          <a:bodyPr wrap="square" lIns="25400" tIns="25400" rIns="25400" bIns="25400" rtlCol="0" anchor="t">
            <a:normAutofit/>
          </a:bodyPr>
          <a:lstStyle/>
          <a:p>
            <a:pPr marL="0" indent="0" algn="l">
              <a:buNone/>
            </a:pPr>
            <a:r>
              <a:rPr lang="en-US" sz="1500" b="1" dirty="0">
                <a:solidFill>
                  <a:srgbClr val="F5F3EE"/>
                </a:solidFill>
                <a:latin typeface="Pretendard" pitchFamily="34" charset="0"/>
                <a:ea typeface="Pretendard" pitchFamily="34" charset="-122"/>
                <a:cs typeface="Pretendard" pitchFamily="34" charset="-120"/>
              </a:rPr>
              <a:t>itt@twsc.co.kr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4470</Words>
  <Application>Microsoft Office PowerPoint</Application>
  <PresentationFormat>사용자 지정</PresentationFormat>
  <Paragraphs>509</Paragraphs>
  <Slides>22</Slides>
  <Notes>22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22</vt:i4>
      </vt:variant>
    </vt:vector>
  </HeadingPairs>
  <TitlesOfParts>
    <vt:vector size="26" baseType="lpstr">
      <vt:lpstr>Pretendard</vt:lpstr>
      <vt:lpstr>Arial</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2</cp:revision>
  <dcterms:created xsi:type="dcterms:W3CDTF">2026-07-28T06:14:28Z</dcterms:created>
  <dcterms:modified xsi:type="dcterms:W3CDTF">2026-07-28T06:17:46Z</dcterms:modified>
</cp:coreProperties>
</file>