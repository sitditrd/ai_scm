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902" autoAdjust="0"/>
  </p:normalViewPr>
  <p:slideViewPr>
    <p:cSldViewPr snapToGrid="0" snapToObjects="1">
      <p:cViewPr varScale="1">
        <p:scale>
          <a:sx n="41" d="100"/>
          <a:sy n="41" d="100"/>
        </p:scale>
        <p:origin x="1474" y="5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0665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「AI 기반 글로벌 공급망 컨트롤타워」 구축 사업을 보고드리겠습니다. 핵심 메시지는 하나입니다 — 흩어져 있는 항만·선박·운임·통관 정보를 실데이터로 한 화면에 모으고, 단순 조회를 넘어 리스크 예측과 실행까지 잇는 컨트롤타워를 만들겠다는 것입니다. 특별한 점은, 이 시스템을 단 5일 만에 상용 수준으로 구축해 이미 운영 중이라는 것입니다. 오늘은 현황, 문제점, 해결책, 그리고 타당성과 확장성까지 순서대로 검증해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단계입니다. 먼저 매일 아침 담당자가 겪는 취합의 현실과 파편화된 데이터 지형으로 현황을 짚고, 컨트롤타워 부재가 낳는 구조적 문제점을 정의합니다. 이어 8개 화면을 실데이터로 통합한 해결책과 무료 오픈API 기반 운영 모델을 제시하고, 마지막으로 제로에 가까운 인프라 비용과 개발 성과·검증, 확장 로드맵까지 타당성을 확인합니다. '정보는 흩어져 있고, 취합은 수작업이며, 데이터는 아직 데모다' — 이 한 문장이 오늘의 논지입니다.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현황입니다. 지금부터 말씀드리는 내용은 전부 5일간 실제로 구축·운영한 시스템의 데이터와 담당자 피드백에 근거합니다. 외부 수치는 IMF PortWatch·Open-Meteo 같은 공개 소스를 실호출로 검증했고, 추정치는 명확히 구분해 표기했습니다. 매일 아침 담당자가 어떤 수고를 치르고 있는지부터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담당자의 하루입니다. 수출입 운영 담당자는 매일 아침 부산신항·광양·인천 9개 터미널 사이트에 하나씩 접속해 선석배정 현황을 확인합니다. 터미널마다 화면과 컬럼이 모두 달라 취합에만 매일 30분에서 1시간이 걸리고, 그 결과는 개인 엑셀에 갇혀 팀 공유도 이력 관리도 안 됩니다. 결정적으로 반입마감시한을 놓치면 곧바로 선적 실패, 즉 롤오버로 이어집니다. 하루 224건을 손으로 정규화하는 이 작업이 자동화의 첫 출발점이었습니다.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문제는 필요한 정보가 한 곳에 없다는 것입니다. 선석배정은 터미널 웹사이트, 항만 혼잡도는 IMF PortWatch 위성 AIS, 선박 위치는 VesselFinder, 운임은 상하이해운거래소, 기상은 Open-Meteo, 통관은 관세청 유니패스 — 여섯 갈래로 소스도 포맷도 갱신주기도 제각각입니다. 담당자는 판단 하나를 위해 여러 화면을 오가야 했고, 이 통합 조회 계층의 부재가 두 번째 현황입니다.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신뢰성입니다. 화면이 아무리 그럴듯해도 데이터가 데모면 현업은 쓰지 않습니다. 그래서 전 파일 89건을 전수 감사해 가짜 난수와 데모 문구를 걷어내고 실서비스 기준으로 개편했습니다. 오픈데이터 41건을 조사해 무료·무인증 소스를 선별했고, 혼잡도 API는 6종을 실제로 호출해 비교한 끝에 IMF PortWatch를 채택했습니다. 상용 가시성 솔루션은 유료에 로그인이 필요하고 무엇보다 느립니다 — 공개 데이터를 통합·정제해 사내 표준을 만드는 편이 낫다고 판단했습니다.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현황은 왜 지금이냐입니다. 전 세계 항만은 붐비고, 운임은 출렁이며, ETA는 불확실합니다. 저희는 IMF PortWatch 위성 데이터로 글로벌 93개 항만의 혼잡도를 매일 산출하고, 사전계산한 8,556개 해상 구간으로 부산에서 로테르담까지 소요일을 몬테카를로로 추정합니다. SCFI·CCFI로 운임 변동성도 추적합니다. 공개 혼잡 데이터는 7~10일 지연이 있지만 국내 항만은 실측 선석으로 보정해 지연을 없앴습니다. 변동성이 클수록 이 통합 가시성의 가치는 커집니다.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현장의 문제점입니다. 방금 본 현황을 네 가지 구조적 문제로 압축했습니다. 취합 채널의 부재, 데이터 파편화, 신뢰성 공백, 그리고 이력·공유의 단절 — 이 네 가지가 서로 맞물려 물류 운영을 아날로그에 묶어둡니다.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첫째, 17개 터미널과 6개 데이터 소스를 잇는 단일 조회 채널이 없어 매일 수작업으로 여러 화면을 오갑니다. 둘째, 소스도 포맷도 주기도 달라 실시간 통합 가시성이 없고 크로스 조회가 안 됩니다. 셋째, 데모·가짜 데이터가 섞여 현업 신뢰가 떨어지는데 검증 절차가 표준화돼 있지 않습니다. 넷째, 취합 결과가 개인 엑셀에 갇혀 팀 자산으로 축적되지 않습니다. 이 네 가지가 서로 맞물려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저희의 해결책은 흩어진 것을 하나로 잇는 것입니다. 8개 화면을 실데이터로 통합한 컨트롤타워, 수집부터 표현까지 자동화한 파이프라인, 무료 오픈API 기반의 제로 비용 스택, 그리고 혼잡도와 소요일을 정량화하는 검증된 방법론입니다.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핵심은 조회에서 끝나지 않는다는 점입니다. 왼쪽의 여섯 외부 소스를 자동 파이프라인이 수집·정규화해 Supabase에 적재하고, 오른쪽 여덟 화면으로 뿌립니다. 단순 실데이터 조회를 넘어 PCI 혼잡도와 ETA 지연, 경로 소요일로 리스크를 정량화하고, 반입마감 임박 강조와 화물 추적으로 실행을 지원하며, 매일 자동수집과 신선도 보드로 운영까지 자동화합니다. 수집·저장·표현 세 계층이 사람 손 없이 도는 구조가 경쟁력입니다.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화면은 여덟 개이고 전부 실데이터입니다. Port Insight는 글로벌 93개 항만 혼잡도를 게이지와 지도로 보여주고, 선석배정은 9개 터미널을 통합해 반입마감 임박을 강조합니다. 선박 위치는 실시간 AIS 지도, 화물 추적은 유니패스 통관 타임라인, 경로 분석은 소요일을 몬테카를로로 분포까지 냅니다. 운임지수·항만 기상·데이터 현황 보드까지 — 데모나 가짜 난수 없이 공개·실측 데이터만 씁니다. 이것이 현업이 신뢰하고 쓰는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운영·비용 모델은 단순합니다. 데이터는 IMF PortWatch, Open-Meteo, VesselFinder, 상하이 운임지수, 유니패스, searoute까지 전부 무료 공개 소스입니다. 저장은 Supabase 무료 티어, 배포는 GitHub Pages 자동배포로 인프라 비용이 사실상 0원입니다. 자동화는 키가 필요 없는 스케줄 세 종이 매일 무인으로 돌고, 프런트는 오픈소스 스택에 지금 React·타입스크립트로 이관 중입니다. 상용 가시성 솔루션이 유료·로그인인 것과 달리, 데이터와 코드가 그대로 사내 자산으로 남는다는 점이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타당성과 확장성입니다. 구축 비용이 사실상 제로라는 점, 단 5일 만에 8개 화면을 실데이터로 구현·검증했다는 점, 혼잡도와 소요일을 정량화한 방법론, 그리고 확장 로드맵과 외부 검증까지 순서대로 보시겠습니다.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비용입니다. 데이터, 저장, 배포, 라이선스 — 전 구간을 무료로 구성해 월 인프라·데이터 비용이 사실상 0원입니다. 만약 상용으로 구성했다면 항만 혼잡 데이터는 구독, 지도는 종량 API, DB와 호스팅은 클라우드 요금, 가시성은 tradlinx 같은 SaaS 구독이 필요했을 겁니다. 저희는 이 전부를 IMF PortWatch, Leaflet, Supabase 무료 티어, 공개 데이터 통합으로 대체했습니다. 유일한 비용은 개발 인건비뿐이고, 나중에 확장하더라도 종량 과금으로 점진 대응이 가능해 초기 고정비 부담이 없습니다.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비용이 제로라면 품질은 어떠냐 — 성과와 검증입니다. 2026년 7월 24일부터 28일까지 단 5일, 11단계에 걸쳐 8개 화면을 전부 실데이터로 구현하고 배포까지 마쳤습니다. 검증도 숫자로 남겼습니다. 선석배정 224건을 정규화해 E2E로 통과했고, PortWatch 실데이터 1만212행으로 93개 항만 PCI를 산출했으며, 14일치 3,218건을 백필했습니다. 콘솔 오류와 보안 어드바이저는 0건입니다. 완성 솔루션을 구독하는 대신 5일·0원으로 자체 구축했고, 무엇보다 데이터와 코드가 그대로 사내 자산으로 남았습니다.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화면이 저희 방법론의 핵심입니다. 항만 혼잡도 지수 PCI는 세 요소를 가중합합니다 — 활동량 60퍼센트, 물동량 25퍼센트, 모멘텀 15퍼센트. 활동량은 최근 7일 평균 기항수가 120일 분포에서 차지하는 백분위이고, 모멘텀은 최근 7일과 직전 7일의 변화율을 시그모이드로 0에서 100으로 매핑합니다. IMF PortWatch 위성 데이터 1만212행을 받아 Focus 93개 항만을 100퍼센트 매핑해 산출했고, 공개 데이터의 7~10일 지연은 국내 부산·광양·인천의 실측 선석으로 보정했습니다. 크리티컬 항만이 15개를 넘거나 평균이 60을 넘으면 글로벌 리스크를 HIGH로 판정합니다. 가짜 난수가 아니라 근거 있는 지표라는 점을 강조드립니다.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확장은 단계적입니다. 1단계 v1은 이미 8개 화면으로 운영 중입니다. M1 핵심 단계에서는 담당자 피드백을 반영해 포트 검색, 국내·해외 탭 분리, 터미널 8곳 확대, 그리고 가장 요청이 많았던 Ship Schedule 3뷰를 붙입니다. M2에서는 해외 터미널로 넓히고 성능을 3초 이내로 끌어올립니다. M3에서는 UNCTAD 선석점유율과 Erlang C 대기시간 같은 v3 지표와 React 완전 이관까지 갑니다. 방법론은 이미 실데이터로 사전 검증을 마쳤습니다.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위험물이 아니라 이 컨트롤타워 자체가 발판입니다. 첫째, 해외로 넓혀 Ship Schedule 3뷰와 해외 터미널 스케줄을 붙이되 searates보다 빠르게 만듭니다. 둘째, ETA 지연 리스크와 경로 몬테카를로, v3 생산성 지표로 지능화합니다. 셋째, 법인과 계열사 본사로 배포를 넓히고 역할별 관심 선박 구독을 더합니다. 넷째, React 재사용 그리드와 파서 플러그인 구조로 터미널을 추가할 때 설정과 파서만 더하면 되도록 플랫폼화합니다. 무료·표준 기반 파이프라인이 그대로 확장 자산이 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타당성의 마지막 근거는 외부 검증입니다. 지표는 우리 주장이 아니라 공개 기관 데이터로 뒷받침됩니다. 혼잡도는 IMF PortWatch 위성 데이터로 93개 항만을 100퍼센트 매핑했고, v3 생산성 지표는 UNCTAD 선석점유율과 Erlang C 대기시간으로 부산 PNIT 사례까지 사전 검증했습니다. 기상과 선박 위치는 Open-Meteo와 VesselFinder를 실제로 호출해 200 응답을 확인했고, 통관과 항로는 관세청 유니패스와 오픈소스 searoute를 씁니다. 시장·방법론·실시간·공공, 네 갈래 공개 소스가 모두 같은 방향을 가리킵니다.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정보는 흩어져 있고 취합은 수작업이며 데이터는 아직 데모입니다 — 저희는 이 셋을 정면으로 풀었습니다. 8개 화면을 실데이터로 이미 운영 중이고, 인프라 비용은 월 0원이며, 해외와 v3 지표로 가는 확장 로드맵이 있습니다. 무엇보다 담당자 피드백을 확보한 지금이 선점 시점입니다. 저희는 단순 조회를 넘어, 리스크를 예측하고 실행까지 잇는 '실행하는 컨트롤타워'가 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3392448"/>
            <a:ext cx="17602200" cy="289560"/>
          </a:xfrm>
          <a:prstGeom prst="rect">
            <a:avLst/>
          </a:prstGeom>
          <a:noFill/>
          <a:ln/>
        </p:spPr>
        <p:txBody>
          <a:bodyPr wrap="square" lIns="25400" tIns="25400" rIns="25400" bIns="25400" rtlCol="0" anchor="t">
            <a:normAutofit lnSpcReduction="10000"/>
          </a:bodyPr>
          <a:lstStyle/>
          <a:p>
            <a:pPr marL="0" indent="0" algn="l">
              <a:buNone/>
            </a:pPr>
            <a:r>
              <a:rPr lang="en-US" sz="1650" b="1" kern="0" spc="429" dirty="0">
                <a:solidFill>
                  <a:srgbClr val="E4A24A"/>
                </a:solidFill>
                <a:latin typeface="Arial" pitchFamily="34" charset="0"/>
                <a:ea typeface="Arial" pitchFamily="34" charset="-122"/>
                <a:cs typeface="Arial" pitchFamily="34" charset="-120"/>
              </a:rPr>
              <a:t>GLOBAL SUPPLY CHAIN · AI CONTROL TOWER</a:t>
            </a:r>
            <a:endParaRPr lang="en-US" sz="1650" dirty="0"/>
          </a:p>
        </p:txBody>
      </p:sp>
      <p:sp>
        <p:nvSpPr>
          <p:cNvPr id="4" name="Text 2"/>
          <p:cNvSpPr/>
          <p:nvPr/>
        </p:nvSpPr>
        <p:spPr>
          <a:xfrm>
            <a:off x="1143000" y="3948708"/>
            <a:ext cx="17602200" cy="1048464"/>
          </a:xfrm>
          <a:prstGeom prst="rect">
            <a:avLst/>
          </a:prstGeom>
          <a:noFill/>
          <a:ln/>
        </p:spPr>
        <p:txBody>
          <a:bodyPr wrap="square" lIns="25400" tIns="25400" rIns="25400" bIns="25400" rtlCol="0" anchor="t">
            <a:normAutofit/>
          </a:bodyPr>
          <a:lstStyle/>
          <a:p>
            <a:pPr marL="0" indent="0" algn="l">
              <a:lnSpc>
                <a:spcPct val="72459"/>
              </a:lnSpc>
              <a:buNone/>
            </a:pPr>
            <a:r>
              <a:rPr lang="en-US" sz="7800" b="1" kern="0" spc="-195" dirty="0" err="1">
                <a:solidFill>
                  <a:srgbClr val="F5F3EE"/>
                </a:solidFill>
                <a:latin typeface="Arial" pitchFamily="34" charset="0"/>
                <a:ea typeface="Arial" pitchFamily="34" charset="-122"/>
                <a:cs typeface="Arial" pitchFamily="34" charset="-120"/>
              </a:rPr>
              <a:t>AI기반</a:t>
            </a:r>
            <a:r>
              <a:rPr lang="en-US" sz="7800" b="1" kern="0" spc="-195" dirty="0">
                <a:solidFill>
                  <a:srgbClr val="F5F3EE"/>
                </a:solidFill>
                <a:latin typeface="Arial" pitchFamily="34" charset="0"/>
                <a:ea typeface="Arial" pitchFamily="34" charset="-122"/>
                <a:cs typeface="Arial" pitchFamily="34" charset="-120"/>
              </a:rPr>
              <a:t> 글로벌 공급망 컨트롤타워</a:t>
            </a:r>
            <a:endParaRPr lang="en-US" sz="7800" dirty="0"/>
          </a:p>
        </p:txBody>
      </p:sp>
      <p:sp>
        <p:nvSpPr>
          <p:cNvPr id="5" name="Shape 3"/>
          <p:cNvSpPr/>
          <p:nvPr/>
        </p:nvSpPr>
        <p:spPr>
          <a:xfrm>
            <a:off x="1143000" y="5302036"/>
            <a:ext cx="723900" cy="47625"/>
          </a:xfrm>
          <a:prstGeom prst="rect">
            <a:avLst/>
          </a:prstGeom>
          <a:solidFill>
            <a:srgbClr val="E4A24A"/>
          </a:solidFill>
          <a:ln/>
        </p:spPr>
      </p:sp>
      <p:sp>
        <p:nvSpPr>
          <p:cNvPr id="6" name="Text 4"/>
          <p:cNvSpPr/>
          <p:nvPr/>
        </p:nvSpPr>
        <p:spPr>
          <a:xfrm>
            <a:off x="1143000" y="5654461"/>
            <a:ext cx="14668500" cy="459105"/>
          </a:xfrm>
          <a:prstGeom prst="rect">
            <a:avLst/>
          </a:prstGeom>
          <a:noFill/>
          <a:ln/>
        </p:spPr>
        <p:txBody>
          <a:bodyPr wrap="square" lIns="25400" tIns="25400" rIns="25400" bIns="25400" rtlCol="0" anchor="t">
            <a:normAutofit lnSpcReduction="10000"/>
          </a:bodyPr>
          <a:lstStyle/>
          <a:p>
            <a:pPr marL="0" indent="0" algn="l">
              <a:lnSpc>
                <a:spcPct val="115104"/>
              </a:lnSpc>
              <a:buNone/>
            </a:pPr>
            <a:r>
              <a:rPr lang="en-US" sz="2550" dirty="0">
                <a:solidFill>
                  <a:srgbClr val="C9CCD1"/>
                </a:solidFill>
                <a:latin typeface="Arial" pitchFamily="34" charset="0"/>
                <a:ea typeface="Arial" pitchFamily="34" charset="-122"/>
                <a:cs typeface="Arial" pitchFamily="34" charset="-120"/>
              </a:rPr>
              <a:t>‘가시성’을 넘어 </a:t>
            </a:r>
            <a:r>
              <a:rPr lang="en-US" sz="2550" b="1" dirty="0">
                <a:solidFill>
                  <a:srgbClr val="E4A24A"/>
                </a:solidFill>
                <a:latin typeface="Arial" pitchFamily="34" charset="0"/>
                <a:ea typeface="Arial" pitchFamily="34" charset="-122"/>
                <a:cs typeface="Arial" pitchFamily="34" charset="-120"/>
              </a:rPr>
              <a:t>실행까지 </a:t>
            </a:r>
            <a:r>
              <a:rPr lang="en-US" sz="2550" dirty="0">
                <a:solidFill>
                  <a:srgbClr val="C9CCD1"/>
                </a:solidFill>
                <a:latin typeface="Arial" pitchFamily="34" charset="0"/>
                <a:ea typeface="Arial" pitchFamily="34" charset="-122"/>
                <a:cs typeface="Arial" pitchFamily="34" charset="-120"/>
              </a:rPr>
              <a:t>— 조달·생산·물류·리스크를 하나로 잇는 공급망 통합 인프라</a:t>
            </a:r>
            <a:endParaRPr lang="en-US" sz="2550" dirty="0"/>
          </a:p>
        </p:txBody>
      </p:sp>
      <p:sp>
        <p:nvSpPr>
          <p:cNvPr id="7" name="Text 5"/>
          <p:cNvSpPr/>
          <p:nvPr/>
        </p:nvSpPr>
        <p:spPr>
          <a:xfrm>
            <a:off x="1143000" y="9410700"/>
            <a:ext cx="2542234" cy="342900"/>
          </a:xfrm>
          <a:prstGeom prst="rect">
            <a:avLst/>
          </a:prstGeom>
          <a:noFill/>
          <a:ln/>
        </p:spPr>
        <p:txBody>
          <a:bodyPr wrap="square" lIns="25400" tIns="25400" rIns="25400" bIns="25400" rtlCol="0" anchor="t">
            <a:normAutofit fontScale="77500" lnSpcReduction="20000"/>
          </a:bodyPr>
          <a:lstStyle/>
          <a:p>
            <a:pPr marL="0" indent="0" algn="l">
              <a:buNone/>
            </a:pPr>
            <a:r>
              <a:rPr lang="ko-KR" altLang="en-US" sz="1650" dirty="0">
                <a:solidFill>
                  <a:srgbClr val="9AA0A6"/>
                </a:solidFill>
                <a:latin typeface="Arial" pitchFamily="34" charset="0"/>
                <a:ea typeface="Arial" pitchFamily="34" charset="-122"/>
                <a:cs typeface="Arial" pitchFamily="34" charset="-120"/>
              </a:rPr>
              <a:t>데이터 분석 공급망 최적화</a:t>
            </a:r>
            <a:r>
              <a:rPr lang="en-US" sz="1650" dirty="0">
                <a:solidFill>
                  <a:srgbClr val="9AA0A6"/>
                </a:solidFill>
                <a:latin typeface="Arial" pitchFamily="34" charset="0"/>
                <a:ea typeface="Arial" pitchFamily="34" charset="-122"/>
                <a:cs typeface="Arial" pitchFamily="34" charset="-120"/>
              </a:rPr>
              <a:t> · 2026</a:t>
            </a:r>
            <a:endParaRPr lang="en-US" sz="1650" dirty="0"/>
          </a:p>
        </p:txBody>
      </p:sp>
      <p:sp>
        <p:nvSpPr>
          <p:cNvPr id="8" name="Text 6"/>
          <p:cNvSpPr/>
          <p:nvPr/>
        </p:nvSpPr>
        <p:spPr>
          <a:xfrm>
            <a:off x="13550028" y="9410700"/>
            <a:ext cx="3954471" cy="34290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5F3EE"/>
                </a:solidFill>
                <a:latin typeface="Arial" pitchFamily="34" charset="0"/>
                <a:ea typeface="Arial" pitchFamily="34" charset="-122"/>
                <a:cs typeface="Arial" pitchFamily="34" charset="-120"/>
              </a:rPr>
              <a:t>TWL CONTROL TOWER · 태웅로직스</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723900"/>
            <a:ext cx="18105120" cy="304800"/>
          </a:xfrm>
          <a:prstGeom prst="rect">
            <a:avLst/>
          </a:prstGeom>
          <a:noFill/>
          <a:ln/>
        </p:spPr>
        <p:txBody>
          <a:bodyPr wrap="square" lIns="25400" tIns="25400" rIns="25400" bIns="25400" rtlCol="0" anchor="t">
            <a:normAutofit/>
          </a:bodyPr>
          <a:lstStyle/>
          <a:p>
            <a:pPr marL="0" indent="0" algn="l">
              <a:buNone/>
            </a:pPr>
            <a:r>
              <a:rPr lang="en-US" sz="1425" b="1" kern="0" spc="86" dirty="0">
                <a:solidFill>
                  <a:srgbClr val="6F6A5F"/>
                </a:solidFill>
                <a:latin typeface="Arial" pitchFamily="34" charset="0"/>
                <a:ea typeface="Arial" pitchFamily="34" charset="-122"/>
                <a:cs typeface="Arial" pitchFamily="34" charset="-120"/>
              </a:rPr>
              <a:t>CONTENTS · 발표 순서</a:t>
            </a:r>
            <a:endParaRPr lang="en-US" sz="1425" dirty="0"/>
          </a:p>
        </p:txBody>
      </p:sp>
      <p:sp>
        <p:nvSpPr>
          <p:cNvPr id="3" name="Text 1"/>
          <p:cNvSpPr/>
          <p:nvPr/>
        </p:nvSpPr>
        <p:spPr>
          <a:xfrm>
            <a:off x="914400" y="1123950"/>
            <a:ext cx="18105120" cy="624840"/>
          </a:xfrm>
          <a:prstGeom prst="rect">
            <a:avLst/>
          </a:prstGeom>
          <a:noFill/>
          <a:ln/>
        </p:spPr>
        <p:txBody>
          <a:bodyPr wrap="square" lIns="25400" tIns="25400" rIns="25400" bIns="25400" rtlCol="0" anchor="t">
            <a:normAutofit/>
          </a:bodyPr>
          <a:lstStyle/>
          <a:p>
            <a:pPr marL="0" indent="0" algn="l">
              <a:lnSpc>
                <a:spcPct val="77778"/>
              </a:lnSpc>
              <a:buNone/>
            </a:pPr>
            <a:r>
              <a:rPr lang="en-US" sz="4200" b="1" kern="0" spc="-84" dirty="0">
                <a:solidFill>
                  <a:srgbClr val="12161D"/>
                </a:solidFill>
                <a:latin typeface="Arial" pitchFamily="34" charset="0"/>
                <a:ea typeface="Arial" pitchFamily="34" charset="-122"/>
                <a:cs typeface="Arial" pitchFamily="34" charset="-120"/>
              </a:rPr>
              <a:t>정보는 흩어져 있고, 취합은 수작업이며, 데이터는 아직 데모입니다</a:t>
            </a:r>
            <a:endParaRPr lang="en-US" sz="4200" dirty="0"/>
          </a:p>
        </p:txBody>
      </p:sp>
      <p:sp>
        <p:nvSpPr>
          <p:cNvPr id="4" name="Text 2"/>
          <p:cNvSpPr/>
          <p:nvPr/>
        </p:nvSpPr>
        <p:spPr>
          <a:xfrm>
            <a:off x="914400" y="1863090"/>
            <a:ext cx="18105120" cy="350520"/>
          </a:xfrm>
          <a:prstGeom prst="rect">
            <a:avLst/>
          </a:prstGeom>
          <a:noFill/>
          <a:ln/>
        </p:spPr>
        <p:txBody>
          <a:bodyPr wrap="square" lIns="25400" tIns="25400" rIns="25400" bIns="25400" rtlCol="0" anchor="t">
            <a:normAutofit/>
          </a:bodyPr>
          <a:lstStyle/>
          <a:p>
            <a:pPr marL="0" indent="0" algn="l">
              <a:buNone/>
            </a:pPr>
            <a:r>
              <a:rPr lang="en-US" sz="1725" dirty="0">
                <a:solidFill>
                  <a:srgbClr val="6F6A5F"/>
                </a:solidFill>
                <a:latin typeface="Arial" pitchFamily="34" charset="0"/>
                <a:ea typeface="Arial" pitchFamily="34" charset="-122"/>
                <a:cs typeface="Arial" pitchFamily="34" charset="-120"/>
              </a:rPr>
              <a:t>현황 → 문제점 → 해결책 → 타당성·확장성, 네 단계로 컨트롤타워의 당위를 검증합니다</a:t>
            </a:r>
            <a:endParaRPr lang="en-US" sz="1725" dirty="0"/>
          </a:p>
        </p:txBody>
      </p:sp>
      <p:sp>
        <p:nvSpPr>
          <p:cNvPr id="5" name="Shape 3"/>
          <p:cNvSpPr/>
          <p:nvPr/>
        </p:nvSpPr>
        <p:spPr>
          <a:xfrm>
            <a:off x="914400" y="255657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379220" y="296424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01</a:t>
            </a:r>
            <a:endParaRPr lang="en-US" sz="3900" dirty="0"/>
          </a:p>
        </p:txBody>
      </p:sp>
      <p:sp>
        <p:nvSpPr>
          <p:cNvPr id="7" name="Text 5"/>
          <p:cNvSpPr/>
          <p:nvPr/>
        </p:nvSpPr>
        <p:spPr>
          <a:xfrm>
            <a:off x="2234208" y="2964243"/>
            <a:ext cx="6024301" cy="502920"/>
          </a:xfrm>
          <a:prstGeom prst="rect">
            <a:avLst/>
          </a:prstGeom>
          <a:noFill/>
          <a:ln/>
        </p:spPr>
        <p:txBody>
          <a:bodyPr wrap="square" lIns="25400" tIns="25400" rIns="25400" bIns="25400" rtlCol="0" anchor="t">
            <a:normAutofit/>
          </a:bodyPr>
          <a:lstStyle/>
          <a:p>
            <a:pPr marL="0" indent="0" algn="l">
              <a:buNone/>
            </a:pPr>
            <a:r>
              <a:rPr lang="en-US" sz="2550" b="1" dirty="0" err="1">
                <a:solidFill>
                  <a:srgbClr val="12161D"/>
                </a:solidFill>
                <a:latin typeface="Arial" pitchFamily="34" charset="0"/>
                <a:ea typeface="Arial" pitchFamily="34" charset="-122"/>
                <a:cs typeface="Arial" pitchFamily="34" charset="-120"/>
              </a:rPr>
              <a:t>현황</a:t>
            </a:r>
            <a:endParaRPr lang="en-US" sz="2550" dirty="0"/>
          </a:p>
        </p:txBody>
      </p:sp>
      <p:sp>
        <p:nvSpPr>
          <p:cNvPr id="8" name="Text 6"/>
          <p:cNvSpPr/>
          <p:nvPr/>
        </p:nvSpPr>
        <p:spPr>
          <a:xfrm>
            <a:off x="2234208" y="3562413"/>
            <a:ext cx="6024301"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수작업 취합 · 파편화된 데이터 · 데모의 한계 · 국내 터미널 지형</a:t>
            </a:r>
            <a:endParaRPr lang="en-US" sz="1650" dirty="0"/>
          </a:p>
        </p:txBody>
      </p:sp>
      <p:sp>
        <p:nvSpPr>
          <p:cNvPr id="9" name="Shape 7"/>
          <p:cNvSpPr/>
          <p:nvPr/>
        </p:nvSpPr>
        <p:spPr>
          <a:xfrm>
            <a:off x="9305925" y="255657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0" name="Text 8"/>
          <p:cNvSpPr/>
          <p:nvPr/>
        </p:nvSpPr>
        <p:spPr>
          <a:xfrm>
            <a:off x="9770745" y="296424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02</a:t>
            </a:r>
            <a:endParaRPr lang="en-US" sz="3900" dirty="0"/>
          </a:p>
        </p:txBody>
      </p:sp>
      <p:sp>
        <p:nvSpPr>
          <p:cNvPr id="11" name="Text 9"/>
          <p:cNvSpPr/>
          <p:nvPr/>
        </p:nvSpPr>
        <p:spPr>
          <a:xfrm>
            <a:off x="10625733" y="2964243"/>
            <a:ext cx="3841445"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문제점</a:t>
            </a:r>
            <a:endParaRPr lang="en-US" sz="2550" dirty="0"/>
          </a:p>
        </p:txBody>
      </p:sp>
      <p:sp>
        <p:nvSpPr>
          <p:cNvPr id="12" name="Text 10"/>
          <p:cNvSpPr/>
          <p:nvPr/>
        </p:nvSpPr>
        <p:spPr>
          <a:xfrm>
            <a:off x="10625733" y="3562413"/>
            <a:ext cx="3841445"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컨트롤타워 부재가 낳는 구조적 4대 문제</a:t>
            </a:r>
            <a:endParaRPr lang="en-US" sz="1650" dirty="0"/>
          </a:p>
        </p:txBody>
      </p:sp>
      <p:sp>
        <p:nvSpPr>
          <p:cNvPr id="13" name="Shape 11"/>
          <p:cNvSpPr/>
          <p:nvPr/>
        </p:nvSpPr>
        <p:spPr>
          <a:xfrm>
            <a:off x="914400" y="627894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4" name="Text 12"/>
          <p:cNvSpPr/>
          <p:nvPr/>
        </p:nvSpPr>
        <p:spPr>
          <a:xfrm>
            <a:off x="1379220" y="668661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03</a:t>
            </a:r>
            <a:endParaRPr lang="en-US" sz="3900" dirty="0"/>
          </a:p>
        </p:txBody>
      </p:sp>
      <p:sp>
        <p:nvSpPr>
          <p:cNvPr id="15" name="Text 13"/>
          <p:cNvSpPr/>
          <p:nvPr/>
        </p:nvSpPr>
        <p:spPr>
          <a:xfrm>
            <a:off x="2234208" y="6686613"/>
            <a:ext cx="5643182"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해결책</a:t>
            </a:r>
            <a:endParaRPr lang="en-US" sz="2550" dirty="0"/>
          </a:p>
        </p:txBody>
      </p:sp>
      <p:sp>
        <p:nvSpPr>
          <p:cNvPr id="16" name="Text 14"/>
          <p:cNvSpPr/>
          <p:nvPr/>
        </p:nvSpPr>
        <p:spPr>
          <a:xfrm>
            <a:off x="2234208" y="7284783"/>
            <a:ext cx="5643182"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8개 화면 실데이터 컨트롤타워 · 오픈API 스택 · PCI 방법론</a:t>
            </a:r>
            <a:endParaRPr lang="en-US" sz="1650" dirty="0"/>
          </a:p>
        </p:txBody>
      </p:sp>
      <p:sp>
        <p:nvSpPr>
          <p:cNvPr id="17" name="Shape 15"/>
          <p:cNvSpPr/>
          <p:nvPr/>
        </p:nvSpPr>
        <p:spPr>
          <a:xfrm>
            <a:off x="9305925" y="6278943"/>
            <a:ext cx="8067675" cy="3398520"/>
          </a:xfrm>
          <a:prstGeom prst="roundRect">
            <a:avLst>
              <a:gd name="adj" fmla="val 504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8" name="Text 16"/>
          <p:cNvSpPr/>
          <p:nvPr/>
        </p:nvSpPr>
        <p:spPr>
          <a:xfrm>
            <a:off x="9770745" y="6686613"/>
            <a:ext cx="607338" cy="2621280"/>
          </a:xfrm>
          <a:prstGeom prst="rect">
            <a:avLst/>
          </a:prstGeom>
          <a:noFill/>
          <a:ln/>
        </p:spPr>
        <p:txBody>
          <a:bodyPr wrap="square" lIns="25400" tIns="25400" rIns="25400" bIns="25400" rtlCol="0" anchor="t">
            <a:normAutofit/>
          </a:bodyPr>
          <a:lstStyle/>
          <a:p>
            <a:pPr marL="0" indent="0" algn="l">
              <a:lnSpc>
                <a:spcPct val="70652"/>
              </a:lnSpc>
              <a:buNone/>
            </a:pPr>
            <a:r>
              <a:rPr lang="en-US" sz="3900" b="1" kern="0" spc="-78" dirty="0">
                <a:solidFill>
                  <a:srgbClr val="28666E"/>
                </a:solidFill>
                <a:latin typeface="Arial" pitchFamily="34" charset="0"/>
                <a:ea typeface="Arial" pitchFamily="34" charset="-122"/>
                <a:cs typeface="Arial" pitchFamily="34" charset="-120"/>
              </a:rPr>
              <a:t>04</a:t>
            </a:r>
            <a:endParaRPr lang="en-US" sz="3900" dirty="0"/>
          </a:p>
        </p:txBody>
      </p:sp>
      <p:sp>
        <p:nvSpPr>
          <p:cNvPr id="19" name="Text 17"/>
          <p:cNvSpPr/>
          <p:nvPr/>
        </p:nvSpPr>
        <p:spPr>
          <a:xfrm>
            <a:off x="10625733" y="6686613"/>
            <a:ext cx="5176147"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타당성 · 확장성</a:t>
            </a:r>
            <a:endParaRPr lang="en-US" sz="2550" dirty="0"/>
          </a:p>
        </p:txBody>
      </p:sp>
      <p:sp>
        <p:nvSpPr>
          <p:cNvPr id="20" name="Text 18"/>
          <p:cNvSpPr/>
          <p:nvPr/>
        </p:nvSpPr>
        <p:spPr>
          <a:xfrm>
            <a:off x="10625733" y="7284783"/>
            <a:ext cx="5176147" cy="341947"/>
          </a:xfrm>
          <a:prstGeom prst="rect">
            <a:avLst/>
          </a:prstGeom>
          <a:noFill/>
          <a:ln/>
        </p:spPr>
        <p:txBody>
          <a:bodyPr wrap="square" lIns="25400" tIns="25400" rIns="25400" bIns="25400" rtlCol="0" anchor="t">
            <a:normAutofit/>
          </a:bodyPr>
          <a:lstStyle/>
          <a:p>
            <a:pPr marL="0" indent="0" algn="l">
              <a:lnSpc>
                <a:spcPct val="124609"/>
              </a:lnSpc>
              <a:buNone/>
            </a:pPr>
            <a:r>
              <a:rPr lang="en-US" sz="1650" dirty="0">
                <a:solidFill>
                  <a:srgbClr val="6F6A5F"/>
                </a:solidFill>
                <a:latin typeface="Arial" pitchFamily="34" charset="0"/>
                <a:ea typeface="Arial" pitchFamily="34" charset="-122"/>
                <a:cs typeface="Arial" pitchFamily="34" charset="-120"/>
              </a:rPr>
              <a:t>제로 인프라 비용 · 개발 성과 · 확장 로드맵 · 외부 검증</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01</a:t>
            </a:r>
            <a:endParaRPr lang="en-US" sz="17250" dirty="0"/>
          </a:p>
        </p:txBody>
      </p:sp>
      <p:sp>
        <p:nvSpPr>
          <p:cNvPr id="4" name="Text 2"/>
          <p:cNvSpPr/>
          <p:nvPr/>
        </p:nvSpPr>
        <p:spPr>
          <a:xfrm>
            <a:off x="4210407" y="3257550"/>
            <a:ext cx="4644283" cy="289560"/>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01 · CURRENT LANDSCAPE</a:t>
            </a:r>
            <a:endParaRPr lang="en-US" sz="1650" dirty="0"/>
          </a:p>
        </p:txBody>
      </p:sp>
      <p:sp>
        <p:nvSpPr>
          <p:cNvPr id="5" name="Text 3"/>
          <p:cNvSpPr/>
          <p:nvPr/>
        </p:nvSpPr>
        <p:spPr>
          <a:xfrm>
            <a:off x="4210407" y="3623310"/>
            <a:ext cx="4644283" cy="1226820"/>
          </a:xfrm>
          <a:prstGeom prst="rect">
            <a:avLst/>
          </a:prstGeom>
          <a:noFill/>
          <a:ln/>
        </p:spPr>
        <p:txBody>
          <a:bodyPr wrap="square" lIns="25400" tIns="25400" rIns="25400" bIns="25400" rtlCol="0" anchor="t">
            <a:normAutofit/>
          </a:bodyPr>
          <a:lstStyle/>
          <a:p>
            <a:pPr marL="0" indent="0" algn="l">
              <a:buNone/>
            </a:pPr>
            <a:r>
              <a:rPr lang="en-US" sz="6450" b="1" kern="0" spc="129" dirty="0" err="1">
                <a:solidFill>
                  <a:srgbClr val="F5F3EE"/>
                </a:solidFill>
                <a:latin typeface="Arial" pitchFamily="34" charset="0"/>
                <a:ea typeface="Arial" pitchFamily="34" charset="-122"/>
                <a:cs typeface="Arial" pitchFamily="34" charset="-120"/>
              </a:rPr>
              <a:t>현황</a:t>
            </a:r>
            <a:endParaRPr lang="en-US" sz="6450" dirty="0"/>
          </a:p>
        </p:txBody>
      </p:sp>
      <p:sp>
        <p:nvSpPr>
          <p:cNvPr id="6" name="Shape 4"/>
          <p:cNvSpPr/>
          <p:nvPr/>
        </p:nvSpPr>
        <p:spPr>
          <a:xfrm>
            <a:off x="4210407" y="5284470"/>
            <a:ext cx="76200" cy="76200"/>
          </a:xfrm>
          <a:prstGeom prst="rect">
            <a:avLst/>
          </a:prstGeom>
          <a:solidFill>
            <a:srgbClr val="E4A24A"/>
          </a:solidFill>
          <a:ln/>
        </p:spPr>
      </p:sp>
      <p:sp>
        <p:nvSpPr>
          <p:cNvPr id="7" name="Text 5"/>
          <p:cNvSpPr/>
          <p:nvPr/>
        </p:nvSpPr>
        <p:spPr>
          <a:xfrm>
            <a:off x="4458057" y="5135880"/>
            <a:ext cx="3933778" cy="411480"/>
          </a:xfrm>
          <a:prstGeom prst="rect">
            <a:avLst/>
          </a:prstGeom>
          <a:noFill/>
          <a:ln/>
        </p:spPr>
        <p:txBody>
          <a:bodyPr wrap="square" lIns="25400" tIns="25400" rIns="25400" bIns="25400" rtlCol="0" anchor="t">
            <a:normAutofit fontScale="92500"/>
          </a:bodyPr>
          <a:lstStyle/>
          <a:p>
            <a:pPr marL="0" indent="0" algn="l">
              <a:buNone/>
            </a:pPr>
            <a:r>
              <a:rPr lang="en-US" sz="2025" dirty="0" err="1">
                <a:solidFill>
                  <a:srgbClr val="C9CCD1"/>
                </a:solidFill>
                <a:latin typeface="Arial" pitchFamily="34" charset="0"/>
                <a:ea typeface="Arial" pitchFamily="34" charset="-122"/>
                <a:cs typeface="Arial" pitchFamily="34" charset="-120"/>
              </a:rPr>
              <a:t>아침마다</a:t>
            </a:r>
            <a:r>
              <a:rPr lang="en-US" sz="2025" dirty="0">
                <a:solidFill>
                  <a:srgbClr val="C9CCD1"/>
                </a:solidFill>
                <a:latin typeface="Arial" pitchFamily="34" charset="0"/>
                <a:ea typeface="Arial" pitchFamily="34" charset="-122"/>
                <a:cs typeface="Arial" pitchFamily="34" charset="-120"/>
              </a:rPr>
              <a:t> 17개 사이트, 손으로 취합</a:t>
            </a:r>
            <a:endParaRPr lang="en-US" sz="2025" dirty="0"/>
          </a:p>
        </p:txBody>
      </p:sp>
      <p:sp>
        <p:nvSpPr>
          <p:cNvPr id="8" name="Shape 6"/>
          <p:cNvSpPr/>
          <p:nvPr/>
        </p:nvSpPr>
        <p:spPr>
          <a:xfrm>
            <a:off x="4210407" y="5810250"/>
            <a:ext cx="76200" cy="76200"/>
          </a:xfrm>
          <a:prstGeom prst="rect">
            <a:avLst/>
          </a:prstGeom>
          <a:solidFill>
            <a:srgbClr val="E4A24A"/>
          </a:solidFill>
          <a:ln/>
        </p:spPr>
      </p:sp>
      <p:sp>
        <p:nvSpPr>
          <p:cNvPr id="9" name="Text 7"/>
          <p:cNvSpPr/>
          <p:nvPr/>
        </p:nvSpPr>
        <p:spPr>
          <a:xfrm>
            <a:off x="4458057" y="5661660"/>
            <a:ext cx="3697903" cy="411480"/>
          </a:xfrm>
          <a:prstGeom prst="rect">
            <a:avLst/>
          </a:prstGeom>
          <a:noFill/>
          <a:ln/>
        </p:spPr>
        <p:txBody>
          <a:bodyPr wrap="square" lIns="25400" tIns="25400" rIns="25400" bIns="25400" rtlCol="0" anchor="t">
            <a:normAutofit/>
          </a:bodyPr>
          <a:lstStyle/>
          <a:p>
            <a:pPr marL="0" indent="0" algn="l">
              <a:buNone/>
            </a:pPr>
            <a:r>
              <a:rPr lang="en-US" sz="2025" dirty="0" err="1">
                <a:solidFill>
                  <a:srgbClr val="C9CCD1"/>
                </a:solidFill>
                <a:latin typeface="Arial" pitchFamily="34" charset="0"/>
                <a:ea typeface="Arial" pitchFamily="34" charset="-122"/>
                <a:cs typeface="Arial" pitchFamily="34" charset="-120"/>
              </a:rPr>
              <a:t>흩어진</a:t>
            </a:r>
            <a:r>
              <a:rPr lang="en-US" sz="2025" dirty="0">
                <a:solidFill>
                  <a:srgbClr val="C9CCD1"/>
                </a:solidFill>
                <a:latin typeface="Arial" pitchFamily="34" charset="0"/>
                <a:ea typeface="Arial" pitchFamily="34" charset="-122"/>
                <a:cs typeface="Arial" pitchFamily="34" charset="-120"/>
              </a:rPr>
              <a:t> </a:t>
            </a:r>
            <a:r>
              <a:rPr lang="en-US" sz="2025" dirty="0" err="1">
                <a:solidFill>
                  <a:srgbClr val="C9CCD1"/>
                </a:solidFill>
                <a:latin typeface="Arial" pitchFamily="34" charset="0"/>
                <a:ea typeface="Arial" pitchFamily="34" charset="-122"/>
                <a:cs typeface="Arial" pitchFamily="34" charset="-120"/>
              </a:rPr>
              <a:t>물류</a:t>
            </a:r>
            <a:r>
              <a:rPr lang="en-US" sz="2025" dirty="0">
                <a:solidFill>
                  <a:srgbClr val="C9CCD1"/>
                </a:solidFill>
                <a:latin typeface="Arial" pitchFamily="34" charset="0"/>
                <a:ea typeface="Arial" pitchFamily="34" charset="-122"/>
                <a:cs typeface="Arial" pitchFamily="34" charset="-120"/>
              </a:rPr>
              <a:t> </a:t>
            </a:r>
            <a:r>
              <a:rPr lang="en-US" sz="2025" dirty="0" err="1">
                <a:solidFill>
                  <a:srgbClr val="C9CCD1"/>
                </a:solidFill>
                <a:latin typeface="Arial" pitchFamily="34" charset="0"/>
                <a:ea typeface="Arial" pitchFamily="34" charset="-122"/>
                <a:cs typeface="Arial" pitchFamily="34" charset="-120"/>
              </a:rPr>
              <a:t>데이터</a:t>
            </a:r>
            <a:r>
              <a:rPr lang="en-US" sz="2025" dirty="0">
                <a:solidFill>
                  <a:srgbClr val="C9CCD1"/>
                </a:solidFill>
                <a:latin typeface="Arial" pitchFamily="34" charset="0"/>
                <a:ea typeface="Arial" pitchFamily="34" charset="-122"/>
                <a:cs typeface="Arial" pitchFamily="34" charset="-120"/>
              </a:rPr>
              <a:t> </a:t>
            </a:r>
            <a:r>
              <a:rPr lang="ko-KR" altLang="en-US" sz="2025" dirty="0">
                <a:solidFill>
                  <a:srgbClr val="C9CCD1"/>
                </a:solidFill>
                <a:latin typeface="Arial" pitchFamily="34" charset="0"/>
                <a:ea typeface="Arial" pitchFamily="34" charset="-122"/>
                <a:cs typeface="Arial" pitchFamily="34" charset="-120"/>
              </a:rPr>
              <a:t>파편화</a:t>
            </a:r>
            <a:endParaRPr lang="en-US" sz="2025" dirty="0"/>
          </a:p>
        </p:txBody>
      </p:sp>
      <p:sp>
        <p:nvSpPr>
          <p:cNvPr id="10" name="Shape 8"/>
          <p:cNvSpPr/>
          <p:nvPr/>
        </p:nvSpPr>
        <p:spPr>
          <a:xfrm>
            <a:off x="4210407" y="6336030"/>
            <a:ext cx="76200" cy="76200"/>
          </a:xfrm>
          <a:prstGeom prst="rect">
            <a:avLst/>
          </a:prstGeom>
          <a:solidFill>
            <a:srgbClr val="E4A24A"/>
          </a:solidFill>
          <a:ln/>
        </p:spPr>
      </p:sp>
      <p:sp>
        <p:nvSpPr>
          <p:cNvPr id="11" name="Text 9"/>
          <p:cNvSpPr/>
          <p:nvPr/>
        </p:nvSpPr>
        <p:spPr>
          <a:xfrm>
            <a:off x="4458057" y="6187440"/>
            <a:ext cx="371348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데모·가짜 데이터의 신뢰성 한계</a:t>
            </a:r>
            <a:endParaRPr lang="en-US" sz="2025" dirty="0"/>
          </a:p>
        </p:txBody>
      </p:sp>
      <p:sp>
        <p:nvSpPr>
          <p:cNvPr id="12" name="Shape 10"/>
          <p:cNvSpPr/>
          <p:nvPr/>
        </p:nvSpPr>
        <p:spPr>
          <a:xfrm>
            <a:off x="4210407" y="6861810"/>
            <a:ext cx="76200" cy="76200"/>
          </a:xfrm>
          <a:prstGeom prst="rect">
            <a:avLst/>
          </a:prstGeom>
          <a:solidFill>
            <a:srgbClr val="E4A24A"/>
          </a:solidFill>
          <a:ln/>
        </p:spPr>
      </p:sp>
      <p:sp>
        <p:nvSpPr>
          <p:cNvPr id="13" name="Text 11"/>
          <p:cNvSpPr/>
          <p:nvPr/>
        </p:nvSpPr>
        <p:spPr>
          <a:xfrm>
            <a:off x="4458057" y="6713220"/>
            <a:ext cx="3697903"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국내 터미널 지형과 가시성 수요</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운영 실태</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err="1">
                <a:solidFill>
                  <a:srgbClr val="12161D"/>
                </a:solidFill>
                <a:latin typeface="Arial" pitchFamily="34" charset="0"/>
                <a:ea typeface="Arial" pitchFamily="34" charset="-122"/>
                <a:cs typeface="Arial" pitchFamily="34" charset="-120"/>
              </a:rPr>
              <a:t>아침마다</a:t>
            </a:r>
            <a:r>
              <a:rPr lang="en-US" sz="4050" b="1" kern="0" spc="-81" dirty="0">
                <a:solidFill>
                  <a:srgbClr val="12161D"/>
                </a:solidFill>
                <a:latin typeface="Arial" pitchFamily="34" charset="0"/>
                <a:ea typeface="Arial" pitchFamily="34" charset="-122"/>
                <a:cs typeface="Arial" pitchFamily="34" charset="-120"/>
              </a:rPr>
              <a:t> 17개 터미널 사이트, 손으로 취합하는 현실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부산신항·광양·인천 3개 </a:t>
            </a:r>
            <a:r>
              <a:rPr lang="en-US" sz="1875" dirty="0" err="1">
                <a:solidFill>
                  <a:srgbClr val="6F6A5F"/>
                </a:solidFill>
                <a:latin typeface="Arial" pitchFamily="34" charset="0"/>
                <a:ea typeface="Arial" pitchFamily="34" charset="-122"/>
                <a:cs typeface="Arial" pitchFamily="34" charset="-120"/>
              </a:rPr>
              <a:t>항만</a:t>
            </a:r>
            <a:r>
              <a:rPr lang="en-US" sz="1875" dirty="0">
                <a:solidFill>
                  <a:srgbClr val="6F6A5F"/>
                </a:solidFill>
                <a:latin typeface="Arial" pitchFamily="34" charset="0"/>
                <a:ea typeface="Arial" pitchFamily="34" charset="-122"/>
                <a:cs typeface="Arial" pitchFamily="34" charset="-120"/>
              </a:rPr>
              <a:t> </a:t>
            </a:r>
            <a:r>
              <a:rPr lang="ko-KR" altLang="en-US" sz="1875" dirty="0">
                <a:solidFill>
                  <a:srgbClr val="6F6A5F"/>
                </a:solidFill>
                <a:latin typeface="Arial" pitchFamily="34" charset="0"/>
                <a:ea typeface="Arial" pitchFamily="34" charset="-122"/>
                <a:cs typeface="Arial" pitchFamily="34" charset="-120"/>
              </a:rPr>
              <a:t>등 </a:t>
            </a:r>
            <a:r>
              <a:rPr lang="en-US" altLang="ko-KR" sz="1875" dirty="0">
                <a:solidFill>
                  <a:srgbClr val="6F6A5F"/>
                </a:solidFill>
                <a:latin typeface="Arial" pitchFamily="34" charset="0"/>
                <a:ea typeface="Arial" pitchFamily="34" charset="-122"/>
                <a:cs typeface="Arial" pitchFamily="34" charset="-120"/>
              </a:rPr>
              <a:t>17</a:t>
            </a:r>
            <a:r>
              <a:rPr lang="en-US" sz="1875" dirty="0">
                <a:solidFill>
                  <a:srgbClr val="6F6A5F"/>
                </a:solidFill>
                <a:latin typeface="Arial" pitchFamily="34" charset="0"/>
                <a:ea typeface="Arial" pitchFamily="34" charset="-122"/>
                <a:cs typeface="Arial" pitchFamily="34" charset="-120"/>
              </a:rPr>
              <a:t>개 터미널을 개별 접속 — 매일 30~60분, 결과는 개인 엑셀에 갇힘</a:t>
            </a:r>
            <a:endParaRPr lang="en-US" sz="1875" dirty="0"/>
          </a:p>
        </p:txBody>
      </p:sp>
      <p:sp>
        <p:nvSpPr>
          <p:cNvPr id="5" name="Shape 3"/>
          <p:cNvSpPr/>
          <p:nvPr/>
        </p:nvSpPr>
        <p:spPr>
          <a:xfrm>
            <a:off x="914400" y="2289135"/>
            <a:ext cx="5339477" cy="6032064"/>
          </a:xfrm>
          <a:prstGeom prst="roundRect">
            <a:avLst>
              <a:gd name="adj" fmla="val 2854"/>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26820" y="2582505"/>
            <a:ext cx="5186101"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국내 커버리지</a:t>
            </a:r>
            <a:endParaRPr lang="en-US" sz="1425" dirty="0"/>
          </a:p>
        </p:txBody>
      </p:sp>
      <p:sp>
        <p:nvSpPr>
          <p:cNvPr id="7" name="Text 5"/>
          <p:cNvSpPr/>
          <p:nvPr/>
        </p:nvSpPr>
        <p:spPr>
          <a:xfrm>
            <a:off x="1236751" y="6433271"/>
            <a:ext cx="1022881" cy="772319"/>
          </a:xfrm>
          <a:prstGeom prst="rect">
            <a:avLst/>
          </a:prstGeom>
          <a:noFill/>
          <a:ln/>
        </p:spPr>
        <p:txBody>
          <a:bodyPr wrap="square" lIns="25400" tIns="25400" rIns="25400" bIns="25400" rtlCol="0" anchor="t">
            <a:noAutofit/>
          </a:bodyPr>
          <a:lstStyle/>
          <a:p>
            <a:pPr marL="0" indent="0" algn="l">
              <a:lnSpc>
                <a:spcPct val="59969"/>
              </a:lnSpc>
              <a:buNone/>
            </a:pPr>
            <a:r>
              <a:rPr lang="en-US" sz="6000" b="1" dirty="0">
                <a:latin typeface="Arial" panose="020B0604020202020204" pitchFamily="34" charset="0"/>
                <a:cs typeface="Arial" panose="020B0604020202020204" pitchFamily="34" charset="0"/>
              </a:rPr>
              <a:t>17</a:t>
            </a:r>
          </a:p>
        </p:txBody>
      </p:sp>
      <p:sp>
        <p:nvSpPr>
          <p:cNvPr id="8" name="Text 6"/>
          <p:cNvSpPr/>
          <p:nvPr/>
        </p:nvSpPr>
        <p:spPr>
          <a:xfrm>
            <a:off x="2004805" y="6511821"/>
            <a:ext cx="1973017" cy="4800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Arial" pitchFamily="34" charset="0"/>
                <a:ea typeface="Arial" pitchFamily="34" charset="-122"/>
                <a:cs typeface="Arial" pitchFamily="34" charset="-120"/>
              </a:rPr>
              <a:t>개 터미널</a:t>
            </a:r>
            <a:endParaRPr lang="en-US" sz="2400" dirty="0"/>
          </a:p>
        </p:txBody>
      </p:sp>
      <p:sp>
        <p:nvSpPr>
          <p:cNvPr id="9" name="Text 7"/>
          <p:cNvSpPr/>
          <p:nvPr/>
        </p:nvSpPr>
        <p:spPr>
          <a:xfrm>
            <a:off x="1226820" y="7177246"/>
            <a:ext cx="5186101"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cs typeface="Arial" pitchFamily="34" charset="-120"/>
              </a:rPr>
              <a:t>17</a:t>
            </a:r>
            <a:r>
              <a:rPr lang="ko-KR" altLang="en-US" sz="1650" b="1" dirty="0">
                <a:solidFill>
                  <a:srgbClr val="28666E"/>
                </a:solidFill>
                <a:latin typeface="Arial" pitchFamily="34" charset="0"/>
                <a:cs typeface="Arial" pitchFamily="34" charset="-120"/>
              </a:rPr>
              <a:t>개 항만 사이트 접속</a:t>
            </a:r>
            <a:endParaRPr lang="en-US" sz="1650" dirty="0"/>
          </a:p>
        </p:txBody>
      </p:sp>
      <p:sp>
        <p:nvSpPr>
          <p:cNvPr id="10" name="Text 8"/>
          <p:cNvSpPr/>
          <p:nvPr/>
        </p:nvSpPr>
        <p:spPr>
          <a:xfrm>
            <a:off x="1226820" y="7539196"/>
            <a:ext cx="4856076" cy="526732"/>
          </a:xfrm>
          <a:prstGeom prst="rect">
            <a:avLst/>
          </a:prstGeom>
          <a:noFill/>
          <a:ln/>
        </p:spPr>
        <p:txBody>
          <a:bodyPr wrap="square" lIns="25400" tIns="25400" rIns="25400" bIns="25400" rtlCol="0" anchor="t">
            <a:normAutofit fontScale="92500"/>
          </a:bodyPr>
          <a:lstStyle/>
          <a:p>
            <a:pPr marL="0" indent="0" algn="l">
              <a:lnSpc>
                <a:spcPct val="114509"/>
              </a:lnSpc>
              <a:buNone/>
            </a:pPr>
            <a:r>
              <a:rPr lang="en-US" sz="1425" dirty="0" err="1">
                <a:solidFill>
                  <a:srgbClr val="6F6A5F"/>
                </a:solidFill>
                <a:latin typeface="Arial" pitchFamily="34" charset="0"/>
                <a:ea typeface="Arial" pitchFamily="34" charset="-122"/>
                <a:cs typeface="Arial" pitchFamily="34" charset="-120"/>
              </a:rPr>
              <a:t>부산신항</a:t>
            </a:r>
            <a:r>
              <a:rPr lang="en-US" sz="1425" dirty="0">
                <a:solidFill>
                  <a:srgbClr val="6F6A5F"/>
                </a:solidFill>
                <a:latin typeface="Arial" pitchFamily="34" charset="0"/>
                <a:ea typeface="Arial" pitchFamily="34" charset="-122"/>
                <a:cs typeface="Arial" pitchFamily="34" charset="-120"/>
              </a:rPr>
              <a:t> · </a:t>
            </a:r>
            <a:r>
              <a:rPr lang="en-US" sz="1425" dirty="0" err="1">
                <a:solidFill>
                  <a:srgbClr val="6F6A5F"/>
                </a:solidFill>
                <a:latin typeface="Arial" pitchFamily="34" charset="0"/>
                <a:ea typeface="Arial" pitchFamily="34" charset="-122"/>
                <a:cs typeface="Arial" pitchFamily="34" charset="-120"/>
              </a:rPr>
              <a:t>광양</a:t>
            </a:r>
            <a:r>
              <a:rPr lang="en-US" sz="1425" dirty="0">
                <a:solidFill>
                  <a:srgbClr val="6F6A5F"/>
                </a:solidFill>
                <a:latin typeface="Arial" pitchFamily="34" charset="0"/>
                <a:ea typeface="Arial" pitchFamily="34" charset="-122"/>
                <a:cs typeface="Arial" pitchFamily="34" charset="-120"/>
              </a:rPr>
              <a:t> · </a:t>
            </a:r>
            <a:r>
              <a:rPr lang="en-US" sz="1425" dirty="0" err="1">
                <a:solidFill>
                  <a:srgbClr val="6F6A5F"/>
                </a:solidFill>
                <a:latin typeface="Arial" pitchFamily="34" charset="0"/>
                <a:ea typeface="Arial" pitchFamily="34" charset="-122"/>
                <a:cs typeface="Arial" pitchFamily="34" charset="-120"/>
              </a:rPr>
              <a:t>인천</a:t>
            </a:r>
            <a:r>
              <a:rPr lang="en-US" sz="1425" dirty="0">
                <a:solidFill>
                  <a:srgbClr val="6F6A5F"/>
                </a:solidFill>
                <a:latin typeface="Arial" pitchFamily="34" charset="0"/>
                <a:ea typeface="Arial" pitchFamily="34" charset="-122"/>
                <a:cs typeface="Arial" pitchFamily="34" charset="-120"/>
              </a:rPr>
              <a:t>  (PNIT·PNC·HJNC·HPNT·BNCT·DGT·GWCT·E1CT·ICON </a:t>
            </a:r>
            <a:r>
              <a:rPr lang="ko-KR" altLang="en-US" sz="1425" dirty="0">
                <a:solidFill>
                  <a:srgbClr val="6F6A5F"/>
                </a:solidFill>
                <a:latin typeface="Arial" pitchFamily="34" charset="0"/>
                <a:ea typeface="Arial" pitchFamily="34" charset="-122"/>
                <a:cs typeface="Arial" pitchFamily="34" charset="-120"/>
              </a:rPr>
              <a:t>등</a:t>
            </a:r>
            <a:r>
              <a:rPr lang="en-US" sz="1425" dirty="0">
                <a:solidFill>
                  <a:srgbClr val="6F6A5F"/>
                </a:solidFill>
                <a:latin typeface="Arial" pitchFamily="34" charset="0"/>
                <a:ea typeface="Arial" pitchFamily="34" charset="-122"/>
                <a:cs typeface="Arial" pitchFamily="34" charset="-120"/>
              </a:rPr>
              <a:t>)</a:t>
            </a:r>
            <a:endParaRPr lang="en-US" sz="1425" dirty="0"/>
          </a:p>
        </p:txBody>
      </p:sp>
      <p:sp>
        <p:nvSpPr>
          <p:cNvPr id="11" name="Shape 9"/>
          <p:cNvSpPr/>
          <p:nvPr/>
        </p:nvSpPr>
        <p:spPr>
          <a:xfrm>
            <a:off x="6501527" y="2289135"/>
            <a:ext cx="3458885" cy="6032064"/>
          </a:xfrm>
          <a:prstGeom prst="roundRect">
            <a:avLst>
              <a:gd name="adj" fmla="val 4406"/>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2" name="Text 10"/>
          <p:cNvSpPr/>
          <p:nvPr/>
        </p:nvSpPr>
        <p:spPr>
          <a:xfrm>
            <a:off x="6813947" y="2582505"/>
            <a:ext cx="3117449"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일일 취합 소요</a:t>
            </a:r>
            <a:endParaRPr lang="en-US" sz="1425" dirty="0"/>
          </a:p>
        </p:txBody>
      </p:sp>
      <p:sp>
        <p:nvSpPr>
          <p:cNvPr id="13" name="Text 11"/>
          <p:cNvSpPr/>
          <p:nvPr/>
        </p:nvSpPr>
        <p:spPr>
          <a:xfrm>
            <a:off x="6819559" y="6407641"/>
            <a:ext cx="2376249" cy="655320"/>
          </a:xfrm>
          <a:prstGeom prst="rect">
            <a:avLst/>
          </a:prstGeom>
          <a:noFill/>
          <a:ln/>
        </p:spPr>
        <p:txBody>
          <a:bodyPr wrap="square" lIns="25400" tIns="25400" rIns="25400" bIns="25400" rtlCol="0" anchor="t">
            <a:noAutofit/>
          </a:bodyPr>
          <a:lstStyle/>
          <a:p>
            <a:pPr marL="0" indent="0" algn="l">
              <a:lnSpc>
                <a:spcPct val="63780"/>
              </a:lnSpc>
              <a:buNone/>
            </a:pPr>
            <a:r>
              <a:rPr lang="en-US" sz="6000" b="1" kern="0" spc="-162" dirty="0">
                <a:solidFill>
                  <a:srgbClr val="12161D"/>
                </a:solidFill>
                <a:latin typeface="Arial" pitchFamily="34" charset="0"/>
                <a:ea typeface="Arial" pitchFamily="34" charset="-122"/>
                <a:cs typeface="Arial" pitchFamily="34" charset="-120"/>
              </a:rPr>
              <a:t>30~60</a:t>
            </a:r>
            <a:endParaRPr lang="en-US" sz="6000" dirty="0"/>
          </a:p>
        </p:txBody>
      </p:sp>
      <p:sp>
        <p:nvSpPr>
          <p:cNvPr id="14" name="Text 12"/>
          <p:cNvSpPr/>
          <p:nvPr/>
        </p:nvSpPr>
        <p:spPr>
          <a:xfrm>
            <a:off x="8905940" y="6499066"/>
            <a:ext cx="356711" cy="4800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Arial" pitchFamily="34" charset="0"/>
                <a:ea typeface="Arial" pitchFamily="34" charset="-122"/>
                <a:cs typeface="Arial" pitchFamily="34" charset="-120"/>
              </a:rPr>
              <a:t>분</a:t>
            </a:r>
            <a:endParaRPr lang="en-US" sz="2400" dirty="0"/>
          </a:p>
        </p:txBody>
      </p:sp>
      <p:sp>
        <p:nvSpPr>
          <p:cNvPr id="15" name="Text 13"/>
          <p:cNvSpPr/>
          <p:nvPr/>
        </p:nvSpPr>
        <p:spPr>
          <a:xfrm>
            <a:off x="6813947" y="7177246"/>
            <a:ext cx="3117449"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Arial" pitchFamily="34" charset="0"/>
                <a:ea typeface="Arial" pitchFamily="34" charset="-122"/>
                <a:cs typeface="Arial" pitchFamily="34" charset="-120"/>
              </a:rPr>
              <a:t>담당자 1인 기준 · 매일</a:t>
            </a:r>
            <a:endParaRPr lang="en-US" sz="1650" dirty="0"/>
          </a:p>
        </p:txBody>
      </p:sp>
      <p:sp>
        <p:nvSpPr>
          <p:cNvPr id="16" name="Text 14"/>
          <p:cNvSpPr/>
          <p:nvPr/>
        </p:nvSpPr>
        <p:spPr>
          <a:xfrm>
            <a:off x="6813947" y="7539196"/>
            <a:ext cx="2919066" cy="526732"/>
          </a:xfrm>
          <a:prstGeom prst="rect">
            <a:avLst/>
          </a:prstGeom>
          <a:noFill/>
          <a:ln/>
        </p:spPr>
        <p:txBody>
          <a:bodyPr wrap="square" lIns="25400" tIns="25400" rIns="25400" bIns="25400" rtlCol="0" anchor="t">
            <a:normAutofit lnSpcReduction="10000"/>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터미널마다 UI·표기·컬럼이 달라 취합에만 소요</a:t>
            </a:r>
            <a:endParaRPr lang="en-US" sz="1425" dirty="0"/>
          </a:p>
        </p:txBody>
      </p:sp>
      <p:sp>
        <p:nvSpPr>
          <p:cNvPr id="17" name="Shape 15"/>
          <p:cNvSpPr/>
          <p:nvPr/>
        </p:nvSpPr>
        <p:spPr>
          <a:xfrm>
            <a:off x="10208062" y="2289135"/>
            <a:ext cx="3458885" cy="6032064"/>
          </a:xfrm>
          <a:prstGeom prst="roundRect">
            <a:avLst>
              <a:gd name="adj" fmla="val 4406"/>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8" name="Text 16"/>
          <p:cNvSpPr/>
          <p:nvPr/>
        </p:nvSpPr>
        <p:spPr>
          <a:xfrm>
            <a:off x="10520482" y="2582505"/>
            <a:ext cx="3117449"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일일 정규화 물량</a:t>
            </a:r>
            <a:endParaRPr lang="en-US" sz="1425" dirty="0"/>
          </a:p>
        </p:txBody>
      </p:sp>
      <p:sp>
        <p:nvSpPr>
          <p:cNvPr id="19" name="Text 17"/>
          <p:cNvSpPr/>
          <p:nvPr/>
        </p:nvSpPr>
        <p:spPr>
          <a:xfrm>
            <a:off x="10662878" y="6412952"/>
            <a:ext cx="1521595" cy="782955"/>
          </a:xfrm>
          <a:prstGeom prst="rect">
            <a:avLst/>
          </a:prstGeom>
          <a:noFill/>
          <a:ln/>
        </p:spPr>
        <p:txBody>
          <a:bodyPr wrap="square" lIns="25400" tIns="25400" rIns="25400" bIns="25400" rtlCol="0" anchor="t">
            <a:normAutofit/>
          </a:bodyPr>
          <a:lstStyle/>
          <a:p>
            <a:pPr marL="0" indent="0" algn="l">
              <a:lnSpc>
                <a:spcPct val="59969"/>
              </a:lnSpc>
              <a:buNone/>
            </a:pPr>
            <a:r>
              <a:rPr lang="en-US" sz="6900" b="1" kern="0" spc="-207" dirty="0">
                <a:solidFill>
                  <a:srgbClr val="12161D"/>
                </a:solidFill>
                <a:latin typeface="Arial" pitchFamily="34" charset="0"/>
                <a:ea typeface="Arial" pitchFamily="34" charset="-122"/>
                <a:cs typeface="Arial" pitchFamily="34" charset="-120"/>
              </a:rPr>
              <a:t>224</a:t>
            </a:r>
            <a:endParaRPr lang="en-US" sz="6900" dirty="0"/>
          </a:p>
        </p:txBody>
      </p:sp>
      <p:sp>
        <p:nvSpPr>
          <p:cNvPr id="20" name="Text 18"/>
          <p:cNvSpPr/>
          <p:nvPr/>
        </p:nvSpPr>
        <p:spPr>
          <a:xfrm>
            <a:off x="12127709" y="6529087"/>
            <a:ext cx="356711" cy="4800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Arial" pitchFamily="34" charset="0"/>
                <a:ea typeface="Arial" pitchFamily="34" charset="-122"/>
                <a:cs typeface="Arial" pitchFamily="34" charset="-120"/>
              </a:rPr>
              <a:t>건</a:t>
            </a:r>
            <a:endParaRPr lang="en-US" sz="2400" dirty="0"/>
          </a:p>
        </p:txBody>
      </p:sp>
      <p:sp>
        <p:nvSpPr>
          <p:cNvPr id="21" name="Text 19"/>
          <p:cNvSpPr/>
          <p:nvPr/>
        </p:nvSpPr>
        <p:spPr>
          <a:xfrm>
            <a:off x="10520482" y="7177246"/>
            <a:ext cx="3117449"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17개 시트 → 공통 스키마</a:t>
            </a:r>
            <a:endParaRPr lang="en-US" sz="1650" dirty="0"/>
          </a:p>
        </p:txBody>
      </p:sp>
      <p:sp>
        <p:nvSpPr>
          <p:cNvPr id="22" name="Text 20"/>
          <p:cNvSpPr/>
          <p:nvPr/>
        </p:nvSpPr>
        <p:spPr>
          <a:xfrm>
            <a:off x="10520482" y="7539196"/>
            <a:ext cx="2919066" cy="526732"/>
          </a:xfrm>
          <a:prstGeom prst="rect">
            <a:avLst/>
          </a:prstGeom>
          <a:noFill/>
          <a:ln/>
        </p:spPr>
        <p:txBody>
          <a:bodyPr wrap="square" lIns="25400" tIns="25400" rIns="25400" bIns="25400" rtlCol="0" anchor="t">
            <a:normAutofit lnSpcReduction="10000"/>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EX ) 2026-07-27 수집분 · 중복 제거 후 223건</a:t>
            </a:r>
            <a:endParaRPr lang="en-US" sz="1425" dirty="0"/>
          </a:p>
        </p:txBody>
      </p:sp>
      <p:sp>
        <p:nvSpPr>
          <p:cNvPr id="23" name="Shape 21"/>
          <p:cNvSpPr/>
          <p:nvPr/>
        </p:nvSpPr>
        <p:spPr>
          <a:xfrm>
            <a:off x="13914596" y="2289135"/>
            <a:ext cx="3459004" cy="6032064"/>
          </a:xfrm>
          <a:prstGeom prst="roundRect">
            <a:avLst>
              <a:gd name="adj" fmla="val 4406"/>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4" name="Text 22"/>
          <p:cNvSpPr/>
          <p:nvPr/>
        </p:nvSpPr>
        <p:spPr>
          <a:xfrm>
            <a:off x="14227016" y="2582505"/>
            <a:ext cx="3117580"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팀 공유 · 이력</a:t>
            </a:r>
            <a:endParaRPr lang="en-US" sz="1425" dirty="0"/>
          </a:p>
        </p:txBody>
      </p:sp>
      <p:sp>
        <p:nvSpPr>
          <p:cNvPr id="25" name="Text 23"/>
          <p:cNvSpPr/>
          <p:nvPr/>
        </p:nvSpPr>
        <p:spPr>
          <a:xfrm>
            <a:off x="14357569" y="6412951"/>
            <a:ext cx="537329" cy="782955"/>
          </a:xfrm>
          <a:prstGeom prst="rect">
            <a:avLst/>
          </a:prstGeom>
          <a:noFill/>
          <a:ln/>
        </p:spPr>
        <p:txBody>
          <a:bodyPr wrap="square" lIns="25400" tIns="25400" rIns="25400" bIns="25400" rtlCol="0" anchor="t">
            <a:normAutofit/>
          </a:bodyPr>
          <a:lstStyle/>
          <a:p>
            <a:pPr marL="0" indent="0" algn="l">
              <a:lnSpc>
                <a:spcPct val="59969"/>
              </a:lnSpc>
              <a:buNone/>
            </a:pPr>
            <a:r>
              <a:rPr lang="en-US" sz="6900" b="1" kern="0" spc="-207" dirty="0">
                <a:solidFill>
                  <a:srgbClr val="12161D"/>
                </a:solidFill>
                <a:latin typeface="Arial" pitchFamily="34" charset="0"/>
                <a:ea typeface="Arial" pitchFamily="34" charset="-122"/>
                <a:cs typeface="Arial" pitchFamily="34" charset="-120"/>
              </a:rPr>
              <a:t>0</a:t>
            </a:r>
            <a:endParaRPr lang="en-US" sz="6900" dirty="0"/>
          </a:p>
        </p:txBody>
      </p:sp>
      <p:sp>
        <p:nvSpPr>
          <p:cNvPr id="26" name="Text 24"/>
          <p:cNvSpPr/>
          <p:nvPr/>
        </p:nvSpPr>
        <p:spPr>
          <a:xfrm>
            <a:off x="14227016" y="7177246"/>
            <a:ext cx="3117580"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Arial" pitchFamily="34" charset="0"/>
                <a:ea typeface="Arial" pitchFamily="34" charset="-122"/>
                <a:cs typeface="Arial" pitchFamily="34" charset="-120"/>
              </a:rPr>
              <a:t>개인 엑셀에 정체</a:t>
            </a:r>
            <a:endParaRPr lang="en-US" sz="1650" dirty="0"/>
          </a:p>
        </p:txBody>
      </p:sp>
      <p:sp>
        <p:nvSpPr>
          <p:cNvPr id="27" name="Text 25"/>
          <p:cNvSpPr/>
          <p:nvPr/>
        </p:nvSpPr>
        <p:spPr>
          <a:xfrm>
            <a:off x="14227016" y="7539196"/>
            <a:ext cx="2919189" cy="526732"/>
          </a:xfrm>
          <a:prstGeom prst="rect">
            <a:avLst/>
          </a:prstGeom>
          <a:noFill/>
          <a:ln/>
        </p:spPr>
        <p:txBody>
          <a:bodyPr wrap="square" lIns="25400" tIns="25400" rIns="25400" bIns="25400" rtlCol="0" anchor="t">
            <a:normAutofit lnSpcReduction="10000"/>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취합 결과가 개인 파일에 머물러 공유·이력 관리 불가</a:t>
            </a:r>
            <a:endParaRPr lang="en-US" sz="1425" dirty="0"/>
          </a:p>
        </p:txBody>
      </p:sp>
      <p:sp>
        <p:nvSpPr>
          <p:cNvPr id="28" name="Shape 26"/>
          <p:cNvSpPr/>
          <p:nvPr/>
        </p:nvSpPr>
        <p:spPr>
          <a:xfrm>
            <a:off x="914400" y="8568848"/>
            <a:ext cx="16459200" cy="807720"/>
          </a:xfrm>
          <a:prstGeom prst="roundRect">
            <a:avLst>
              <a:gd name="adj" fmla="val 18868"/>
            </a:avLst>
          </a:prstGeom>
          <a:solidFill>
            <a:srgbClr val="ECE7DD"/>
          </a:solidFill>
          <a:ln/>
        </p:spPr>
      </p:sp>
      <p:sp>
        <p:nvSpPr>
          <p:cNvPr id="29" name="Text 27"/>
          <p:cNvSpPr/>
          <p:nvPr/>
        </p:nvSpPr>
        <p:spPr>
          <a:xfrm>
            <a:off x="1219200" y="8778398"/>
            <a:ext cx="2052411" cy="426720"/>
          </a:xfrm>
          <a:prstGeom prst="rect">
            <a:avLst/>
          </a:prstGeom>
          <a:noFill/>
          <a:ln/>
        </p:spPr>
        <p:txBody>
          <a:bodyPr wrap="none" lIns="25400" tIns="25400" rIns="25400" bIns="25400" rtlCol="0" anchor="t">
            <a:normAutofit/>
          </a:bodyPr>
          <a:lstStyle/>
          <a:p>
            <a:pPr marL="0" indent="0" algn="l">
              <a:buNone/>
            </a:pPr>
            <a:r>
              <a:rPr lang="en-US" sz="2100" b="1" dirty="0">
                <a:solidFill>
                  <a:srgbClr val="A9640F"/>
                </a:solidFill>
                <a:latin typeface="Arial" pitchFamily="34" charset="0"/>
                <a:ea typeface="Arial" pitchFamily="34" charset="-122"/>
                <a:cs typeface="Arial" pitchFamily="34" charset="-120"/>
              </a:rPr>
              <a:t>선적 실패 리스크</a:t>
            </a:r>
            <a:endParaRPr lang="en-US" sz="2100" dirty="0"/>
          </a:p>
        </p:txBody>
      </p:sp>
      <p:sp>
        <p:nvSpPr>
          <p:cNvPr id="30" name="Text 28"/>
          <p:cNvSpPr/>
          <p:nvPr/>
        </p:nvSpPr>
        <p:spPr>
          <a:xfrm>
            <a:off x="3332679" y="8837691"/>
            <a:ext cx="10738128"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Arial" pitchFamily="34" charset="0"/>
                <a:ea typeface="Arial" pitchFamily="34" charset="-122"/>
                <a:cs typeface="Arial" pitchFamily="34" charset="-120"/>
              </a:rPr>
              <a:t>반입마감시한(Cargo Cut-off)을 놓치면 곧바로 Roll-over </a:t>
            </a:r>
            <a:r>
              <a:rPr lang="en-US" sz="1575" dirty="0">
                <a:solidFill>
                  <a:srgbClr val="12161D"/>
                </a:solidFill>
                <a:latin typeface="Arial" pitchFamily="34" charset="0"/>
                <a:ea typeface="Arial" pitchFamily="34" charset="-122"/>
                <a:cs typeface="Arial" pitchFamily="34" charset="-120"/>
              </a:rPr>
              <a:t>— 수작업 취합의 비효율은 그대로 비용·리스크로 직결됩니다</a:t>
            </a:r>
            <a:endParaRPr lang="en-US" sz="1575" dirty="0"/>
          </a:p>
        </p:txBody>
      </p:sp>
      <p:sp>
        <p:nvSpPr>
          <p:cNvPr id="31" name="Shape 29"/>
          <p:cNvSpPr/>
          <p:nvPr/>
        </p:nvSpPr>
        <p:spPr>
          <a:xfrm>
            <a:off x="914400" y="9605010"/>
            <a:ext cx="16459200" cy="9525"/>
          </a:xfrm>
          <a:prstGeom prst="rect">
            <a:avLst/>
          </a:prstGeom>
          <a:solidFill>
            <a:srgbClr val="E9E4DC"/>
          </a:solidFill>
          <a:ln/>
        </p:spPr>
      </p:sp>
      <p:sp>
        <p:nvSpPr>
          <p:cNvPr id="32" name="Text 30"/>
          <p:cNvSpPr/>
          <p:nvPr/>
        </p:nvSpPr>
        <p:spPr>
          <a:xfrm>
            <a:off x="914400" y="9726930"/>
            <a:ext cx="7823026"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SmartBPO PRD(터미널 선석배정현황) · 터미널 공표 스케줄 9종 · 2026-07-27 수집분 224건</a:t>
            </a:r>
            <a:endParaRPr lang="en-US" sz="1275" dirty="0"/>
          </a:p>
        </p:txBody>
      </p:sp>
      <p:sp>
        <p:nvSpPr>
          <p:cNvPr id="33" name="Text 31"/>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04</a:t>
            </a:r>
            <a:endParaRPr lang="en-US" sz="1275" dirty="0"/>
          </a:p>
        </p:txBody>
      </p:sp>
      <p:sp>
        <p:nvSpPr>
          <p:cNvPr id="35" name="Text 18">
            <a:extLst>
              <a:ext uri="{FF2B5EF4-FFF2-40B4-BE49-F238E27FC236}">
                <a16:creationId xmlns:a16="http://schemas.microsoft.com/office/drawing/2014/main" id="{0FBC9C2F-5562-BC21-8BFB-A9DF9A14AF11}"/>
              </a:ext>
            </a:extLst>
          </p:cNvPr>
          <p:cNvSpPr/>
          <p:nvPr/>
        </p:nvSpPr>
        <p:spPr>
          <a:xfrm>
            <a:off x="14858460" y="6533086"/>
            <a:ext cx="356711" cy="480060"/>
          </a:xfrm>
          <a:prstGeom prst="rect">
            <a:avLst/>
          </a:prstGeom>
          <a:noFill/>
          <a:ln/>
        </p:spPr>
        <p:txBody>
          <a:bodyPr wrap="square" lIns="25400" tIns="25400" rIns="25400" bIns="25400" rtlCol="0" anchor="t">
            <a:normAutofit/>
          </a:bodyPr>
          <a:lstStyle/>
          <a:p>
            <a:pPr marL="0" indent="0" algn="l">
              <a:buNone/>
            </a:pPr>
            <a:r>
              <a:rPr lang="en-US" sz="2400" b="1" dirty="0">
                <a:solidFill>
                  <a:srgbClr val="12161D"/>
                </a:solidFill>
                <a:latin typeface="Arial" pitchFamily="34" charset="0"/>
                <a:ea typeface="Arial" pitchFamily="34" charset="-122"/>
                <a:cs typeface="Arial" pitchFamily="34" charset="-120"/>
              </a:rPr>
              <a:t>건</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데이터 지형</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물류 판단에 필요한 정보가 여섯 갈래로 흩어져 있다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선석배정·항만혼잡·선박위치·운임지수·항만기상·화물통관 — 소스도, 포맷도, 갱신주기도 제각각</a:t>
            </a:r>
            <a:endParaRPr lang="en-US" sz="1875" dirty="0"/>
          </a:p>
        </p:txBody>
      </p:sp>
      <p:sp>
        <p:nvSpPr>
          <p:cNvPr id="5" name="Shape 3"/>
          <p:cNvSpPr/>
          <p:nvPr/>
        </p:nvSpPr>
        <p:spPr>
          <a:xfrm>
            <a:off x="914400" y="2289136"/>
            <a:ext cx="5334000" cy="3438882"/>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45870" y="2582506"/>
            <a:ext cx="1285042"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선석배정</a:t>
            </a:r>
            <a:endParaRPr lang="en-US" sz="1950" dirty="0"/>
          </a:p>
        </p:txBody>
      </p:sp>
      <p:sp>
        <p:nvSpPr>
          <p:cNvPr id="7" name="Shape 5"/>
          <p:cNvSpPr/>
          <p:nvPr/>
        </p:nvSpPr>
        <p:spPr>
          <a:xfrm>
            <a:off x="4965145" y="2582506"/>
            <a:ext cx="951786" cy="335280"/>
          </a:xfrm>
          <a:prstGeom prst="roundRect">
            <a:avLst>
              <a:gd name="adj" fmla="val 50000"/>
            </a:avLst>
          </a:prstGeom>
          <a:solidFill>
            <a:srgbClr val="E7EEEE"/>
          </a:solidFill>
          <a:ln/>
        </p:spPr>
      </p:sp>
      <p:sp>
        <p:nvSpPr>
          <p:cNvPr id="8" name="Text 6"/>
          <p:cNvSpPr/>
          <p:nvPr/>
        </p:nvSpPr>
        <p:spPr>
          <a:xfrm>
            <a:off x="5088970" y="2639656"/>
            <a:ext cx="780336"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매일 06:00</a:t>
            </a:r>
            <a:endParaRPr lang="en-US" sz="1200" dirty="0"/>
          </a:p>
        </p:txBody>
      </p:sp>
      <p:sp>
        <p:nvSpPr>
          <p:cNvPr id="9" name="Text 7"/>
          <p:cNvSpPr/>
          <p:nvPr/>
        </p:nvSpPr>
        <p:spPr>
          <a:xfrm>
            <a:off x="1245870" y="5167948"/>
            <a:ext cx="5138166"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터미널 9곳 공표 웹사이트 </a:t>
            </a:r>
            <a:r>
              <a:rPr lang="en-US" sz="1500" dirty="0">
                <a:solidFill>
                  <a:srgbClr val="6F6A5F"/>
                </a:solidFill>
                <a:latin typeface="Arial" pitchFamily="34" charset="0"/>
                <a:ea typeface="Arial" pitchFamily="34" charset="-122"/>
                <a:cs typeface="Arial" pitchFamily="34" charset="-120"/>
              </a:rPr>
              <a:t>· 시트별 이질 스키마 엑셀</a:t>
            </a:r>
            <a:endParaRPr lang="en-US" sz="1500" dirty="0"/>
          </a:p>
        </p:txBody>
      </p:sp>
      <p:sp>
        <p:nvSpPr>
          <p:cNvPr id="10" name="Shape 8"/>
          <p:cNvSpPr/>
          <p:nvPr/>
        </p:nvSpPr>
        <p:spPr>
          <a:xfrm>
            <a:off x="6477000" y="2289136"/>
            <a:ext cx="5334000" cy="3438882"/>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1" name="Text 9"/>
          <p:cNvSpPr/>
          <p:nvPr/>
        </p:nvSpPr>
        <p:spPr>
          <a:xfrm>
            <a:off x="6808470" y="2582506"/>
            <a:ext cx="1542694"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항만 혼잡도</a:t>
            </a:r>
            <a:endParaRPr lang="en-US" sz="1950" dirty="0"/>
          </a:p>
        </p:txBody>
      </p:sp>
      <p:sp>
        <p:nvSpPr>
          <p:cNvPr id="12" name="Shape 10"/>
          <p:cNvSpPr/>
          <p:nvPr/>
        </p:nvSpPr>
        <p:spPr>
          <a:xfrm>
            <a:off x="10501551" y="2582506"/>
            <a:ext cx="977979" cy="335280"/>
          </a:xfrm>
          <a:prstGeom prst="roundRect">
            <a:avLst>
              <a:gd name="adj" fmla="val 50000"/>
            </a:avLst>
          </a:prstGeom>
          <a:solidFill>
            <a:srgbClr val="E7EEEE"/>
          </a:solidFill>
          <a:ln/>
        </p:spPr>
      </p:sp>
      <p:sp>
        <p:nvSpPr>
          <p:cNvPr id="13" name="Text 11"/>
          <p:cNvSpPr/>
          <p:nvPr/>
        </p:nvSpPr>
        <p:spPr>
          <a:xfrm>
            <a:off x="10625376" y="2639656"/>
            <a:ext cx="806529"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주 1회 배치</a:t>
            </a:r>
            <a:endParaRPr lang="en-US" sz="1200" dirty="0"/>
          </a:p>
        </p:txBody>
      </p:sp>
      <p:sp>
        <p:nvSpPr>
          <p:cNvPr id="14" name="Text 12"/>
          <p:cNvSpPr/>
          <p:nvPr/>
        </p:nvSpPr>
        <p:spPr>
          <a:xfrm>
            <a:off x="6808470" y="5167948"/>
            <a:ext cx="5138166"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IMF PortWatch 위성 AIS </a:t>
            </a:r>
            <a:r>
              <a:rPr lang="en-US" sz="1500" dirty="0">
                <a:solidFill>
                  <a:srgbClr val="6F6A5F"/>
                </a:solidFill>
                <a:latin typeface="Arial" pitchFamily="34" charset="0"/>
                <a:ea typeface="Arial" pitchFamily="34" charset="-122"/>
                <a:cs typeface="Arial" pitchFamily="34" charset="-120"/>
              </a:rPr>
              <a:t>· ArcGIS REST(무인증) JSON</a:t>
            </a:r>
            <a:endParaRPr lang="en-US" sz="1500" dirty="0"/>
          </a:p>
        </p:txBody>
      </p:sp>
      <p:sp>
        <p:nvSpPr>
          <p:cNvPr id="15" name="Shape 13"/>
          <p:cNvSpPr/>
          <p:nvPr/>
        </p:nvSpPr>
        <p:spPr>
          <a:xfrm>
            <a:off x="12039600" y="2289136"/>
            <a:ext cx="5334000" cy="3438882"/>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6" name="Text 14"/>
          <p:cNvSpPr/>
          <p:nvPr/>
        </p:nvSpPr>
        <p:spPr>
          <a:xfrm>
            <a:off x="12371069" y="2582506"/>
            <a:ext cx="1258847"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선박 위치</a:t>
            </a:r>
            <a:endParaRPr lang="en-US" sz="1950" dirty="0"/>
          </a:p>
        </p:txBody>
      </p:sp>
      <p:sp>
        <p:nvSpPr>
          <p:cNvPr id="17" name="Shape 15"/>
          <p:cNvSpPr/>
          <p:nvPr/>
        </p:nvSpPr>
        <p:spPr>
          <a:xfrm>
            <a:off x="16373832" y="2582506"/>
            <a:ext cx="668298" cy="335280"/>
          </a:xfrm>
          <a:prstGeom prst="roundRect">
            <a:avLst>
              <a:gd name="adj" fmla="val 50000"/>
            </a:avLst>
          </a:prstGeom>
          <a:solidFill>
            <a:srgbClr val="E7EEEE"/>
          </a:solidFill>
          <a:ln/>
        </p:spPr>
      </p:sp>
      <p:sp>
        <p:nvSpPr>
          <p:cNvPr id="18" name="Text 16"/>
          <p:cNvSpPr/>
          <p:nvPr/>
        </p:nvSpPr>
        <p:spPr>
          <a:xfrm>
            <a:off x="16497657" y="2639656"/>
            <a:ext cx="496848"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실시간</a:t>
            </a:r>
            <a:endParaRPr lang="en-US" sz="1200" dirty="0"/>
          </a:p>
        </p:txBody>
      </p:sp>
      <p:sp>
        <p:nvSpPr>
          <p:cNvPr id="19" name="Text 17"/>
          <p:cNvSpPr/>
          <p:nvPr/>
        </p:nvSpPr>
        <p:spPr>
          <a:xfrm>
            <a:off x="12371070" y="5167948"/>
            <a:ext cx="5138166"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VesselFinder AIS </a:t>
            </a:r>
            <a:r>
              <a:rPr lang="en-US" sz="1500" dirty="0">
                <a:solidFill>
                  <a:srgbClr val="6F6A5F"/>
                </a:solidFill>
                <a:latin typeface="Arial" pitchFamily="34" charset="0"/>
                <a:ea typeface="Arial" pitchFamily="34" charset="-122"/>
                <a:cs typeface="Arial" pitchFamily="34" charset="-120"/>
              </a:rPr>
              <a:t>· iframe 임베드 · 4개 항만 전환</a:t>
            </a:r>
            <a:endParaRPr lang="en-US" sz="1500" dirty="0"/>
          </a:p>
        </p:txBody>
      </p:sp>
      <p:sp>
        <p:nvSpPr>
          <p:cNvPr id="20" name="Shape 18"/>
          <p:cNvSpPr/>
          <p:nvPr/>
        </p:nvSpPr>
        <p:spPr>
          <a:xfrm>
            <a:off x="914400" y="5956618"/>
            <a:ext cx="5334000" cy="3439001"/>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1" name="Text 19"/>
          <p:cNvSpPr/>
          <p:nvPr/>
        </p:nvSpPr>
        <p:spPr>
          <a:xfrm>
            <a:off x="1245870" y="6249988"/>
            <a:ext cx="1169784"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운임지수</a:t>
            </a:r>
            <a:endParaRPr lang="en-US" sz="1950" dirty="0"/>
          </a:p>
        </p:txBody>
      </p:sp>
      <p:sp>
        <p:nvSpPr>
          <p:cNvPr id="22" name="Shape 20"/>
          <p:cNvSpPr/>
          <p:nvPr/>
        </p:nvSpPr>
        <p:spPr>
          <a:xfrm>
            <a:off x="5388769" y="6249988"/>
            <a:ext cx="528161" cy="335280"/>
          </a:xfrm>
          <a:prstGeom prst="roundRect">
            <a:avLst>
              <a:gd name="adj" fmla="val 50000"/>
            </a:avLst>
          </a:prstGeom>
          <a:solidFill>
            <a:srgbClr val="E7EEEE"/>
          </a:solidFill>
          <a:ln/>
        </p:spPr>
      </p:sp>
      <p:sp>
        <p:nvSpPr>
          <p:cNvPr id="23" name="Text 21"/>
          <p:cNvSpPr/>
          <p:nvPr/>
        </p:nvSpPr>
        <p:spPr>
          <a:xfrm>
            <a:off x="5512594" y="6307138"/>
            <a:ext cx="356711"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주간</a:t>
            </a:r>
            <a:endParaRPr lang="en-US" sz="1200" dirty="0"/>
          </a:p>
        </p:txBody>
      </p:sp>
      <p:sp>
        <p:nvSpPr>
          <p:cNvPr id="24" name="Text 22"/>
          <p:cNvSpPr/>
          <p:nvPr/>
        </p:nvSpPr>
        <p:spPr>
          <a:xfrm>
            <a:off x="1245870" y="8835549"/>
            <a:ext cx="5138166"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상하이해운거래소 SCFI/CCFI </a:t>
            </a:r>
            <a:r>
              <a:rPr lang="en-US" sz="1500" dirty="0">
                <a:solidFill>
                  <a:srgbClr val="6F6A5F"/>
                </a:solidFill>
                <a:latin typeface="Arial" pitchFamily="34" charset="0"/>
                <a:ea typeface="Arial" pitchFamily="34" charset="-122"/>
                <a:cs typeface="Arial" pitchFamily="34" charset="-120"/>
              </a:rPr>
              <a:t>· JSON · 종합·항로별</a:t>
            </a:r>
            <a:endParaRPr lang="en-US" sz="1500" dirty="0"/>
          </a:p>
        </p:txBody>
      </p:sp>
      <p:sp>
        <p:nvSpPr>
          <p:cNvPr id="25" name="Shape 23"/>
          <p:cNvSpPr/>
          <p:nvPr/>
        </p:nvSpPr>
        <p:spPr>
          <a:xfrm>
            <a:off x="6477000" y="5956618"/>
            <a:ext cx="5334000" cy="3439001"/>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6" name="Text 24"/>
          <p:cNvSpPr/>
          <p:nvPr/>
        </p:nvSpPr>
        <p:spPr>
          <a:xfrm>
            <a:off x="6808469" y="6249988"/>
            <a:ext cx="1243709"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항만 기상</a:t>
            </a:r>
            <a:endParaRPr lang="en-US" sz="1950" dirty="0"/>
          </a:p>
        </p:txBody>
      </p:sp>
      <p:sp>
        <p:nvSpPr>
          <p:cNvPr id="27" name="Shape 25"/>
          <p:cNvSpPr/>
          <p:nvPr/>
        </p:nvSpPr>
        <p:spPr>
          <a:xfrm>
            <a:off x="10922080" y="6249988"/>
            <a:ext cx="557451" cy="335280"/>
          </a:xfrm>
          <a:prstGeom prst="roundRect">
            <a:avLst>
              <a:gd name="adj" fmla="val 50000"/>
            </a:avLst>
          </a:prstGeom>
          <a:solidFill>
            <a:srgbClr val="E7EEEE"/>
          </a:solidFill>
          <a:ln/>
        </p:spPr>
      </p:sp>
      <p:sp>
        <p:nvSpPr>
          <p:cNvPr id="28" name="Text 26"/>
          <p:cNvSpPr/>
          <p:nvPr/>
        </p:nvSpPr>
        <p:spPr>
          <a:xfrm>
            <a:off x="11045905" y="6307138"/>
            <a:ext cx="386001"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30분</a:t>
            </a:r>
            <a:endParaRPr lang="en-US" sz="1200" dirty="0"/>
          </a:p>
        </p:txBody>
      </p:sp>
      <p:sp>
        <p:nvSpPr>
          <p:cNvPr id="29" name="Text 27"/>
          <p:cNvSpPr/>
          <p:nvPr/>
        </p:nvSpPr>
        <p:spPr>
          <a:xfrm>
            <a:off x="6808470" y="8835549"/>
            <a:ext cx="5138166"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Open-Meteo Marine </a:t>
            </a:r>
            <a:r>
              <a:rPr lang="en-US" sz="1500" dirty="0">
                <a:solidFill>
                  <a:srgbClr val="6F6A5F"/>
                </a:solidFill>
                <a:latin typeface="Arial" pitchFamily="34" charset="0"/>
                <a:ea typeface="Arial" pitchFamily="34" charset="-122"/>
                <a:cs typeface="Arial" pitchFamily="34" charset="-120"/>
              </a:rPr>
              <a:t>· 브라우저 직접 fetch(무인증)</a:t>
            </a:r>
            <a:endParaRPr lang="en-US" sz="1500" dirty="0"/>
          </a:p>
        </p:txBody>
      </p:sp>
      <p:sp>
        <p:nvSpPr>
          <p:cNvPr id="30" name="Shape 28"/>
          <p:cNvSpPr/>
          <p:nvPr/>
        </p:nvSpPr>
        <p:spPr>
          <a:xfrm>
            <a:off x="12039600" y="5956618"/>
            <a:ext cx="5334000" cy="3439001"/>
          </a:xfrm>
          <a:prstGeom prst="roundRect">
            <a:avLst>
              <a:gd name="adj" fmla="val 4432"/>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31" name="Text 29"/>
          <p:cNvSpPr/>
          <p:nvPr/>
        </p:nvSpPr>
        <p:spPr>
          <a:xfrm>
            <a:off x="12371070" y="6249988"/>
            <a:ext cx="1258846"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화물 통관</a:t>
            </a:r>
            <a:endParaRPr lang="en-US" sz="1950" dirty="0"/>
          </a:p>
        </p:txBody>
      </p:sp>
      <p:sp>
        <p:nvSpPr>
          <p:cNvPr id="32" name="Shape 30"/>
          <p:cNvSpPr/>
          <p:nvPr/>
        </p:nvSpPr>
        <p:spPr>
          <a:xfrm>
            <a:off x="16331446" y="6249988"/>
            <a:ext cx="710684" cy="335280"/>
          </a:xfrm>
          <a:prstGeom prst="roundRect">
            <a:avLst>
              <a:gd name="adj" fmla="val 50000"/>
            </a:avLst>
          </a:prstGeom>
          <a:solidFill>
            <a:srgbClr val="E7EEEE"/>
          </a:solidFill>
          <a:ln/>
        </p:spPr>
      </p:sp>
      <p:sp>
        <p:nvSpPr>
          <p:cNvPr id="33" name="Text 31"/>
          <p:cNvSpPr/>
          <p:nvPr/>
        </p:nvSpPr>
        <p:spPr>
          <a:xfrm>
            <a:off x="16455271" y="6307138"/>
            <a:ext cx="539234" cy="259080"/>
          </a:xfrm>
          <a:prstGeom prst="rect">
            <a:avLst/>
          </a:prstGeom>
          <a:noFill/>
          <a:ln/>
        </p:spPr>
        <p:txBody>
          <a:bodyPr wrap="non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조회 시</a:t>
            </a:r>
            <a:endParaRPr lang="en-US" sz="1200" dirty="0"/>
          </a:p>
        </p:txBody>
      </p:sp>
      <p:sp>
        <p:nvSpPr>
          <p:cNvPr id="34" name="Text 32"/>
          <p:cNvSpPr/>
          <p:nvPr/>
        </p:nvSpPr>
        <p:spPr>
          <a:xfrm>
            <a:off x="12371070" y="8835549"/>
            <a:ext cx="5138166"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관세청 유니패스 </a:t>
            </a:r>
            <a:r>
              <a:rPr lang="en-US" sz="1500" dirty="0">
                <a:solidFill>
                  <a:srgbClr val="6F6A5F"/>
                </a:solidFill>
                <a:latin typeface="Arial" pitchFamily="34" charset="0"/>
                <a:ea typeface="Arial" pitchFamily="34" charset="-122"/>
                <a:cs typeface="Arial" pitchFamily="34" charset="-120"/>
              </a:rPr>
              <a:t>· XML OpenAPI · MBL/HBL/AWB</a:t>
            </a:r>
            <a:endParaRPr lang="en-US" sz="1500" dirty="0"/>
          </a:p>
        </p:txBody>
      </p:sp>
      <p:sp>
        <p:nvSpPr>
          <p:cNvPr id="35" name="Shape 33"/>
          <p:cNvSpPr/>
          <p:nvPr/>
        </p:nvSpPr>
        <p:spPr>
          <a:xfrm>
            <a:off x="914400" y="9605010"/>
            <a:ext cx="16459200" cy="9525"/>
          </a:xfrm>
          <a:prstGeom prst="rect">
            <a:avLst/>
          </a:prstGeom>
          <a:solidFill>
            <a:srgbClr val="E9E4DC"/>
          </a:solidFill>
          <a:ln/>
        </p:spPr>
      </p:sp>
      <p:sp>
        <p:nvSpPr>
          <p:cNvPr id="36" name="Text 34"/>
          <p:cNvSpPr/>
          <p:nvPr/>
        </p:nvSpPr>
        <p:spPr>
          <a:xfrm>
            <a:off x="914400" y="9726930"/>
            <a:ext cx="10673429"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물류포털 상세기술서 §1 시스템 아키텍처 · 오픈데이터 6개 영역 전수조사(41건) — 판단 하나에 여러 화면을 오가는 통합 계층의 부재</a:t>
            </a:r>
            <a:endParaRPr lang="en-US" sz="1275" dirty="0"/>
          </a:p>
        </p:txBody>
      </p:sp>
      <p:sp>
        <p:nvSpPr>
          <p:cNvPr id="37" name="Text 35"/>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05</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신뢰성의 벽</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화면은 있어도, 데이터가 데모면 쓸 수 없다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가짜 난수·데모 문구를 걷어내고 실데이터로 — 상용 가시성 솔루션은 유료·느림</a:t>
            </a:r>
            <a:endParaRPr lang="en-US" sz="1875" dirty="0"/>
          </a:p>
        </p:txBody>
      </p:sp>
      <p:sp>
        <p:nvSpPr>
          <p:cNvPr id="5" name="Shape 3"/>
          <p:cNvSpPr/>
          <p:nvPr/>
        </p:nvSpPr>
        <p:spPr>
          <a:xfrm>
            <a:off x="914400" y="2289039"/>
            <a:ext cx="5321261" cy="606254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264920" y="2601460"/>
            <a:ext cx="508224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실운용 재가공 감사</a:t>
            </a:r>
            <a:endParaRPr lang="en-US" sz="1425" dirty="0"/>
          </a:p>
        </p:txBody>
      </p:sp>
      <p:sp>
        <p:nvSpPr>
          <p:cNvPr id="7" name="Text 5"/>
          <p:cNvSpPr/>
          <p:nvPr/>
        </p:nvSpPr>
        <p:spPr>
          <a:xfrm>
            <a:off x="1264920" y="6486588"/>
            <a:ext cx="1038463" cy="815340"/>
          </a:xfrm>
          <a:prstGeom prst="rect">
            <a:avLst/>
          </a:prstGeom>
          <a:noFill/>
          <a:ln/>
        </p:spPr>
        <p:txBody>
          <a:bodyPr wrap="square" lIns="25400" tIns="25400" rIns="25400" bIns="25400" rtlCol="0" anchor="t">
            <a:normAutofit/>
          </a:bodyPr>
          <a:lstStyle/>
          <a:p>
            <a:pPr marL="0" indent="0" algn="l">
              <a:lnSpc>
                <a:spcPct val="60355"/>
              </a:lnSpc>
              <a:buNone/>
            </a:pPr>
            <a:r>
              <a:rPr lang="en-US" sz="7200" b="1" kern="0" spc="-216" dirty="0">
                <a:solidFill>
                  <a:srgbClr val="12161D"/>
                </a:solidFill>
                <a:latin typeface="Arial" pitchFamily="34" charset="0"/>
                <a:ea typeface="Arial" pitchFamily="34" charset="-122"/>
                <a:cs typeface="Arial" pitchFamily="34" charset="-120"/>
              </a:rPr>
              <a:t>89</a:t>
            </a:r>
            <a:endParaRPr lang="en-US" sz="7200" dirty="0"/>
          </a:p>
        </p:txBody>
      </p:sp>
      <p:sp>
        <p:nvSpPr>
          <p:cNvPr id="8" name="Text 6"/>
          <p:cNvSpPr/>
          <p:nvPr/>
        </p:nvSpPr>
        <p:spPr>
          <a:xfrm>
            <a:off x="2303383" y="6821868"/>
            <a:ext cx="374213"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건</a:t>
            </a:r>
            <a:endParaRPr lang="en-US" sz="2550" dirty="0"/>
          </a:p>
        </p:txBody>
      </p:sp>
      <p:sp>
        <p:nvSpPr>
          <p:cNvPr id="9" name="Text 7"/>
          <p:cNvSpPr/>
          <p:nvPr/>
        </p:nvSpPr>
        <p:spPr>
          <a:xfrm>
            <a:off x="1264920" y="7420038"/>
            <a:ext cx="5082242"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A9640F"/>
                </a:solidFill>
                <a:latin typeface="Arial" pitchFamily="34" charset="0"/>
                <a:ea typeface="Arial" pitchFamily="34" charset="-122"/>
                <a:cs typeface="Arial" pitchFamily="34" charset="-120"/>
              </a:rPr>
              <a:t>데모 문구·가짜 난수 제거</a:t>
            </a:r>
            <a:endParaRPr lang="en-US" sz="1650" dirty="0"/>
          </a:p>
        </p:txBody>
      </p:sp>
      <p:sp>
        <p:nvSpPr>
          <p:cNvPr id="10" name="Text 8"/>
          <p:cNvSpPr/>
          <p:nvPr/>
        </p:nvSpPr>
        <p:spPr>
          <a:xfrm>
            <a:off x="1264920" y="7781988"/>
            <a:ext cx="5082242" cy="295275"/>
          </a:xfrm>
          <a:prstGeom prst="rect">
            <a:avLst/>
          </a:prstGeom>
          <a:noFill/>
          <a:ln/>
        </p:spPr>
        <p:txBody>
          <a:bodyPr wrap="square" lIns="25400" tIns="25400" rIns="25400" bIns="25400" rtlCol="0" anchor="t">
            <a:normAutofit lnSpcReduction="10000"/>
          </a:bodyPr>
          <a:lstStyle/>
          <a:p>
            <a:pPr marL="0" indent="0" algn="l">
              <a:lnSpc>
                <a:spcPct val="116379"/>
              </a:lnSpc>
              <a:buNone/>
            </a:pPr>
            <a:r>
              <a:rPr lang="en-US" sz="1500" dirty="0">
                <a:solidFill>
                  <a:srgbClr val="6F6A5F"/>
                </a:solidFill>
                <a:latin typeface="Arial" pitchFamily="34" charset="0"/>
                <a:ea typeface="Arial" pitchFamily="34" charset="-122"/>
                <a:cs typeface="Arial" pitchFamily="34" charset="-120"/>
              </a:rPr>
              <a:t>전 파일 전수 감사 → 실서비스(e-tgl.com) 기준 개편</a:t>
            </a:r>
            <a:endParaRPr lang="en-US" sz="1500" dirty="0"/>
          </a:p>
        </p:txBody>
      </p:sp>
      <p:sp>
        <p:nvSpPr>
          <p:cNvPr id="11" name="Shape 9"/>
          <p:cNvSpPr/>
          <p:nvPr/>
        </p:nvSpPr>
        <p:spPr>
          <a:xfrm>
            <a:off x="6483311" y="2289039"/>
            <a:ext cx="5321261" cy="606254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2" name="Text 10"/>
          <p:cNvSpPr/>
          <p:nvPr/>
        </p:nvSpPr>
        <p:spPr>
          <a:xfrm>
            <a:off x="6833831" y="2601460"/>
            <a:ext cx="508224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오픈데이터 전수조사</a:t>
            </a:r>
            <a:endParaRPr lang="en-US" sz="1425" dirty="0"/>
          </a:p>
        </p:txBody>
      </p:sp>
      <p:sp>
        <p:nvSpPr>
          <p:cNvPr id="13" name="Text 11"/>
          <p:cNvSpPr/>
          <p:nvPr/>
        </p:nvSpPr>
        <p:spPr>
          <a:xfrm>
            <a:off x="6833831" y="6486588"/>
            <a:ext cx="1038463" cy="815340"/>
          </a:xfrm>
          <a:prstGeom prst="rect">
            <a:avLst/>
          </a:prstGeom>
          <a:noFill/>
          <a:ln/>
        </p:spPr>
        <p:txBody>
          <a:bodyPr wrap="square" lIns="25400" tIns="25400" rIns="25400" bIns="25400" rtlCol="0" anchor="t">
            <a:normAutofit/>
          </a:bodyPr>
          <a:lstStyle/>
          <a:p>
            <a:pPr marL="0" indent="0" algn="l">
              <a:lnSpc>
                <a:spcPct val="60355"/>
              </a:lnSpc>
              <a:buNone/>
            </a:pPr>
            <a:r>
              <a:rPr lang="en-US" sz="7200" b="1" kern="0" spc="-216" dirty="0">
                <a:solidFill>
                  <a:srgbClr val="12161D"/>
                </a:solidFill>
                <a:latin typeface="Arial" pitchFamily="34" charset="0"/>
                <a:ea typeface="Arial" pitchFamily="34" charset="-122"/>
                <a:cs typeface="Arial" pitchFamily="34" charset="-120"/>
              </a:rPr>
              <a:t>41</a:t>
            </a:r>
            <a:endParaRPr lang="en-US" sz="7200" dirty="0"/>
          </a:p>
        </p:txBody>
      </p:sp>
      <p:sp>
        <p:nvSpPr>
          <p:cNvPr id="14" name="Text 12"/>
          <p:cNvSpPr/>
          <p:nvPr/>
        </p:nvSpPr>
        <p:spPr>
          <a:xfrm>
            <a:off x="7872293" y="6821868"/>
            <a:ext cx="374213"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건</a:t>
            </a:r>
            <a:endParaRPr lang="en-US" sz="2550" dirty="0"/>
          </a:p>
        </p:txBody>
      </p:sp>
      <p:sp>
        <p:nvSpPr>
          <p:cNvPr id="15" name="Text 13"/>
          <p:cNvSpPr/>
          <p:nvPr/>
        </p:nvSpPr>
        <p:spPr>
          <a:xfrm>
            <a:off x="6833831" y="7420038"/>
            <a:ext cx="5082242"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6개 영역 · 무료·무인증 우선</a:t>
            </a:r>
            <a:endParaRPr lang="en-US" sz="1650" dirty="0"/>
          </a:p>
        </p:txBody>
      </p:sp>
      <p:sp>
        <p:nvSpPr>
          <p:cNvPr id="16" name="Text 14"/>
          <p:cNvSpPr/>
          <p:nvPr/>
        </p:nvSpPr>
        <p:spPr>
          <a:xfrm>
            <a:off x="6833831" y="7781988"/>
            <a:ext cx="5082242" cy="295275"/>
          </a:xfrm>
          <a:prstGeom prst="rect">
            <a:avLst/>
          </a:prstGeom>
          <a:noFill/>
          <a:ln/>
        </p:spPr>
        <p:txBody>
          <a:bodyPr wrap="square" lIns="25400" tIns="25400" rIns="25400" bIns="25400" rtlCol="0" anchor="t">
            <a:normAutofit lnSpcReduction="10000"/>
          </a:bodyPr>
          <a:lstStyle/>
          <a:p>
            <a:pPr marL="0" indent="0" algn="l">
              <a:lnSpc>
                <a:spcPct val="116379"/>
              </a:lnSpc>
              <a:buNone/>
            </a:pPr>
            <a:r>
              <a:rPr lang="en-US" sz="1500" dirty="0">
                <a:solidFill>
                  <a:srgbClr val="6F6A5F"/>
                </a:solidFill>
                <a:latin typeface="Arial" pitchFamily="34" charset="0"/>
                <a:ea typeface="Arial" pitchFamily="34" charset="-122"/>
                <a:cs typeface="Arial" pitchFamily="34" charset="-120"/>
              </a:rPr>
              <a:t>실데이터 소스 선별로 신뢰 가능한 파이프라인 확정</a:t>
            </a:r>
            <a:endParaRPr lang="en-US" sz="1500" dirty="0"/>
          </a:p>
        </p:txBody>
      </p:sp>
      <p:sp>
        <p:nvSpPr>
          <p:cNvPr id="17" name="Shape 15"/>
          <p:cNvSpPr/>
          <p:nvPr/>
        </p:nvSpPr>
        <p:spPr>
          <a:xfrm>
            <a:off x="12052221" y="2289039"/>
            <a:ext cx="5321261" cy="6062544"/>
          </a:xfrm>
          <a:prstGeom prst="roundRect">
            <a:avLst>
              <a:gd name="adj" fmla="val 2864"/>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8" name="Text 16"/>
          <p:cNvSpPr/>
          <p:nvPr/>
        </p:nvSpPr>
        <p:spPr>
          <a:xfrm>
            <a:off x="12402741" y="2601460"/>
            <a:ext cx="508224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혼잡도 API 실호출 검증</a:t>
            </a:r>
            <a:endParaRPr lang="en-US" sz="1425" dirty="0"/>
          </a:p>
        </p:txBody>
      </p:sp>
      <p:sp>
        <p:nvSpPr>
          <p:cNvPr id="19" name="Text 17"/>
          <p:cNvSpPr/>
          <p:nvPr/>
        </p:nvSpPr>
        <p:spPr>
          <a:xfrm>
            <a:off x="12402741" y="6486588"/>
            <a:ext cx="557332" cy="815340"/>
          </a:xfrm>
          <a:prstGeom prst="rect">
            <a:avLst/>
          </a:prstGeom>
          <a:noFill/>
          <a:ln/>
        </p:spPr>
        <p:txBody>
          <a:bodyPr wrap="square" lIns="25400" tIns="25400" rIns="25400" bIns="25400" rtlCol="0" anchor="t">
            <a:normAutofit/>
          </a:bodyPr>
          <a:lstStyle/>
          <a:p>
            <a:pPr marL="0" indent="0" algn="l">
              <a:lnSpc>
                <a:spcPct val="60355"/>
              </a:lnSpc>
              <a:buNone/>
            </a:pPr>
            <a:r>
              <a:rPr lang="en-US" sz="7200" b="1" kern="0" spc="-216" dirty="0">
                <a:solidFill>
                  <a:srgbClr val="12161D"/>
                </a:solidFill>
                <a:latin typeface="Arial" pitchFamily="34" charset="0"/>
                <a:ea typeface="Arial" pitchFamily="34" charset="-122"/>
                <a:cs typeface="Arial" pitchFamily="34" charset="-120"/>
              </a:rPr>
              <a:t>6</a:t>
            </a:r>
            <a:endParaRPr lang="en-US" sz="7200" dirty="0"/>
          </a:p>
        </p:txBody>
      </p:sp>
      <p:sp>
        <p:nvSpPr>
          <p:cNvPr id="20" name="Text 18"/>
          <p:cNvSpPr/>
          <p:nvPr/>
        </p:nvSpPr>
        <p:spPr>
          <a:xfrm>
            <a:off x="12960073" y="6821868"/>
            <a:ext cx="1383724"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12161D"/>
                </a:solidFill>
                <a:latin typeface="Arial" pitchFamily="34" charset="0"/>
                <a:ea typeface="Arial" pitchFamily="34" charset="-122"/>
                <a:cs typeface="Arial" pitchFamily="34" charset="-120"/>
              </a:rPr>
              <a:t>종 비교</a:t>
            </a:r>
            <a:endParaRPr lang="en-US" sz="2550" dirty="0"/>
          </a:p>
        </p:txBody>
      </p:sp>
      <p:sp>
        <p:nvSpPr>
          <p:cNvPr id="21" name="Text 19"/>
          <p:cNvSpPr/>
          <p:nvPr/>
        </p:nvSpPr>
        <p:spPr>
          <a:xfrm>
            <a:off x="12402741" y="7420038"/>
            <a:ext cx="5082242"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 IMF PortWatch 선정</a:t>
            </a:r>
            <a:endParaRPr lang="en-US" sz="1650" dirty="0"/>
          </a:p>
        </p:txBody>
      </p:sp>
      <p:sp>
        <p:nvSpPr>
          <p:cNvPr id="22" name="Text 20"/>
          <p:cNvSpPr/>
          <p:nvPr/>
        </p:nvSpPr>
        <p:spPr>
          <a:xfrm>
            <a:off x="12402741" y="7781988"/>
            <a:ext cx="5082242" cy="295275"/>
          </a:xfrm>
          <a:prstGeom prst="rect">
            <a:avLst/>
          </a:prstGeom>
          <a:noFill/>
          <a:ln/>
        </p:spPr>
        <p:txBody>
          <a:bodyPr wrap="square" lIns="25400" tIns="25400" rIns="25400" bIns="25400" rtlCol="0" anchor="t">
            <a:normAutofit lnSpcReduction="10000"/>
          </a:bodyPr>
          <a:lstStyle/>
          <a:p>
            <a:pPr marL="0" indent="0" algn="l">
              <a:lnSpc>
                <a:spcPct val="116379"/>
              </a:lnSpc>
              <a:buNone/>
            </a:pPr>
            <a:r>
              <a:rPr lang="en-US" sz="1500" dirty="0">
                <a:solidFill>
                  <a:srgbClr val="6F6A5F"/>
                </a:solidFill>
                <a:latin typeface="Arial" pitchFamily="34" charset="0"/>
                <a:ea typeface="Arial" pitchFamily="34" charset="-122"/>
                <a:cs typeface="Arial" pitchFamily="34" charset="-120"/>
              </a:rPr>
              <a:t>멀티에이전트 실호출 비교로 신뢰 소스 채택</a:t>
            </a:r>
            <a:endParaRPr lang="en-US" sz="1500" dirty="0"/>
          </a:p>
        </p:txBody>
      </p:sp>
      <p:sp>
        <p:nvSpPr>
          <p:cNvPr id="23" name="Shape 21"/>
          <p:cNvSpPr/>
          <p:nvPr/>
        </p:nvSpPr>
        <p:spPr>
          <a:xfrm>
            <a:off x="914400" y="8599233"/>
            <a:ext cx="16459200" cy="777240"/>
          </a:xfrm>
          <a:prstGeom prst="roundRect">
            <a:avLst>
              <a:gd name="adj" fmla="val 19608"/>
            </a:avLst>
          </a:prstGeom>
          <a:solidFill>
            <a:srgbClr val="ECE7DD"/>
          </a:solidFill>
          <a:ln/>
        </p:spPr>
      </p:sp>
      <p:sp>
        <p:nvSpPr>
          <p:cNvPr id="24" name="Text 22"/>
          <p:cNvSpPr/>
          <p:nvPr/>
        </p:nvSpPr>
        <p:spPr>
          <a:xfrm>
            <a:off x="1219200" y="8808783"/>
            <a:ext cx="2610207" cy="396240"/>
          </a:xfrm>
          <a:prstGeom prst="rect">
            <a:avLst/>
          </a:prstGeom>
          <a:noFill/>
          <a:ln/>
        </p:spPr>
        <p:txBody>
          <a:bodyPr wrap="none" lIns="25400" tIns="25400" rIns="25400" bIns="25400" rtlCol="0" anchor="t">
            <a:normAutofit/>
          </a:bodyPr>
          <a:lstStyle/>
          <a:p>
            <a:pPr marL="0" indent="0" algn="l">
              <a:buNone/>
            </a:pPr>
            <a:r>
              <a:rPr lang="en-US" sz="1950" b="1" dirty="0">
                <a:solidFill>
                  <a:srgbClr val="28666E"/>
                </a:solidFill>
                <a:latin typeface="Arial" pitchFamily="34" charset="0"/>
                <a:ea typeface="Arial" pitchFamily="34" charset="-122"/>
                <a:cs typeface="Arial" pitchFamily="34" charset="-120"/>
              </a:rPr>
              <a:t>유료·느림 → 무료·빠름</a:t>
            </a:r>
            <a:endParaRPr lang="en-US" sz="1950" dirty="0"/>
          </a:p>
        </p:txBody>
      </p:sp>
      <p:sp>
        <p:nvSpPr>
          <p:cNvPr id="25" name="Text 23"/>
          <p:cNvSpPr/>
          <p:nvPr/>
        </p:nvSpPr>
        <p:spPr>
          <a:xfrm>
            <a:off x="3839766" y="8852836"/>
            <a:ext cx="11748814"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Arial" pitchFamily="34" charset="0"/>
                <a:ea typeface="Arial" pitchFamily="34" charset="-122"/>
                <a:cs typeface="Arial" pitchFamily="34" charset="-120"/>
              </a:rPr>
              <a:t>상용 Ocean Visibility(tradlinx 등)는 유료·로그인·느림 </a:t>
            </a:r>
            <a:r>
              <a:rPr lang="en-US" sz="1575" dirty="0">
                <a:solidFill>
                  <a:srgbClr val="12161D"/>
                </a:solidFill>
                <a:latin typeface="Arial" pitchFamily="34" charset="0"/>
                <a:ea typeface="Arial" pitchFamily="34" charset="-122"/>
                <a:cs typeface="Arial" pitchFamily="34" charset="-120"/>
              </a:rPr>
              <a:t>— 무료 공개 데이터를 통합·정제해 사내 표준으로 만드는 것이 현실적 해법</a:t>
            </a:r>
            <a:endParaRPr lang="en-US" sz="1575" dirty="0"/>
          </a:p>
        </p:txBody>
      </p:sp>
      <p:sp>
        <p:nvSpPr>
          <p:cNvPr id="26" name="Shape 24"/>
          <p:cNvSpPr/>
          <p:nvPr/>
        </p:nvSpPr>
        <p:spPr>
          <a:xfrm>
            <a:off x="914400" y="9605010"/>
            <a:ext cx="16459200" cy="9525"/>
          </a:xfrm>
          <a:prstGeom prst="rect">
            <a:avLst/>
          </a:prstGeom>
          <a:solidFill>
            <a:srgbClr val="E9E4DC"/>
          </a:solidFill>
          <a:ln/>
        </p:spPr>
      </p:sp>
      <p:sp>
        <p:nvSpPr>
          <p:cNvPr id="27" name="Text 25"/>
          <p:cNvSpPr/>
          <p:nvPr/>
        </p:nvSpPr>
        <p:spPr>
          <a:xfrm>
            <a:off x="914400" y="9726930"/>
            <a:ext cx="8910721"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개발이력 §1(실운용 재가공 89건 · 오픈데이터 41건 · API 6종 비교) · SRS 부록(벤치마크 searates·tradlinx·surff)</a:t>
            </a:r>
            <a:endParaRPr lang="en-US" sz="1275" dirty="0"/>
          </a:p>
        </p:txBody>
      </p:sp>
      <p:sp>
        <p:nvSpPr>
          <p:cNvPr id="28" name="Text 26"/>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06</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01 현황 ·</a:t>
            </a:r>
            <a:r>
              <a:rPr lang="en-US" sz="1425" b="1" kern="0" spc="57" dirty="0">
                <a:solidFill>
                  <a:srgbClr val="28666E"/>
                </a:solidFill>
                <a:latin typeface="Arial" pitchFamily="34" charset="0"/>
                <a:ea typeface="Arial" pitchFamily="34" charset="-122"/>
                <a:cs typeface="Arial" pitchFamily="34" charset="-120"/>
              </a:rPr>
              <a:t>가시성 수요</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항만은 붐비고, 운임은 출렁이며, ETA는 불확실하다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혼잡·운임·경로 변동성이 상시화 — 글로벌 공급망 가시성이 곧 경쟁력</a:t>
            </a:r>
            <a:endParaRPr lang="en-US" sz="1875" dirty="0"/>
          </a:p>
        </p:txBody>
      </p:sp>
      <p:sp>
        <p:nvSpPr>
          <p:cNvPr id="5" name="Shape 3"/>
          <p:cNvSpPr/>
          <p:nvPr/>
        </p:nvSpPr>
        <p:spPr>
          <a:xfrm>
            <a:off x="914400"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26820"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글로벌 혼잡도 모니터링</a:t>
            </a:r>
            <a:endParaRPr lang="en-US" sz="1425" dirty="0"/>
          </a:p>
        </p:txBody>
      </p:sp>
      <p:sp>
        <p:nvSpPr>
          <p:cNvPr id="7" name="Text 5"/>
          <p:cNvSpPr/>
          <p:nvPr/>
        </p:nvSpPr>
        <p:spPr>
          <a:xfrm>
            <a:off x="1226820" y="6378334"/>
            <a:ext cx="958334"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93</a:t>
            </a:r>
            <a:endParaRPr lang="en-US" sz="6600" dirty="0"/>
          </a:p>
        </p:txBody>
      </p:sp>
      <p:sp>
        <p:nvSpPr>
          <p:cNvPr id="8" name="Text 6"/>
          <p:cNvSpPr/>
          <p:nvPr/>
        </p:nvSpPr>
        <p:spPr>
          <a:xfrm>
            <a:off x="2185154" y="6709415"/>
            <a:ext cx="1063347"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개 항만</a:t>
            </a:r>
            <a:endParaRPr lang="en-US" sz="2250" dirty="0"/>
          </a:p>
        </p:txBody>
      </p:sp>
      <p:sp>
        <p:nvSpPr>
          <p:cNvPr id="9" name="Text 7"/>
          <p:cNvSpPr/>
          <p:nvPr/>
        </p:nvSpPr>
        <p:spPr>
          <a:xfrm>
            <a:off x="1226820" y="7467136"/>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Arial" pitchFamily="34" charset="0"/>
                <a:ea typeface="Arial" pitchFamily="34" charset="-122"/>
                <a:cs typeface="Arial" pitchFamily="34" charset="-120"/>
              </a:rPr>
              <a:t>IMF PortWatch 위성 AIS</a:t>
            </a:r>
            <a:endParaRPr lang="en-US" sz="1575" dirty="0"/>
          </a:p>
        </p:txBody>
      </p:sp>
      <p:sp>
        <p:nvSpPr>
          <p:cNvPr id="10" name="Text 8"/>
          <p:cNvSpPr/>
          <p:nvPr/>
        </p:nvSpPr>
        <p:spPr>
          <a:xfrm>
            <a:off x="1226820" y="7813846"/>
            <a:ext cx="3634645" cy="282416"/>
          </a:xfrm>
          <a:prstGeom prst="rect">
            <a:avLst/>
          </a:prstGeom>
          <a:noFill/>
          <a:ln/>
        </p:spPr>
        <p:txBody>
          <a:bodyPr wrap="square" lIns="25400" tIns="25400" rIns="25400" bIns="25400" rtlCol="0" anchor="t">
            <a:normAutofit lnSpcReduction="10000"/>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Focus Port 93개 매일 PCI 산출 (10,212행)</a:t>
            </a:r>
            <a:endParaRPr lang="en-US" sz="1425" dirty="0"/>
          </a:p>
        </p:txBody>
      </p:sp>
      <p:sp>
        <p:nvSpPr>
          <p:cNvPr id="11" name="Shape 9"/>
          <p:cNvSpPr/>
          <p:nvPr/>
        </p:nvSpPr>
        <p:spPr>
          <a:xfrm>
            <a:off x="5091113"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403532"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사전계산 해상 항로</a:t>
            </a:r>
            <a:endParaRPr lang="en-US" sz="1425" dirty="0"/>
          </a:p>
        </p:txBody>
      </p:sp>
      <p:sp>
        <p:nvSpPr>
          <p:cNvPr id="13" name="Text 11"/>
          <p:cNvSpPr/>
          <p:nvPr/>
        </p:nvSpPr>
        <p:spPr>
          <a:xfrm>
            <a:off x="5403532" y="6357950"/>
            <a:ext cx="2169105"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8,556</a:t>
            </a:r>
            <a:endParaRPr lang="en-US" sz="6600" dirty="0"/>
          </a:p>
        </p:txBody>
      </p:sp>
      <p:sp>
        <p:nvSpPr>
          <p:cNvPr id="14" name="Text 12"/>
          <p:cNvSpPr/>
          <p:nvPr/>
        </p:nvSpPr>
        <p:spPr>
          <a:xfrm>
            <a:off x="7451646" y="6670370"/>
            <a:ext cx="871894"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구간</a:t>
            </a:r>
            <a:endParaRPr lang="en-US" sz="2250" dirty="0"/>
          </a:p>
        </p:txBody>
      </p:sp>
      <p:sp>
        <p:nvSpPr>
          <p:cNvPr id="15" name="Text 13"/>
          <p:cNvSpPr/>
          <p:nvPr/>
        </p:nvSpPr>
        <p:spPr>
          <a:xfrm>
            <a:off x="5403532" y="7222820"/>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Arial" pitchFamily="34" charset="0"/>
                <a:ea typeface="Arial" pitchFamily="34" charset="-122"/>
                <a:cs typeface="Arial" pitchFamily="34" charset="-120"/>
              </a:rPr>
              <a:t>searoute · 93개 항로</a:t>
            </a:r>
            <a:endParaRPr lang="en-US" sz="1575" dirty="0"/>
          </a:p>
        </p:txBody>
      </p:sp>
      <p:sp>
        <p:nvSpPr>
          <p:cNvPr id="16" name="Text 14"/>
          <p:cNvSpPr/>
          <p:nvPr/>
        </p:nvSpPr>
        <p:spPr>
          <a:xfrm>
            <a:off x="5403532" y="7569530"/>
            <a:ext cx="3403349" cy="526732"/>
          </a:xfrm>
          <a:prstGeom prst="rect">
            <a:avLst/>
          </a:prstGeom>
          <a:noFill/>
          <a:ln/>
        </p:spPr>
        <p:txBody>
          <a:bodyPr wrap="square" lIns="25400" tIns="25400" rIns="25400" bIns="25400" rtlCol="0" anchor="t">
            <a:normAutofit lnSpcReduction="10000"/>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부산→로테르담 10,899nm · P50 28.9일 (MC 1만회)</a:t>
            </a:r>
            <a:endParaRPr lang="en-US" sz="1425" dirty="0"/>
          </a:p>
        </p:txBody>
      </p:sp>
      <p:sp>
        <p:nvSpPr>
          <p:cNvPr id="17" name="Shape 15"/>
          <p:cNvSpPr/>
          <p:nvPr/>
        </p:nvSpPr>
        <p:spPr>
          <a:xfrm>
            <a:off x="9267825"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580245"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운임 변동성 추적</a:t>
            </a:r>
            <a:endParaRPr lang="en-US" sz="1425" dirty="0"/>
          </a:p>
        </p:txBody>
      </p:sp>
      <p:sp>
        <p:nvSpPr>
          <p:cNvPr id="19" name="Text 17"/>
          <p:cNvSpPr/>
          <p:nvPr/>
        </p:nvSpPr>
        <p:spPr>
          <a:xfrm>
            <a:off x="9580245" y="6357950"/>
            <a:ext cx="517327"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2</a:t>
            </a:r>
            <a:endParaRPr lang="en-US" sz="6600" dirty="0"/>
          </a:p>
        </p:txBody>
      </p:sp>
      <p:sp>
        <p:nvSpPr>
          <p:cNvPr id="20" name="Text 18"/>
          <p:cNvSpPr/>
          <p:nvPr/>
        </p:nvSpPr>
        <p:spPr>
          <a:xfrm>
            <a:off x="10097572" y="6651709"/>
            <a:ext cx="1283137"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대 지수</a:t>
            </a:r>
            <a:endParaRPr lang="en-US" sz="2250" dirty="0"/>
          </a:p>
        </p:txBody>
      </p:sp>
      <p:sp>
        <p:nvSpPr>
          <p:cNvPr id="21" name="Text 19"/>
          <p:cNvSpPr/>
          <p:nvPr/>
        </p:nvSpPr>
        <p:spPr>
          <a:xfrm>
            <a:off x="9580245" y="7222820"/>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28666E"/>
                </a:solidFill>
                <a:latin typeface="Arial" pitchFamily="34" charset="0"/>
                <a:ea typeface="Arial" pitchFamily="34" charset="-122"/>
                <a:cs typeface="Arial" pitchFamily="34" charset="-120"/>
              </a:rPr>
              <a:t>SCFI · CCFI 주간</a:t>
            </a:r>
            <a:endParaRPr lang="en-US" sz="1575" dirty="0"/>
          </a:p>
        </p:txBody>
      </p:sp>
      <p:sp>
        <p:nvSpPr>
          <p:cNvPr id="22" name="Text 20"/>
          <p:cNvSpPr/>
          <p:nvPr/>
        </p:nvSpPr>
        <p:spPr>
          <a:xfrm>
            <a:off x="9580245" y="7569530"/>
            <a:ext cx="3403349" cy="526732"/>
          </a:xfrm>
          <a:prstGeom prst="rect">
            <a:avLst/>
          </a:prstGeom>
          <a:noFill/>
          <a:ln/>
        </p:spPr>
        <p:txBody>
          <a:bodyPr wrap="square" lIns="25400" tIns="25400" rIns="25400" bIns="25400" rtlCol="0" anchor="t">
            <a:normAutofit lnSpcReduction="10000"/>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상하이해운거래소 실데이터 — 운임 급변 조기 감지</a:t>
            </a:r>
            <a:endParaRPr lang="en-US" sz="1425" dirty="0"/>
          </a:p>
        </p:txBody>
      </p:sp>
      <p:sp>
        <p:nvSpPr>
          <p:cNvPr id="23" name="Shape 21"/>
          <p:cNvSpPr/>
          <p:nvPr/>
        </p:nvSpPr>
        <p:spPr>
          <a:xfrm>
            <a:off x="13444538" y="2288988"/>
            <a:ext cx="3929063" cy="6062543"/>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3756958" y="2582358"/>
            <a:ext cx="3634645"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공개 혼잡 데이터 지연</a:t>
            </a:r>
            <a:endParaRPr lang="en-US" sz="1425" dirty="0"/>
          </a:p>
        </p:txBody>
      </p:sp>
      <p:sp>
        <p:nvSpPr>
          <p:cNvPr id="25" name="Text 23"/>
          <p:cNvSpPr/>
          <p:nvPr/>
        </p:nvSpPr>
        <p:spPr>
          <a:xfrm>
            <a:off x="13756958" y="6357950"/>
            <a:ext cx="1966234" cy="750570"/>
          </a:xfrm>
          <a:prstGeom prst="rect">
            <a:avLst/>
          </a:prstGeom>
          <a:noFill/>
          <a:ln/>
        </p:spPr>
        <p:txBody>
          <a:bodyPr wrap="square" lIns="25400" tIns="25400" rIns="25400" bIns="25400" rtlCol="0" anchor="t">
            <a:normAutofit/>
          </a:bodyPr>
          <a:lstStyle/>
          <a:p>
            <a:pPr marL="0" indent="0" algn="l">
              <a:lnSpc>
                <a:spcPct val="60323"/>
              </a:lnSpc>
              <a:buNone/>
            </a:pPr>
            <a:r>
              <a:rPr lang="en-US" sz="6600" b="1" kern="0" spc="-198" dirty="0">
                <a:solidFill>
                  <a:srgbClr val="12161D"/>
                </a:solidFill>
                <a:latin typeface="Arial" pitchFamily="34" charset="0"/>
                <a:ea typeface="Arial" pitchFamily="34" charset="-122"/>
                <a:cs typeface="Arial" pitchFamily="34" charset="-120"/>
              </a:rPr>
              <a:t>7~10</a:t>
            </a:r>
            <a:endParaRPr lang="en-US" sz="6600" dirty="0"/>
          </a:p>
        </p:txBody>
      </p:sp>
      <p:sp>
        <p:nvSpPr>
          <p:cNvPr id="26" name="Text 24"/>
          <p:cNvSpPr/>
          <p:nvPr/>
        </p:nvSpPr>
        <p:spPr>
          <a:xfrm>
            <a:off x="15620643" y="6595726"/>
            <a:ext cx="339090"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2161D"/>
                </a:solidFill>
                <a:latin typeface="Arial" pitchFamily="34" charset="0"/>
                <a:ea typeface="Arial" pitchFamily="34" charset="-122"/>
                <a:cs typeface="Arial" pitchFamily="34" charset="-120"/>
              </a:rPr>
              <a:t>일</a:t>
            </a:r>
            <a:endParaRPr lang="en-US" sz="2250" dirty="0"/>
          </a:p>
        </p:txBody>
      </p:sp>
      <p:sp>
        <p:nvSpPr>
          <p:cNvPr id="27" name="Text 25"/>
          <p:cNvSpPr/>
          <p:nvPr/>
        </p:nvSpPr>
        <p:spPr>
          <a:xfrm>
            <a:off x="13756958" y="7222820"/>
            <a:ext cx="36346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A9640F"/>
                </a:solidFill>
                <a:latin typeface="Arial" pitchFamily="34" charset="0"/>
                <a:ea typeface="Arial" pitchFamily="34" charset="-122"/>
                <a:cs typeface="Arial" pitchFamily="34" charset="-120"/>
              </a:rPr>
              <a:t>PortWatch 배치 lag</a:t>
            </a:r>
            <a:endParaRPr lang="en-US" sz="1575" dirty="0"/>
          </a:p>
        </p:txBody>
      </p:sp>
      <p:sp>
        <p:nvSpPr>
          <p:cNvPr id="28" name="Text 26"/>
          <p:cNvSpPr/>
          <p:nvPr/>
        </p:nvSpPr>
        <p:spPr>
          <a:xfrm>
            <a:off x="13756958" y="7569530"/>
            <a:ext cx="3403349" cy="526732"/>
          </a:xfrm>
          <a:prstGeom prst="rect">
            <a:avLst/>
          </a:prstGeom>
          <a:noFill/>
          <a:ln/>
        </p:spPr>
        <p:txBody>
          <a:bodyPr wrap="square" lIns="25400" tIns="25400" rIns="25400" bIns="25400" rtlCol="0" anchor="t">
            <a:normAutofit lnSpcReduction="10000"/>
          </a:bodyPr>
          <a:lstStyle/>
          <a:p>
            <a:pPr marL="0" indent="0" algn="l">
              <a:lnSpc>
                <a:spcPct val="114509"/>
              </a:lnSpc>
              <a:buNone/>
            </a:pPr>
            <a:r>
              <a:rPr lang="en-US" sz="1425" dirty="0">
                <a:solidFill>
                  <a:srgbClr val="6F6A5F"/>
                </a:solidFill>
                <a:latin typeface="Arial" pitchFamily="34" charset="0"/>
                <a:ea typeface="Arial" pitchFamily="34" charset="-122"/>
                <a:cs typeface="Arial" pitchFamily="34" charset="-120"/>
              </a:rPr>
              <a:t>국내 3개 항만은 실측 선석으로 보정 → 지연 해소</a:t>
            </a:r>
            <a:endParaRPr lang="en-US" sz="1425" dirty="0"/>
          </a:p>
        </p:txBody>
      </p:sp>
      <p:sp>
        <p:nvSpPr>
          <p:cNvPr id="29" name="Shape 27"/>
          <p:cNvSpPr/>
          <p:nvPr/>
        </p:nvSpPr>
        <p:spPr>
          <a:xfrm>
            <a:off x="914400" y="8599182"/>
            <a:ext cx="16459200" cy="777240"/>
          </a:xfrm>
          <a:prstGeom prst="roundRect">
            <a:avLst>
              <a:gd name="adj" fmla="val 19608"/>
            </a:avLst>
          </a:prstGeom>
          <a:solidFill>
            <a:srgbClr val="ECE7DD"/>
          </a:solidFill>
          <a:ln/>
        </p:spPr>
      </p:sp>
      <p:sp>
        <p:nvSpPr>
          <p:cNvPr id="30" name="Text 28"/>
          <p:cNvSpPr/>
          <p:nvPr/>
        </p:nvSpPr>
        <p:spPr>
          <a:xfrm>
            <a:off x="1219200" y="8808732"/>
            <a:ext cx="1328809" cy="396240"/>
          </a:xfrm>
          <a:prstGeom prst="rect">
            <a:avLst/>
          </a:prstGeom>
          <a:noFill/>
          <a:ln/>
        </p:spPr>
        <p:txBody>
          <a:bodyPr wrap="none" lIns="25400" tIns="25400" rIns="25400" bIns="25400" rtlCol="0" anchor="t">
            <a:normAutofit/>
          </a:bodyPr>
          <a:lstStyle/>
          <a:p>
            <a:pPr marL="0" indent="0" algn="l">
              <a:buNone/>
            </a:pPr>
            <a:r>
              <a:rPr lang="en-US" sz="1950" b="1" dirty="0">
                <a:solidFill>
                  <a:srgbClr val="28666E"/>
                </a:solidFill>
                <a:latin typeface="Arial" pitchFamily="34" charset="0"/>
                <a:ea typeface="Arial" pitchFamily="34" charset="-122"/>
                <a:cs typeface="Arial" pitchFamily="34" charset="-120"/>
              </a:rPr>
              <a:t>한 화면에서</a:t>
            </a:r>
            <a:endParaRPr lang="en-US" sz="1950" dirty="0"/>
          </a:p>
        </p:txBody>
      </p:sp>
      <p:sp>
        <p:nvSpPr>
          <p:cNvPr id="31" name="Text 29"/>
          <p:cNvSpPr/>
          <p:nvPr/>
        </p:nvSpPr>
        <p:spPr>
          <a:xfrm>
            <a:off x="2674858" y="8852785"/>
            <a:ext cx="9160478" cy="308134"/>
          </a:xfrm>
          <a:prstGeom prst="rect">
            <a:avLst/>
          </a:prstGeom>
          <a:noFill/>
          <a:ln/>
        </p:spPr>
        <p:txBody>
          <a:bodyPr wrap="square" lIns="25400" tIns="25400" rIns="25400" bIns="25400" rtlCol="0" anchor="t">
            <a:normAutofit/>
          </a:bodyPr>
          <a:lstStyle/>
          <a:p>
            <a:pPr marL="0" indent="0" algn="l">
              <a:lnSpc>
                <a:spcPct val="114315"/>
              </a:lnSpc>
              <a:buNone/>
            </a:pPr>
            <a:r>
              <a:rPr lang="en-US" sz="1575" b="1" dirty="0">
                <a:solidFill>
                  <a:srgbClr val="12161D"/>
                </a:solidFill>
                <a:latin typeface="Arial" pitchFamily="34" charset="0"/>
                <a:ea typeface="Arial" pitchFamily="34" charset="-122"/>
                <a:cs typeface="Arial" pitchFamily="34" charset="-120"/>
              </a:rPr>
              <a:t>혼잡·운임·경로·기상·통관을 하나의 컨트롤타워로 </a:t>
            </a:r>
            <a:r>
              <a:rPr lang="en-US" sz="1575" dirty="0">
                <a:solidFill>
                  <a:srgbClr val="12161D"/>
                </a:solidFill>
                <a:latin typeface="Arial" pitchFamily="34" charset="0"/>
                <a:ea typeface="Arial" pitchFamily="34" charset="-122"/>
                <a:cs typeface="Arial" pitchFamily="34" charset="-120"/>
              </a:rPr>
              <a:t>— 변동성이 클수록 통합 가시성의 가치가 커집니다</a:t>
            </a:r>
            <a:endParaRPr lang="en-US" sz="1575" dirty="0"/>
          </a:p>
        </p:txBody>
      </p:sp>
      <p:sp>
        <p:nvSpPr>
          <p:cNvPr id="32" name="Shape 30"/>
          <p:cNvSpPr/>
          <p:nvPr/>
        </p:nvSpPr>
        <p:spPr>
          <a:xfrm>
            <a:off x="914400" y="9605010"/>
            <a:ext cx="16459200" cy="9525"/>
          </a:xfrm>
          <a:prstGeom prst="rect">
            <a:avLst/>
          </a:prstGeom>
          <a:solidFill>
            <a:srgbClr val="E9E4DC"/>
          </a:solidFill>
          <a:ln/>
        </p:spPr>
      </p:sp>
      <p:sp>
        <p:nvSpPr>
          <p:cNvPr id="33" name="Text 31"/>
          <p:cNvSpPr/>
          <p:nvPr/>
        </p:nvSpPr>
        <p:spPr>
          <a:xfrm>
            <a:off x="914400" y="9726930"/>
            <a:ext cx="9820954"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IMF PortWatch(위성 AIS, Focus 93) · 상하이해운거래소 SCFI/CCFI · searoute 사전계산 8,556구간 · TWL 경로 몬테카를로</a:t>
            </a:r>
            <a:endParaRPr lang="en-US" sz="1275" dirty="0"/>
          </a:p>
        </p:txBody>
      </p:sp>
      <p:sp>
        <p:nvSpPr>
          <p:cNvPr id="34" name="Text 32"/>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08</a:t>
            </a:r>
            <a:endParaRPr lang="en-US"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02</a:t>
            </a:r>
            <a:endParaRPr lang="en-US" sz="17250" dirty="0"/>
          </a:p>
        </p:txBody>
      </p:sp>
      <p:sp>
        <p:nvSpPr>
          <p:cNvPr id="4" name="Text 2"/>
          <p:cNvSpPr/>
          <p:nvPr/>
        </p:nvSpPr>
        <p:spPr>
          <a:xfrm>
            <a:off x="4210407" y="3257550"/>
            <a:ext cx="5963007" cy="289560"/>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02 · PAIN POINTS</a:t>
            </a:r>
            <a:endParaRPr lang="en-US" sz="1650" dirty="0"/>
          </a:p>
        </p:txBody>
      </p:sp>
      <p:sp>
        <p:nvSpPr>
          <p:cNvPr id="5" name="Text 3"/>
          <p:cNvSpPr/>
          <p:nvPr/>
        </p:nvSpPr>
        <p:spPr>
          <a:xfrm>
            <a:off x="4210407" y="3623310"/>
            <a:ext cx="5963007" cy="122682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Arial" pitchFamily="34" charset="0"/>
                <a:ea typeface="Arial" pitchFamily="34" charset="-122"/>
                <a:cs typeface="Arial" pitchFamily="34" charset="-120"/>
              </a:rPr>
              <a:t>문제점</a:t>
            </a:r>
            <a:endParaRPr lang="en-US" sz="6450" dirty="0"/>
          </a:p>
        </p:txBody>
      </p:sp>
      <p:sp>
        <p:nvSpPr>
          <p:cNvPr id="6" name="Shape 4"/>
          <p:cNvSpPr/>
          <p:nvPr/>
        </p:nvSpPr>
        <p:spPr>
          <a:xfrm>
            <a:off x="4210407" y="5284534"/>
            <a:ext cx="76200" cy="76200"/>
          </a:xfrm>
          <a:prstGeom prst="rect">
            <a:avLst/>
          </a:prstGeom>
          <a:solidFill>
            <a:srgbClr val="E4A24A"/>
          </a:solidFill>
          <a:ln/>
        </p:spPr>
      </p:sp>
      <p:sp>
        <p:nvSpPr>
          <p:cNvPr id="7" name="Text 5"/>
          <p:cNvSpPr/>
          <p:nvPr/>
        </p:nvSpPr>
        <p:spPr>
          <a:xfrm>
            <a:off x="4458057" y="5135944"/>
            <a:ext cx="515466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통합 채널 부재 — 9개 사이트를 손으로 취합</a:t>
            </a:r>
            <a:endParaRPr lang="en-US" sz="2025" dirty="0"/>
          </a:p>
        </p:txBody>
      </p:sp>
      <p:sp>
        <p:nvSpPr>
          <p:cNvPr id="8" name="Shape 6"/>
          <p:cNvSpPr/>
          <p:nvPr/>
        </p:nvSpPr>
        <p:spPr>
          <a:xfrm>
            <a:off x="4210407" y="5810314"/>
            <a:ext cx="76200" cy="76200"/>
          </a:xfrm>
          <a:prstGeom prst="rect">
            <a:avLst/>
          </a:prstGeom>
          <a:solidFill>
            <a:srgbClr val="E4A24A"/>
          </a:solidFill>
          <a:ln/>
        </p:spPr>
      </p:sp>
      <p:sp>
        <p:nvSpPr>
          <p:cNvPr id="9" name="Text 7"/>
          <p:cNvSpPr/>
          <p:nvPr/>
        </p:nvSpPr>
        <p:spPr>
          <a:xfrm>
            <a:off x="4458057" y="5661724"/>
            <a:ext cx="5493484"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데이터 파편화 — 6개 소스, 실시간 가시성 부재</a:t>
            </a:r>
            <a:endParaRPr lang="en-US" sz="2025" dirty="0"/>
          </a:p>
        </p:txBody>
      </p:sp>
      <p:sp>
        <p:nvSpPr>
          <p:cNvPr id="10" name="Shape 8"/>
          <p:cNvSpPr/>
          <p:nvPr/>
        </p:nvSpPr>
        <p:spPr>
          <a:xfrm>
            <a:off x="4210407" y="6336094"/>
            <a:ext cx="76200" cy="76200"/>
          </a:xfrm>
          <a:prstGeom prst="rect">
            <a:avLst/>
          </a:prstGeom>
          <a:solidFill>
            <a:srgbClr val="E4A24A"/>
          </a:solidFill>
          <a:ln/>
        </p:spPr>
      </p:sp>
      <p:sp>
        <p:nvSpPr>
          <p:cNvPr id="11" name="Text 9"/>
          <p:cNvSpPr/>
          <p:nvPr/>
        </p:nvSpPr>
        <p:spPr>
          <a:xfrm>
            <a:off x="4458057" y="6187504"/>
            <a:ext cx="5690592"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신뢰성 공백 — 데모·가짜 데이터, 검증 절차 부재</a:t>
            </a:r>
            <a:endParaRPr lang="en-US" sz="2025" dirty="0"/>
          </a:p>
        </p:txBody>
      </p:sp>
      <p:sp>
        <p:nvSpPr>
          <p:cNvPr id="12" name="Shape 10"/>
          <p:cNvSpPr/>
          <p:nvPr/>
        </p:nvSpPr>
        <p:spPr>
          <a:xfrm>
            <a:off x="4210407" y="6861874"/>
            <a:ext cx="76200" cy="76200"/>
          </a:xfrm>
          <a:prstGeom prst="rect">
            <a:avLst/>
          </a:prstGeom>
          <a:solidFill>
            <a:srgbClr val="E4A24A"/>
          </a:solidFill>
          <a:ln/>
        </p:spPr>
      </p:sp>
      <p:sp>
        <p:nvSpPr>
          <p:cNvPr id="13" name="Text 11"/>
          <p:cNvSpPr/>
          <p:nvPr/>
        </p:nvSpPr>
        <p:spPr>
          <a:xfrm>
            <a:off x="4458057" y="6713284"/>
            <a:ext cx="543035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이력·공유 단절 — 개인 엑셀, 조직 자산화 실패</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02 문제점 ·</a:t>
            </a:r>
            <a:r>
              <a:rPr lang="en-US" sz="1425" b="1" kern="0" spc="57" dirty="0">
                <a:solidFill>
                  <a:srgbClr val="28666E"/>
                </a:solidFill>
                <a:latin typeface="Arial" pitchFamily="34" charset="0"/>
                <a:ea typeface="Arial" pitchFamily="34" charset="-122"/>
                <a:cs typeface="Arial" pitchFamily="34" charset="-120"/>
              </a:rPr>
              <a:t>구조적 4대 문제</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컨트롤타워 부재가 낳는 구조적 4대 문제</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담당자·팀·경영이 모두 겪는 비효율과 리스크가 서로 맞물려 있습니다</a:t>
            </a:r>
            <a:endParaRPr lang="en-US" sz="1875" dirty="0"/>
          </a:p>
        </p:txBody>
      </p:sp>
      <p:sp>
        <p:nvSpPr>
          <p:cNvPr id="5" name="Shape 3"/>
          <p:cNvSpPr/>
          <p:nvPr/>
        </p:nvSpPr>
        <p:spPr>
          <a:xfrm>
            <a:off x="914400" y="2289040"/>
            <a:ext cx="8105775" cy="3419832"/>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283970" y="2601460"/>
            <a:ext cx="500063" cy="2833092"/>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01</a:t>
            </a:r>
            <a:endParaRPr lang="en-US" sz="3000" dirty="0"/>
          </a:p>
        </p:txBody>
      </p:sp>
      <p:sp>
        <p:nvSpPr>
          <p:cNvPr id="7" name="Text 5"/>
          <p:cNvSpPr/>
          <p:nvPr/>
        </p:nvSpPr>
        <p:spPr>
          <a:xfrm>
            <a:off x="1974533" y="2601460"/>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통합 채널 부재</a:t>
            </a:r>
            <a:endParaRPr lang="en-US" sz="2100" dirty="0"/>
          </a:p>
        </p:txBody>
      </p:sp>
      <p:sp>
        <p:nvSpPr>
          <p:cNvPr id="8" name="Text 6"/>
          <p:cNvSpPr/>
          <p:nvPr/>
        </p:nvSpPr>
        <p:spPr>
          <a:xfrm>
            <a:off x="1974533" y="3085330"/>
            <a:ext cx="6876355" cy="590550"/>
          </a:xfrm>
          <a:prstGeom prst="rect">
            <a:avLst/>
          </a:prstGeom>
          <a:noFill/>
          <a:ln/>
        </p:spPr>
        <p:txBody>
          <a:bodyPr wrap="square" lIns="25400" tIns="25400" rIns="25400" bIns="25400" rtlCol="0" anchor="t">
            <a:normAutofit lnSpcReduction="10000"/>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17개 터미널·6개 데이터 소스를 잇는 단일 조회 채널이 없어 매일 여러 사이트를 수작업으로 오간다. 취합에만 30~60분/일.</a:t>
            </a:r>
            <a:endParaRPr lang="en-US" sz="1500" dirty="0"/>
          </a:p>
        </p:txBody>
      </p:sp>
      <p:sp>
        <p:nvSpPr>
          <p:cNvPr id="9" name="Shape 7"/>
          <p:cNvSpPr/>
          <p:nvPr/>
        </p:nvSpPr>
        <p:spPr>
          <a:xfrm>
            <a:off x="9267825" y="2289040"/>
            <a:ext cx="8105775" cy="3419832"/>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0" name="Text 8"/>
          <p:cNvSpPr/>
          <p:nvPr/>
        </p:nvSpPr>
        <p:spPr>
          <a:xfrm>
            <a:off x="9637395" y="2601460"/>
            <a:ext cx="500063" cy="2833092"/>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02</a:t>
            </a:r>
            <a:endParaRPr lang="en-US" sz="3000" dirty="0"/>
          </a:p>
        </p:txBody>
      </p:sp>
      <p:sp>
        <p:nvSpPr>
          <p:cNvPr id="11" name="Text 9"/>
          <p:cNvSpPr/>
          <p:nvPr/>
        </p:nvSpPr>
        <p:spPr>
          <a:xfrm>
            <a:off x="10327958" y="2601460"/>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데이터 파편화</a:t>
            </a:r>
            <a:endParaRPr lang="en-US" sz="2100" dirty="0"/>
          </a:p>
        </p:txBody>
      </p:sp>
      <p:sp>
        <p:nvSpPr>
          <p:cNvPr id="12" name="Text 10"/>
          <p:cNvSpPr/>
          <p:nvPr/>
        </p:nvSpPr>
        <p:spPr>
          <a:xfrm>
            <a:off x="10327958" y="3085330"/>
            <a:ext cx="6876355" cy="590550"/>
          </a:xfrm>
          <a:prstGeom prst="rect">
            <a:avLst/>
          </a:prstGeom>
          <a:noFill/>
          <a:ln/>
        </p:spPr>
        <p:txBody>
          <a:bodyPr wrap="square" lIns="25400" tIns="25400" rIns="25400" bIns="25400" rtlCol="0" anchor="t">
            <a:normAutofit lnSpcReduction="10000"/>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선석·혼잡·선박·운임·기상·통관이 각기 다른 소스·포맷·주기로 흩어져 실시간 통합 가시성 부재. 크로스 조회 불가.</a:t>
            </a:r>
            <a:endParaRPr lang="en-US" sz="1500" dirty="0"/>
          </a:p>
        </p:txBody>
      </p:sp>
      <p:sp>
        <p:nvSpPr>
          <p:cNvPr id="13" name="Shape 11"/>
          <p:cNvSpPr/>
          <p:nvPr/>
        </p:nvSpPr>
        <p:spPr>
          <a:xfrm>
            <a:off x="914400" y="5956522"/>
            <a:ext cx="8105775" cy="3419951"/>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4" name="Text 12"/>
          <p:cNvSpPr/>
          <p:nvPr/>
        </p:nvSpPr>
        <p:spPr>
          <a:xfrm>
            <a:off x="1283970" y="6268942"/>
            <a:ext cx="500063" cy="2833211"/>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03</a:t>
            </a:r>
            <a:endParaRPr lang="en-US" sz="3000" dirty="0"/>
          </a:p>
        </p:txBody>
      </p:sp>
      <p:sp>
        <p:nvSpPr>
          <p:cNvPr id="15" name="Text 13"/>
          <p:cNvSpPr/>
          <p:nvPr/>
        </p:nvSpPr>
        <p:spPr>
          <a:xfrm>
            <a:off x="1974533" y="6268942"/>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신뢰성 공백</a:t>
            </a:r>
            <a:endParaRPr lang="en-US" sz="2100" dirty="0"/>
          </a:p>
        </p:txBody>
      </p:sp>
      <p:sp>
        <p:nvSpPr>
          <p:cNvPr id="16" name="Text 14"/>
          <p:cNvSpPr/>
          <p:nvPr/>
        </p:nvSpPr>
        <p:spPr>
          <a:xfrm>
            <a:off x="1974533" y="6752812"/>
            <a:ext cx="6876355" cy="590550"/>
          </a:xfrm>
          <a:prstGeom prst="rect">
            <a:avLst/>
          </a:prstGeom>
          <a:noFill/>
          <a:ln/>
        </p:spPr>
        <p:txBody>
          <a:bodyPr wrap="square" lIns="25400" tIns="25400" rIns="25400" bIns="25400" rtlCol="0" anchor="t">
            <a:normAutofit lnSpcReduction="10000"/>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데모 문구·가짜 난수가 섞여 현업 신뢰 저하. 원본 대비 검증·이상치 탐지·변경 감지 절차가 표준화되지 않음.</a:t>
            </a:r>
            <a:endParaRPr lang="en-US" sz="1500" dirty="0"/>
          </a:p>
        </p:txBody>
      </p:sp>
      <p:sp>
        <p:nvSpPr>
          <p:cNvPr id="17" name="Shape 15"/>
          <p:cNvSpPr/>
          <p:nvPr/>
        </p:nvSpPr>
        <p:spPr>
          <a:xfrm>
            <a:off x="9267825" y="5956522"/>
            <a:ext cx="8105775" cy="3419951"/>
          </a:xfrm>
          <a:prstGeom prst="roundRect">
            <a:avLst>
              <a:gd name="adj" fmla="val 445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8" name="Text 16"/>
          <p:cNvSpPr/>
          <p:nvPr/>
        </p:nvSpPr>
        <p:spPr>
          <a:xfrm>
            <a:off x="9637395" y="6268942"/>
            <a:ext cx="500063" cy="2833211"/>
          </a:xfrm>
          <a:prstGeom prst="rect">
            <a:avLst/>
          </a:prstGeom>
          <a:noFill/>
          <a:ln/>
        </p:spPr>
        <p:txBody>
          <a:bodyPr wrap="square" lIns="25400" tIns="25400" rIns="25400" bIns="25400" rtlCol="0" anchor="t">
            <a:normAutofit/>
          </a:bodyPr>
          <a:lstStyle/>
          <a:p>
            <a:pPr marL="0" indent="0" algn="l">
              <a:lnSpc>
                <a:spcPct val="71429"/>
              </a:lnSpc>
              <a:buNone/>
            </a:pPr>
            <a:r>
              <a:rPr lang="en-US" sz="3000" b="1" dirty="0">
                <a:solidFill>
                  <a:srgbClr val="28666E"/>
                </a:solidFill>
                <a:latin typeface="Arial" pitchFamily="34" charset="0"/>
                <a:ea typeface="Arial" pitchFamily="34" charset="-122"/>
                <a:cs typeface="Arial" pitchFamily="34" charset="-120"/>
              </a:rPr>
              <a:t>04</a:t>
            </a:r>
            <a:endParaRPr lang="en-US" sz="3000" dirty="0"/>
          </a:p>
        </p:txBody>
      </p:sp>
      <p:sp>
        <p:nvSpPr>
          <p:cNvPr id="19" name="Text 17"/>
          <p:cNvSpPr/>
          <p:nvPr/>
        </p:nvSpPr>
        <p:spPr>
          <a:xfrm>
            <a:off x="10327958" y="6268942"/>
            <a:ext cx="7343680" cy="426720"/>
          </a:xfrm>
          <a:prstGeom prst="rect">
            <a:avLst/>
          </a:prstGeom>
          <a:noFill/>
          <a:ln/>
        </p:spPr>
        <p:txBody>
          <a:bodyPr wrap="square" lIns="25400" tIns="25400" rIns="25400" bIns="25400" rtlCol="0" anchor="t">
            <a:normAutofit/>
          </a:bodyPr>
          <a:lstStyle/>
          <a:p>
            <a:pPr marL="0" indent="0" algn="l">
              <a:buNone/>
            </a:pPr>
            <a:r>
              <a:rPr lang="en-US" sz="2100" b="1" dirty="0">
                <a:solidFill>
                  <a:srgbClr val="12161D"/>
                </a:solidFill>
                <a:latin typeface="Arial" pitchFamily="34" charset="0"/>
                <a:ea typeface="Arial" pitchFamily="34" charset="-122"/>
                <a:cs typeface="Arial" pitchFamily="34" charset="-120"/>
              </a:rPr>
              <a:t>이력·공유 단절</a:t>
            </a:r>
            <a:endParaRPr lang="en-US" sz="2100" dirty="0"/>
          </a:p>
        </p:txBody>
      </p:sp>
      <p:sp>
        <p:nvSpPr>
          <p:cNvPr id="20" name="Text 18"/>
          <p:cNvSpPr/>
          <p:nvPr/>
        </p:nvSpPr>
        <p:spPr>
          <a:xfrm>
            <a:off x="10327958" y="6752812"/>
            <a:ext cx="6876355" cy="590550"/>
          </a:xfrm>
          <a:prstGeom prst="rect">
            <a:avLst/>
          </a:prstGeom>
          <a:noFill/>
          <a:ln/>
        </p:spPr>
        <p:txBody>
          <a:bodyPr wrap="square" lIns="25400" tIns="25400" rIns="25400" bIns="25400" rtlCol="0" anchor="t">
            <a:normAutofit lnSpcReduction="10000"/>
          </a:bodyPr>
          <a:lstStyle/>
          <a:p>
            <a:pPr marL="0" indent="0" algn="l">
              <a:lnSpc>
                <a:spcPct val="125000"/>
              </a:lnSpc>
              <a:buNone/>
            </a:pPr>
            <a:r>
              <a:rPr lang="en-US" sz="1500" dirty="0">
                <a:solidFill>
                  <a:srgbClr val="6F6A5F"/>
                </a:solidFill>
                <a:latin typeface="Arial" pitchFamily="34" charset="0"/>
                <a:ea typeface="Arial" pitchFamily="34" charset="-122"/>
                <a:cs typeface="Arial" pitchFamily="34" charset="-120"/>
              </a:rPr>
              <a:t>취합 결과가 개인 엑셀에 정체되어 팀 공유·이력 비교·지연 통계 불가. 조직 지식으로 축적되지 않음.</a:t>
            </a:r>
            <a:endParaRPr lang="en-US" sz="1500" dirty="0"/>
          </a:p>
        </p:txBody>
      </p:sp>
      <p:sp>
        <p:nvSpPr>
          <p:cNvPr id="21" name="Shape 19"/>
          <p:cNvSpPr/>
          <p:nvPr/>
        </p:nvSpPr>
        <p:spPr>
          <a:xfrm>
            <a:off x="914400" y="9605010"/>
            <a:ext cx="16459200" cy="9525"/>
          </a:xfrm>
          <a:prstGeom prst="rect">
            <a:avLst/>
          </a:prstGeom>
          <a:solidFill>
            <a:srgbClr val="E9E4DC"/>
          </a:solidFill>
          <a:ln/>
        </p:spPr>
      </p:sp>
      <p:sp>
        <p:nvSpPr>
          <p:cNvPr id="22" name="Text 20"/>
          <p:cNvSpPr/>
          <p:nvPr/>
        </p:nvSpPr>
        <p:spPr>
          <a:xfrm>
            <a:off x="914400" y="9726930"/>
            <a:ext cx="7328225"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SmartBPO PRD·SRS(담당자 피드백 기반) · 개발이력 · 상세기술서 · 현장 인터뷰 종합</a:t>
            </a:r>
            <a:endParaRPr lang="en-US" sz="1275" dirty="0"/>
          </a:p>
        </p:txBody>
      </p:sp>
      <p:sp>
        <p:nvSpPr>
          <p:cNvPr id="23" name="Text 21"/>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09</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03</a:t>
            </a:r>
            <a:endParaRPr lang="en-US" sz="17250" dirty="0"/>
          </a:p>
        </p:txBody>
      </p:sp>
      <p:sp>
        <p:nvSpPr>
          <p:cNvPr id="4" name="Text 2"/>
          <p:cNvSpPr/>
          <p:nvPr/>
        </p:nvSpPr>
        <p:spPr>
          <a:xfrm>
            <a:off x="4210407" y="3257550"/>
            <a:ext cx="7183898" cy="289560"/>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03 · THE SOLUTION</a:t>
            </a:r>
            <a:endParaRPr lang="en-US" sz="1650" dirty="0"/>
          </a:p>
        </p:txBody>
      </p:sp>
      <p:sp>
        <p:nvSpPr>
          <p:cNvPr id="5" name="Text 3"/>
          <p:cNvSpPr/>
          <p:nvPr/>
        </p:nvSpPr>
        <p:spPr>
          <a:xfrm>
            <a:off x="4210407" y="3623310"/>
            <a:ext cx="7183898" cy="122682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Arial" pitchFamily="34" charset="0"/>
                <a:ea typeface="Arial" pitchFamily="34" charset="-122"/>
                <a:cs typeface="Arial" pitchFamily="34" charset="-120"/>
              </a:rPr>
              <a:t>해결책</a:t>
            </a:r>
            <a:endParaRPr lang="en-US" sz="6450" dirty="0"/>
          </a:p>
        </p:txBody>
      </p:sp>
      <p:sp>
        <p:nvSpPr>
          <p:cNvPr id="6" name="Shape 4"/>
          <p:cNvSpPr/>
          <p:nvPr/>
        </p:nvSpPr>
        <p:spPr>
          <a:xfrm>
            <a:off x="4210407" y="5284482"/>
            <a:ext cx="76200" cy="76200"/>
          </a:xfrm>
          <a:prstGeom prst="rect">
            <a:avLst/>
          </a:prstGeom>
          <a:solidFill>
            <a:srgbClr val="E4A24A"/>
          </a:solidFill>
          <a:ln/>
        </p:spPr>
      </p:sp>
      <p:sp>
        <p:nvSpPr>
          <p:cNvPr id="7" name="Text 5"/>
          <p:cNvSpPr/>
          <p:nvPr/>
        </p:nvSpPr>
        <p:spPr>
          <a:xfrm>
            <a:off x="4458057" y="5135892"/>
            <a:ext cx="6305490"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8개 화면 하나로 — 조회·분석·실행을 잇는 컨트롤타워</a:t>
            </a:r>
            <a:endParaRPr lang="en-US" sz="2025" dirty="0"/>
          </a:p>
        </p:txBody>
      </p:sp>
      <p:sp>
        <p:nvSpPr>
          <p:cNvPr id="8" name="Shape 6"/>
          <p:cNvSpPr/>
          <p:nvPr/>
        </p:nvSpPr>
        <p:spPr>
          <a:xfrm>
            <a:off x="4210407" y="5810262"/>
            <a:ext cx="76200" cy="76200"/>
          </a:xfrm>
          <a:prstGeom prst="rect">
            <a:avLst/>
          </a:prstGeom>
          <a:solidFill>
            <a:srgbClr val="E4A24A"/>
          </a:solidFill>
          <a:ln/>
        </p:spPr>
      </p:sp>
      <p:sp>
        <p:nvSpPr>
          <p:cNvPr id="9" name="Text 7"/>
          <p:cNvSpPr/>
          <p:nvPr/>
        </p:nvSpPr>
        <p:spPr>
          <a:xfrm>
            <a:off x="4458057" y="5661672"/>
            <a:ext cx="6911483"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실데이터 파이프라인 — 수집→정규화→적재→표현 자동화</a:t>
            </a:r>
            <a:endParaRPr lang="en-US" sz="2025" dirty="0"/>
          </a:p>
        </p:txBody>
      </p:sp>
      <p:sp>
        <p:nvSpPr>
          <p:cNvPr id="10" name="Shape 8"/>
          <p:cNvSpPr/>
          <p:nvPr/>
        </p:nvSpPr>
        <p:spPr>
          <a:xfrm>
            <a:off x="4210407" y="6336042"/>
            <a:ext cx="76200" cy="76200"/>
          </a:xfrm>
          <a:prstGeom prst="rect">
            <a:avLst/>
          </a:prstGeom>
          <a:solidFill>
            <a:srgbClr val="E4A24A"/>
          </a:solidFill>
          <a:ln/>
        </p:spPr>
      </p:sp>
      <p:sp>
        <p:nvSpPr>
          <p:cNvPr id="11" name="Text 9"/>
          <p:cNvSpPr/>
          <p:nvPr/>
        </p:nvSpPr>
        <p:spPr>
          <a:xfrm>
            <a:off x="4458057" y="6187452"/>
            <a:ext cx="5713512"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무료 오픈API 스택 — 제로에 가까운 인프라 비용</a:t>
            </a:r>
            <a:endParaRPr lang="en-US" sz="2025" dirty="0"/>
          </a:p>
        </p:txBody>
      </p:sp>
      <p:sp>
        <p:nvSpPr>
          <p:cNvPr id="12" name="Shape 10"/>
          <p:cNvSpPr/>
          <p:nvPr/>
        </p:nvSpPr>
        <p:spPr>
          <a:xfrm>
            <a:off x="4210407" y="6861822"/>
            <a:ext cx="76200" cy="76200"/>
          </a:xfrm>
          <a:prstGeom prst="rect">
            <a:avLst/>
          </a:prstGeom>
          <a:solidFill>
            <a:srgbClr val="E4A24A"/>
          </a:solidFill>
          <a:ln/>
        </p:spPr>
      </p:sp>
      <p:sp>
        <p:nvSpPr>
          <p:cNvPr id="13" name="Text 11"/>
          <p:cNvSpPr/>
          <p:nvPr/>
        </p:nvSpPr>
        <p:spPr>
          <a:xfrm>
            <a:off x="4458057" y="6713232"/>
            <a:ext cx="5926467"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검증된 방법론 — PCI·몬테카를로로 리스크 정량화</a:t>
            </a:r>
            <a:endParaRPr lang="en-US" sz="2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03 해결책 ·</a:t>
            </a:r>
            <a:r>
              <a:rPr lang="en-US" sz="1425" b="1" kern="0" spc="57" dirty="0">
                <a:solidFill>
                  <a:srgbClr val="28666E"/>
                </a:solidFill>
                <a:latin typeface="Arial" pitchFamily="34" charset="0"/>
                <a:ea typeface="Arial" pitchFamily="34" charset="-122"/>
                <a:cs typeface="Arial" pitchFamily="34" charset="-120"/>
              </a:rPr>
              <a:t>컨트롤타워 개념</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조회에 그치지 않고 </a:t>
            </a:r>
            <a:r>
              <a:rPr lang="en-US" sz="4050" b="1" kern="0" spc="-81" dirty="0">
                <a:solidFill>
                  <a:srgbClr val="28666E"/>
                </a:solidFill>
                <a:latin typeface="Arial" pitchFamily="34" charset="0"/>
                <a:ea typeface="Arial" pitchFamily="34" charset="-122"/>
                <a:cs typeface="Arial" pitchFamily="34" charset="-120"/>
              </a:rPr>
              <a:t>실행까지 </a:t>
            </a:r>
            <a:r>
              <a:rPr lang="en-US" sz="4050" b="1" kern="0" spc="-81" dirty="0">
                <a:solidFill>
                  <a:srgbClr val="12161D"/>
                </a:solidFill>
                <a:latin typeface="Arial" pitchFamily="34" charset="0"/>
                <a:ea typeface="Arial" pitchFamily="34" charset="-122"/>
                <a:cs typeface="Arial" pitchFamily="34" charset="-120"/>
              </a:rPr>
              <a:t>잇는 통합 컨트롤타워</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6개 외부 소스 · 자동 파이프라인 · 8개 화면을 하나의 흐름으로</a:t>
            </a:r>
            <a:endParaRPr lang="en-US" sz="1875" dirty="0"/>
          </a:p>
        </p:txBody>
      </p:sp>
      <p:sp>
        <p:nvSpPr>
          <p:cNvPr id="5" name="Shape 3"/>
          <p:cNvSpPr/>
          <p:nvPr/>
        </p:nvSpPr>
        <p:spPr>
          <a:xfrm>
            <a:off x="914400" y="2231985"/>
            <a:ext cx="5321261" cy="1101090"/>
          </a:xfrm>
          <a:prstGeom prst="roundRect">
            <a:avLst>
              <a:gd name="adj" fmla="val 12111"/>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07770" y="2449155"/>
            <a:ext cx="5207972"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Arial" pitchFamily="34" charset="0"/>
                <a:ea typeface="Arial" pitchFamily="34" charset="-122"/>
                <a:cs typeface="Arial" pitchFamily="34" charset="-120"/>
              </a:rPr>
              <a:t>터미널 공표</a:t>
            </a:r>
            <a:endParaRPr lang="en-US" sz="1875" dirty="0"/>
          </a:p>
        </p:txBody>
      </p:sp>
      <p:sp>
        <p:nvSpPr>
          <p:cNvPr id="7" name="Text 5"/>
          <p:cNvSpPr/>
          <p:nvPr/>
        </p:nvSpPr>
        <p:spPr>
          <a:xfrm>
            <a:off x="1207770" y="2849205"/>
            <a:ext cx="520797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선석배정 9곳 · 시트별 엑셀 (매일 06:00)</a:t>
            </a:r>
            <a:endParaRPr lang="en-US" sz="1425" dirty="0"/>
          </a:p>
        </p:txBody>
      </p:sp>
      <p:sp>
        <p:nvSpPr>
          <p:cNvPr id="8" name="Shape 6"/>
          <p:cNvSpPr/>
          <p:nvPr/>
        </p:nvSpPr>
        <p:spPr>
          <a:xfrm>
            <a:off x="6483311" y="2231985"/>
            <a:ext cx="5321261" cy="1101090"/>
          </a:xfrm>
          <a:prstGeom prst="roundRect">
            <a:avLst>
              <a:gd name="adj" fmla="val 12111"/>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9" name="Text 7"/>
          <p:cNvSpPr/>
          <p:nvPr/>
        </p:nvSpPr>
        <p:spPr>
          <a:xfrm>
            <a:off x="6776681" y="2449155"/>
            <a:ext cx="5207972"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Arial" pitchFamily="34" charset="0"/>
                <a:ea typeface="Arial" pitchFamily="34" charset="-122"/>
                <a:cs typeface="Arial" pitchFamily="34" charset="-120"/>
              </a:rPr>
              <a:t>위성 · AIS</a:t>
            </a:r>
            <a:endParaRPr lang="en-US" sz="1875" dirty="0"/>
          </a:p>
        </p:txBody>
      </p:sp>
      <p:sp>
        <p:nvSpPr>
          <p:cNvPr id="10" name="Text 8"/>
          <p:cNvSpPr/>
          <p:nvPr/>
        </p:nvSpPr>
        <p:spPr>
          <a:xfrm>
            <a:off x="6776681" y="2849205"/>
            <a:ext cx="520797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PortWatch 혼잡도 · VesselFinder 위치</a:t>
            </a:r>
            <a:endParaRPr lang="en-US" sz="1425" dirty="0"/>
          </a:p>
        </p:txBody>
      </p:sp>
      <p:sp>
        <p:nvSpPr>
          <p:cNvPr id="11" name="Shape 9"/>
          <p:cNvSpPr/>
          <p:nvPr/>
        </p:nvSpPr>
        <p:spPr>
          <a:xfrm>
            <a:off x="12052221" y="2231985"/>
            <a:ext cx="5321261" cy="1101090"/>
          </a:xfrm>
          <a:prstGeom prst="roundRect">
            <a:avLst>
              <a:gd name="adj" fmla="val 12111"/>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2" name="Text 10"/>
          <p:cNvSpPr/>
          <p:nvPr/>
        </p:nvSpPr>
        <p:spPr>
          <a:xfrm>
            <a:off x="12345591" y="2449155"/>
            <a:ext cx="5207972"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12161D"/>
                </a:solidFill>
                <a:latin typeface="Arial" pitchFamily="34" charset="0"/>
                <a:ea typeface="Arial" pitchFamily="34" charset="-122"/>
                <a:cs typeface="Arial" pitchFamily="34" charset="-120"/>
              </a:rPr>
              <a:t>지수 · 통관 · 기상</a:t>
            </a:r>
            <a:endParaRPr lang="en-US" sz="1875" dirty="0"/>
          </a:p>
        </p:txBody>
      </p:sp>
      <p:sp>
        <p:nvSpPr>
          <p:cNvPr id="13" name="Text 11"/>
          <p:cNvSpPr/>
          <p:nvPr/>
        </p:nvSpPr>
        <p:spPr>
          <a:xfrm>
            <a:off x="12345591" y="2849205"/>
            <a:ext cx="520797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SCFI·CCFI · 유니패스 · Open-Meteo</a:t>
            </a:r>
            <a:endParaRPr lang="en-US" sz="1425" dirty="0"/>
          </a:p>
        </p:txBody>
      </p:sp>
      <p:sp>
        <p:nvSpPr>
          <p:cNvPr id="14" name="Text 12"/>
          <p:cNvSpPr/>
          <p:nvPr/>
        </p:nvSpPr>
        <p:spPr>
          <a:xfrm>
            <a:off x="648337" y="3428325"/>
            <a:ext cx="5853387" cy="342900"/>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28666E"/>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6217248" y="3428325"/>
            <a:ext cx="5853387" cy="342900"/>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28666E"/>
                </a:solidFill>
                <a:latin typeface="Arial" pitchFamily="34" charset="0"/>
                <a:ea typeface="Arial" pitchFamily="34" charset="-122"/>
                <a:cs typeface="Arial" pitchFamily="34" charset="-120"/>
              </a:rPr>
              <a:t>↓</a:t>
            </a:r>
            <a:endParaRPr lang="en-US" sz="2100" dirty="0"/>
          </a:p>
        </p:txBody>
      </p:sp>
      <p:sp>
        <p:nvSpPr>
          <p:cNvPr id="16" name="Text 14"/>
          <p:cNvSpPr/>
          <p:nvPr/>
        </p:nvSpPr>
        <p:spPr>
          <a:xfrm>
            <a:off x="11786158" y="3428325"/>
            <a:ext cx="5853387" cy="342900"/>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28666E"/>
                </a:solidFill>
                <a:latin typeface="Arial" pitchFamily="34" charset="0"/>
                <a:ea typeface="Arial" pitchFamily="34" charset="-122"/>
                <a:cs typeface="Arial" pitchFamily="34" charset="-120"/>
              </a:rPr>
              <a:t>↓</a:t>
            </a:r>
            <a:endParaRPr lang="en-US" sz="2100" dirty="0"/>
          </a:p>
        </p:txBody>
      </p:sp>
      <p:sp>
        <p:nvSpPr>
          <p:cNvPr id="17" name="Shape 15"/>
          <p:cNvSpPr/>
          <p:nvPr/>
        </p:nvSpPr>
        <p:spPr>
          <a:xfrm>
            <a:off x="914400" y="3828375"/>
            <a:ext cx="16459200" cy="5586293"/>
          </a:xfrm>
          <a:prstGeom prst="roundRect">
            <a:avLst>
              <a:gd name="adj" fmla="val 3069"/>
            </a:avLst>
          </a:prstGeom>
          <a:solidFill>
            <a:srgbClr val="12161D"/>
          </a:solidFill>
          <a:ln/>
        </p:spPr>
      </p:sp>
      <p:sp>
        <p:nvSpPr>
          <p:cNvPr id="18" name="Text 16"/>
          <p:cNvSpPr/>
          <p:nvPr/>
        </p:nvSpPr>
        <p:spPr>
          <a:xfrm>
            <a:off x="1238250" y="4076025"/>
            <a:ext cx="17392650" cy="312420"/>
          </a:xfrm>
          <a:prstGeom prst="rect">
            <a:avLst/>
          </a:prstGeom>
          <a:noFill/>
          <a:ln/>
        </p:spPr>
        <p:txBody>
          <a:bodyPr wrap="square" lIns="25400" tIns="25400" rIns="25400" bIns="25400" rtlCol="0" anchor="t">
            <a:normAutofit/>
          </a:bodyPr>
          <a:lstStyle/>
          <a:p>
            <a:pPr marL="0" indent="0" algn="l">
              <a:buNone/>
            </a:pPr>
            <a:r>
              <a:rPr lang="en-US" sz="1500" b="1" kern="0" spc="15" dirty="0">
                <a:solidFill>
                  <a:srgbClr val="5FA8AE"/>
                </a:solidFill>
                <a:latin typeface="Arial" pitchFamily="34" charset="0"/>
                <a:ea typeface="Arial" pitchFamily="34" charset="-122"/>
                <a:cs typeface="Arial" pitchFamily="34" charset="-120"/>
              </a:rPr>
              <a:t>자동 파이프라인 · 수집 → 정규화(공통 스키마) → 적재(Supabase) → 표현</a:t>
            </a:r>
            <a:endParaRPr lang="en-US" sz="1500" dirty="0"/>
          </a:p>
        </p:txBody>
      </p:sp>
      <p:sp>
        <p:nvSpPr>
          <p:cNvPr id="19" name="Shape 17"/>
          <p:cNvSpPr/>
          <p:nvPr/>
        </p:nvSpPr>
        <p:spPr>
          <a:xfrm>
            <a:off x="1238250" y="4559895"/>
            <a:ext cx="15240" cy="4569023"/>
          </a:xfrm>
          <a:prstGeom prst="rect">
            <a:avLst/>
          </a:prstGeom>
          <a:solidFill>
            <a:srgbClr val="28666E"/>
          </a:solidFill>
          <a:ln/>
        </p:spPr>
      </p:sp>
      <p:sp>
        <p:nvSpPr>
          <p:cNvPr id="20" name="Text 18"/>
          <p:cNvSpPr/>
          <p:nvPr/>
        </p:nvSpPr>
        <p:spPr>
          <a:xfrm>
            <a:off x="1443990"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① 실데이터 조회</a:t>
            </a:r>
            <a:endParaRPr lang="en-US" sz="1650" dirty="0"/>
          </a:p>
        </p:txBody>
      </p:sp>
      <p:sp>
        <p:nvSpPr>
          <p:cNvPr id="21" name="Text 19"/>
          <p:cNvSpPr/>
          <p:nvPr/>
        </p:nvSpPr>
        <p:spPr>
          <a:xfrm>
            <a:off x="1443990" y="4959945"/>
            <a:ext cx="3886105" cy="286703"/>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선석·혼잡·선박·운임·기상·통관을 한 화면에</a:t>
            </a:r>
            <a:endParaRPr lang="en-US" sz="1350" dirty="0"/>
          </a:p>
        </p:txBody>
      </p:sp>
      <p:sp>
        <p:nvSpPr>
          <p:cNvPr id="22" name="Shape 20"/>
          <p:cNvSpPr/>
          <p:nvPr/>
        </p:nvSpPr>
        <p:spPr>
          <a:xfrm>
            <a:off x="5262563" y="4559895"/>
            <a:ext cx="15240" cy="4569023"/>
          </a:xfrm>
          <a:prstGeom prst="rect">
            <a:avLst/>
          </a:prstGeom>
          <a:solidFill>
            <a:srgbClr val="28666E"/>
          </a:solidFill>
          <a:ln/>
        </p:spPr>
      </p:sp>
      <p:sp>
        <p:nvSpPr>
          <p:cNvPr id="23" name="Text 21"/>
          <p:cNvSpPr/>
          <p:nvPr/>
        </p:nvSpPr>
        <p:spPr>
          <a:xfrm>
            <a:off x="5468303"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② 리스크 분석</a:t>
            </a:r>
            <a:endParaRPr lang="en-US" sz="1650" dirty="0"/>
          </a:p>
        </p:txBody>
      </p:sp>
      <p:sp>
        <p:nvSpPr>
          <p:cNvPr id="24" name="Text 22"/>
          <p:cNvSpPr/>
          <p:nvPr/>
        </p:nvSpPr>
        <p:spPr>
          <a:xfrm>
            <a:off x="5468303" y="4959945"/>
            <a:ext cx="3886105" cy="286703"/>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PCI 혼잡도 · ETA 지연 · 경로 소요일 정량화</a:t>
            </a:r>
            <a:endParaRPr lang="en-US" sz="1350" dirty="0"/>
          </a:p>
        </p:txBody>
      </p:sp>
      <p:sp>
        <p:nvSpPr>
          <p:cNvPr id="25" name="Shape 23"/>
          <p:cNvSpPr/>
          <p:nvPr/>
        </p:nvSpPr>
        <p:spPr>
          <a:xfrm>
            <a:off x="9286875" y="4559895"/>
            <a:ext cx="15240" cy="4569023"/>
          </a:xfrm>
          <a:prstGeom prst="rect">
            <a:avLst/>
          </a:prstGeom>
          <a:solidFill>
            <a:srgbClr val="28666E"/>
          </a:solidFill>
          <a:ln/>
        </p:spPr>
      </p:sp>
      <p:sp>
        <p:nvSpPr>
          <p:cNvPr id="26" name="Text 24"/>
          <p:cNvSpPr/>
          <p:nvPr/>
        </p:nvSpPr>
        <p:spPr>
          <a:xfrm>
            <a:off x="9492615"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③ 실행 지원</a:t>
            </a:r>
            <a:endParaRPr lang="en-US" sz="1650" dirty="0"/>
          </a:p>
        </p:txBody>
      </p:sp>
      <p:sp>
        <p:nvSpPr>
          <p:cNvPr id="27" name="Text 25"/>
          <p:cNvSpPr/>
          <p:nvPr/>
        </p:nvSpPr>
        <p:spPr>
          <a:xfrm>
            <a:off x="9492615" y="4959945"/>
            <a:ext cx="3886105" cy="286703"/>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반입마감 임박 강조 · 화물통관 추적 · 경로 시뮬</a:t>
            </a:r>
            <a:endParaRPr lang="en-US" sz="1350" dirty="0"/>
          </a:p>
        </p:txBody>
      </p:sp>
      <p:sp>
        <p:nvSpPr>
          <p:cNvPr id="28" name="Shape 26"/>
          <p:cNvSpPr/>
          <p:nvPr/>
        </p:nvSpPr>
        <p:spPr>
          <a:xfrm>
            <a:off x="13311188" y="4559895"/>
            <a:ext cx="15240" cy="4569023"/>
          </a:xfrm>
          <a:prstGeom prst="rect">
            <a:avLst/>
          </a:prstGeom>
          <a:solidFill>
            <a:srgbClr val="28666E"/>
          </a:solidFill>
          <a:ln/>
        </p:spPr>
      </p:sp>
      <p:sp>
        <p:nvSpPr>
          <p:cNvPr id="29" name="Text 27"/>
          <p:cNvSpPr/>
          <p:nvPr/>
        </p:nvSpPr>
        <p:spPr>
          <a:xfrm>
            <a:off x="13516927" y="4559895"/>
            <a:ext cx="388610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5FA8AE"/>
                </a:solidFill>
                <a:latin typeface="Arial" pitchFamily="34" charset="0"/>
                <a:ea typeface="Arial" pitchFamily="34" charset="-122"/>
                <a:cs typeface="Arial" pitchFamily="34" charset="-120"/>
              </a:rPr>
              <a:t>④ 운영 · 자동화</a:t>
            </a:r>
            <a:endParaRPr lang="en-US" sz="1650" dirty="0"/>
          </a:p>
        </p:txBody>
      </p:sp>
      <p:sp>
        <p:nvSpPr>
          <p:cNvPr id="30" name="Text 28"/>
          <p:cNvSpPr/>
          <p:nvPr/>
        </p:nvSpPr>
        <p:spPr>
          <a:xfrm>
            <a:off x="13516927" y="4959945"/>
            <a:ext cx="3886105" cy="286703"/>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350" dirty="0">
                <a:solidFill>
                  <a:srgbClr val="C9CCD1"/>
                </a:solidFill>
                <a:latin typeface="Arial" pitchFamily="34" charset="0"/>
                <a:ea typeface="Arial" pitchFamily="34" charset="-122"/>
                <a:cs typeface="Arial" pitchFamily="34" charset="-120"/>
              </a:rPr>
              <a:t>매일 자동수집 · 신선도 보드 · 장애 폴백</a:t>
            </a:r>
            <a:endParaRPr lang="en-US" sz="1350" dirty="0"/>
          </a:p>
        </p:txBody>
      </p:sp>
      <p:sp>
        <p:nvSpPr>
          <p:cNvPr id="31" name="Shape 29"/>
          <p:cNvSpPr/>
          <p:nvPr/>
        </p:nvSpPr>
        <p:spPr>
          <a:xfrm>
            <a:off x="914400" y="9605010"/>
            <a:ext cx="16459200" cy="9525"/>
          </a:xfrm>
          <a:prstGeom prst="rect">
            <a:avLst/>
          </a:prstGeom>
          <a:solidFill>
            <a:srgbClr val="E9E4DC"/>
          </a:solidFill>
          <a:ln/>
        </p:spPr>
      </p:sp>
      <p:sp>
        <p:nvSpPr>
          <p:cNvPr id="32" name="Text 30"/>
          <p:cNvSpPr/>
          <p:nvPr/>
        </p:nvSpPr>
        <p:spPr>
          <a:xfrm>
            <a:off x="914400" y="9726930"/>
            <a:ext cx="7818965"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순수 정적 웹 + Supabase + 배치 — 수집·저장·표현 3계층이 사람 손 없이 매일 도는 사내 컨트롤타워 구조</a:t>
            </a:r>
            <a:endParaRPr lang="en-US" sz="1275" dirty="0"/>
          </a:p>
        </p:txBody>
      </p:sp>
      <p:sp>
        <p:nvSpPr>
          <p:cNvPr id="33" name="Text 31"/>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10</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03 해결책 ·</a:t>
            </a:r>
            <a:r>
              <a:rPr lang="en-US" sz="1425" b="1" kern="0" spc="57" dirty="0">
                <a:solidFill>
                  <a:srgbClr val="28666E"/>
                </a:solidFill>
                <a:latin typeface="Arial" pitchFamily="34" charset="0"/>
                <a:ea typeface="Arial" pitchFamily="34" charset="-122"/>
                <a:cs typeface="Arial" pitchFamily="34" charset="-120"/>
              </a:rPr>
              <a:t>핵심 기능</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8개 화면, 전부 실데이터 — 조회부터 리스크 분석까지</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데모 없이 공개·실측 데이터만으로 구성한 컨트롤타워 화면 구성</a:t>
            </a:r>
            <a:endParaRPr lang="en-US" sz="1875" dirty="0"/>
          </a:p>
        </p:txBody>
      </p:sp>
      <p:sp>
        <p:nvSpPr>
          <p:cNvPr id="5" name="Shape 3"/>
          <p:cNvSpPr/>
          <p:nvPr/>
        </p:nvSpPr>
        <p:spPr>
          <a:xfrm>
            <a:off x="914400"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169670" y="2506211"/>
            <a:ext cx="3791807" cy="28956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2161D"/>
                </a:solidFill>
                <a:latin typeface="Arial" pitchFamily="34" charset="0"/>
                <a:ea typeface="Arial" pitchFamily="34" charset="-122"/>
                <a:cs typeface="Arial" pitchFamily="34" charset="-120"/>
              </a:rPr>
              <a:t>Port Insight</a:t>
            </a:r>
            <a:endParaRPr lang="en-US" sz="1725" dirty="0"/>
          </a:p>
        </p:txBody>
      </p:sp>
      <p:sp>
        <p:nvSpPr>
          <p:cNvPr id="7" name="Text 5"/>
          <p:cNvSpPr/>
          <p:nvPr/>
        </p:nvSpPr>
        <p:spPr>
          <a:xfrm>
            <a:off x="1169670" y="2833871"/>
            <a:ext cx="3550510" cy="51816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글로벌 93개 항만 혼잡도(PCI) 게이지·지도·Top10</a:t>
            </a:r>
            <a:endParaRPr lang="en-US" sz="1350" dirty="0"/>
          </a:p>
        </p:txBody>
      </p:sp>
      <p:sp>
        <p:nvSpPr>
          <p:cNvPr id="8" name="Shape 6"/>
          <p:cNvSpPr/>
          <p:nvPr/>
        </p:nvSpPr>
        <p:spPr>
          <a:xfrm>
            <a:off x="1169670" y="4876388"/>
            <a:ext cx="1175980" cy="255270"/>
          </a:xfrm>
          <a:prstGeom prst="roundRect">
            <a:avLst>
              <a:gd name="adj" fmla="val 50000"/>
            </a:avLst>
          </a:prstGeom>
          <a:solidFill>
            <a:srgbClr val="E7EEEE"/>
          </a:solidFill>
          <a:ln/>
        </p:spPr>
      </p:sp>
      <p:sp>
        <p:nvSpPr>
          <p:cNvPr id="9" name="Text 7"/>
          <p:cNvSpPr/>
          <p:nvPr/>
        </p:nvSpPr>
        <p:spPr>
          <a:xfrm>
            <a:off x="1283970" y="4924013"/>
            <a:ext cx="1023580"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IMF PortWatch</a:t>
            </a:r>
            <a:endParaRPr lang="en-US" sz="1125" dirty="0"/>
          </a:p>
        </p:txBody>
      </p:sp>
      <p:sp>
        <p:nvSpPr>
          <p:cNvPr id="10" name="Shape 8"/>
          <p:cNvSpPr/>
          <p:nvPr/>
        </p:nvSpPr>
        <p:spPr>
          <a:xfrm>
            <a:off x="5081588"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1" name="Text 9"/>
          <p:cNvSpPr/>
          <p:nvPr/>
        </p:nvSpPr>
        <p:spPr>
          <a:xfrm>
            <a:off x="5336857" y="2506211"/>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선석배정</a:t>
            </a:r>
            <a:endParaRPr lang="en-US" sz="1725" dirty="0"/>
          </a:p>
        </p:txBody>
      </p:sp>
      <p:sp>
        <p:nvSpPr>
          <p:cNvPr id="12" name="Text 10"/>
          <p:cNvSpPr/>
          <p:nvPr/>
        </p:nvSpPr>
        <p:spPr>
          <a:xfrm>
            <a:off x="5336857" y="2894831"/>
            <a:ext cx="3550510" cy="51816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9개 터미널 통합 · 반입마감 임박 강조 · 그리드 UX</a:t>
            </a:r>
            <a:endParaRPr lang="en-US" sz="1350" dirty="0"/>
          </a:p>
        </p:txBody>
      </p:sp>
      <p:sp>
        <p:nvSpPr>
          <p:cNvPr id="13" name="Shape 11"/>
          <p:cNvSpPr/>
          <p:nvPr/>
        </p:nvSpPr>
        <p:spPr>
          <a:xfrm>
            <a:off x="5336857" y="4876388"/>
            <a:ext cx="925592" cy="255270"/>
          </a:xfrm>
          <a:prstGeom prst="roundRect">
            <a:avLst>
              <a:gd name="adj" fmla="val 50000"/>
            </a:avLst>
          </a:prstGeom>
          <a:solidFill>
            <a:srgbClr val="E7EEEE"/>
          </a:solidFill>
          <a:ln/>
        </p:spPr>
      </p:sp>
      <p:sp>
        <p:nvSpPr>
          <p:cNvPr id="14" name="Text 12"/>
          <p:cNvSpPr/>
          <p:nvPr/>
        </p:nvSpPr>
        <p:spPr>
          <a:xfrm>
            <a:off x="5451157" y="4924013"/>
            <a:ext cx="773192"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터미널 공표</a:t>
            </a:r>
            <a:endParaRPr lang="en-US" sz="1125" dirty="0"/>
          </a:p>
        </p:txBody>
      </p:sp>
      <p:sp>
        <p:nvSpPr>
          <p:cNvPr id="15" name="Shape 13"/>
          <p:cNvSpPr/>
          <p:nvPr/>
        </p:nvSpPr>
        <p:spPr>
          <a:xfrm>
            <a:off x="9248775"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6" name="Text 14"/>
          <p:cNvSpPr/>
          <p:nvPr/>
        </p:nvSpPr>
        <p:spPr>
          <a:xfrm>
            <a:off x="9504045" y="2506211"/>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선박 위치</a:t>
            </a:r>
            <a:endParaRPr lang="en-US" sz="1725" dirty="0"/>
          </a:p>
        </p:txBody>
      </p:sp>
      <p:sp>
        <p:nvSpPr>
          <p:cNvPr id="17" name="Text 15"/>
          <p:cNvSpPr/>
          <p:nvPr/>
        </p:nvSpPr>
        <p:spPr>
          <a:xfrm>
            <a:off x="9504045" y="2894831"/>
            <a:ext cx="3791807"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실시간 AIS 지도 · 선명 검색→터미널 확대 이동</a:t>
            </a:r>
            <a:endParaRPr lang="en-US" sz="1350" dirty="0"/>
          </a:p>
        </p:txBody>
      </p:sp>
      <p:sp>
        <p:nvSpPr>
          <p:cNvPr id="18" name="Shape 16"/>
          <p:cNvSpPr/>
          <p:nvPr/>
        </p:nvSpPr>
        <p:spPr>
          <a:xfrm>
            <a:off x="9504045" y="4876388"/>
            <a:ext cx="1054537" cy="255270"/>
          </a:xfrm>
          <a:prstGeom prst="roundRect">
            <a:avLst>
              <a:gd name="adj" fmla="val 50000"/>
            </a:avLst>
          </a:prstGeom>
          <a:solidFill>
            <a:srgbClr val="E7EEEE"/>
          </a:solidFill>
          <a:ln/>
        </p:spPr>
      </p:sp>
      <p:sp>
        <p:nvSpPr>
          <p:cNvPr id="19" name="Text 17"/>
          <p:cNvSpPr/>
          <p:nvPr/>
        </p:nvSpPr>
        <p:spPr>
          <a:xfrm>
            <a:off x="9618345" y="4924013"/>
            <a:ext cx="902137"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VesselFinder</a:t>
            </a:r>
            <a:endParaRPr lang="en-US" sz="1125" dirty="0"/>
          </a:p>
        </p:txBody>
      </p:sp>
      <p:sp>
        <p:nvSpPr>
          <p:cNvPr id="20" name="Shape 18"/>
          <p:cNvSpPr/>
          <p:nvPr/>
        </p:nvSpPr>
        <p:spPr>
          <a:xfrm>
            <a:off x="13415963" y="2269991"/>
            <a:ext cx="3957638" cy="3057882"/>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1" name="Text 19"/>
          <p:cNvSpPr/>
          <p:nvPr/>
        </p:nvSpPr>
        <p:spPr>
          <a:xfrm>
            <a:off x="13671233" y="2506211"/>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화물 추적</a:t>
            </a:r>
            <a:endParaRPr lang="en-US" sz="1725" dirty="0"/>
          </a:p>
        </p:txBody>
      </p:sp>
      <p:sp>
        <p:nvSpPr>
          <p:cNvPr id="22" name="Text 20"/>
          <p:cNvSpPr/>
          <p:nvPr/>
        </p:nvSpPr>
        <p:spPr>
          <a:xfrm>
            <a:off x="13671233" y="2894831"/>
            <a:ext cx="3791807"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MBL/HBL/AWB 통관 진행 타임라인 조회</a:t>
            </a:r>
            <a:endParaRPr lang="en-US" sz="1350" dirty="0"/>
          </a:p>
        </p:txBody>
      </p:sp>
      <p:sp>
        <p:nvSpPr>
          <p:cNvPr id="23" name="Shape 21"/>
          <p:cNvSpPr/>
          <p:nvPr/>
        </p:nvSpPr>
        <p:spPr>
          <a:xfrm>
            <a:off x="13671233" y="4876388"/>
            <a:ext cx="1188482" cy="255270"/>
          </a:xfrm>
          <a:prstGeom prst="roundRect">
            <a:avLst>
              <a:gd name="adj" fmla="val 50000"/>
            </a:avLst>
          </a:prstGeom>
          <a:solidFill>
            <a:srgbClr val="E7EEEE"/>
          </a:solidFill>
          <a:ln/>
        </p:spPr>
      </p:sp>
      <p:sp>
        <p:nvSpPr>
          <p:cNvPr id="24" name="Text 22"/>
          <p:cNvSpPr/>
          <p:nvPr/>
        </p:nvSpPr>
        <p:spPr>
          <a:xfrm>
            <a:off x="13785533" y="4924013"/>
            <a:ext cx="1036082"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관세청 유니패스</a:t>
            </a:r>
            <a:endParaRPr lang="en-US" sz="1125" dirty="0"/>
          </a:p>
        </p:txBody>
      </p:sp>
      <p:sp>
        <p:nvSpPr>
          <p:cNvPr id="25" name="Shape 23"/>
          <p:cNvSpPr/>
          <p:nvPr/>
        </p:nvSpPr>
        <p:spPr>
          <a:xfrm>
            <a:off x="914400"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6" name="Text 24"/>
          <p:cNvSpPr/>
          <p:nvPr/>
        </p:nvSpPr>
        <p:spPr>
          <a:xfrm>
            <a:off x="1169670"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경로 분석</a:t>
            </a:r>
            <a:endParaRPr lang="en-US" sz="1725" dirty="0"/>
          </a:p>
        </p:txBody>
      </p:sp>
      <p:sp>
        <p:nvSpPr>
          <p:cNvPr id="27" name="Text 25"/>
          <p:cNvSpPr/>
          <p:nvPr/>
        </p:nvSpPr>
        <p:spPr>
          <a:xfrm>
            <a:off x="1169670" y="6162263"/>
            <a:ext cx="3791807"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해상 항로 + 소요일 몬테카를로 (P10/P50/P90)</a:t>
            </a:r>
            <a:endParaRPr lang="en-US" sz="1350" dirty="0"/>
          </a:p>
        </p:txBody>
      </p:sp>
      <p:sp>
        <p:nvSpPr>
          <p:cNvPr id="28" name="Shape 26"/>
          <p:cNvSpPr/>
          <p:nvPr/>
        </p:nvSpPr>
        <p:spPr>
          <a:xfrm>
            <a:off x="1169670" y="8143940"/>
            <a:ext cx="1181933" cy="255270"/>
          </a:xfrm>
          <a:prstGeom prst="roundRect">
            <a:avLst>
              <a:gd name="adj" fmla="val 50000"/>
            </a:avLst>
          </a:prstGeom>
          <a:solidFill>
            <a:srgbClr val="E7EEEE"/>
          </a:solidFill>
          <a:ln/>
        </p:spPr>
      </p:sp>
      <p:sp>
        <p:nvSpPr>
          <p:cNvPr id="29" name="Text 27"/>
          <p:cNvSpPr/>
          <p:nvPr/>
        </p:nvSpPr>
        <p:spPr>
          <a:xfrm>
            <a:off x="1283970" y="8191565"/>
            <a:ext cx="1029533"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searoute 8,556</a:t>
            </a:r>
            <a:endParaRPr lang="en-US" sz="1125" dirty="0"/>
          </a:p>
        </p:txBody>
      </p:sp>
      <p:sp>
        <p:nvSpPr>
          <p:cNvPr id="30" name="Shape 28"/>
          <p:cNvSpPr/>
          <p:nvPr/>
        </p:nvSpPr>
        <p:spPr>
          <a:xfrm>
            <a:off x="5081588"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31" name="Text 29"/>
          <p:cNvSpPr/>
          <p:nvPr/>
        </p:nvSpPr>
        <p:spPr>
          <a:xfrm>
            <a:off x="5336857"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운임지수</a:t>
            </a:r>
            <a:endParaRPr lang="en-US" sz="1725" dirty="0"/>
          </a:p>
        </p:txBody>
      </p:sp>
      <p:sp>
        <p:nvSpPr>
          <p:cNvPr id="32" name="Text 30"/>
          <p:cNvSpPr/>
          <p:nvPr/>
        </p:nvSpPr>
        <p:spPr>
          <a:xfrm>
            <a:off x="5336857" y="6162263"/>
            <a:ext cx="3791807"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SCFI/CCFI 종합·항로별 주간 스트립</a:t>
            </a:r>
            <a:endParaRPr lang="en-US" sz="1350" dirty="0"/>
          </a:p>
        </p:txBody>
      </p:sp>
      <p:sp>
        <p:nvSpPr>
          <p:cNvPr id="33" name="Shape 31"/>
          <p:cNvSpPr/>
          <p:nvPr/>
        </p:nvSpPr>
        <p:spPr>
          <a:xfrm>
            <a:off x="5336857" y="8143940"/>
            <a:ext cx="1017270" cy="255270"/>
          </a:xfrm>
          <a:prstGeom prst="roundRect">
            <a:avLst>
              <a:gd name="adj" fmla="val 50000"/>
            </a:avLst>
          </a:prstGeom>
          <a:solidFill>
            <a:srgbClr val="E7EEEE"/>
          </a:solidFill>
          <a:ln/>
        </p:spPr>
      </p:sp>
      <p:sp>
        <p:nvSpPr>
          <p:cNvPr id="34" name="Text 32"/>
          <p:cNvSpPr/>
          <p:nvPr/>
        </p:nvSpPr>
        <p:spPr>
          <a:xfrm>
            <a:off x="5451157" y="8191565"/>
            <a:ext cx="864870"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상하이거래소</a:t>
            </a:r>
            <a:endParaRPr lang="en-US" sz="1125" dirty="0"/>
          </a:p>
        </p:txBody>
      </p:sp>
      <p:sp>
        <p:nvSpPr>
          <p:cNvPr id="35" name="Shape 33"/>
          <p:cNvSpPr/>
          <p:nvPr/>
        </p:nvSpPr>
        <p:spPr>
          <a:xfrm>
            <a:off x="9248775"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36" name="Text 34"/>
          <p:cNvSpPr/>
          <p:nvPr/>
        </p:nvSpPr>
        <p:spPr>
          <a:xfrm>
            <a:off x="9504045"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항만 기상</a:t>
            </a:r>
            <a:endParaRPr lang="en-US" sz="1725" dirty="0"/>
          </a:p>
        </p:txBody>
      </p:sp>
      <p:sp>
        <p:nvSpPr>
          <p:cNvPr id="37" name="Text 35"/>
          <p:cNvSpPr/>
          <p:nvPr/>
        </p:nvSpPr>
        <p:spPr>
          <a:xfrm>
            <a:off x="9504045" y="6162263"/>
            <a:ext cx="3791807"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파고·풍속 카드 · 등급 경고(≥2.5m 높음)</a:t>
            </a:r>
            <a:endParaRPr lang="en-US" sz="1350" dirty="0"/>
          </a:p>
        </p:txBody>
      </p:sp>
      <p:sp>
        <p:nvSpPr>
          <p:cNvPr id="38" name="Shape 36"/>
          <p:cNvSpPr/>
          <p:nvPr/>
        </p:nvSpPr>
        <p:spPr>
          <a:xfrm>
            <a:off x="9504045" y="8143940"/>
            <a:ext cx="1022866" cy="255270"/>
          </a:xfrm>
          <a:prstGeom prst="roundRect">
            <a:avLst>
              <a:gd name="adj" fmla="val 50000"/>
            </a:avLst>
          </a:prstGeom>
          <a:solidFill>
            <a:srgbClr val="E7EEEE"/>
          </a:solidFill>
          <a:ln/>
        </p:spPr>
      </p:sp>
      <p:sp>
        <p:nvSpPr>
          <p:cNvPr id="39" name="Text 37"/>
          <p:cNvSpPr/>
          <p:nvPr/>
        </p:nvSpPr>
        <p:spPr>
          <a:xfrm>
            <a:off x="9618345" y="8191565"/>
            <a:ext cx="870466"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Open-Meteo</a:t>
            </a:r>
            <a:endParaRPr lang="en-US" sz="1125" dirty="0"/>
          </a:p>
        </p:txBody>
      </p:sp>
      <p:sp>
        <p:nvSpPr>
          <p:cNvPr id="40" name="Shape 38"/>
          <p:cNvSpPr/>
          <p:nvPr/>
        </p:nvSpPr>
        <p:spPr>
          <a:xfrm>
            <a:off x="13415963" y="5537423"/>
            <a:ext cx="3957638" cy="3058001"/>
          </a:xfrm>
          <a:prstGeom prst="roundRect">
            <a:avLst>
              <a:gd name="adj" fmla="val 4361"/>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41" name="Text 39"/>
          <p:cNvSpPr/>
          <p:nvPr/>
        </p:nvSpPr>
        <p:spPr>
          <a:xfrm>
            <a:off x="13671233" y="5773643"/>
            <a:ext cx="3791807"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12161D"/>
                </a:solidFill>
                <a:latin typeface="Arial" pitchFamily="34" charset="0"/>
                <a:ea typeface="Arial" pitchFamily="34" charset="-122"/>
                <a:cs typeface="Arial" pitchFamily="34" charset="-120"/>
              </a:rPr>
              <a:t>데이터 현황</a:t>
            </a:r>
            <a:endParaRPr lang="en-US" sz="1725" dirty="0"/>
          </a:p>
        </p:txBody>
      </p:sp>
      <p:sp>
        <p:nvSpPr>
          <p:cNvPr id="42" name="Text 40"/>
          <p:cNvSpPr/>
          <p:nvPr/>
        </p:nvSpPr>
        <p:spPr>
          <a:xfrm>
            <a:off x="13671233" y="6162263"/>
            <a:ext cx="3791807"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판정 배너·흐름도·신선도 게이지·7일 타임라인</a:t>
            </a:r>
            <a:endParaRPr lang="en-US" sz="1350" dirty="0"/>
          </a:p>
        </p:txBody>
      </p:sp>
      <p:sp>
        <p:nvSpPr>
          <p:cNvPr id="43" name="Shape 41"/>
          <p:cNvSpPr/>
          <p:nvPr/>
        </p:nvSpPr>
        <p:spPr>
          <a:xfrm>
            <a:off x="13671233" y="8143940"/>
            <a:ext cx="794147" cy="255270"/>
          </a:xfrm>
          <a:prstGeom prst="roundRect">
            <a:avLst>
              <a:gd name="adj" fmla="val 50000"/>
            </a:avLst>
          </a:prstGeom>
          <a:solidFill>
            <a:srgbClr val="E7EEEE"/>
          </a:solidFill>
          <a:ln/>
        </p:spPr>
      </p:sp>
      <p:sp>
        <p:nvSpPr>
          <p:cNvPr id="44" name="Text 42"/>
          <p:cNvSpPr/>
          <p:nvPr/>
        </p:nvSpPr>
        <p:spPr>
          <a:xfrm>
            <a:off x="13785533" y="8191565"/>
            <a:ext cx="641747" cy="198120"/>
          </a:xfrm>
          <a:prstGeom prst="rect">
            <a:avLst/>
          </a:prstGeom>
          <a:noFill/>
          <a:ln/>
        </p:spPr>
        <p:txBody>
          <a:bodyPr wrap="square" lIns="25400" tIns="25400" rIns="25400" bIns="25400" rtlCol="0" anchor="t">
            <a:normAutofit fontScale="92500" lnSpcReduction="10000"/>
          </a:bodyPr>
          <a:lstStyle/>
          <a:p>
            <a:pPr marL="0" indent="0" algn="l">
              <a:buNone/>
            </a:pPr>
            <a:r>
              <a:rPr lang="en-US" sz="1125" b="1" dirty="0">
                <a:solidFill>
                  <a:srgbClr val="28666E"/>
                </a:solidFill>
                <a:latin typeface="Arial" pitchFamily="34" charset="0"/>
                <a:ea typeface="Arial" pitchFamily="34" charset="-122"/>
                <a:cs typeface="Arial" pitchFamily="34" charset="-120"/>
              </a:rPr>
              <a:t>운영 보드</a:t>
            </a:r>
            <a:endParaRPr lang="en-US" sz="1125" dirty="0"/>
          </a:p>
        </p:txBody>
      </p:sp>
      <p:sp>
        <p:nvSpPr>
          <p:cNvPr id="45" name="Shape 43"/>
          <p:cNvSpPr/>
          <p:nvPr/>
        </p:nvSpPr>
        <p:spPr>
          <a:xfrm>
            <a:off x="914400" y="8804974"/>
            <a:ext cx="16459200" cy="609600"/>
          </a:xfrm>
          <a:prstGeom prst="roundRect">
            <a:avLst>
              <a:gd name="adj" fmla="val 21875"/>
            </a:avLst>
          </a:prstGeom>
          <a:solidFill>
            <a:srgbClr val="ECE7DD"/>
          </a:solidFill>
          <a:ln/>
        </p:spPr>
      </p:sp>
      <p:sp>
        <p:nvSpPr>
          <p:cNvPr id="46" name="Text 44"/>
          <p:cNvSpPr/>
          <p:nvPr/>
        </p:nvSpPr>
        <p:spPr>
          <a:xfrm>
            <a:off x="1200150" y="8976424"/>
            <a:ext cx="16381476"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28666E"/>
                </a:solidFill>
                <a:latin typeface="Arial" pitchFamily="34" charset="0"/>
                <a:ea typeface="Arial" pitchFamily="34" charset="-122"/>
                <a:cs typeface="Arial" pitchFamily="34" charset="-120"/>
              </a:rPr>
              <a:t>실데이터 원칙 </a:t>
            </a:r>
            <a:r>
              <a:rPr lang="en-US" sz="1500" dirty="0">
                <a:solidFill>
                  <a:srgbClr val="12161D"/>
                </a:solidFill>
                <a:highlight>
                  <a:srgbClr val="ECE7DD"/>
                </a:highlight>
                <a:latin typeface="Arial" pitchFamily="34" charset="0"/>
                <a:ea typeface="Arial" pitchFamily="34" charset="-122"/>
                <a:cs typeface="Arial" pitchFamily="34" charset="-120"/>
              </a:rPr>
              <a:t>— 데모·가짜 난수 배제, 공개·무인증 소스만 사용. 국내 혼잡은 실측 선석으로 보정하고, 추정치(PCI·소요일)는 명확히 구분해 표기합니다.</a:t>
            </a:r>
            <a:endParaRPr lang="en-US" sz="1500" dirty="0"/>
          </a:p>
        </p:txBody>
      </p:sp>
      <p:sp>
        <p:nvSpPr>
          <p:cNvPr id="47" name="Shape 45"/>
          <p:cNvSpPr/>
          <p:nvPr/>
        </p:nvSpPr>
        <p:spPr>
          <a:xfrm>
            <a:off x="914400" y="9605010"/>
            <a:ext cx="16459200" cy="9525"/>
          </a:xfrm>
          <a:prstGeom prst="rect">
            <a:avLst/>
          </a:prstGeom>
          <a:solidFill>
            <a:srgbClr val="E9E4DC"/>
          </a:solidFill>
          <a:ln/>
        </p:spPr>
      </p:sp>
      <p:sp>
        <p:nvSpPr>
          <p:cNvPr id="48" name="Text 46"/>
          <p:cNvSpPr/>
          <p:nvPr/>
        </p:nvSpPr>
        <p:spPr>
          <a:xfrm>
            <a:off x="914400" y="9726930"/>
            <a:ext cx="6192857"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기능 구성 · 개발이력 §2 최종 기능(8개 화면, 전부 실데이터) · 배포판 동작 검증 완료</a:t>
            </a:r>
            <a:endParaRPr lang="en-US" sz="1275" dirty="0"/>
          </a:p>
        </p:txBody>
      </p:sp>
      <p:sp>
        <p:nvSpPr>
          <p:cNvPr id="49" name="Text 47"/>
          <p:cNvSpPr/>
          <p:nvPr/>
        </p:nvSpPr>
        <p:spPr>
          <a:xfrm>
            <a:off x="17205484" y="9772650"/>
            <a:ext cx="244316"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11</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03 해결책 ·</a:t>
            </a:r>
            <a:r>
              <a:rPr lang="en-US" sz="1425" b="1" kern="0" spc="57" dirty="0">
                <a:solidFill>
                  <a:srgbClr val="28666E"/>
                </a:solidFill>
                <a:latin typeface="Arial" pitchFamily="34" charset="0"/>
                <a:ea typeface="Arial" pitchFamily="34" charset="-122"/>
                <a:cs typeface="Arial" pitchFamily="34" charset="-120"/>
              </a:rPr>
              <a:t>운영·기술 모델</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무료 오픈API 스택 — 데이터·코드가 사내 자산으로</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유료 API·상용 솔루션 없이, 공개 데이터와 오픈소스만으로 운영</a:t>
            </a:r>
            <a:endParaRPr lang="en-US" sz="1875" dirty="0"/>
          </a:p>
        </p:txBody>
      </p:sp>
      <p:sp>
        <p:nvSpPr>
          <p:cNvPr id="5" name="Shape 3"/>
          <p:cNvSpPr/>
          <p:nvPr/>
        </p:nvSpPr>
        <p:spPr>
          <a:xfrm>
            <a:off x="914400"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226820"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데이터 · 무료 공개</a:t>
            </a:r>
            <a:endParaRPr lang="en-US" sz="1200" dirty="0"/>
          </a:p>
        </p:txBody>
      </p:sp>
      <p:sp>
        <p:nvSpPr>
          <p:cNvPr id="7" name="Text 5"/>
          <p:cNvSpPr/>
          <p:nvPr/>
        </p:nvSpPr>
        <p:spPr>
          <a:xfrm>
            <a:off x="1226820"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데이터 소스</a:t>
            </a:r>
            <a:endParaRPr lang="en-US" sz="2025" dirty="0"/>
          </a:p>
        </p:txBody>
      </p:sp>
      <p:sp>
        <p:nvSpPr>
          <p:cNvPr id="8" name="Text 6"/>
          <p:cNvSpPr/>
          <p:nvPr/>
        </p:nvSpPr>
        <p:spPr>
          <a:xfrm>
            <a:off x="1226820"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IMF PortWatch · Open-Meteo · VesselFinder · SCFI/CCFI · 유니패스 · searoute — 전부 무인증·공개</a:t>
            </a:r>
            <a:endParaRPr lang="en-US" sz="1425" dirty="0"/>
          </a:p>
        </p:txBody>
      </p:sp>
      <p:sp>
        <p:nvSpPr>
          <p:cNvPr id="9" name="Shape 7"/>
          <p:cNvSpPr/>
          <p:nvPr/>
        </p:nvSpPr>
        <p:spPr>
          <a:xfrm>
            <a:off x="1226820" y="7772558"/>
            <a:ext cx="3304222" cy="9525"/>
          </a:xfrm>
          <a:prstGeom prst="rect">
            <a:avLst/>
          </a:prstGeom>
          <a:solidFill>
            <a:srgbClr val="E9E4DC"/>
          </a:solidFill>
          <a:ln/>
        </p:spPr>
      </p:sp>
      <p:sp>
        <p:nvSpPr>
          <p:cNvPr id="10" name="Text 8"/>
          <p:cNvSpPr/>
          <p:nvPr/>
        </p:nvSpPr>
        <p:spPr>
          <a:xfrm>
            <a:off x="1226820"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유료 API 0원</a:t>
            </a:r>
            <a:endParaRPr lang="en-US" sz="1350" dirty="0"/>
          </a:p>
        </p:txBody>
      </p:sp>
      <p:sp>
        <p:nvSpPr>
          <p:cNvPr id="11" name="Shape 9"/>
          <p:cNvSpPr/>
          <p:nvPr/>
        </p:nvSpPr>
        <p:spPr>
          <a:xfrm>
            <a:off x="5091113"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2" name="Text 10"/>
          <p:cNvSpPr/>
          <p:nvPr/>
        </p:nvSpPr>
        <p:spPr>
          <a:xfrm>
            <a:off x="5403532"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저장·배포 · 무료 티어</a:t>
            </a:r>
            <a:endParaRPr lang="en-US" sz="1200" dirty="0"/>
          </a:p>
        </p:txBody>
      </p:sp>
      <p:sp>
        <p:nvSpPr>
          <p:cNvPr id="13" name="Text 11"/>
          <p:cNvSpPr/>
          <p:nvPr/>
        </p:nvSpPr>
        <p:spPr>
          <a:xfrm>
            <a:off x="5403532"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인프라</a:t>
            </a:r>
            <a:endParaRPr lang="en-US" sz="2025" dirty="0"/>
          </a:p>
        </p:txBody>
      </p:sp>
      <p:sp>
        <p:nvSpPr>
          <p:cNvPr id="14" name="Text 12"/>
          <p:cNvSpPr/>
          <p:nvPr/>
        </p:nvSpPr>
        <p:spPr>
          <a:xfrm>
            <a:off x="5403532"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Supabase(Postgres · RLS 읽기전용) + GitHub Pages 자동배포 (Netlify 크레딧 소진 대체)</a:t>
            </a:r>
            <a:endParaRPr lang="en-US" sz="1425" dirty="0"/>
          </a:p>
        </p:txBody>
      </p:sp>
      <p:sp>
        <p:nvSpPr>
          <p:cNvPr id="15" name="Shape 13"/>
          <p:cNvSpPr/>
          <p:nvPr/>
        </p:nvSpPr>
        <p:spPr>
          <a:xfrm>
            <a:off x="5403532" y="7772558"/>
            <a:ext cx="3304222" cy="9525"/>
          </a:xfrm>
          <a:prstGeom prst="rect">
            <a:avLst/>
          </a:prstGeom>
          <a:solidFill>
            <a:srgbClr val="E9E4DC"/>
          </a:solidFill>
          <a:ln/>
        </p:spPr>
      </p:sp>
      <p:sp>
        <p:nvSpPr>
          <p:cNvPr id="16" name="Text 14"/>
          <p:cNvSpPr/>
          <p:nvPr/>
        </p:nvSpPr>
        <p:spPr>
          <a:xfrm>
            <a:off x="5403532"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인프라 월 0원</a:t>
            </a:r>
            <a:endParaRPr lang="en-US" sz="1350" dirty="0"/>
          </a:p>
        </p:txBody>
      </p:sp>
      <p:sp>
        <p:nvSpPr>
          <p:cNvPr id="17" name="Shape 15"/>
          <p:cNvSpPr/>
          <p:nvPr/>
        </p:nvSpPr>
        <p:spPr>
          <a:xfrm>
            <a:off x="9267825"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18" name="Text 16"/>
          <p:cNvSpPr/>
          <p:nvPr/>
        </p:nvSpPr>
        <p:spPr>
          <a:xfrm>
            <a:off x="9580245"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자동화 · 키 불필요</a:t>
            </a:r>
            <a:endParaRPr lang="en-US" sz="1200" dirty="0"/>
          </a:p>
        </p:txBody>
      </p:sp>
      <p:sp>
        <p:nvSpPr>
          <p:cNvPr id="19" name="Text 17"/>
          <p:cNvSpPr/>
          <p:nvPr/>
        </p:nvSpPr>
        <p:spPr>
          <a:xfrm>
            <a:off x="9580245"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스케줄</a:t>
            </a:r>
            <a:endParaRPr lang="en-US" sz="2025" dirty="0"/>
          </a:p>
        </p:txBody>
      </p:sp>
      <p:sp>
        <p:nvSpPr>
          <p:cNvPr id="20" name="Text 18"/>
          <p:cNvSpPr/>
          <p:nvPr/>
        </p:nvSpPr>
        <p:spPr>
          <a:xfrm>
            <a:off x="9580245"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매일 06시대 자동수집(선석 06:08·혼잡 06:27·운임 월간) · MCP 연동 SQL 적재</a:t>
            </a:r>
            <a:endParaRPr lang="en-US" sz="1425" dirty="0"/>
          </a:p>
        </p:txBody>
      </p:sp>
      <p:sp>
        <p:nvSpPr>
          <p:cNvPr id="21" name="Shape 19"/>
          <p:cNvSpPr/>
          <p:nvPr/>
        </p:nvSpPr>
        <p:spPr>
          <a:xfrm>
            <a:off x="9580245" y="7772558"/>
            <a:ext cx="3304222" cy="9525"/>
          </a:xfrm>
          <a:prstGeom prst="rect">
            <a:avLst/>
          </a:prstGeom>
          <a:solidFill>
            <a:srgbClr val="E9E4DC"/>
          </a:solidFill>
          <a:ln/>
        </p:spPr>
      </p:sp>
      <p:sp>
        <p:nvSpPr>
          <p:cNvPr id="22" name="Text 20"/>
          <p:cNvSpPr/>
          <p:nvPr/>
        </p:nvSpPr>
        <p:spPr>
          <a:xfrm>
            <a:off x="9580245"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무인 스케줄 3종</a:t>
            </a:r>
            <a:endParaRPr lang="en-US" sz="1350" dirty="0"/>
          </a:p>
        </p:txBody>
      </p:sp>
      <p:sp>
        <p:nvSpPr>
          <p:cNvPr id="23" name="Shape 21"/>
          <p:cNvSpPr/>
          <p:nvPr/>
        </p:nvSpPr>
        <p:spPr>
          <a:xfrm>
            <a:off x="13444538" y="2289135"/>
            <a:ext cx="3929063" cy="614255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4" name="Text 22"/>
          <p:cNvSpPr/>
          <p:nvPr/>
        </p:nvSpPr>
        <p:spPr>
          <a:xfrm>
            <a:off x="13756958" y="2582505"/>
            <a:ext cx="3634645" cy="259080"/>
          </a:xfrm>
          <a:prstGeom prst="rect">
            <a:avLst/>
          </a:prstGeom>
          <a:noFill/>
          <a:ln/>
        </p:spPr>
        <p:txBody>
          <a:bodyPr wrap="square" lIns="25400" tIns="25400" rIns="25400" bIns="25400" rtlCol="0" anchor="t">
            <a:normAutofit/>
          </a:bodyPr>
          <a:lstStyle/>
          <a:p>
            <a:pPr marL="0" indent="0" algn="l">
              <a:buNone/>
            </a:pPr>
            <a:r>
              <a:rPr lang="en-US" sz="1200" b="1" kern="0" spc="24" dirty="0">
                <a:solidFill>
                  <a:srgbClr val="6F6A5F"/>
                </a:solidFill>
                <a:latin typeface="Arial" pitchFamily="34" charset="0"/>
                <a:ea typeface="Arial" pitchFamily="34" charset="-122"/>
                <a:cs typeface="Arial" pitchFamily="34" charset="-120"/>
              </a:rPr>
              <a:t>프런트 · 오픈소스</a:t>
            </a:r>
            <a:endParaRPr lang="en-US" sz="1200" dirty="0"/>
          </a:p>
        </p:txBody>
      </p:sp>
      <p:sp>
        <p:nvSpPr>
          <p:cNvPr id="25" name="Text 23"/>
          <p:cNvSpPr/>
          <p:nvPr/>
        </p:nvSpPr>
        <p:spPr>
          <a:xfrm>
            <a:off x="13756958" y="2879685"/>
            <a:ext cx="363464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스택</a:t>
            </a:r>
            <a:endParaRPr lang="en-US" sz="2025" dirty="0"/>
          </a:p>
        </p:txBody>
      </p:sp>
      <p:sp>
        <p:nvSpPr>
          <p:cNvPr id="26" name="Text 24"/>
          <p:cNvSpPr/>
          <p:nvPr/>
        </p:nvSpPr>
        <p:spPr>
          <a:xfrm>
            <a:off x="13756958" y="3367365"/>
            <a:ext cx="3403349" cy="4309944"/>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정적 HTML/CSS/JS + Leaflet 지도 + React·TypeScript(MIT) 이관 중 — 빌드리스에서 SPA로</a:t>
            </a:r>
            <a:endParaRPr lang="en-US" sz="1425" dirty="0"/>
          </a:p>
        </p:txBody>
      </p:sp>
      <p:sp>
        <p:nvSpPr>
          <p:cNvPr id="27" name="Shape 25"/>
          <p:cNvSpPr/>
          <p:nvPr/>
        </p:nvSpPr>
        <p:spPr>
          <a:xfrm>
            <a:off x="13756958" y="7772558"/>
            <a:ext cx="3304222" cy="9525"/>
          </a:xfrm>
          <a:prstGeom prst="rect">
            <a:avLst/>
          </a:prstGeom>
          <a:solidFill>
            <a:srgbClr val="E9E4DC"/>
          </a:solidFill>
          <a:ln/>
        </p:spPr>
      </p:sp>
      <p:sp>
        <p:nvSpPr>
          <p:cNvPr id="28" name="Text 26"/>
          <p:cNvSpPr/>
          <p:nvPr/>
        </p:nvSpPr>
        <p:spPr>
          <a:xfrm>
            <a:off x="13756958" y="7894478"/>
            <a:ext cx="3403349"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예 · 라이선스 0원</a:t>
            </a:r>
            <a:endParaRPr lang="en-US" sz="1350" dirty="0"/>
          </a:p>
        </p:txBody>
      </p:sp>
      <p:sp>
        <p:nvSpPr>
          <p:cNvPr id="29" name="Shape 27"/>
          <p:cNvSpPr/>
          <p:nvPr/>
        </p:nvSpPr>
        <p:spPr>
          <a:xfrm>
            <a:off x="914400" y="8679338"/>
            <a:ext cx="16459200" cy="716280"/>
          </a:xfrm>
          <a:prstGeom prst="roundRect">
            <a:avLst>
              <a:gd name="adj" fmla="val 21277"/>
            </a:avLst>
          </a:prstGeom>
          <a:solidFill>
            <a:srgbClr val="ECE7DD"/>
          </a:solidFill>
          <a:ln/>
        </p:spPr>
      </p:sp>
      <p:sp>
        <p:nvSpPr>
          <p:cNvPr id="30" name="Text 28"/>
          <p:cNvSpPr/>
          <p:nvPr/>
        </p:nvSpPr>
        <p:spPr>
          <a:xfrm>
            <a:off x="1219200" y="8869838"/>
            <a:ext cx="981075" cy="373380"/>
          </a:xfrm>
          <a:prstGeom prst="rect">
            <a:avLst/>
          </a:prstGeom>
          <a:noFill/>
          <a:ln/>
        </p:spPr>
        <p:txBody>
          <a:bodyPr wrap="none" lIns="25400" tIns="25400" rIns="25400" bIns="25400" rtlCol="0" anchor="t">
            <a:normAutofit/>
          </a:bodyPr>
          <a:lstStyle/>
          <a:p>
            <a:pPr marL="0" indent="0" algn="l">
              <a:buNone/>
            </a:pPr>
            <a:r>
              <a:rPr lang="en-US" sz="1800" b="1" dirty="0">
                <a:solidFill>
                  <a:srgbClr val="28666E"/>
                </a:solidFill>
                <a:latin typeface="Arial" pitchFamily="34" charset="0"/>
                <a:ea typeface="Arial" pitchFamily="34" charset="-122"/>
                <a:cs typeface="Arial" pitchFamily="34" charset="-120"/>
              </a:rPr>
              <a:t>상용 대비</a:t>
            </a:r>
            <a:endParaRPr lang="en-US" sz="1800" dirty="0"/>
          </a:p>
        </p:txBody>
      </p:sp>
      <p:sp>
        <p:nvSpPr>
          <p:cNvPr id="31" name="Text 29"/>
          <p:cNvSpPr/>
          <p:nvPr/>
        </p:nvSpPr>
        <p:spPr>
          <a:xfrm>
            <a:off x="2371725" y="8904128"/>
            <a:ext cx="11370445"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Ocean Visibility(tradlinx 등)는 유료·로그인·느림 </a:t>
            </a:r>
            <a:r>
              <a:rPr lang="en-US" sz="1500" dirty="0">
                <a:solidFill>
                  <a:srgbClr val="12161D"/>
                </a:solidFill>
                <a:latin typeface="Arial" pitchFamily="34" charset="0"/>
                <a:ea typeface="Arial" pitchFamily="34" charset="-122"/>
                <a:cs typeface="Arial" pitchFamily="34" charset="-120"/>
              </a:rPr>
              <a:t>— 본 스택은 전부 무료, 무엇보다 데이터와 코드가 그대로 사내 자산으로 남습니다</a:t>
            </a:r>
            <a:endParaRPr lang="en-US" sz="1500" dirty="0"/>
          </a:p>
        </p:txBody>
      </p:sp>
      <p:sp>
        <p:nvSpPr>
          <p:cNvPr id="32" name="Shape 30"/>
          <p:cNvSpPr/>
          <p:nvPr/>
        </p:nvSpPr>
        <p:spPr>
          <a:xfrm>
            <a:off x="914400" y="9605010"/>
            <a:ext cx="16459200" cy="9525"/>
          </a:xfrm>
          <a:prstGeom prst="rect">
            <a:avLst/>
          </a:prstGeom>
          <a:solidFill>
            <a:srgbClr val="E9E4DC"/>
          </a:solidFill>
          <a:ln/>
        </p:spPr>
      </p:sp>
      <p:sp>
        <p:nvSpPr>
          <p:cNvPr id="33" name="Text 31"/>
          <p:cNvSpPr/>
          <p:nvPr/>
        </p:nvSpPr>
        <p:spPr>
          <a:xfrm>
            <a:off x="914400" y="9726930"/>
            <a:ext cx="7922823"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물류포털 상세기술서 §1·§4·§5(아키텍처·프런트·운영) · 개발이력 §3 데이터 파이프라인·자동화</a:t>
            </a:r>
            <a:endParaRPr lang="en-US" sz="1275" dirty="0"/>
          </a:p>
        </p:txBody>
      </p:sp>
      <p:sp>
        <p:nvSpPr>
          <p:cNvPr id="34" name="Text 32"/>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12</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4295775"/>
            <a:ext cx="2535948" cy="1790700"/>
          </a:xfrm>
          <a:prstGeom prst="rect">
            <a:avLst/>
          </a:prstGeom>
          <a:noFill/>
          <a:ln/>
        </p:spPr>
        <p:txBody>
          <a:bodyPr wrap="square" lIns="25400" tIns="25400" rIns="25400" bIns="25400" rtlCol="0" anchor="t">
            <a:normAutofit/>
          </a:bodyPr>
          <a:lstStyle/>
          <a:p>
            <a:pPr marL="0" indent="0" algn="l">
              <a:lnSpc>
                <a:spcPct val="56790"/>
              </a:lnSpc>
              <a:buNone/>
            </a:pPr>
            <a:r>
              <a:rPr lang="en-US" sz="17250" b="1" kern="0" spc="-518" dirty="0">
                <a:solidFill>
                  <a:srgbClr val="222834"/>
                </a:solidFill>
                <a:latin typeface="Arial" pitchFamily="34" charset="0"/>
                <a:ea typeface="Arial" pitchFamily="34" charset="-122"/>
                <a:cs typeface="Arial" pitchFamily="34" charset="-120"/>
              </a:rPr>
              <a:t>04</a:t>
            </a:r>
            <a:endParaRPr lang="en-US" sz="17250" dirty="0"/>
          </a:p>
        </p:txBody>
      </p:sp>
      <p:sp>
        <p:nvSpPr>
          <p:cNvPr id="4" name="Text 2"/>
          <p:cNvSpPr/>
          <p:nvPr/>
        </p:nvSpPr>
        <p:spPr>
          <a:xfrm>
            <a:off x="4210407" y="3257550"/>
            <a:ext cx="5936945" cy="289560"/>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E4A24A"/>
                </a:solidFill>
                <a:latin typeface="Arial" pitchFamily="34" charset="0"/>
                <a:ea typeface="Arial" pitchFamily="34" charset="-122"/>
                <a:cs typeface="Arial" pitchFamily="34" charset="-120"/>
              </a:rPr>
              <a:t>PART 04 · FEASIBILITY &amp; SCALE</a:t>
            </a:r>
            <a:endParaRPr lang="en-US" sz="1650" dirty="0"/>
          </a:p>
        </p:txBody>
      </p:sp>
      <p:sp>
        <p:nvSpPr>
          <p:cNvPr id="5" name="Text 3"/>
          <p:cNvSpPr/>
          <p:nvPr/>
        </p:nvSpPr>
        <p:spPr>
          <a:xfrm>
            <a:off x="4210407" y="3623310"/>
            <a:ext cx="5936945" cy="1226820"/>
          </a:xfrm>
          <a:prstGeom prst="rect">
            <a:avLst/>
          </a:prstGeom>
          <a:noFill/>
          <a:ln/>
        </p:spPr>
        <p:txBody>
          <a:bodyPr wrap="square" lIns="25400" tIns="25400" rIns="25400" bIns="25400" rtlCol="0" anchor="t">
            <a:normAutofit/>
          </a:bodyPr>
          <a:lstStyle/>
          <a:p>
            <a:pPr marL="0" indent="0" algn="l">
              <a:buNone/>
            </a:pPr>
            <a:r>
              <a:rPr lang="en-US" sz="6450" b="1" kern="0" spc="129" dirty="0">
                <a:solidFill>
                  <a:srgbClr val="F5F3EE"/>
                </a:solidFill>
                <a:latin typeface="Arial" pitchFamily="34" charset="0"/>
                <a:ea typeface="Arial" pitchFamily="34" charset="-122"/>
                <a:cs typeface="Arial" pitchFamily="34" charset="-120"/>
              </a:rPr>
              <a:t>타당성 · 확장성</a:t>
            </a:r>
            <a:endParaRPr lang="en-US" sz="6450" dirty="0"/>
          </a:p>
        </p:txBody>
      </p:sp>
      <p:sp>
        <p:nvSpPr>
          <p:cNvPr id="6" name="Shape 4"/>
          <p:cNvSpPr/>
          <p:nvPr/>
        </p:nvSpPr>
        <p:spPr>
          <a:xfrm>
            <a:off x="4210407" y="5284482"/>
            <a:ext cx="76200" cy="76200"/>
          </a:xfrm>
          <a:prstGeom prst="rect">
            <a:avLst/>
          </a:prstGeom>
          <a:solidFill>
            <a:srgbClr val="E4A24A"/>
          </a:solidFill>
          <a:ln/>
        </p:spPr>
      </p:sp>
      <p:sp>
        <p:nvSpPr>
          <p:cNvPr id="7" name="Text 5"/>
          <p:cNvSpPr/>
          <p:nvPr/>
        </p:nvSpPr>
        <p:spPr>
          <a:xfrm>
            <a:off x="4458057" y="5135892"/>
            <a:ext cx="465842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제로에 가까운 인프라 비용 — 무료 스택</a:t>
            </a:r>
            <a:endParaRPr lang="en-US" sz="2025" dirty="0"/>
          </a:p>
        </p:txBody>
      </p:sp>
      <p:sp>
        <p:nvSpPr>
          <p:cNvPr id="8" name="Shape 6"/>
          <p:cNvSpPr/>
          <p:nvPr/>
        </p:nvSpPr>
        <p:spPr>
          <a:xfrm>
            <a:off x="4210407" y="5810262"/>
            <a:ext cx="76200" cy="76200"/>
          </a:xfrm>
          <a:prstGeom prst="rect">
            <a:avLst/>
          </a:prstGeom>
          <a:solidFill>
            <a:srgbClr val="E4A24A"/>
          </a:solidFill>
          <a:ln/>
        </p:spPr>
      </p:sp>
      <p:sp>
        <p:nvSpPr>
          <p:cNvPr id="9" name="Text 7"/>
          <p:cNvSpPr/>
          <p:nvPr/>
        </p:nvSpPr>
        <p:spPr>
          <a:xfrm>
            <a:off x="4458057" y="5661672"/>
            <a:ext cx="4569762"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5일 만에 v1 — 8개 화면 실데이터 검증</a:t>
            </a:r>
            <a:endParaRPr lang="en-US" sz="2025" dirty="0"/>
          </a:p>
        </p:txBody>
      </p:sp>
      <p:sp>
        <p:nvSpPr>
          <p:cNvPr id="10" name="Shape 8"/>
          <p:cNvSpPr/>
          <p:nvPr/>
        </p:nvSpPr>
        <p:spPr>
          <a:xfrm>
            <a:off x="4210407" y="6336042"/>
            <a:ext cx="76200" cy="76200"/>
          </a:xfrm>
          <a:prstGeom prst="rect">
            <a:avLst/>
          </a:prstGeom>
          <a:solidFill>
            <a:srgbClr val="E4A24A"/>
          </a:solidFill>
          <a:ln/>
        </p:spPr>
      </p:sp>
      <p:sp>
        <p:nvSpPr>
          <p:cNvPr id="11" name="Text 9"/>
          <p:cNvSpPr/>
          <p:nvPr/>
        </p:nvSpPr>
        <p:spPr>
          <a:xfrm>
            <a:off x="4458057" y="6187452"/>
            <a:ext cx="4286214"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PCI 방법론 — 혼잡도·소요일 정량화</a:t>
            </a:r>
            <a:endParaRPr lang="en-US" sz="2025" dirty="0"/>
          </a:p>
        </p:txBody>
      </p:sp>
      <p:sp>
        <p:nvSpPr>
          <p:cNvPr id="12" name="Shape 10"/>
          <p:cNvSpPr/>
          <p:nvPr/>
        </p:nvSpPr>
        <p:spPr>
          <a:xfrm>
            <a:off x="4210407" y="6861822"/>
            <a:ext cx="76200" cy="76200"/>
          </a:xfrm>
          <a:prstGeom prst="rect">
            <a:avLst/>
          </a:prstGeom>
          <a:solidFill>
            <a:srgbClr val="E4A24A"/>
          </a:solidFill>
          <a:ln/>
        </p:spPr>
      </p:sp>
      <p:sp>
        <p:nvSpPr>
          <p:cNvPr id="13" name="Text 11"/>
          <p:cNvSpPr/>
          <p:nvPr/>
        </p:nvSpPr>
        <p:spPr>
          <a:xfrm>
            <a:off x="4458057" y="6713232"/>
            <a:ext cx="4909888" cy="411480"/>
          </a:xfrm>
          <a:prstGeom prst="rect">
            <a:avLst/>
          </a:prstGeom>
          <a:noFill/>
          <a:ln/>
        </p:spPr>
        <p:txBody>
          <a:bodyPr wrap="square" lIns="25400" tIns="25400" rIns="25400" bIns="25400" rtlCol="0" anchor="t">
            <a:normAutofit/>
          </a:bodyPr>
          <a:lstStyle/>
          <a:p>
            <a:pPr marL="0" indent="0" algn="l">
              <a:buNone/>
            </a:pPr>
            <a:r>
              <a:rPr lang="en-US" sz="2025" dirty="0">
                <a:solidFill>
                  <a:srgbClr val="C9CCD1"/>
                </a:solidFill>
                <a:latin typeface="Arial" pitchFamily="34" charset="0"/>
                <a:ea typeface="Arial" pitchFamily="34" charset="-122"/>
                <a:cs typeface="Arial" pitchFamily="34" charset="-120"/>
              </a:rPr>
              <a:t>확장 로드맵 · 외부 검증 — 표준 기반 해자</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구축·운영 비용</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유료 스택이었다면? — 제로 비용의 구조적 우위</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데이터·인프라·라이선스 전 구간 무료 — 상용 대비 절감액이 곧 타당성</a:t>
            </a:r>
            <a:endParaRPr lang="en-US" sz="1875" dirty="0"/>
          </a:p>
        </p:txBody>
      </p:sp>
      <p:sp>
        <p:nvSpPr>
          <p:cNvPr id="5" name="Shape 3"/>
          <p:cNvSpPr/>
          <p:nvPr/>
        </p:nvSpPr>
        <p:spPr>
          <a:xfrm>
            <a:off x="914400" y="2288988"/>
            <a:ext cx="7040166" cy="7106483"/>
          </a:xfrm>
          <a:prstGeom prst="roundRect">
            <a:avLst>
              <a:gd name="adj" fmla="val 216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303020" y="2620458"/>
            <a:ext cx="6889218"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F6A5F"/>
                </a:solidFill>
                <a:latin typeface="Arial" pitchFamily="34" charset="0"/>
                <a:ea typeface="Arial" pitchFamily="34" charset="-122"/>
                <a:cs typeface="Arial" pitchFamily="34" charset="-120"/>
              </a:rPr>
              <a:t>월 인프라 · 데이터 비용</a:t>
            </a:r>
            <a:endParaRPr lang="en-US" sz="1500" dirty="0"/>
          </a:p>
        </p:txBody>
      </p:sp>
      <p:sp>
        <p:nvSpPr>
          <p:cNvPr id="7" name="Text 5"/>
          <p:cNvSpPr/>
          <p:nvPr/>
        </p:nvSpPr>
        <p:spPr>
          <a:xfrm>
            <a:off x="1303020" y="3211239"/>
            <a:ext cx="1689890" cy="998220"/>
          </a:xfrm>
          <a:prstGeom prst="rect">
            <a:avLst/>
          </a:prstGeom>
          <a:noFill/>
          <a:ln/>
        </p:spPr>
        <p:txBody>
          <a:bodyPr wrap="square" lIns="25400" tIns="25400" rIns="25400" bIns="25400" rtlCol="0" anchor="t">
            <a:normAutofit/>
          </a:bodyPr>
          <a:lstStyle/>
          <a:p>
            <a:pPr marL="0" indent="0" algn="l">
              <a:lnSpc>
                <a:spcPct val="63959"/>
              </a:lnSpc>
              <a:buNone/>
            </a:pPr>
            <a:r>
              <a:rPr lang="en-US" sz="8400" b="1" kern="0" spc="-252" dirty="0">
                <a:solidFill>
                  <a:srgbClr val="28666E"/>
                </a:solidFill>
                <a:latin typeface="Arial" pitchFamily="34" charset="0"/>
                <a:ea typeface="Arial" pitchFamily="34" charset="-122"/>
                <a:cs typeface="Arial" pitchFamily="34" charset="-120"/>
              </a:rPr>
              <a:t>₩0</a:t>
            </a:r>
            <a:endParaRPr lang="en-US" sz="8400" dirty="0"/>
          </a:p>
        </p:txBody>
      </p:sp>
      <p:sp>
        <p:nvSpPr>
          <p:cNvPr id="8" name="Text 6"/>
          <p:cNvSpPr/>
          <p:nvPr/>
        </p:nvSpPr>
        <p:spPr>
          <a:xfrm>
            <a:off x="2915483" y="3424368"/>
            <a:ext cx="783060" cy="502920"/>
          </a:xfrm>
          <a:prstGeom prst="rect">
            <a:avLst/>
          </a:prstGeom>
          <a:noFill/>
          <a:ln/>
        </p:spPr>
        <p:txBody>
          <a:bodyPr wrap="square" lIns="25400" tIns="25400" rIns="25400" bIns="25400" rtlCol="0" anchor="t">
            <a:normAutofit/>
          </a:bodyPr>
          <a:lstStyle/>
          <a:p>
            <a:pPr marL="0" indent="0" algn="l">
              <a:buNone/>
            </a:pPr>
            <a:r>
              <a:rPr lang="en-US" sz="2550" b="1" dirty="0">
                <a:solidFill>
                  <a:srgbClr val="28666E"/>
                </a:solidFill>
                <a:latin typeface="Arial" pitchFamily="34" charset="0"/>
                <a:ea typeface="Arial" pitchFamily="34" charset="-122"/>
                <a:cs typeface="Arial" pitchFamily="34" charset="-120"/>
              </a:rPr>
              <a:t>/ 월</a:t>
            </a:r>
            <a:endParaRPr lang="en-US" sz="2550" dirty="0"/>
          </a:p>
        </p:txBody>
      </p:sp>
      <p:sp>
        <p:nvSpPr>
          <p:cNvPr id="9" name="Shape 7"/>
          <p:cNvSpPr/>
          <p:nvPr/>
        </p:nvSpPr>
        <p:spPr>
          <a:xfrm>
            <a:off x="1303020" y="4529268"/>
            <a:ext cx="6262926" cy="9525"/>
          </a:xfrm>
          <a:prstGeom prst="rect">
            <a:avLst/>
          </a:prstGeom>
          <a:solidFill>
            <a:srgbClr val="E9E4DC"/>
          </a:solidFill>
          <a:ln/>
        </p:spPr>
      </p:sp>
      <p:sp>
        <p:nvSpPr>
          <p:cNvPr id="10" name="Text 8"/>
          <p:cNvSpPr/>
          <p:nvPr/>
        </p:nvSpPr>
        <p:spPr>
          <a:xfrm>
            <a:off x="1303020" y="4205418"/>
            <a:ext cx="1492329" cy="25146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Arial" pitchFamily="34" charset="0"/>
                <a:ea typeface="Arial" pitchFamily="34" charset="-122"/>
                <a:cs typeface="Arial" pitchFamily="34" charset="-120"/>
              </a:rPr>
              <a:t>데이터 (공개 API)</a:t>
            </a:r>
            <a:endParaRPr lang="en-US" sz="1500" dirty="0"/>
          </a:p>
        </p:txBody>
      </p:sp>
      <p:sp>
        <p:nvSpPr>
          <p:cNvPr id="11" name="Text 9"/>
          <p:cNvSpPr/>
          <p:nvPr/>
        </p:nvSpPr>
        <p:spPr>
          <a:xfrm>
            <a:off x="7284720" y="4159698"/>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12" name="Shape 10"/>
          <p:cNvSpPr/>
          <p:nvPr/>
        </p:nvSpPr>
        <p:spPr>
          <a:xfrm>
            <a:off x="1303020" y="5020758"/>
            <a:ext cx="6262926" cy="9525"/>
          </a:xfrm>
          <a:prstGeom prst="rect">
            <a:avLst/>
          </a:prstGeom>
          <a:solidFill>
            <a:srgbClr val="E9E4DC"/>
          </a:solidFill>
          <a:ln/>
        </p:spPr>
      </p:sp>
      <p:sp>
        <p:nvSpPr>
          <p:cNvPr id="13" name="Text 11"/>
          <p:cNvSpPr/>
          <p:nvPr/>
        </p:nvSpPr>
        <p:spPr>
          <a:xfrm>
            <a:off x="1303020" y="4696908"/>
            <a:ext cx="1867972" cy="25146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Arial" pitchFamily="34" charset="0"/>
                <a:ea typeface="Arial" pitchFamily="34" charset="-122"/>
                <a:cs typeface="Arial" pitchFamily="34" charset="-120"/>
              </a:rPr>
              <a:t>저장 (Supabase 무료)</a:t>
            </a:r>
            <a:endParaRPr lang="en-US" sz="1500" dirty="0"/>
          </a:p>
        </p:txBody>
      </p:sp>
      <p:sp>
        <p:nvSpPr>
          <p:cNvPr id="14" name="Text 12"/>
          <p:cNvSpPr/>
          <p:nvPr/>
        </p:nvSpPr>
        <p:spPr>
          <a:xfrm>
            <a:off x="7284720" y="4651188"/>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15" name="Shape 13"/>
          <p:cNvSpPr/>
          <p:nvPr/>
        </p:nvSpPr>
        <p:spPr>
          <a:xfrm>
            <a:off x="1303020" y="5512249"/>
            <a:ext cx="6262926" cy="9525"/>
          </a:xfrm>
          <a:prstGeom prst="rect">
            <a:avLst/>
          </a:prstGeom>
          <a:solidFill>
            <a:srgbClr val="E9E4DC"/>
          </a:solidFill>
          <a:ln/>
        </p:spPr>
      </p:sp>
      <p:sp>
        <p:nvSpPr>
          <p:cNvPr id="16" name="Text 14"/>
          <p:cNvSpPr/>
          <p:nvPr/>
        </p:nvSpPr>
        <p:spPr>
          <a:xfrm>
            <a:off x="1303020" y="5188398"/>
            <a:ext cx="1792605" cy="251460"/>
          </a:xfrm>
          <a:prstGeom prst="rect">
            <a:avLst/>
          </a:prstGeom>
          <a:noFill/>
          <a:ln/>
        </p:spPr>
        <p:txBody>
          <a:bodyPr wrap="square" lIns="0" tIns="0" rIns="0" bIns="0" rtlCol="0" anchor="t">
            <a:normAutofit/>
          </a:bodyPr>
          <a:lstStyle/>
          <a:p>
            <a:pPr marL="0" indent="0" algn="l">
              <a:buNone/>
            </a:pPr>
            <a:r>
              <a:rPr lang="en-US" sz="1500" dirty="0">
                <a:solidFill>
                  <a:srgbClr val="12161D"/>
                </a:solidFill>
                <a:latin typeface="Arial" pitchFamily="34" charset="0"/>
                <a:ea typeface="Arial" pitchFamily="34" charset="-122"/>
                <a:cs typeface="Arial" pitchFamily="34" charset="-120"/>
              </a:rPr>
              <a:t>배포 (GitHub Pages)</a:t>
            </a:r>
            <a:endParaRPr lang="en-US" sz="1500" dirty="0"/>
          </a:p>
        </p:txBody>
      </p:sp>
      <p:sp>
        <p:nvSpPr>
          <p:cNvPr id="17" name="Text 15"/>
          <p:cNvSpPr/>
          <p:nvPr/>
        </p:nvSpPr>
        <p:spPr>
          <a:xfrm>
            <a:off x="7284720" y="5142679"/>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18" name="Text 16"/>
          <p:cNvSpPr/>
          <p:nvPr/>
        </p:nvSpPr>
        <p:spPr>
          <a:xfrm>
            <a:off x="1303020" y="5679888"/>
            <a:ext cx="1658184" cy="251460"/>
          </a:xfrm>
          <a:prstGeom prst="rect">
            <a:avLst/>
          </a:prstGeom>
          <a:noFill/>
          <a:ln/>
        </p:spPr>
        <p:txBody>
          <a:bodyPr wrap="square" lIns="0" tIns="0" rIns="0" bIns="0" rtlCol="0" anchor="t">
            <a:normAutofit fontScale="92500"/>
          </a:bodyPr>
          <a:lstStyle/>
          <a:p>
            <a:pPr marL="0" indent="0" algn="l">
              <a:buNone/>
            </a:pPr>
            <a:r>
              <a:rPr lang="en-US" sz="1500" dirty="0">
                <a:solidFill>
                  <a:srgbClr val="12161D"/>
                </a:solidFill>
                <a:latin typeface="Arial" pitchFamily="34" charset="0"/>
                <a:ea typeface="Arial" pitchFamily="34" charset="-122"/>
                <a:cs typeface="Arial" pitchFamily="34" charset="-120"/>
              </a:rPr>
              <a:t>라이선스 (오픈소스)</a:t>
            </a:r>
            <a:endParaRPr lang="en-US" sz="1500" dirty="0"/>
          </a:p>
        </p:txBody>
      </p:sp>
      <p:sp>
        <p:nvSpPr>
          <p:cNvPr id="19" name="Text 17"/>
          <p:cNvSpPr/>
          <p:nvPr/>
        </p:nvSpPr>
        <p:spPr>
          <a:xfrm>
            <a:off x="7284720" y="5634168"/>
            <a:ext cx="357426" cy="312420"/>
          </a:xfrm>
          <a:prstGeom prst="rect">
            <a:avLst/>
          </a:prstGeom>
          <a:noFill/>
          <a:ln/>
        </p:spPr>
        <p:txBody>
          <a:bodyPr wrap="square" lIns="25400" tIns="25400" rIns="25400" bIns="25400" rtlCol="0" anchor="t">
            <a:normAutofit/>
          </a:bodyPr>
          <a:lstStyle/>
          <a:p>
            <a:pPr marL="0" indent="0" algn="l">
              <a:buNone/>
            </a:pPr>
            <a:r>
              <a:rPr lang="en-US" sz="1500" b="1" dirty="0">
                <a:solidFill>
                  <a:srgbClr val="12161D"/>
                </a:solidFill>
                <a:latin typeface="Arial" pitchFamily="34" charset="0"/>
                <a:ea typeface="Arial" pitchFamily="34" charset="-122"/>
                <a:cs typeface="Arial" pitchFamily="34" charset="-120"/>
              </a:rPr>
              <a:t>0원</a:t>
            </a:r>
            <a:endParaRPr lang="en-US" sz="1500" dirty="0"/>
          </a:p>
        </p:txBody>
      </p:sp>
      <p:sp>
        <p:nvSpPr>
          <p:cNvPr id="20" name="Shape 18"/>
          <p:cNvSpPr/>
          <p:nvPr/>
        </p:nvSpPr>
        <p:spPr>
          <a:xfrm>
            <a:off x="1303020" y="8505836"/>
            <a:ext cx="6262926" cy="558165"/>
          </a:xfrm>
          <a:prstGeom prst="roundRect">
            <a:avLst>
              <a:gd name="adj" fmla="val 20478"/>
            </a:avLst>
          </a:prstGeom>
          <a:solidFill>
            <a:srgbClr val="ECE7DD"/>
          </a:solidFill>
          <a:ln/>
        </p:spPr>
      </p:sp>
      <p:sp>
        <p:nvSpPr>
          <p:cNvPr id="21" name="Text 19"/>
          <p:cNvSpPr/>
          <p:nvPr/>
        </p:nvSpPr>
        <p:spPr>
          <a:xfrm>
            <a:off x="1512570" y="8658236"/>
            <a:ext cx="6031714" cy="291465"/>
          </a:xfrm>
          <a:prstGeom prst="rect">
            <a:avLst/>
          </a:prstGeom>
          <a:noFill/>
          <a:ln/>
        </p:spPr>
        <p:txBody>
          <a:bodyPr wrap="square" lIns="25400" tIns="25400" rIns="25400" bIns="25400" rtlCol="0" anchor="t">
            <a:normAutofit/>
          </a:bodyPr>
          <a:lstStyle/>
          <a:p>
            <a:pPr marL="0" indent="0" algn="l">
              <a:lnSpc>
                <a:spcPct val="118750"/>
              </a:lnSpc>
              <a:buNone/>
            </a:pPr>
            <a:r>
              <a:rPr lang="en-US" sz="1425" b="1" dirty="0">
                <a:solidFill>
                  <a:srgbClr val="A9640F"/>
                </a:solidFill>
                <a:latin typeface="Arial" pitchFamily="34" charset="0"/>
                <a:ea typeface="Arial" pitchFamily="34" charset="-122"/>
                <a:cs typeface="Arial" pitchFamily="34" charset="-120"/>
              </a:rPr>
              <a:t>유일 비용 = 개발 인건비 </a:t>
            </a:r>
            <a:r>
              <a:rPr lang="en-US" sz="1425" dirty="0">
                <a:solidFill>
                  <a:srgbClr val="12161D"/>
                </a:solidFill>
                <a:highlight>
                  <a:srgbClr val="ECE7DD"/>
                </a:highlight>
                <a:latin typeface="Arial" pitchFamily="34" charset="0"/>
                <a:ea typeface="Arial" pitchFamily="34" charset="-122"/>
                <a:cs typeface="Arial" pitchFamily="34" charset="-120"/>
              </a:rPr>
              <a:t>(5일)</a:t>
            </a:r>
            <a:endParaRPr lang="en-US" sz="1425" dirty="0"/>
          </a:p>
        </p:txBody>
      </p:sp>
      <p:sp>
        <p:nvSpPr>
          <p:cNvPr id="22" name="Shape 20"/>
          <p:cNvSpPr/>
          <p:nvPr/>
        </p:nvSpPr>
        <p:spPr>
          <a:xfrm>
            <a:off x="8221266" y="2288988"/>
            <a:ext cx="9152334" cy="7106483"/>
          </a:xfrm>
          <a:prstGeom prst="roundRect">
            <a:avLst>
              <a:gd name="adj" fmla="val 2145"/>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3" name="Text 21"/>
          <p:cNvSpPr/>
          <p:nvPr/>
        </p:nvSpPr>
        <p:spPr>
          <a:xfrm>
            <a:off x="8609886" y="2601408"/>
            <a:ext cx="9212604"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2161D"/>
                </a:solidFill>
                <a:latin typeface="Arial" pitchFamily="34" charset="0"/>
                <a:ea typeface="Arial" pitchFamily="34" charset="-122"/>
                <a:cs typeface="Arial" pitchFamily="34" charset="-120"/>
              </a:rPr>
              <a:t>상용 스택 → 무료 대체 매핑</a:t>
            </a:r>
            <a:endParaRPr lang="en-US" sz="1650" dirty="0"/>
          </a:p>
        </p:txBody>
      </p:sp>
      <p:sp>
        <p:nvSpPr>
          <p:cNvPr id="24" name="Text 22"/>
          <p:cNvSpPr/>
          <p:nvPr/>
        </p:nvSpPr>
        <p:spPr>
          <a:xfrm>
            <a:off x="8609886" y="3134808"/>
            <a:ext cx="4092512"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9AA0A6"/>
                </a:solidFill>
                <a:latin typeface="Arial" pitchFamily="34" charset="0"/>
                <a:ea typeface="Arial" pitchFamily="34" charset="-122"/>
                <a:cs typeface="Arial" pitchFamily="34" charset="-120"/>
              </a:rPr>
              <a:t>상용 구성</a:t>
            </a:r>
            <a:endParaRPr lang="en-US" sz="1200" dirty="0"/>
          </a:p>
        </p:txBody>
      </p:sp>
      <p:sp>
        <p:nvSpPr>
          <p:cNvPr id="25" name="Text 23"/>
          <p:cNvSpPr/>
          <p:nvPr/>
        </p:nvSpPr>
        <p:spPr>
          <a:xfrm>
            <a:off x="12892326" y="3134808"/>
            <a:ext cx="4501920" cy="259080"/>
          </a:xfrm>
          <a:prstGeom prst="rect">
            <a:avLst/>
          </a:prstGeom>
          <a:noFill/>
          <a:ln/>
        </p:spPr>
        <p:txBody>
          <a:bodyPr wrap="square" lIns="25400" tIns="25400" rIns="25400" bIns="25400" rtlCol="0" anchor="t">
            <a:normAutofit/>
          </a:bodyPr>
          <a:lstStyle/>
          <a:p>
            <a:pPr marL="0" indent="0" algn="l">
              <a:buNone/>
            </a:pPr>
            <a:r>
              <a:rPr lang="en-US" sz="1200" b="1" dirty="0">
                <a:solidFill>
                  <a:srgbClr val="28666E"/>
                </a:solidFill>
                <a:latin typeface="Arial" pitchFamily="34" charset="0"/>
                <a:ea typeface="Arial" pitchFamily="34" charset="-122"/>
                <a:cs typeface="Arial" pitchFamily="34" charset="-120"/>
              </a:rPr>
              <a:t>본 스택 (무료)</a:t>
            </a:r>
            <a:endParaRPr lang="en-US" sz="1200" dirty="0"/>
          </a:p>
        </p:txBody>
      </p:sp>
      <p:sp>
        <p:nvSpPr>
          <p:cNvPr id="26" name="Shape 24"/>
          <p:cNvSpPr/>
          <p:nvPr/>
        </p:nvSpPr>
        <p:spPr>
          <a:xfrm>
            <a:off x="8609886" y="3489138"/>
            <a:ext cx="8375095" cy="9525"/>
          </a:xfrm>
          <a:prstGeom prst="rect">
            <a:avLst/>
          </a:prstGeom>
          <a:solidFill>
            <a:srgbClr val="E9E4DC"/>
          </a:solidFill>
          <a:ln/>
        </p:spPr>
      </p:sp>
      <p:sp>
        <p:nvSpPr>
          <p:cNvPr id="27" name="Text 25"/>
          <p:cNvSpPr/>
          <p:nvPr/>
        </p:nvSpPr>
        <p:spPr>
          <a:xfrm>
            <a:off x="8609886" y="363010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항만 혼잡 데이터 </a:t>
            </a:r>
            <a:r>
              <a:rPr lang="en-US" sz="1425" dirty="0">
                <a:solidFill>
                  <a:srgbClr val="9AA0A6"/>
                </a:solidFill>
                <a:latin typeface="Arial" pitchFamily="34" charset="0"/>
                <a:ea typeface="Arial" pitchFamily="34" charset="-122"/>
                <a:cs typeface="Arial" pitchFamily="34" charset="-120"/>
              </a:rPr>
              <a:t>구독</a:t>
            </a:r>
            <a:endParaRPr lang="en-US" sz="1425" dirty="0"/>
          </a:p>
        </p:txBody>
      </p:sp>
      <p:sp>
        <p:nvSpPr>
          <p:cNvPr id="28" name="Text 26"/>
          <p:cNvSpPr/>
          <p:nvPr/>
        </p:nvSpPr>
        <p:spPr>
          <a:xfrm>
            <a:off x="12520851" y="3656778"/>
            <a:ext cx="257175"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29" name="Text 27"/>
          <p:cNvSpPr/>
          <p:nvPr/>
        </p:nvSpPr>
        <p:spPr>
          <a:xfrm>
            <a:off x="12892326" y="363010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IMF PortWatch </a:t>
            </a:r>
            <a:r>
              <a:rPr lang="en-US" sz="1425" dirty="0">
                <a:solidFill>
                  <a:srgbClr val="12161D"/>
                </a:solidFill>
                <a:latin typeface="Arial" pitchFamily="34" charset="0"/>
                <a:ea typeface="Arial" pitchFamily="34" charset="-122"/>
                <a:cs typeface="Arial" pitchFamily="34" charset="-120"/>
              </a:rPr>
              <a:t>위성 AIS(공개)</a:t>
            </a:r>
            <a:endParaRPr lang="en-US" sz="1425" dirty="0"/>
          </a:p>
        </p:txBody>
      </p:sp>
      <p:sp>
        <p:nvSpPr>
          <p:cNvPr id="30" name="Shape 28"/>
          <p:cNvSpPr/>
          <p:nvPr/>
        </p:nvSpPr>
        <p:spPr>
          <a:xfrm>
            <a:off x="8609886" y="4030158"/>
            <a:ext cx="8375095" cy="9525"/>
          </a:xfrm>
          <a:prstGeom prst="rect">
            <a:avLst/>
          </a:prstGeom>
          <a:solidFill>
            <a:srgbClr val="E9E4DC"/>
          </a:solidFill>
          <a:ln/>
        </p:spPr>
      </p:sp>
      <p:sp>
        <p:nvSpPr>
          <p:cNvPr id="31" name="Text 29"/>
          <p:cNvSpPr/>
          <p:nvPr/>
        </p:nvSpPr>
        <p:spPr>
          <a:xfrm>
            <a:off x="8609886" y="417112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지도·지오코딩 </a:t>
            </a:r>
            <a:r>
              <a:rPr lang="en-US" sz="1425" dirty="0">
                <a:solidFill>
                  <a:srgbClr val="9AA0A6"/>
                </a:solidFill>
                <a:latin typeface="Arial" pitchFamily="34" charset="0"/>
                <a:ea typeface="Arial" pitchFamily="34" charset="-122"/>
                <a:cs typeface="Arial" pitchFamily="34" charset="-120"/>
              </a:rPr>
              <a:t>종량 API</a:t>
            </a:r>
            <a:endParaRPr lang="en-US" sz="1425" dirty="0"/>
          </a:p>
        </p:txBody>
      </p:sp>
      <p:sp>
        <p:nvSpPr>
          <p:cNvPr id="32" name="Text 30"/>
          <p:cNvSpPr/>
          <p:nvPr/>
        </p:nvSpPr>
        <p:spPr>
          <a:xfrm>
            <a:off x="12520851" y="4197798"/>
            <a:ext cx="257175"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33" name="Text 31"/>
          <p:cNvSpPr/>
          <p:nvPr/>
        </p:nvSpPr>
        <p:spPr>
          <a:xfrm>
            <a:off x="12892326" y="417112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Leaflet + CARTO </a:t>
            </a:r>
            <a:r>
              <a:rPr lang="en-US" sz="1425" dirty="0">
                <a:solidFill>
                  <a:srgbClr val="12161D"/>
                </a:solidFill>
                <a:latin typeface="Arial" pitchFamily="34" charset="0"/>
                <a:ea typeface="Arial" pitchFamily="34" charset="-122"/>
                <a:cs typeface="Arial" pitchFamily="34" charset="-120"/>
              </a:rPr>
              <a:t>타일</a:t>
            </a:r>
            <a:endParaRPr lang="en-US" sz="1425" dirty="0"/>
          </a:p>
        </p:txBody>
      </p:sp>
      <p:sp>
        <p:nvSpPr>
          <p:cNvPr id="34" name="Shape 32"/>
          <p:cNvSpPr/>
          <p:nvPr/>
        </p:nvSpPr>
        <p:spPr>
          <a:xfrm>
            <a:off x="8609886" y="4571178"/>
            <a:ext cx="8375095" cy="9525"/>
          </a:xfrm>
          <a:prstGeom prst="rect">
            <a:avLst/>
          </a:prstGeom>
          <a:solidFill>
            <a:srgbClr val="E9E4DC"/>
          </a:solidFill>
          <a:ln/>
        </p:spPr>
      </p:sp>
      <p:sp>
        <p:nvSpPr>
          <p:cNvPr id="35" name="Text 33"/>
          <p:cNvSpPr/>
          <p:nvPr/>
        </p:nvSpPr>
        <p:spPr>
          <a:xfrm>
            <a:off x="8609886" y="471214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DB·호스팅 </a:t>
            </a:r>
            <a:r>
              <a:rPr lang="en-US" sz="1425" dirty="0">
                <a:solidFill>
                  <a:srgbClr val="9AA0A6"/>
                </a:solidFill>
                <a:latin typeface="Arial" pitchFamily="34" charset="0"/>
                <a:ea typeface="Arial" pitchFamily="34" charset="-122"/>
                <a:cs typeface="Arial" pitchFamily="34" charset="-120"/>
              </a:rPr>
              <a:t>클라우드 유료</a:t>
            </a:r>
            <a:endParaRPr lang="en-US" sz="1425" dirty="0"/>
          </a:p>
        </p:txBody>
      </p:sp>
      <p:sp>
        <p:nvSpPr>
          <p:cNvPr id="36" name="Text 34"/>
          <p:cNvSpPr/>
          <p:nvPr/>
        </p:nvSpPr>
        <p:spPr>
          <a:xfrm>
            <a:off x="12520851" y="4738818"/>
            <a:ext cx="257175"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37" name="Text 35"/>
          <p:cNvSpPr/>
          <p:nvPr/>
        </p:nvSpPr>
        <p:spPr>
          <a:xfrm>
            <a:off x="12892326" y="471214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Supabase 무료 </a:t>
            </a:r>
            <a:r>
              <a:rPr lang="en-US" sz="1425" dirty="0">
                <a:solidFill>
                  <a:srgbClr val="12161D"/>
                </a:solidFill>
                <a:latin typeface="Arial" pitchFamily="34" charset="0"/>
                <a:ea typeface="Arial" pitchFamily="34" charset="-122"/>
                <a:cs typeface="Arial" pitchFamily="34" charset="-120"/>
              </a:rPr>
              <a:t>+ GitHub Pages</a:t>
            </a:r>
            <a:endParaRPr lang="en-US" sz="1425" dirty="0"/>
          </a:p>
        </p:txBody>
      </p:sp>
      <p:sp>
        <p:nvSpPr>
          <p:cNvPr id="38" name="Shape 36"/>
          <p:cNvSpPr/>
          <p:nvPr/>
        </p:nvSpPr>
        <p:spPr>
          <a:xfrm>
            <a:off x="8609886" y="5112198"/>
            <a:ext cx="8375095" cy="9525"/>
          </a:xfrm>
          <a:prstGeom prst="rect">
            <a:avLst/>
          </a:prstGeom>
          <a:solidFill>
            <a:srgbClr val="E9E4DC"/>
          </a:solidFill>
          <a:ln/>
        </p:spPr>
      </p:sp>
      <p:sp>
        <p:nvSpPr>
          <p:cNvPr id="39" name="Text 37"/>
          <p:cNvSpPr/>
          <p:nvPr/>
        </p:nvSpPr>
        <p:spPr>
          <a:xfrm>
            <a:off x="8609886" y="5253168"/>
            <a:ext cx="4092512" cy="304800"/>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latin typeface="Arial" pitchFamily="34" charset="0"/>
                <a:ea typeface="Arial" pitchFamily="34" charset="-122"/>
                <a:cs typeface="Arial" pitchFamily="34" charset="-120"/>
              </a:rPr>
              <a:t>가시성 SaaS </a:t>
            </a:r>
            <a:r>
              <a:rPr lang="en-US" sz="1425" dirty="0">
                <a:solidFill>
                  <a:srgbClr val="9AA0A6"/>
                </a:solidFill>
                <a:latin typeface="Arial" pitchFamily="34" charset="0"/>
                <a:ea typeface="Arial" pitchFamily="34" charset="-122"/>
                <a:cs typeface="Arial" pitchFamily="34" charset="-120"/>
              </a:rPr>
              <a:t>tradlinx 등</a:t>
            </a:r>
            <a:endParaRPr lang="en-US" sz="1425" dirty="0"/>
          </a:p>
        </p:txBody>
      </p:sp>
      <p:sp>
        <p:nvSpPr>
          <p:cNvPr id="40" name="Text 38"/>
          <p:cNvSpPr/>
          <p:nvPr/>
        </p:nvSpPr>
        <p:spPr>
          <a:xfrm>
            <a:off x="12520851" y="5279838"/>
            <a:ext cx="257175"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28666E"/>
                </a:solidFill>
                <a:latin typeface="Arial" pitchFamily="34" charset="0"/>
                <a:ea typeface="Arial" pitchFamily="34" charset="-122"/>
                <a:cs typeface="Arial" pitchFamily="34" charset="-120"/>
              </a:rPr>
              <a:t>→</a:t>
            </a:r>
            <a:endParaRPr lang="en-US" sz="1425" dirty="0"/>
          </a:p>
        </p:txBody>
      </p:sp>
      <p:sp>
        <p:nvSpPr>
          <p:cNvPr id="41" name="Text 39"/>
          <p:cNvSpPr/>
          <p:nvPr/>
        </p:nvSpPr>
        <p:spPr>
          <a:xfrm>
            <a:off x="12892326" y="5253168"/>
            <a:ext cx="4501920" cy="304800"/>
          </a:xfrm>
          <a:prstGeom prst="rect">
            <a:avLst/>
          </a:prstGeom>
          <a:noFill/>
          <a:ln/>
        </p:spPr>
        <p:txBody>
          <a:bodyPr wrap="square" lIns="25400" tIns="25400" rIns="25400" bIns="25400" rtlCol="0" anchor="t">
            <a:normAutofit/>
          </a:bodyPr>
          <a:lstStyle/>
          <a:p>
            <a:pPr marL="0" indent="0" algn="l">
              <a:buNone/>
            </a:pPr>
            <a:r>
              <a:rPr lang="en-US" sz="1425" b="1" dirty="0">
                <a:solidFill>
                  <a:srgbClr val="12161D"/>
                </a:solidFill>
                <a:latin typeface="Arial" pitchFamily="34" charset="0"/>
                <a:ea typeface="Arial" pitchFamily="34" charset="-122"/>
                <a:cs typeface="Arial" pitchFamily="34" charset="-120"/>
              </a:rPr>
              <a:t>공개데이터 통합·정제</a:t>
            </a:r>
            <a:endParaRPr lang="en-US" sz="1425" dirty="0"/>
          </a:p>
        </p:txBody>
      </p:sp>
      <p:sp>
        <p:nvSpPr>
          <p:cNvPr id="42" name="Text 40"/>
          <p:cNvSpPr/>
          <p:nvPr/>
        </p:nvSpPr>
        <p:spPr>
          <a:xfrm>
            <a:off x="8609886" y="8829686"/>
            <a:ext cx="8626347" cy="291465"/>
          </a:xfrm>
          <a:prstGeom prst="rect">
            <a:avLst/>
          </a:prstGeom>
          <a:noFill/>
          <a:ln/>
        </p:spPr>
        <p:txBody>
          <a:bodyPr wrap="square" lIns="25400" tIns="25400" rIns="25400" bIns="25400" rtlCol="0" anchor="t">
            <a:normAutofit/>
          </a:bodyPr>
          <a:lstStyle/>
          <a:p>
            <a:pPr marL="0" indent="0" algn="l">
              <a:lnSpc>
                <a:spcPct val="118750"/>
              </a:lnSpc>
              <a:buNone/>
            </a:pPr>
            <a:r>
              <a:rPr lang="en-US" sz="1425" dirty="0">
                <a:solidFill>
                  <a:srgbClr val="6F6A5F"/>
                </a:solidFill>
                <a:latin typeface="Arial" pitchFamily="34" charset="0"/>
                <a:ea typeface="Arial" pitchFamily="34" charset="-122"/>
                <a:cs typeface="Arial" pitchFamily="34" charset="-120"/>
              </a:rPr>
              <a:t>확장 시에도 </a:t>
            </a:r>
            <a:r>
              <a:rPr lang="en-US" sz="1425" b="1" dirty="0">
                <a:solidFill>
                  <a:srgbClr val="12161D"/>
                </a:solidFill>
                <a:latin typeface="Arial" pitchFamily="34" charset="0"/>
                <a:ea typeface="Arial" pitchFamily="34" charset="-122"/>
                <a:cs typeface="Arial" pitchFamily="34" charset="-120"/>
              </a:rPr>
              <a:t>종량 과금으로 점진 대응 </a:t>
            </a:r>
            <a:r>
              <a:rPr lang="en-US" sz="1425" dirty="0">
                <a:solidFill>
                  <a:srgbClr val="6F6A5F"/>
                </a:solidFill>
                <a:latin typeface="Arial" pitchFamily="34" charset="0"/>
                <a:ea typeface="Arial" pitchFamily="34" charset="-122"/>
                <a:cs typeface="Arial" pitchFamily="34" charset="-120"/>
              </a:rPr>
              <a:t>— 초기 고정비 없이 시작</a:t>
            </a:r>
            <a:endParaRPr lang="en-US" sz="1425" dirty="0"/>
          </a:p>
        </p:txBody>
      </p:sp>
      <p:sp>
        <p:nvSpPr>
          <p:cNvPr id="43" name="Shape 41"/>
          <p:cNvSpPr/>
          <p:nvPr/>
        </p:nvSpPr>
        <p:spPr>
          <a:xfrm>
            <a:off x="914400" y="9605010"/>
            <a:ext cx="16459200" cy="9525"/>
          </a:xfrm>
          <a:prstGeom prst="rect">
            <a:avLst/>
          </a:prstGeom>
          <a:solidFill>
            <a:srgbClr val="E9E4DC"/>
          </a:solidFill>
          <a:ln/>
        </p:spPr>
      </p:sp>
      <p:sp>
        <p:nvSpPr>
          <p:cNvPr id="44" name="Text 42"/>
          <p:cNvSpPr/>
          <p:nvPr/>
        </p:nvSpPr>
        <p:spPr>
          <a:xfrm>
            <a:off x="914400" y="9726930"/>
            <a:ext cx="9909227"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TWL 물류포털 상세기술서 §5 운영(무료 티어·RLS) · 개발이력 §11(GitHub Pages 자동배포) · 오픈API 41건 조사(무인증 우선)</a:t>
            </a:r>
            <a:endParaRPr lang="en-US" sz="1275" dirty="0"/>
          </a:p>
        </p:txBody>
      </p:sp>
      <p:sp>
        <p:nvSpPr>
          <p:cNvPr id="45" name="Text 43"/>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13</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개발 성과·검증</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5일 만에 v1, 8개 화면 — 전부 실데이터로 검증</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짧은 기간에 상용 수준 기능을 실데이터로 구현하고 E2E 검증까지 완료</a:t>
            </a:r>
            <a:endParaRPr lang="en-US" sz="1875" dirty="0"/>
          </a:p>
        </p:txBody>
      </p:sp>
      <p:sp>
        <p:nvSpPr>
          <p:cNvPr id="5" name="Shape 3"/>
          <p:cNvSpPr/>
          <p:nvPr/>
        </p:nvSpPr>
        <p:spPr>
          <a:xfrm>
            <a:off x="914400" y="2289137"/>
            <a:ext cx="7710607" cy="6211134"/>
          </a:xfrm>
          <a:prstGeom prst="roundRect">
            <a:avLst>
              <a:gd name="adj" fmla="val 2454"/>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6" name="Text 4"/>
          <p:cNvSpPr/>
          <p:nvPr/>
        </p:nvSpPr>
        <p:spPr>
          <a:xfrm>
            <a:off x="1303020" y="2620607"/>
            <a:ext cx="7626704"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F6A5F"/>
                </a:solidFill>
                <a:latin typeface="Arial" pitchFamily="34" charset="0"/>
                <a:ea typeface="Arial" pitchFamily="34" charset="-122"/>
                <a:cs typeface="Arial" pitchFamily="34" charset="-120"/>
              </a:rPr>
              <a:t>개발 기간 (2026-07-24 → 07-28)</a:t>
            </a:r>
            <a:endParaRPr lang="en-US" sz="1500" dirty="0"/>
          </a:p>
        </p:txBody>
      </p:sp>
      <p:sp>
        <p:nvSpPr>
          <p:cNvPr id="7" name="Text 5"/>
          <p:cNvSpPr/>
          <p:nvPr/>
        </p:nvSpPr>
        <p:spPr>
          <a:xfrm>
            <a:off x="1303020" y="3184090"/>
            <a:ext cx="637580" cy="998220"/>
          </a:xfrm>
          <a:prstGeom prst="rect">
            <a:avLst/>
          </a:prstGeom>
          <a:noFill/>
          <a:ln/>
        </p:spPr>
        <p:txBody>
          <a:bodyPr wrap="square" lIns="25400" tIns="25400" rIns="25400" bIns="25400" rtlCol="0" anchor="t">
            <a:normAutofit/>
          </a:bodyPr>
          <a:lstStyle/>
          <a:p>
            <a:pPr marL="0" indent="0" algn="l">
              <a:lnSpc>
                <a:spcPct val="63959"/>
              </a:lnSpc>
              <a:buNone/>
            </a:pPr>
            <a:r>
              <a:rPr lang="en-US" sz="8400" b="1" kern="0" spc="-252" dirty="0">
                <a:solidFill>
                  <a:srgbClr val="12161D"/>
                </a:solidFill>
                <a:latin typeface="Arial" pitchFamily="34" charset="0"/>
                <a:ea typeface="Arial" pitchFamily="34" charset="-122"/>
                <a:cs typeface="Arial" pitchFamily="34" charset="-120"/>
              </a:rPr>
              <a:t>5</a:t>
            </a:r>
            <a:endParaRPr lang="en-US" sz="8400" dirty="0"/>
          </a:p>
        </p:txBody>
      </p:sp>
      <p:sp>
        <p:nvSpPr>
          <p:cNvPr id="8" name="Text 6"/>
          <p:cNvSpPr/>
          <p:nvPr/>
        </p:nvSpPr>
        <p:spPr>
          <a:xfrm>
            <a:off x="1978700" y="3355937"/>
            <a:ext cx="1964269" cy="586740"/>
          </a:xfrm>
          <a:prstGeom prst="rect">
            <a:avLst/>
          </a:prstGeom>
          <a:noFill/>
          <a:ln/>
        </p:spPr>
        <p:txBody>
          <a:bodyPr wrap="square" lIns="25400" tIns="25400" rIns="25400" bIns="25400" rtlCol="0" anchor="t">
            <a:normAutofit/>
          </a:bodyPr>
          <a:lstStyle/>
          <a:p>
            <a:pPr marL="0" indent="0" algn="l">
              <a:buNone/>
            </a:pPr>
            <a:r>
              <a:rPr lang="en-US" sz="3000" b="1" dirty="0">
                <a:solidFill>
                  <a:srgbClr val="12161D"/>
                </a:solidFill>
                <a:latin typeface="Arial" pitchFamily="34" charset="0"/>
                <a:ea typeface="Arial" pitchFamily="34" charset="-122"/>
                <a:cs typeface="Arial" pitchFamily="34" charset="-120"/>
              </a:rPr>
              <a:t>일 · 11단계</a:t>
            </a:r>
            <a:endParaRPr lang="en-US" sz="3000" dirty="0"/>
          </a:p>
        </p:txBody>
      </p:sp>
      <p:sp>
        <p:nvSpPr>
          <p:cNvPr id="9" name="Text 7"/>
          <p:cNvSpPr/>
          <p:nvPr/>
        </p:nvSpPr>
        <p:spPr>
          <a:xfrm>
            <a:off x="1303020" y="3950297"/>
            <a:ext cx="7626704"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F6A5F"/>
                </a:solidFill>
                <a:latin typeface="Arial" pitchFamily="34" charset="0"/>
                <a:ea typeface="Arial" pitchFamily="34" charset="-122"/>
                <a:cs typeface="Arial" pitchFamily="34" charset="-120"/>
              </a:rPr>
              <a:t>8개 화면 전부 실데이터 · 배포판 동작 검증</a:t>
            </a:r>
            <a:endParaRPr lang="en-US" sz="1575" dirty="0"/>
          </a:p>
        </p:txBody>
      </p:sp>
      <p:sp>
        <p:nvSpPr>
          <p:cNvPr id="10" name="Shape 8"/>
          <p:cNvSpPr/>
          <p:nvPr/>
        </p:nvSpPr>
        <p:spPr>
          <a:xfrm>
            <a:off x="1303020" y="7364890"/>
            <a:ext cx="827603" cy="354330"/>
          </a:xfrm>
          <a:prstGeom prst="roundRect">
            <a:avLst>
              <a:gd name="adj" fmla="val 50000"/>
            </a:avLst>
          </a:prstGeom>
          <a:solidFill>
            <a:srgbClr val="E7EEEE"/>
          </a:solidFill>
          <a:ln/>
        </p:spPr>
      </p:sp>
      <p:sp>
        <p:nvSpPr>
          <p:cNvPr id="11" name="Text 9"/>
          <p:cNvSpPr/>
          <p:nvPr/>
        </p:nvSpPr>
        <p:spPr>
          <a:xfrm>
            <a:off x="1436370" y="7431565"/>
            <a:ext cx="637103" cy="259080"/>
          </a:xfrm>
          <a:prstGeom prst="rect">
            <a:avLst/>
          </a:prstGeom>
          <a:noFill/>
          <a:ln/>
        </p:spPr>
        <p:txBody>
          <a:bodyPr wrap="square" lIns="25400" tIns="25400" rIns="25400" bIns="25400" rtlCol="0" anchor="t">
            <a:normAutofit fontScale="92500"/>
          </a:bodyPr>
          <a:lstStyle/>
          <a:p>
            <a:pPr marL="0" indent="0" algn="l">
              <a:buNone/>
            </a:pPr>
            <a:r>
              <a:rPr lang="en-US" sz="1200" b="1" dirty="0">
                <a:solidFill>
                  <a:srgbClr val="28666E"/>
                </a:solidFill>
                <a:latin typeface="Arial" pitchFamily="34" charset="0"/>
                <a:ea typeface="Arial" pitchFamily="34" charset="-122"/>
                <a:cs typeface="Arial" pitchFamily="34" charset="-120"/>
              </a:rPr>
              <a:t>선석배정</a:t>
            </a:r>
            <a:endParaRPr lang="en-US" sz="1200" dirty="0"/>
          </a:p>
        </p:txBody>
      </p:sp>
      <p:sp>
        <p:nvSpPr>
          <p:cNvPr id="12" name="Shape 10"/>
          <p:cNvSpPr/>
          <p:nvPr/>
        </p:nvSpPr>
        <p:spPr>
          <a:xfrm>
            <a:off x="2225873" y="7364890"/>
            <a:ext cx="1427083" cy="354330"/>
          </a:xfrm>
          <a:prstGeom prst="roundRect">
            <a:avLst>
              <a:gd name="adj" fmla="val 50000"/>
            </a:avLst>
          </a:prstGeom>
          <a:solidFill>
            <a:srgbClr val="E7EEEE"/>
          </a:solidFill>
          <a:ln/>
        </p:spPr>
      </p:sp>
      <p:sp>
        <p:nvSpPr>
          <p:cNvPr id="13" name="Text 11"/>
          <p:cNvSpPr/>
          <p:nvPr/>
        </p:nvSpPr>
        <p:spPr>
          <a:xfrm>
            <a:off x="2359223" y="7431565"/>
            <a:ext cx="1236583" cy="259080"/>
          </a:xfrm>
          <a:prstGeom prst="rect">
            <a:avLst/>
          </a:prstGeom>
          <a:noFill/>
          <a:ln/>
        </p:spPr>
        <p:txBody>
          <a:bodyPr wrap="square" lIns="25400" tIns="25400" rIns="25400" bIns="25400" rtlCol="0" anchor="t">
            <a:normAutofit fontScale="92500"/>
          </a:bodyPr>
          <a:lstStyle/>
          <a:p>
            <a:pPr marL="0" indent="0" algn="l">
              <a:buNone/>
            </a:pPr>
            <a:r>
              <a:rPr lang="en-US" sz="1200" b="1" dirty="0">
                <a:solidFill>
                  <a:srgbClr val="28666E"/>
                </a:solidFill>
                <a:latin typeface="Arial" pitchFamily="34" charset="0"/>
                <a:ea typeface="Arial" pitchFamily="34" charset="-122"/>
                <a:cs typeface="Arial" pitchFamily="34" charset="-120"/>
              </a:rPr>
              <a:t>Port Insight · PCI</a:t>
            </a:r>
            <a:endParaRPr lang="en-US" sz="1200" dirty="0"/>
          </a:p>
        </p:txBody>
      </p:sp>
      <p:sp>
        <p:nvSpPr>
          <p:cNvPr id="14" name="Shape 12"/>
          <p:cNvSpPr/>
          <p:nvPr/>
        </p:nvSpPr>
        <p:spPr>
          <a:xfrm>
            <a:off x="3748207" y="7364890"/>
            <a:ext cx="869990" cy="354330"/>
          </a:xfrm>
          <a:prstGeom prst="roundRect">
            <a:avLst>
              <a:gd name="adj" fmla="val 50000"/>
            </a:avLst>
          </a:prstGeom>
          <a:solidFill>
            <a:srgbClr val="E7EEEE"/>
          </a:solidFill>
          <a:ln/>
        </p:spPr>
      </p:sp>
      <p:sp>
        <p:nvSpPr>
          <p:cNvPr id="15" name="Text 13"/>
          <p:cNvSpPr/>
          <p:nvPr/>
        </p:nvSpPr>
        <p:spPr>
          <a:xfrm>
            <a:off x="3881557" y="7431565"/>
            <a:ext cx="679490" cy="259080"/>
          </a:xfrm>
          <a:prstGeom prst="rect">
            <a:avLst/>
          </a:prstGeom>
          <a:noFill/>
          <a:ln/>
        </p:spPr>
        <p:txBody>
          <a:bodyPr wrap="square" lIns="25400" tIns="25400" rIns="25400" bIns="25400" rtlCol="0" anchor="t">
            <a:normAutofit fontScale="92500"/>
          </a:bodyPr>
          <a:lstStyle/>
          <a:p>
            <a:pPr marL="0" indent="0" algn="l">
              <a:buNone/>
            </a:pPr>
            <a:r>
              <a:rPr lang="en-US" sz="1200" b="1" dirty="0">
                <a:solidFill>
                  <a:srgbClr val="28666E"/>
                </a:solidFill>
                <a:latin typeface="Arial" pitchFamily="34" charset="0"/>
                <a:ea typeface="Arial" pitchFamily="34" charset="-122"/>
                <a:cs typeface="Arial" pitchFamily="34" charset="-120"/>
              </a:rPr>
              <a:t>선박 위치</a:t>
            </a:r>
            <a:endParaRPr lang="en-US" sz="1200" dirty="0"/>
          </a:p>
        </p:txBody>
      </p:sp>
      <p:sp>
        <p:nvSpPr>
          <p:cNvPr id="16" name="Shape 14"/>
          <p:cNvSpPr/>
          <p:nvPr/>
        </p:nvSpPr>
        <p:spPr>
          <a:xfrm>
            <a:off x="4713446" y="7364890"/>
            <a:ext cx="869990" cy="354330"/>
          </a:xfrm>
          <a:prstGeom prst="roundRect">
            <a:avLst>
              <a:gd name="adj" fmla="val 50000"/>
            </a:avLst>
          </a:prstGeom>
          <a:solidFill>
            <a:srgbClr val="E7EEEE"/>
          </a:solidFill>
          <a:ln/>
        </p:spPr>
      </p:sp>
      <p:sp>
        <p:nvSpPr>
          <p:cNvPr id="17" name="Text 15"/>
          <p:cNvSpPr/>
          <p:nvPr/>
        </p:nvSpPr>
        <p:spPr>
          <a:xfrm>
            <a:off x="4846796" y="7431565"/>
            <a:ext cx="679490" cy="259080"/>
          </a:xfrm>
          <a:prstGeom prst="rect">
            <a:avLst/>
          </a:prstGeom>
          <a:noFill/>
          <a:ln/>
        </p:spPr>
        <p:txBody>
          <a:bodyPr wrap="square" lIns="25400" tIns="25400" rIns="25400" bIns="25400" rtlCol="0" anchor="t">
            <a:normAutofit fontScale="92500"/>
          </a:bodyPr>
          <a:lstStyle/>
          <a:p>
            <a:pPr marL="0" indent="0" algn="l">
              <a:buNone/>
            </a:pPr>
            <a:r>
              <a:rPr lang="en-US" sz="1200" b="1" dirty="0">
                <a:solidFill>
                  <a:srgbClr val="28666E"/>
                </a:solidFill>
                <a:latin typeface="Arial" pitchFamily="34" charset="0"/>
                <a:ea typeface="Arial" pitchFamily="34" charset="-122"/>
                <a:cs typeface="Arial" pitchFamily="34" charset="-120"/>
              </a:rPr>
              <a:t>화물 추적</a:t>
            </a:r>
            <a:endParaRPr lang="en-US" sz="1200" dirty="0"/>
          </a:p>
        </p:txBody>
      </p:sp>
      <p:sp>
        <p:nvSpPr>
          <p:cNvPr id="18" name="Shape 16"/>
          <p:cNvSpPr/>
          <p:nvPr/>
        </p:nvSpPr>
        <p:spPr>
          <a:xfrm>
            <a:off x="5678686" y="7364890"/>
            <a:ext cx="869990" cy="354330"/>
          </a:xfrm>
          <a:prstGeom prst="roundRect">
            <a:avLst>
              <a:gd name="adj" fmla="val 50000"/>
            </a:avLst>
          </a:prstGeom>
          <a:solidFill>
            <a:srgbClr val="E7EEEE"/>
          </a:solidFill>
          <a:ln/>
        </p:spPr>
      </p:sp>
      <p:sp>
        <p:nvSpPr>
          <p:cNvPr id="19" name="Text 17"/>
          <p:cNvSpPr/>
          <p:nvPr/>
        </p:nvSpPr>
        <p:spPr>
          <a:xfrm>
            <a:off x="5812036" y="7431565"/>
            <a:ext cx="679490" cy="259080"/>
          </a:xfrm>
          <a:prstGeom prst="rect">
            <a:avLst/>
          </a:prstGeom>
          <a:noFill/>
          <a:ln/>
        </p:spPr>
        <p:txBody>
          <a:bodyPr wrap="square" lIns="25400" tIns="25400" rIns="25400" bIns="25400" rtlCol="0" anchor="t">
            <a:normAutofit fontScale="92500"/>
          </a:bodyPr>
          <a:lstStyle/>
          <a:p>
            <a:pPr marL="0" indent="0" algn="l">
              <a:buNone/>
            </a:pPr>
            <a:r>
              <a:rPr lang="en-US" sz="1200" b="1" dirty="0">
                <a:solidFill>
                  <a:srgbClr val="28666E"/>
                </a:solidFill>
                <a:latin typeface="Arial" pitchFamily="34" charset="0"/>
                <a:ea typeface="Arial" pitchFamily="34" charset="-122"/>
                <a:cs typeface="Arial" pitchFamily="34" charset="-120"/>
              </a:rPr>
              <a:t>경로 분석</a:t>
            </a:r>
            <a:endParaRPr lang="en-US" sz="1200" dirty="0"/>
          </a:p>
        </p:txBody>
      </p:sp>
      <p:sp>
        <p:nvSpPr>
          <p:cNvPr id="20" name="Shape 18"/>
          <p:cNvSpPr/>
          <p:nvPr/>
        </p:nvSpPr>
        <p:spPr>
          <a:xfrm>
            <a:off x="6643926" y="7364890"/>
            <a:ext cx="869990" cy="354330"/>
          </a:xfrm>
          <a:prstGeom prst="roundRect">
            <a:avLst>
              <a:gd name="adj" fmla="val 50000"/>
            </a:avLst>
          </a:prstGeom>
          <a:solidFill>
            <a:srgbClr val="E7EEEE"/>
          </a:solidFill>
          <a:ln/>
        </p:spPr>
      </p:sp>
      <p:sp>
        <p:nvSpPr>
          <p:cNvPr id="21" name="Text 19"/>
          <p:cNvSpPr/>
          <p:nvPr/>
        </p:nvSpPr>
        <p:spPr>
          <a:xfrm>
            <a:off x="6777276" y="7431565"/>
            <a:ext cx="679490" cy="259080"/>
          </a:xfrm>
          <a:prstGeom prst="rect">
            <a:avLst/>
          </a:prstGeom>
          <a:noFill/>
          <a:ln/>
        </p:spPr>
        <p:txBody>
          <a:bodyPr wrap="square" lIns="25400" tIns="25400" rIns="25400" bIns="25400" rtlCol="0" anchor="t">
            <a:normAutofit fontScale="92500"/>
          </a:bodyPr>
          <a:lstStyle/>
          <a:p>
            <a:pPr marL="0" indent="0" algn="l">
              <a:buNone/>
            </a:pPr>
            <a:r>
              <a:rPr lang="en-US" sz="1200" b="1" dirty="0">
                <a:solidFill>
                  <a:srgbClr val="28666E"/>
                </a:solidFill>
                <a:latin typeface="Arial" pitchFamily="34" charset="0"/>
                <a:ea typeface="Arial" pitchFamily="34" charset="-122"/>
                <a:cs typeface="Arial" pitchFamily="34" charset="-120"/>
              </a:rPr>
              <a:t>운영 보드</a:t>
            </a:r>
            <a:endParaRPr lang="en-US" sz="1200" dirty="0"/>
          </a:p>
        </p:txBody>
      </p:sp>
      <p:sp>
        <p:nvSpPr>
          <p:cNvPr id="22" name="Shape 20"/>
          <p:cNvSpPr/>
          <p:nvPr/>
        </p:nvSpPr>
        <p:spPr>
          <a:xfrm>
            <a:off x="1303020" y="7814470"/>
            <a:ext cx="1403509" cy="354330"/>
          </a:xfrm>
          <a:prstGeom prst="roundRect">
            <a:avLst>
              <a:gd name="adj" fmla="val 50000"/>
            </a:avLst>
          </a:prstGeom>
          <a:solidFill>
            <a:srgbClr val="E7EEEE"/>
          </a:solidFill>
          <a:ln/>
        </p:spPr>
      </p:sp>
      <p:sp>
        <p:nvSpPr>
          <p:cNvPr id="23" name="Text 21"/>
          <p:cNvSpPr/>
          <p:nvPr/>
        </p:nvSpPr>
        <p:spPr>
          <a:xfrm>
            <a:off x="1436370" y="7881145"/>
            <a:ext cx="1213009" cy="259080"/>
          </a:xfrm>
          <a:prstGeom prst="rect">
            <a:avLst/>
          </a:prstGeom>
          <a:noFill/>
          <a:ln/>
        </p:spPr>
        <p:txBody>
          <a:bodyPr wrap="square" lIns="25400" tIns="25400" rIns="25400" bIns="25400" rtlCol="0" anchor="t">
            <a:normAutofit fontScale="92500"/>
          </a:bodyPr>
          <a:lstStyle/>
          <a:p>
            <a:pPr marL="0" indent="0" algn="l">
              <a:buNone/>
            </a:pPr>
            <a:r>
              <a:rPr lang="en-US" sz="1200" b="1" dirty="0">
                <a:solidFill>
                  <a:srgbClr val="28666E"/>
                </a:solidFill>
                <a:latin typeface="Arial" pitchFamily="34" charset="0"/>
                <a:ea typeface="Arial" pitchFamily="34" charset="-122"/>
                <a:cs typeface="Arial" pitchFamily="34" charset="-120"/>
              </a:rPr>
              <a:t>배포 · React 이관</a:t>
            </a:r>
            <a:endParaRPr lang="en-US" sz="1200" dirty="0"/>
          </a:p>
        </p:txBody>
      </p:sp>
      <p:sp>
        <p:nvSpPr>
          <p:cNvPr id="24" name="Shape 22"/>
          <p:cNvSpPr/>
          <p:nvPr/>
        </p:nvSpPr>
        <p:spPr>
          <a:xfrm>
            <a:off x="8891707" y="2289137"/>
            <a:ext cx="4136112" cy="3000732"/>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25" name="Text 23"/>
          <p:cNvSpPr/>
          <p:nvPr/>
        </p:nvSpPr>
        <p:spPr>
          <a:xfrm>
            <a:off x="9185077" y="2544407"/>
            <a:ext cx="390431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선석 정규화 E2E</a:t>
            </a:r>
            <a:endParaRPr lang="en-US" sz="1350" dirty="0"/>
          </a:p>
        </p:txBody>
      </p:sp>
      <p:sp>
        <p:nvSpPr>
          <p:cNvPr id="26" name="Text 24"/>
          <p:cNvSpPr/>
          <p:nvPr/>
        </p:nvSpPr>
        <p:spPr>
          <a:xfrm>
            <a:off x="9185077" y="4127819"/>
            <a:ext cx="964883" cy="670560"/>
          </a:xfrm>
          <a:prstGeom prst="rect">
            <a:avLst/>
          </a:prstGeom>
          <a:noFill/>
          <a:ln/>
        </p:spPr>
        <p:txBody>
          <a:bodyPr wrap="square" lIns="25400" tIns="25400" rIns="25400" bIns="25400" rtlCol="0" anchor="t">
            <a:normAutofit lnSpcReduction="10000"/>
          </a:bodyPr>
          <a:lstStyle/>
          <a:p>
            <a:pPr marL="0" indent="0" algn="l">
              <a:buNone/>
            </a:pPr>
            <a:r>
              <a:rPr lang="en-US" sz="4350" b="1" kern="0" spc="-87" dirty="0">
                <a:solidFill>
                  <a:srgbClr val="12161D"/>
                </a:solidFill>
                <a:latin typeface="Arial" pitchFamily="34" charset="0"/>
                <a:ea typeface="Arial" pitchFamily="34" charset="-122"/>
                <a:cs typeface="Arial" pitchFamily="34" charset="-120"/>
              </a:rPr>
              <a:t>224</a:t>
            </a:r>
            <a:endParaRPr lang="en-US" sz="4350" dirty="0"/>
          </a:p>
        </p:txBody>
      </p:sp>
      <p:sp>
        <p:nvSpPr>
          <p:cNvPr id="27" name="Text 25"/>
          <p:cNvSpPr/>
          <p:nvPr/>
        </p:nvSpPr>
        <p:spPr>
          <a:xfrm>
            <a:off x="10130910" y="4371659"/>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건</a:t>
            </a:r>
            <a:endParaRPr lang="en-US" sz="1800" dirty="0"/>
          </a:p>
        </p:txBody>
      </p:sp>
      <p:sp>
        <p:nvSpPr>
          <p:cNvPr id="28" name="Text 26"/>
          <p:cNvSpPr/>
          <p:nvPr/>
        </p:nvSpPr>
        <p:spPr>
          <a:xfrm>
            <a:off x="9185077" y="4798379"/>
            <a:ext cx="390431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필터·검색·마감강조 통과 (중복 제거 후 223)</a:t>
            </a:r>
            <a:endParaRPr lang="en-US" sz="1275" dirty="0"/>
          </a:p>
        </p:txBody>
      </p:sp>
      <p:sp>
        <p:nvSpPr>
          <p:cNvPr id="29" name="Shape 27"/>
          <p:cNvSpPr/>
          <p:nvPr/>
        </p:nvSpPr>
        <p:spPr>
          <a:xfrm>
            <a:off x="13237369" y="2289137"/>
            <a:ext cx="4136231" cy="3000732"/>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30" name="Text 28"/>
          <p:cNvSpPr/>
          <p:nvPr/>
        </p:nvSpPr>
        <p:spPr>
          <a:xfrm>
            <a:off x="13530739" y="2544407"/>
            <a:ext cx="390444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PortWatch 실데이터</a:t>
            </a:r>
            <a:endParaRPr lang="en-US" sz="1350" dirty="0"/>
          </a:p>
        </p:txBody>
      </p:sp>
      <p:sp>
        <p:nvSpPr>
          <p:cNvPr id="31" name="Text 29"/>
          <p:cNvSpPr/>
          <p:nvPr/>
        </p:nvSpPr>
        <p:spPr>
          <a:xfrm>
            <a:off x="13530739" y="4127819"/>
            <a:ext cx="1785890" cy="670560"/>
          </a:xfrm>
          <a:prstGeom prst="rect">
            <a:avLst/>
          </a:prstGeom>
          <a:noFill/>
          <a:ln/>
        </p:spPr>
        <p:txBody>
          <a:bodyPr wrap="square" lIns="25400" tIns="25400" rIns="25400" bIns="25400" rtlCol="0" anchor="t">
            <a:normAutofit lnSpcReduction="10000"/>
          </a:bodyPr>
          <a:lstStyle/>
          <a:p>
            <a:pPr marL="0" indent="0" algn="l">
              <a:buNone/>
            </a:pPr>
            <a:r>
              <a:rPr lang="en-US" sz="4350" b="1" kern="0" spc="-87" dirty="0">
                <a:solidFill>
                  <a:srgbClr val="12161D"/>
                </a:solidFill>
                <a:latin typeface="Arial" pitchFamily="34" charset="0"/>
                <a:ea typeface="Arial" pitchFamily="34" charset="-122"/>
                <a:cs typeface="Arial" pitchFamily="34" charset="-120"/>
              </a:rPr>
              <a:t>10,212</a:t>
            </a:r>
            <a:endParaRPr lang="en-US" sz="4350" dirty="0"/>
          </a:p>
        </p:txBody>
      </p:sp>
      <p:sp>
        <p:nvSpPr>
          <p:cNvPr id="32" name="Text 30"/>
          <p:cNvSpPr/>
          <p:nvPr/>
        </p:nvSpPr>
        <p:spPr>
          <a:xfrm>
            <a:off x="15211425" y="4371659"/>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행</a:t>
            </a:r>
            <a:endParaRPr lang="en-US" sz="1800" dirty="0"/>
          </a:p>
        </p:txBody>
      </p:sp>
      <p:sp>
        <p:nvSpPr>
          <p:cNvPr id="33" name="Text 31"/>
          <p:cNvSpPr/>
          <p:nvPr/>
        </p:nvSpPr>
        <p:spPr>
          <a:xfrm>
            <a:off x="13530739" y="4798379"/>
            <a:ext cx="390444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 93개 항만 PCI 산출·화면 반영</a:t>
            </a:r>
            <a:endParaRPr lang="en-US" sz="1275" dirty="0"/>
          </a:p>
        </p:txBody>
      </p:sp>
      <p:sp>
        <p:nvSpPr>
          <p:cNvPr id="34" name="Shape 32"/>
          <p:cNvSpPr/>
          <p:nvPr/>
        </p:nvSpPr>
        <p:spPr>
          <a:xfrm>
            <a:off x="8891707" y="5499419"/>
            <a:ext cx="4136112" cy="3000851"/>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35" name="Text 33"/>
          <p:cNvSpPr/>
          <p:nvPr/>
        </p:nvSpPr>
        <p:spPr>
          <a:xfrm>
            <a:off x="9185077" y="5754689"/>
            <a:ext cx="390431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선석 14일 백필</a:t>
            </a:r>
            <a:endParaRPr lang="en-US" sz="1350" dirty="0"/>
          </a:p>
        </p:txBody>
      </p:sp>
      <p:sp>
        <p:nvSpPr>
          <p:cNvPr id="36" name="Text 34"/>
          <p:cNvSpPr/>
          <p:nvPr/>
        </p:nvSpPr>
        <p:spPr>
          <a:xfrm>
            <a:off x="9185077" y="7338220"/>
            <a:ext cx="1460040" cy="670560"/>
          </a:xfrm>
          <a:prstGeom prst="rect">
            <a:avLst/>
          </a:prstGeom>
          <a:noFill/>
          <a:ln/>
        </p:spPr>
        <p:txBody>
          <a:bodyPr wrap="square" lIns="25400" tIns="25400" rIns="25400" bIns="25400" rtlCol="0" anchor="t">
            <a:normAutofit lnSpcReduction="10000"/>
          </a:bodyPr>
          <a:lstStyle/>
          <a:p>
            <a:pPr marL="0" indent="0" algn="l">
              <a:buNone/>
            </a:pPr>
            <a:r>
              <a:rPr lang="en-US" sz="4350" b="1" kern="0" spc="-87" dirty="0">
                <a:solidFill>
                  <a:srgbClr val="28666E"/>
                </a:solidFill>
                <a:latin typeface="Arial" pitchFamily="34" charset="0"/>
                <a:ea typeface="Arial" pitchFamily="34" charset="-122"/>
                <a:cs typeface="Arial" pitchFamily="34" charset="-120"/>
              </a:rPr>
              <a:t>3,218</a:t>
            </a:r>
            <a:endParaRPr lang="en-US" sz="4350" dirty="0"/>
          </a:p>
        </p:txBody>
      </p:sp>
      <p:sp>
        <p:nvSpPr>
          <p:cNvPr id="37" name="Text 35"/>
          <p:cNvSpPr/>
          <p:nvPr/>
        </p:nvSpPr>
        <p:spPr>
          <a:xfrm>
            <a:off x="10569535" y="7582060"/>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28666E"/>
                </a:solidFill>
                <a:latin typeface="Arial" pitchFamily="34" charset="0"/>
                <a:ea typeface="Arial" pitchFamily="34" charset="-122"/>
                <a:cs typeface="Arial" pitchFamily="34" charset="-120"/>
              </a:rPr>
              <a:t>건</a:t>
            </a:r>
            <a:endParaRPr lang="en-US" sz="1800" dirty="0"/>
          </a:p>
        </p:txBody>
      </p:sp>
      <p:sp>
        <p:nvSpPr>
          <p:cNvPr id="38" name="Text 36"/>
          <p:cNvSpPr/>
          <p:nvPr/>
        </p:nvSpPr>
        <p:spPr>
          <a:xfrm>
            <a:off x="9185077" y="8008780"/>
            <a:ext cx="390431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헤더 변형 8종 자동 대응 · 그리드 UX 6시나리오</a:t>
            </a:r>
            <a:endParaRPr lang="en-US" sz="1275" dirty="0"/>
          </a:p>
        </p:txBody>
      </p:sp>
      <p:sp>
        <p:nvSpPr>
          <p:cNvPr id="39" name="Shape 37"/>
          <p:cNvSpPr/>
          <p:nvPr/>
        </p:nvSpPr>
        <p:spPr>
          <a:xfrm>
            <a:off x="13237369" y="5499419"/>
            <a:ext cx="4136231" cy="3000851"/>
          </a:xfrm>
          <a:prstGeom prst="roundRect">
            <a:avLst>
              <a:gd name="adj" fmla="val 5079"/>
            </a:avLst>
          </a:prstGeom>
          <a:solidFill>
            <a:srgbClr val="FFFFFF"/>
          </a:solidFill>
          <a:ln w="7620">
            <a:solidFill>
              <a:srgbClr val="ECE7DD"/>
            </a:solidFill>
            <a:prstDash val="solid"/>
          </a:ln>
          <a:effectLst>
            <a:outerShdw blurRad="95250" dist="19050" dir="5400000" algn="bl" rotWithShape="0">
              <a:srgbClr val="12161D">
                <a:alpha val="3995"/>
              </a:srgbClr>
            </a:outerShdw>
          </a:effectLst>
        </p:spPr>
      </p:sp>
      <p:sp>
        <p:nvSpPr>
          <p:cNvPr id="40" name="Text 38"/>
          <p:cNvSpPr/>
          <p:nvPr/>
        </p:nvSpPr>
        <p:spPr>
          <a:xfrm>
            <a:off x="13530739" y="5754689"/>
            <a:ext cx="3904440"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콘솔 오류 · 보안 이슈</a:t>
            </a:r>
            <a:endParaRPr lang="en-US" sz="1350" dirty="0"/>
          </a:p>
        </p:txBody>
      </p:sp>
      <p:sp>
        <p:nvSpPr>
          <p:cNvPr id="41" name="Text 39"/>
          <p:cNvSpPr/>
          <p:nvPr/>
        </p:nvSpPr>
        <p:spPr>
          <a:xfrm>
            <a:off x="13530739" y="7338220"/>
            <a:ext cx="372428" cy="670560"/>
          </a:xfrm>
          <a:prstGeom prst="rect">
            <a:avLst/>
          </a:prstGeom>
          <a:noFill/>
          <a:ln/>
        </p:spPr>
        <p:txBody>
          <a:bodyPr wrap="square" lIns="25400" tIns="25400" rIns="25400" bIns="25400" rtlCol="0" anchor="t">
            <a:normAutofit lnSpcReduction="10000"/>
          </a:bodyPr>
          <a:lstStyle/>
          <a:p>
            <a:pPr marL="0" indent="0" algn="l">
              <a:buNone/>
            </a:pPr>
            <a:r>
              <a:rPr lang="en-US" sz="4350" b="1" kern="0" spc="-87" dirty="0">
                <a:solidFill>
                  <a:srgbClr val="28666E"/>
                </a:solidFill>
                <a:latin typeface="Arial" pitchFamily="34" charset="0"/>
                <a:ea typeface="Arial" pitchFamily="34" charset="-122"/>
                <a:cs typeface="Arial" pitchFamily="34" charset="-120"/>
              </a:rPr>
              <a:t>0</a:t>
            </a:r>
            <a:endParaRPr lang="en-US" sz="4350" dirty="0"/>
          </a:p>
        </p:txBody>
      </p:sp>
      <p:sp>
        <p:nvSpPr>
          <p:cNvPr id="42" name="Text 40"/>
          <p:cNvSpPr/>
          <p:nvPr/>
        </p:nvSpPr>
        <p:spPr>
          <a:xfrm>
            <a:off x="13884116" y="7582060"/>
            <a:ext cx="286583"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28666E"/>
                </a:solidFill>
                <a:latin typeface="Arial" pitchFamily="34" charset="0"/>
                <a:ea typeface="Arial" pitchFamily="34" charset="-122"/>
                <a:cs typeface="Arial" pitchFamily="34" charset="-120"/>
              </a:rPr>
              <a:t>건</a:t>
            </a:r>
            <a:endParaRPr lang="en-US" sz="1800" dirty="0"/>
          </a:p>
        </p:txBody>
      </p:sp>
      <p:sp>
        <p:nvSpPr>
          <p:cNvPr id="43" name="Text 41"/>
          <p:cNvSpPr/>
          <p:nvPr/>
        </p:nvSpPr>
        <p:spPr>
          <a:xfrm>
            <a:off x="13530739" y="8008780"/>
            <a:ext cx="390444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Supabase 보안 어드바이저 0 · 회사명·이메일 통일</a:t>
            </a:r>
            <a:endParaRPr lang="en-US" sz="1275" dirty="0"/>
          </a:p>
        </p:txBody>
      </p:sp>
      <p:sp>
        <p:nvSpPr>
          <p:cNvPr id="44" name="Shape 42"/>
          <p:cNvSpPr/>
          <p:nvPr/>
        </p:nvSpPr>
        <p:spPr>
          <a:xfrm>
            <a:off x="914400" y="8747920"/>
            <a:ext cx="16459200" cy="647700"/>
          </a:xfrm>
          <a:prstGeom prst="roundRect">
            <a:avLst>
              <a:gd name="adj" fmla="val 23529"/>
            </a:avLst>
          </a:prstGeom>
          <a:solidFill>
            <a:srgbClr val="ECE7DD"/>
          </a:solidFill>
          <a:ln/>
        </p:spPr>
      </p:sp>
      <p:sp>
        <p:nvSpPr>
          <p:cNvPr id="45" name="Text 43"/>
          <p:cNvSpPr/>
          <p:nvPr/>
        </p:nvSpPr>
        <p:spPr>
          <a:xfrm>
            <a:off x="1219200" y="8942230"/>
            <a:ext cx="1648897" cy="297180"/>
          </a:xfrm>
          <a:prstGeom prst="rect">
            <a:avLst/>
          </a:prstGeom>
          <a:noFill/>
          <a:ln/>
        </p:spPr>
        <p:txBody>
          <a:bodyPr wrap="none" lIns="25400" tIns="25400" rIns="25400" bIns="25400" rtlCol="0" anchor="t">
            <a:normAutofit fontScale="92500" lnSpcReduction="10000"/>
          </a:bodyPr>
          <a:lstStyle/>
          <a:p>
            <a:pPr marL="0" indent="0" algn="l">
              <a:buNone/>
            </a:pPr>
            <a:r>
              <a:rPr lang="en-US" sz="1800" b="1" dirty="0">
                <a:solidFill>
                  <a:srgbClr val="28666E"/>
                </a:solidFill>
                <a:latin typeface="Arial" pitchFamily="34" charset="0"/>
                <a:ea typeface="Arial" pitchFamily="34" charset="-122"/>
                <a:cs typeface="Arial" pitchFamily="34" charset="-120"/>
              </a:rPr>
              <a:t>BUILD vs BUY</a:t>
            </a:r>
            <a:endParaRPr lang="en-US" sz="1800" dirty="0"/>
          </a:p>
        </p:txBody>
      </p:sp>
      <p:sp>
        <p:nvSpPr>
          <p:cNvPr id="46" name="Text 44"/>
          <p:cNvSpPr/>
          <p:nvPr/>
        </p:nvSpPr>
        <p:spPr>
          <a:xfrm>
            <a:off x="2965847" y="8938420"/>
            <a:ext cx="10374035"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b="1" dirty="0">
                <a:solidFill>
                  <a:srgbClr val="12161D"/>
                </a:solidFill>
                <a:latin typeface="Arial" pitchFamily="34" charset="0"/>
                <a:ea typeface="Arial" pitchFamily="34" charset="-122"/>
                <a:cs typeface="Arial" pitchFamily="34" charset="-120"/>
              </a:rPr>
              <a:t>자체 구축 5일 · ₩0 vs 완성 가시성 솔루션 구독 </a:t>
            </a:r>
            <a:r>
              <a:rPr lang="en-US" sz="1500" dirty="0">
                <a:solidFill>
                  <a:srgbClr val="12161D"/>
                </a:solidFill>
                <a:latin typeface="Arial" pitchFamily="34" charset="0"/>
                <a:ea typeface="Arial" pitchFamily="34" charset="-122"/>
                <a:cs typeface="Arial" pitchFamily="34" charset="-120"/>
              </a:rPr>
              <a:t>— 비용 우위에 더해, 데이터와 코드가 그대로 사내 자산으로 축적됩니다</a:t>
            </a:r>
            <a:endParaRPr lang="en-US" sz="1500" dirty="0"/>
          </a:p>
        </p:txBody>
      </p:sp>
      <p:sp>
        <p:nvSpPr>
          <p:cNvPr id="47" name="Shape 45"/>
          <p:cNvSpPr/>
          <p:nvPr/>
        </p:nvSpPr>
        <p:spPr>
          <a:xfrm>
            <a:off x="914400" y="9605010"/>
            <a:ext cx="16459200" cy="9525"/>
          </a:xfrm>
          <a:prstGeom prst="rect">
            <a:avLst/>
          </a:prstGeom>
          <a:solidFill>
            <a:srgbClr val="E9E4DC"/>
          </a:solidFill>
          <a:ln/>
        </p:spPr>
      </p:sp>
      <p:sp>
        <p:nvSpPr>
          <p:cNvPr id="48" name="Text 46"/>
          <p:cNvSpPr/>
          <p:nvPr/>
        </p:nvSpPr>
        <p:spPr>
          <a:xfrm>
            <a:off x="914400" y="9726930"/>
            <a:ext cx="6924056"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개발이력 §1 타임라인(11단계) · §5 검증 이력(224건·10,212행·3,218건·오류 0·보안 0)</a:t>
            </a:r>
            <a:endParaRPr lang="en-US" sz="1275" dirty="0"/>
          </a:p>
        </p:txBody>
      </p:sp>
      <p:sp>
        <p:nvSpPr>
          <p:cNvPr id="49" name="Text 47"/>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14</a:t>
            </a:r>
            <a:endParaRPr lang="en-US" sz="12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5715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PCI 방법론 (Port Congestion Index)</a:t>
            </a:r>
            <a:endParaRPr lang="en-US" sz="1425" dirty="0"/>
          </a:p>
        </p:txBody>
      </p:sp>
      <p:sp>
        <p:nvSpPr>
          <p:cNvPr id="3" name="Text 1"/>
          <p:cNvSpPr/>
          <p:nvPr/>
        </p:nvSpPr>
        <p:spPr>
          <a:xfrm>
            <a:off x="914400" y="914400"/>
            <a:ext cx="18105120" cy="552450"/>
          </a:xfrm>
          <a:prstGeom prst="rect">
            <a:avLst/>
          </a:prstGeom>
          <a:noFill/>
          <a:ln/>
        </p:spPr>
        <p:txBody>
          <a:bodyPr wrap="square" lIns="25400" tIns="25400" rIns="25400" bIns="25400" rtlCol="0" anchor="t">
            <a:normAutofit/>
          </a:bodyPr>
          <a:lstStyle/>
          <a:p>
            <a:pPr marL="0" indent="0" algn="l">
              <a:lnSpc>
                <a:spcPct val="76705"/>
              </a:lnSpc>
              <a:buNone/>
            </a:pPr>
            <a:r>
              <a:rPr lang="en-US" sz="3750" b="1" kern="0" spc="-75" dirty="0">
                <a:solidFill>
                  <a:srgbClr val="12161D"/>
                </a:solidFill>
                <a:latin typeface="Arial" pitchFamily="34" charset="0"/>
                <a:ea typeface="Arial" pitchFamily="34" charset="-122"/>
                <a:cs typeface="Arial" pitchFamily="34" charset="-120"/>
              </a:rPr>
              <a:t>근거 있는 혼잡도 — PCI = </a:t>
            </a:r>
            <a:r>
              <a:rPr lang="en-US" sz="3750" b="1" kern="0" spc="-75" dirty="0">
                <a:solidFill>
                  <a:srgbClr val="28666E"/>
                </a:solidFill>
                <a:latin typeface="Arial" pitchFamily="34" charset="0"/>
                <a:ea typeface="Arial" pitchFamily="34" charset="-122"/>
                <a:cs typeface="Arial" pitchFamily="34" charset="-120"/>
              </a:rPr>
              <a:t>0.60 활동 + 0.25 물동 + 0.15 모멘텀</a:t>
            </a:r>
            <a:endParaRPr lang="en-US" sz="3750" dirty="0"/>
          </a:p>
        </p:txBody>
      </p:sp>
      <p:sp>
        <p:nvSpPr>
          <p:cNvPr id="4" name="Text 2"/>
          <p:cNvSpPr/>
          <p:nvPr/>
        </p:nvSpPr>
        <p:spPr>
          <a:xfrm>
            <a:off x="914400" y="1524000"/>
            <a:ext cx="18105120" cy="373380"/>
          </a:xfrm>
          <a:prstGeom prst="rect">
            <a:avLst/>
          </a:prstGeom>
          <a:noFill/>
          <a:ln/>
        </p:spPr>
        <p:txBody>
          <a:bodyPr wrap="square" lIns="25400" tIns="25400" rIns="25400" bIns="25400" rtlCol="0" anchor="t">
            <a:normAutofit/>
          </a:bodyPr>
          <a:lstStyle/>
          <a:p>
            <a:pPr marL="0" indent="0" algn="l">
              <a:buNone/>
            </a:pPr>
            <a:r>
              <a:rPr lang="en-US" sz="1800" dirty="0">
                <a:solidFill>
                  <a:srgbClr val="6F6A5F"/>
                </a:solidFill>
                <a:latin typeface="Arial" pitchFamily="34" charset="0"/>
                <a:ea typeface="Arial" pitchFamily="34" charset="-122"/>
                <a:cs typeface="Arial" pitchFamily="34" charset="-120"/>
              </a:rPr>
              <a:t>위성 AIS 실데이터를 백분위·시그모이드로 정규화 — 국내는 실측 선석으로 보정</a:t>
            </a:r>
            <a:endParaRPr lang="en-US" sz="1800" dirty="0"/>
          </a:p>
        </p:txBody>
      </p:sp>
      <p:sp>
        <p:nvSpPr>
          <p:cNvPr id="5" name="Shape 3"/>
          <p:cNvSpPr/>
          <p:nvPr/>
        </p:nvSpPr>
        <p:spPr>
          <a:xfrm>
            <a:off x="914400"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188720"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활동량 · Activity</a:t>
            </a:r>
            <a:endParaRPr lang="en-US" sz="1350" dirty="0"/>
          </a:p>
        </p:txBody>
      </p:sp>
      <p:sp>
        <p:nvSpPr>
          <p:cNvPr id="7" name="Text 5"/>
          <p:cNvSpPr/>
          <p:nvPr/>
        </p:nvSpPr>
        <p:spPr>
          <a:xfrm>
            <a:off x="1188720" y="2821628"/>
            <a:ext cx="711994"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28666E"/>
                </a:solidFill>
                <a:latin typeface="Arial" pitchFamily="34" charset="0"/>
                <a:ea typeface="Arial" pitchFamily="34" charset="-122"/>
                <a:cs typeface="Arial" pitchFamily="34" charset="-120"/>
              </a:rPr>
              <a:t>60</a:t>
            </a:r>
            <a:endParaRPr lang="en-US" sz="4500" dirty="0"/>
          </a:p>
        </p:txBody>
      </p:sp>
      <p:sp>
        <p:nvSpPr>
          <p:cNvPr id="8" name="Text 6"/>
          <p:cNvSpPr/>
          <p:nvPr/>
        </p:nvSpPr>
        <p:spPr>
          <a:xfrm>
            <a:off x="1881664" y="2872804"/>
            <a:ext cx="296466"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28666E"/>
                </a:solidFill>
                <a:latin typeface="Arial" pitchFamily="34" charset="0"/>
                <a:ea typeface="Arial" pitchFamily="34" charset="-122"/>
                <a:cs typeface="Arial" pitchFamily="34" charset="-120"/>
              </a:rPr>
              <a:t>%</a:t>
            </a:r>
            <a:endParaRPr lang="en-US" sz="1950" dirty="0"/>
          </a:p>
        </p:txBody>
      </p:sp>
      <p:sp>
        <p:nvSpPr>
          <p:cNvPr id="9" name="Text 7"/>
          <p:cNvSpPr/>
          <p:nvPr/>
        </p:nvSpPr>
        <p:spPr>
          <a:xfrm>
            <a:off x="1188720" y="3234754"/>
            <a:ext cx="3749897" cy="256699"/>
          </a:xfrm>
          <a:prstGeom prst="rect">
            <a:avLst/>
          </a:prstGeom>
          <a:noFill/>
          <a:ln/>
        </p:spPr>
        <p:txBody>
          <a:bodyPr wrap="square" lIns="25400" tIns="25400" rIns="25400" bIns="25400" rtlCol="0" anchor="t">
            <a:normAutofit lnSpcReduction="10000"/>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최근 7일 평균 기항수 → 120일 분포 백분위</a:t>
            </a:r>
            <a:endParaRPr lang="en-US" sz="1275" dirty="0"/>
          </a:p>
        </p:txBody>
      </p:sp>
      <p:sp>
        <p:nvSpPr>
          <p:cNvPr id="10" name="Shape 8"/>
          <p:cNvSpPr/>
          <p:nvPr/>
        </p:nvSpPr>
        <p:spPr>
          <a:xfrm>
            <a:off x="5081588"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txBody>
          <a:bodyPr/>
          <a:lstStyle/>
          <a:p>
            <a:endParaRPr lang="ko-KR" altLang="en-US" dirty="0"/>
          </a:p>
        </p:txBody>
      </p:sp>
      <p:sp>
        <p:nvSpPr>
          <p:cNvPr id="11" name="Text 9"/>
          <p:cNvSpPr/>
          <p:nvPr/>
        </p:nvSpPr>
        <p:spPr>
          <a:xfrm>
            <a:off x="5355907"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물동량 · Volume</a:t>
            </a:r>
            <a:endParaRPr lang="en-US" sz="1350" dirty="0"/>
          </a:p>
        </p:txBody>
      </p:sp>
      <p:sp>
        <p:nvSpPr>
          <p:cNvPr id="12" name="Text 10"/>
          <p:cNvSpPr/>
          <p:nvPr/>
        </p:nvSpPr>
        <p:spPr>
          <a:xfrm>
            <a:off x="5355907" y="2821628"/>
            <a:ext cx="711994"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28666E"/>
                </a:solidFill>
                <a:latin typeface="Arial" pitchFamily="34" charset="0"/>
                <a:ea typeface="Arial" pitchFamily="34" charset="-122"/>
                <a:cs typeface="Arial" pitchFamily="34" charset="-120"/>
              </a:rPr>
              <a:t>25</a:t>
            </a:r>
            <a:endParaRPr lang="en-US" sz="4500" dirty="0"/>
          </a:p>
        </p:txBody>
      </p:sp>
      <p:sp>
        <p:nvSpPr>
          <p:cNvPr id="13" name="Text 11"/>
          <p:cNvSpPr/>
          <p:nvPr/>
        </p:nvSpPr>
        <p:spPr>
          <a:xfrm>
            <a:off x="6048851" y="2872804"/>
            <a:ext cx="296466"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28666E"/>
                </a:solidFill>
                <a:latin typeface="Arial" pitchFamily="34" charset="0"/>
                <a:ea typeface="Arial" pitchFamily="34" charset="-122"/>
                <a:cs typeface="Arial" pitchFamily="34" charset="-120"/>
              </a:rPr>
              <a:t>%</a:t>
            </a:r>
            <a:endParaRPr lang="en-US" sz="1950" dirty="0"/>
          </a:p>
        </p:txBody>
      </p:sp>
      <p:sp>
        <p:nvSpPr>
          <p:cNvPr id="14" name="Text 12"/>
          <p:cNvSpPr/>
          <p:nvPr/>
        </p:nvSpPr>
        <p:spPr>
          <a:xfrm>
            <a:off x="5355907" y="3234754"/>
            <a:ext cx="3749897" cy="256699"/>
          </a:xfrm>
          <a:prstGeom prst="rect">
            <a:avLst/>
          </a:prstGeom>
          <a:noFill/>
          <a:ln/>
        </p:spPr>
        <p:txBody>
          <a:bodyPr wrap="square" lIns="25400" tIns="25400" rIns="25400" bIns="25400" rtlCol="0" anchor="t">
            <a:normAutofit lnSpcReduction="10000"/>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(import + export) 동일 백분위 방식</a:t>
            </a:r>
            <a:endParaRPr lang="en-US" sz="1275" dirty="0"/>
          </a:p>
        </p:txBody>
      </p:sp>
      <p:sp>
        <p:nvSpPr>
          <p:cNvPr id="15" name="Shape 13"/>
          <p:cNvSpPr/>
          <p:nvPr/>
        </p:nvSpPr>
        <p:spPr>
          <a:xfrm>
            <a:off x="9248775"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6" name="Text 14"/>
          <p:cNvSpPr/>
          <p:nvPr/>
        </p:nvSpPr>
        <p:spPr>
          <a:xfrm>
            <a:off x="9523095"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모멘텀 · Momentum</a:t>
            </a:r>
            <a:endParaRPr lang="en-US" sz="1350" dirty="0"/>
          </a:p>
        </p:txBody>
      </p:sp>
      <p:sp>
        <p:nvSpPr>
          <p:cNvPr id="17" name="Text 15"/>
          <p:cNvSpPr/>
          <p:nvPr/>
        </p:nvSpPr>
        <p:spPr>
          <a:xfrm>
            <a:off x="9523095" y="2821627"/>
            <a:ext cx="711994"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28666E"/>
                </a:solidFill>
                <a:latin typeface="Arial" pitchFamily="34" charset="0"/>
                <a:ea typeface="Arial" pitchFamily="34" charset="-122"/>
                <a:cs typeface="Arial" pitchFamily="34" charset="-120"/>
              </a:rPr>
              <a:t>15</a:t>
            </a:r>
            <a:endParaRPr lang="en-US" sz="4500" dirty="0"/>
          </a:p>
        </p:txBody>
      </p:sp>
      <p:sp>
        <p:nvSpPr>
          <p:cNvPr id="18" name="Text 16"/>
          <p:cNvSpPr/>
          <p:nvPr/>
        </p:nvSpPr>
        <p:spPr>
          <a:xfrm>
            <a:off x="10216039" y="2872804"/>
            <a:ext cx="296466"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28666E"/>
                </a:solidFill>
                <a:latin typeface="Arial" pitchFamily="34" charset="0"/>
                <a:ea typeface="Arial" pitchFamily="34" charset="-122"/>
                <a:cs typeface="Arial" pitchFamily="34" charset="-120"/>
              </a:rPr>
              <a:t>%</a:t>
            </a:r>
            <a:endParaRPr lang="en-US" sz="1950" dirty="0"/>
          </a:p>
        </p:txBody>
      </p:sp>
      <p:sp>
        <p:nvSpPr>
          <p:cNvPr id="19" name="Text 17"/>
          <p:cNvSpPr/>
          <p:nvPr/>
        </p:nvSpPr>
        <p:spPr>
          <a:xfrm>
            <a:off x="9523095" y="3234754"/>
            <a:ext cx="3749897" cy="256699"/>
          </a:xfrm>
          <a:prstGeom prst="rect">
            <a:avLst/>
          </a:prstGeom>
          <a:noFill/>
          <a:ln/>
        </p:spPr>
        <p:txBody>
          <a:bodyPr wrap="square" lIns="25400" tIns="25400" rIns="25400" bIns="25400" rtlCol="0" anchor="t">
            <a:normAutofit lnSpcReduction="10000"/>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(최근7일−직전7일)/직전7일 → 시그모이드 k=6</a:t>
            </a:r>
            <a:endParaRPr lang="en-US" sz="1275" dirty="0"/>
          </a:p>
        </p:txBody>
      </p:sp>
      <p:sp>
        <p:nvSpPr>
          <p:cNvPr id="20" name="Shape 18"/>
          <p:cNvSpPr/>
          <p:nvPr/>
        </p:nvSpPr>
        <p:spPr>
          <a:xfrm>
            <a:off x="13415963" y="2106994"/>
            <a:ext cx="3957638" cy="1586389"/>
          </a:xfrm>
          <a:prstGeom prst="roundRect">
            <a:avLst>
              <a:gd name="adj" fmla="val 840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1" name="Text 19"/>
          <p:cNvSpPr/>
          <p:nvPr/>
        </p:nvSpPr>
        <p:spPr>
          <a:xfrm>
            <a:off x="13690283" y="2343214"/>
            <a:ext cx="3749897"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국내 보정</a:t>
            </a:r>
            <a:endParaRPr lang="en-US" sz="1350" dirty="0"/>
          </a:p>
        </p:txBody>
      </p:sp>
      <p:sp>
        <p:nvSpPr>
          <p:cNvPr id="22" name="Text 20"/>
          <p:cNvSpPr/>
          <p:nvPr/>
        </p:nvSpPr>
        <p:spPr>
          <a:xfrm>
            <a:off x="13690283" y="2780684"/>
            <a:ext cx="394097" cy="552450"/>
          </a:xfrm>
          <a:prstGeom prst="rect">
            <a:avLst/>
          </a:prstGeom>
          <a:noFill/>
          <a:ln/>
        </p:spPr>
        <p:txBody>
          <a:bodyPr wrap="square" lIns="25400" tIns="25400" rIns="25400" bIns="25400" rtlCol="0" anchor="t">
            <a:normAutofit/>
          </a:bodyPr>
          <a:lstStyle/>
          <a:p>
            <a:pPr marL="0" indent="0" algn="l">
              <a:lnSpc>
                <a:spcPct val="63679"/>
              </a:lnSpc>
              <a:buNone/>
            </a:pPr>
            <a:r>
              <a:rPr lang="en-US" sz="4500" b="1" dirty="0">
                <a:solidFill>
                  <a:srgbClr val="12161D"/>
                </a:solidFill>
                <a:latin typeface="Arial" pitchFamily="34" charset="0"/>
                <a:ea typeface="Arial" pitchFamily="34" charset="-122"/>
                <a:cs typeface="Arial" pitchFamily="34" charset="-120"/>
              </a:rPr>
              <a:t>3</a:t>
            </a:r>
            <a:endParaRPr lang="en-US" sz="4500" dirty="0"/>
          </a:p>
        </p:txBody>
      </p:sp>
      <p:sp>
        <p:nvSpPr>
          <p:cNvPr id="23" name="Text 21"/>
          <p:cNvSpPr/>
          <p:nvPr/>
        </p:nvSpPr>
        <p:spPr>
          <a:xfrm>
            <a:off x="14065330" y="2845168"/>
            <a:ext cx="1029094" cy="32194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2161D"/>
                </a:solidFill>
                <a:latin typeface="Arial" pitchFamily="34" charset="0"/>
                <a:ea typeface="Arial" pitchFamily="34" charset="-122"/>
                <a:cs typeface="Arial" pitchFamily="34" charset="-120"/>
              </a:rPr>
              <a:t>개 항만</a:t>
            </a:r>
            <a:endParaRPr lang="en-US" sz="1950" dirty="0"/>
          </a:p>
        </p:txBody>
      </p:sp>
      <p:sp>
        <p:nvSpPr>
          <p:cNvPr id="24" name="Text 22"/>
          <p:cNvSpPr/>
          <p:nvPr/>
        </p:nvSpPr>
        <p:spPr>
          <a:xfrm>
            <a:off x="13690283" y="3238564"/>
            <a:ext cx="3749897" cy="256699"/>
          </a:xfrm>
          <a:prstGeom prst="rect">
            <a:avLst/>
          </a:prstGeom>
          <a:noFill/>
          <a:ln/>
        </p:spPr>
        <p:txBody>
          <a:bodyPr wrap="square" lIns="25400" tIns="25400" rIns="25400" bIns="25400" rtlCol="0" anchor="t">
            <a:normAutofit lnSpcReduction="10000"/>
          </a:bodyPr>
          <a:lstStyle/>
          <a:p>
            <a:pPr marL="0" indent="0" algn="l">
              <a:lnSpc>
                <a:spcPct val="114750"/>
              </a:lnSpc>
              <a:buNone/>
            </a:pPr>
            <a:r>
              <a:rPr lang="en-US" sz="1275" dirty="0">
                <a:solidFill>
                  <a:srgbClr val="6F6A5F"/>
                </a:solidFill>
                <a:latin typeface="Arial" pitchFamily="34" charset="0"/>
                <a:ea typeface="Arial" pitchFamily="34" charset="-122"/>
                <a:cs typeface="Arial" pitchFamily="34" charset="-120"/>
              </a:rPr>
              <a:t>부산·광양·인천 waiting·berthed 실측 교체</a:t>
            </a:r>
            <a:endParaRPr lang="en-US" sz="1275" dirty="0"/>
          </a:p>
        </p:txBody>
      </p:sp>
      <p:sp>
        <p:nvSpPr>
          <p:cNvPr id="25" name="Shape 23"/>
          <p:cNvSpPr/>
          <p:nvPr/>
        </p:nvSpPr>
        <p:spPr>
          <a:xfrm>
            <a:off x="914400" y="3902932"/>
            <a:ext cx="9478923" cy="5549741"/>
          </a:xfrm>
          <a:prstGeom prst="roundRect">
            <a:avLst>
              <a:gd name="adj" fmla="val 274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6" name="Text 24"/>
          <p:cNvSpPr/>
          <p:nvPr/>
        </p:nvSpPr>
        <p:spPr>
          <a:xfrm>
            <a:off x="1245870" y="4177253"/>
            <a:ext cx="9697581"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12161D"/>
                </a:solidFill>
                <a:latin typeface="Arial" pitchFamily="34" charset="0"/>
                <a:ea typeface="Arial" pitchFamily="34" charset="-122"/>
                <a:cs typeface="Arial" pitchFamily="34" charset="-120"/>
              </a:rPr>
              <a:t>글로벌 리스크 등급 규칙 · 지연 추정</a:t>
            </a:r>
            <a:endParaRPr lang="en-US" sz="1575" dirty="0"/>
          </a:p>
        </p:txBody>
      </p:sp>
      <p:sp>
        <p:nvSpPr>
          <p:cNvPr id="27" name="Shape 25"/>
          <p:cNvSpPr/>
          <p:nvPr/>
        </p:nvSpPr>
        <p:spPr>
          <a:xfrm>
            <a:off x="1245870" y="4657313"/>
            <a:ext cx="8815983" cy="133350"/>
          </a:xfrm>
          <a:prstGeom prst="roundRect">
            <a:avLst>
              <a:gd name="adj" fmla="val 50000"/>
            </a:avLst>
          </a:prstGeom>
          <a:gradFill rotWithShape="1">
            <a:gsLst>
              <a:gs pos="0">
                <a:srgbClr val="28666E">
                  <a:alpha val="100000"/>
                </a:srgbClr>
              </a:gs>
              <a:gs pos="45000">
                <a:srgbClr val="5FA8AE">
                  <a:alpha val="100000"/>
                </a:srgbClr>
              </a:gs>
              <a:gs pos="62000">
                <a:srgbClr val="C9A24A">
                  <a:alpha val="100000"/>
                </a:srgbClr>
              </a:gs>
              <a:gs pos="100000">
                <a:srgbClr val="A9640F">
                  <a:alpha val="100000"/>
                </a:srgbClr>
              </a:gs>
            </a:gsLst>
            <a:lin ang="0" scaled="0"/>
          </a:gradFill>
          <a:ln/>
        </p:spPr>
      </p:sp>
      <p:sp>
        <p:nvSpPr>
          <p:cNvPr id="28" name="Text 26"/>
          <p:cNvSpPr/>
          <p:nvPr/>
        </p:nvSpPr>
        <p:spPr>
          <a:xfrm>
            <a:off x="1245870" y="4847813"/>
            <a:ext cx="433626" cy="20574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A0A6"/>
                </a:solidFill>
                <a:latin typeface="Arial" pitchFamily="34" charset="0"/>
                <a:ea typeface="Arial" pitchFamily="34" charset="-122"/>
                <a:cs typeface="Arial" pitchFamily="34" charset="-120"/>
              </a:rPr>
              <a:t>PCI 0</a:t>
            </a:r>
            <a:endParaRPr lang="en-US" sz="1125" dirty="0"/>
          </a:p>
        </p:txBody>
      </p:sp>
      <p:sp>
        <p:nvSpPr>
          <p:cNvPr id="29" name="Text 27"/>
          <p:cNvSpPr/>
          <p:nvPr/>
        </p:nvSpPr>
        <p:spPr>
          <a:xfrm>
            <a:off x="4237315" y="4847813"/>
            <a:ext cx="235148" cy="20574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A0A6"/>
                </a:solidFill>
                <a:latin typeface="Arial" pitchFamily="34" charset="0"/>
                <a:ea typeface="Arial" pitchFamily="34" charset="-122"/>
                <a:cs typeface="Arial" pitchFamily="34" charset="-120"/>
              </a:rPr>
              <a:t>50</a:t>
            </a:r>
            <a:endParaRPr lang="en-US" sz="1125" dirty="0"/>
          </a:p>
        </p:txBody>
      </p:sp>
      <p:sp>
        <p:nvSpPr>
          <p:cNvPr id="30" name="Text 28"/>
          <p:cNvSpPr/>
          <p:nvPr/>
        </p:nvSpPr>
        <p:spPr>
          <a:xfrm>
            <a:off x="7030403" y="4847813"/>
            <a:ext cx="235148" cy="20574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A0A6"/>
                </a:solidFill>
                <a:latin typeface="Arial" pitchFamily="34" charset="0"/>
                <a:ea typeface="Arial" pitchFamily="34" charset="-122"/>
                <a:cs typeface="Arial" pitchFamily="34" charset="-120"/>
              </a:rPr>
              <a:t>60</a:t>
            </a:r>
            <a:endParaRPr lang="en-US" sz="1125" dirty="0"/>
          </a:p>
        </p:txBody>
      </p:sp>
      <p:sp>
        <p:nvSpPr>
          <p:cNvPr id="31" name="Text 29"/>
          <p:cNvSpPr/>
          <p:nvPr/>
        </p:nvSpPr>
        <p:spPr>
          <a:xfrm>
            <a:off x="9823371" y="4847813"/>
            <a:ext cx="314682" cy="20574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9AA0A6"/>
                </a:solidFill>
                <a:latin typeface="Arial" pitchFamily="34" charset="0"/>
                <a:ea typeface="Arial" pitchFamily="34" charset="-122"/>
                <a:cs typeface="Arial" pitchFamily="34" charset="-120"/>
              </a:rPr>
              <a:t>100</a:t>
            </a:r>
            <a:endParaRPr lang="en-US" sz="1125" dirty="0"/>
          </a:p>
        </p:txBody>
      </p:sp>
      <p:sp>
        <p:nvSpPr>
          <p:cNvPr id="32" name="Shape 30"/>
          <p:cNvSpPr/>
          <p:nvPr/>
        </p:nvSpPr>
        <p:spPr>
          <a:xfrm>
            <a:off x="1245870" y="5272628"/>
            <a:ext cx="133350" cy="133350"/>
          </a:xfrm>
          <a:prstGeom prst="roundRect">
            <a:avLst>
              <a:gd name="adj" fmla="val 21429"/>
            </a:avLst>
          </a:prstGeom>
          <a:solidFill>
            <a:srgbClr val="A9640F"/>
          </a:solidFill>
          <a:ln/>
        </p:spPr>
      </p:sp>
      <p:sp>
        <p:nvSpPr>
          <p:cNvPr id="33" name="Text 31"/>
          <p:cNvSpPr/>
          <p:nvPr/>
        </p:nvSpPr>
        <p:spPr>
          <a:xfrm>
            <a:off x="1512570" y="5232622"/>
            <a:ext cx="528638"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2161D"/>
                </a:solidFill>
                <a:latin typeface="Arial" pitchFamily="34" charset="0"/>
                <a:ea typeface="Arial" pitchFamily="34" charset="-122"/>
                <a:cs typeface="Arial" pitchFamily="34" charset="-120"/>
              </a:rPr>
              <a:t>HIGH</a:t>
            </a:r>
            <a:endParaRPr lang="en-US" sz="1425" dirty="0"/>
          </a:p>
        </p:txBody>
      </p:sp>
      <p:sp>
        <p:nvSpPr>
          <p:cNvPr id="34" name="Text 32"/>
          <p:cNvSpPr/>
          <p:nvPr/>
        </p:nvSpPr>
        <p:spPr>
          <a:xfrm>
            <a:off x="2098358" y="5205953"/>
            <a:ext cx="2787670"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critical ≥ 15 또는 평균 PCI ≥ 60</a:t>
            </a:r>
            <a:endParaRPr lang="en-US" sz="1425" dirty="0"/>
          </a:p>
        </p:txBody>
      </p:sp>
      <p:sp>
        <p:nvSpPr>
          <p:cNvPr id="35" name="Shape 33"/>
          <p:cNvSpPr/>
          <p:nvPr/>
        </p:nvSpPr>
        <p:spPr>
          <a:xfrm>
            <a:off x="1245870" y="5653628"/>
            <a:ext cx="133350" cy="133350"/>
          </a:xfrm>
          <a:prstGeom prst="roundRect">
            <a:avLst>
              <a:gd name="adj" fmla="val 21429"/>
            </a:avLst>
          </a:prstGeom>
          <a:solidFill>
            <a:srgbClr val="9AA0A6"/>
          </a:solidFill>
          <a:ln/>
        </p:spPr>
      </p:sp>
      <p:sp>
        <p:nvSpPr>
          <p:cNvPr id="36" name="Text 34"/>
          <p:cNvSpPr/>
          <p:nvPr/>
        </p:nvSpPr>
        <p:spPr>
          <a:xfrm>
            <a:off x="1512570" y="5613622"/>
            <a:ext cx="810101"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2161D"/>
                </a:solidFill>
                <a:latin typeface="Arial" pitchFamily="34" charset="0"/>
                <a:ea typeface="Arial" pitchFamily="34" charset="-122"/>
                <a:cs typeface="Arial" pitchFamily="34" charset="-120"/>
              </a:rPr>
              <a:t>MEDIUM</a:t>
            </a:r>
            <a:endParaRPr lang="en-US" sz="1425" dirty="0"/>
          </a:p>
        </p:txBody>
      </p:sp>
      <p:sp>
        <p:nvSpPr>
          <p:cNvPr id="37" name="Text 35"/>
          <p:cNvSpPr/>
          <p:nvPr/>
        </p:nvSpPr>
        <p:spPr>
          <a:xfrm>
            <a:off x="2379821" y="5586953"/>
            <a:ext cx="2677001" cy="304800"/>
          </a:xfrm>
          <a:prstGeom prst="rect">
            <a:avLst/>
          </a:prstGeom>
          <a:noFill/>
          <a:ln/>
        </p:spPr>
        <p:txBody>
          <a:bodyPr wrap="square" lIns="25400" tIns="25400" rIns="25400" bIns="25400" rtlCol="0" anchor="t">
            <a:normAutofit/>
          </a:bodyPr>
          <a:lstStyle/>
          <a:p>
            <a:pPr marL="0" indent="0" algn="l">
              <a:buNone/>
            </a:pPr>
            <a:r>
              <a:rPr lang="en-US" sz="1425" dirty="0">
                <a:solidFill>
                  <a:srgbClr val="6F6A5F"/>
                </a:solidFill>
                <a:latin typeface="Arial" pitchFamily="34" charset="0"/>
                <a:ea typeface="Arial" pitchFamily="34" charset="-122"/>
                <a:cs typeface="Arial" pitchFamily="34" charset="-120"/>
              </a:rPr>
              <a:t>critical ≥ 8 또는 평균 PCI ≥ 50</a:t>
            </a:r>
            <a:endParaRPr lang="en-US" sz="1425" dirty="0"/>
          </a:p>
        </p:txBody>
      </p:sp>
      <p:sp>
        <p:nvSpPr>
          <p:cNvPr id="38" name="Shape 36"/>
          <p:cNvSpPr/>
          <p:nvPr/>
        </p:nvSpPr>
        <p:spPr>
          <a:xfrm>
            <a:off x="1245870" y="6034628"/>
            <a:ext cx="133350" cy="133350"/>
          </a:xfrm>
          <a:prstGeom prst="roundRect">
            <a:avLst>
              <a:gd name="adj" fmla="val 21429"/>
            </a:avLst>
          </a:prstGeom>
          <a:solidFill>
            <a:srgbClr val="28666E"/>
          </a:solidFill>
          <a:ln/>
        </p:spPr>
      </p:sp>
      <p:sp>
        <p:nvSpPr>
          <p:cNvPr id="39" name="Text 37"/>
          <p:cNvSpPr/>
          <p:nvPr/>
        </p:nvSpPr>
        <p:spPr>
          <a:xfrm>
            <a:off x="1512570" y="5994622"/>
            <a:ext cx="488513"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2161D"/>
                </a:solidFill>
                <a:latin typeface="Arial" pitchFamily="34" charset="0"/>
                <a:ea typeface="Arial" pitchFamily="34" charset="-122"/>
                <a:cs typeface="Arial" pitchFamily="34" charset="-120"/>
              </a:rPr>
              <a:t>LOW</a:t>
            </a:r>
            <a:endParaRPr lang="en-US" sz="1425" dirty="0"/>
          </a:p>
        </p:txBody>
      </p:sp>
      <p:sp>
        <p:nvSpPr>
          <p:cNvPr id="40" name="Text 38"/>
          <p:cNvSpPr/>
          <p:nvPr/>
        </p:nvSpPr>
        <p:spPr>
          <a:xfrm>
            <a:off x="2058234" y="5967953"/>
            <a:ext cx="459581" cy="304800"/>
          </a:xfrm>
          <a:prstGeom prst="rect">
            <a:avLst/>
          </a:prstGeom>
          <a:noFill/>
          <a:ln/>
        </p:spPr>
        <p:txBody>
          <a:bodyPr wrap="square" lIns="25400" tIns="25400" rIns="25400" bIns="25400" rtlCol="0" anchor="t">
            <a:normAutofit fontScale="92500"/>
          </a:bodyPr>
          <a:lstStyle/>
          <a:p>
            <a:pPr marL="0" indent="0" algn="l">
              <a:buNone/>
            </a:pPr>
            <a:r>
              <a:rPr lang="en-US" sz="1425" dirty="0">
                <a:solidFill>
                  <a:srgbClr val="6F6A5F"/>
                </a:solidFill>
                <a:latin typeface="Arial" pitchFamily="34" charset="0"/>
                <a:ea typeface="Arial" pitchFamily="34" charset="-122"/>
                <a:cs typeface="Arial" pitchFamily="34" charset="-120"/>
              </a:rPr>
              <a:t>그 외</a:t>
            </a:r>
            <a:endParaRPr lang="en-US" sz="1425" dirty="0"/>
          </a:p>
        </p:txBody>
      </p:sp>
      <p:sp>
        <p:nvSpPr>
          <p:cNvPr id="41" name="Shape 39"/>
          <p:cNvSpPr/>
          <p:nvPr/>
        </p:nvSpPr>
        <p:spPr>
          <a:xfrm>
            <a:off x="1245870" y="8630428"/>
            <a:ext cx="8815983" cy="547926"/>
          </a:xfrm>
          <a:prstGeom prst="roundRect">
            <a:avLst>
              <a:gd name="adj" fmla="val 20860"/>
            </a:avLst>
          </a:prstGeom>
          <a:solidFill>
            <a:srgbClr val="F3EFE7"/>
          </a:solidFill>
          <a:ln/>
        </p:spPr>
      </p:sp>
      <p:sp>
        <p:nvSpPr>
          <p:cNvPr id="42" name="Text 40"/>
          <p:cNvSpPr/>
          <p:nvPr/>
        </p:nvSpPr>
        <p:spPr>
          <a:xfrm>
            <a:off x="1455420" y="8782828"/>
            <a:ext cx="8661362" cy="281226"/>
          </a:xfrm>
          <a:prstGeom prst="rect">
            <a:avLst/>
          </a:prstGeom>
          <a:noFill/>
          <a:ln/>
        </p:spPr>
        <p:txBody>
          <a:bodyPr wrap="square" lIns="25400" tIns="25400" rIns="25400" bIns="25400" rtlCol="0" anchor="t">
            <a:normAutofit/>
          </a:bodyPr>
          <a:lstStyle/>
          <a:p>
            <a:pPr marL="0" indent="0" algn="l">
              <a:buNone/>
            </a:pPr>
            <a:r>
              <a:rPr lang="en-US" sz="1425" dirty="0">
                <a:solidFill>
                  <a:srgbClr val="12161D"/>
                </a:solidFill>
                <a:highlight>
                  <a:srgbClr val="F3EFE7"/>
                </a:highlight>
                <a:latin typeface="Courier New" pitchFamily="34" charset="0"/>
                <a:ea typeface="Courier New" pitchFamily="34" charset="-122"/>
                <a:cs typeface="Courier New" pitchFamily="34" charset="-120"/>
              </a:rPr>
              <a:t>delay_h = (PCI / 100)</a:t>
            </a:r>
            <a:r>
              <a:rPr lang="en-US" sz="1187" baseline="30000" dirty="0">
                <a:solidFill>
                  <a:srgbClr val="12161D"/>
                </a:solidFill>
                <a:latin typeface="Courier New" pitchFamily="34" charset="0"/>
                <a:ea typeface="Courier New" pitchFamily="34" charset="-122"/>
                <a:cs typeface="Courier New" pitchFamily="34" charset="-120"/>
              </a:rPr>
              <a:t>1.5 </a:t>
            </a:r>
            <a:r>
              <a:rPr lang="en-US" sz="1425" dirty="0">
                <a:solidFill>
                  <a:srgbClr val="12161D"/>
                </a:solidFill>
                <a:highlight>
                  <a:srgbClr val="F3EFE7"/>
                </a:highlight>
                <a:latin typeface="Courier New" pitchFamily="34" charset="0"/>
                <a:ea typeface="Courier New" pitchFamily="34" charset="-122"/>
                <a:cs typeface="Courier New" pitchFamily="34" charset="-120"/>
              </a:rPr>
              <a:t>× 48h · berthed = 최근 7일 평균 기항</a:t>
            </a:r>
            <a:endParaRPr lang="en-US" sz="1425" dirty="0"/>
          </a:p>
        </p:txBody>
      </p:sp>
      <p:sp>
        <p:nvSpPr>
          <p:cNvPr id="43" name="Shape 41"/>
          <p:cNvSpPr/>
          <p:nvPr/>
        </p:nvSpPr>
        <p:spPr>
          <a:xfrm>
            <a:off x="10602873" y="3902932"/>
            <a:ext cx="6770608" cy="5549741"/>
          </a:xfrm>
          <a:prstGeom prst="roundRect">
            <a:avLst>
              <a:gd name="adj" fmla="val 2746"/>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44" name="Text 42"/>
          <p:cNvSpPr/>
          <p:nvPr/>
        </p:nvSpPr>
        <p:spPr>
          <a:xfrm>
            <a:off x="10915293" y="4177253"/>
            <a:ext cx="6760345" cy="327660"/>
          </a:xfrm>
          <a:prstGeom prst="rect">
            <a:avLst/>
          </a:prstGeom>
          <a:noFill/>
          <a:ln/>
        </p:spPr>
        <p:txBody>
          <a:bodyPr wrap="square" lIns="25400" tIns="25400" rIns="25400" bIns="25400" rtlCol="0" anchor="t">
            <a:normAutofit/>
          </a:bodyPr>
          <a:lstStyle/>
          <a:p>
            <a:pPr marL="0" indent="0" algn="l">
              <a:buNone/>
            </a:pPr>
            <a:r>
              <a:rPr lang="en-US" sz="1575" b="1" dirty="0">
                <a:solidFill>
                  <a:srgbClr val="12161D"/>
                </a:solidFill>
                <a:latin typeface="Arial" pitchFamily="34" charset="0"/>
                <a:ea typeface="Arial" pitchFamily="34" charset="-122"/>
                <a:cs typeface="Arial" pitchFamily="34" charset="-120"/>
              </a:rPr>
              <a:t>산출 · 검증</a:t>
            </a:r>
            <a:endParaRPr lang="en-US" sz="1575" dirty="0"/>
          </a:p>
        </p:txBody>
      </p:sp>
      <p:sp>
        <p:nvSpPr>
          <p:cNvPr id="45" name="Shape 43"/>
          <p:cNvSpPr/>
          <p:nvPr/>
        </p:nvSpPr>
        <p:spPr>
          <a:xfrm>
            <a:off x="10915293" y="4986878"/>
            <a:ext cx="6145768" cy="9525"/>
          </a:xfrm>
          <a:prstGeom prst="rect">
            <a:avLst/>
          </a:prstGeom>
          <a:solidFill>
            <a:srgbClr val="E9E4DC"/>
          </a:solidFill>
          <a:ln/>
        </p:spPr>
      </p:sp>
      <p:sp>
        <p:nvSpPr>
          <p:cNvPr id="46" name="Text 44"/>
          <p:cNvSpPr/>
          <p:nvPr/>
        </p:nvSpPr>
        <p:spPr>
          <a:xfrm>
            <a:off x="10915293" y="4638263"/>
            <a:ext cx="391716" cy="281940"/>
          </a:xfrm>
          <a:prstGeom prst="rect">
            <a:avLst/>
          </a:prstGeom>
          <a:noFill/>
          <a:ln/>
        </p:spPr>
        <p:txBody>
          <a:bodyPr wrap="square" lIns="25400" tIns="25400" rIns="25400" bIns="25400" rtlCol="0" anchor="t">
            <a:normAutofit fontScale="92500"/>
          </a:bodyPr>
          <a:lstStyle/>
          <a:p>
            <a:pPr marL="0" indent="0" algn="l">
              <a:buNone/>
            </a:pPr>
            <a:r>
              <a:rPr lang="en-US" sz="1350" dirty="0">
                <a:solidFill>
                  <a:srgbClr val="6F6A5F"/>
                </a:solidFill>
                <a:latin typeface="Arial" pitchFamily="34" charset="0"/>
                <a:ea typeface="Arial" pitchFamily="34" charset="-122"/>
                <a:cs typeface="Arial" pitchFamily="34" charset="-120"/>
              </a:rPr>
              <a:t>원천</a:t>
            </a:r>
            <a:endParaRPr lang="en-US" sz="1350" dirty="0"/>
          </a:p>
        </p:txBody>
      </p:sp>
      <p:sp>
        <p:nvSpPr>
          <p:cNvPr id="47" name="Text 45"/>
          <p:cNvSpPr/>
          <p:nvPr/>
        </p:nvSpPr>
        <p:spPr>
          <a:xfrm>
            <a:off x="14226897" y="4638263"/>
            <a:ext cx="2834164" cy="28194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Arial" pitchFamily="34" charset="0"/>
                <a:ea typeface="Arial" pitchFamily="34" charset="-122"/>
                <a:cs typeface="Arial" pitchFamily="34" charset="-120"/>
              </a:rPr>
              <a:t>Daily_Ports_Data · ArcGIS(무인증)</a:t>
            </a:r>
            <a:endParaRPr lang="en-US" sz="1350" dirty="0"/>
          </a:p>
        </p:txBody>
      </p:sp>
      <p:sp>
        <p:nvSpPr>
          <p:cNvPr id="48" name="Shape 46"/>
          <p:cNvSpPr/>
          <p:nvPr/>
        </p:nvSpPr>
        <p:spPr>
          <a:xfrm>
            <a:off x="10915293" y="5466937"/>
            <a:ext cx="6145768" cy="9525"/>
          </a:xfrm>
          <a:prstGeom prst="rect">
            <a:avLst/>
          </a:prstGeom>
          <a:solidFill>
            <a:srgbClr val="E9E4DC"/>
          </a:solidFill>
          <a:ln/>
        </p:spPr>
      </p:sp>
      <p:sp>
        <p:nvSpPr>
          <p:cNvPr id="49" name="Text 47"/>
          <p:cNvSpPr/>
          <p:nvPr/>
        </p:nvSpPr>
        <p:spPr>
          <a:xfrm>
            <a:off x="10915293" y="5118322"/>
            <a:ext cx="391716" cy="281940"/>
          </a:xfrm>
          <a:prstGeom prst="rect">
            <a:avLst/>
          </a:prstGeom>
          <a:noFill/>
          <a:ln/>
        </p:spPr>
        <p:txBody>
          <a:bodyPr wrap="square" lIns="25400" tIns="25400" rIns="25400" bIns="25400" rtlCol="0" anchor="t">
            <a:normAutofit fontScale="92500"/>
          </a:bodyPr>
          <a:lstStyle/>
          <a:p>
            <a:pPr marL="0" indent="0" algn="l">
              <a:buNone/>
            </a:pPr>
            <a:r>
              <a:rPr lang="en-US" sz="1350" dirty="0">
                <a:solidFill>
                  <a:srgbClr val="6F6A5F"/>
                </a:solidFill>
                <a:latin typeface="Arial" pitchFamily="34" charset="0"/>
                <a:ea typeface="Arial" pitchFamily="34" charset="-122"/>
                <a:cs typeface="Arial" pitchFamily="34" charset="-120"/>
              </a:rPr>
              <a:t>쿼리</a:t>
            </a:r>
            <a:endParaRPr lang="en-US" sz="1350" dirty="0"/>
          </a:p>
        </p:txBody>
      </p:sp>
      <p:sp>
        <p:nvSpPr>
          <p:cNvPr id="50" name="Text 48"/>
          <p:cNvSpPr/>
          <p:nvPr/>
        </p:nvSpPr>
        <p:spPr>
          <a:xfrm>
            <a:off x="14719471" y="5118322"/>
            <a:ext cx="2341590" cy="281940"/>
          </a:xfrm>
          <a:prstGeom prst="rect">
            <a:avLst/>
          </a:prstGeom>
          <a:noFill/>
          <a:ln/>
        </p:spPr>
        <p:txBody>
          <a:bodyPr wrap="square" lIns="25400" tIns="25400" rIns="25400" bIns="25400" rtlCol="0" anchor="t">
            <a:normAutofit/>
          </a:bodyPr>
          <a:lstStyle/>
          <a:p>
            <a:pPr marL="0" indent="0" algn="r">
              <a:buNone/>
            </a:pPr>
            <a:r>
              <a:rPr lang="en-US" sz="1350" b="1" dirty="0">
                <a:solidFill>
                  <a:srgbClr val="12161D"/>
                </a:solidFill>
                <a:latin typeface="Arial" pitchFamily="34" charset="0"/>
                <a:ea typeface="Arial" pitchFamily="34" charset="-122"/>
                <a:cs typeface="Arial" pitchFamily="34" charset="-120"/>
              </a:rPr>
              <a:t>portid 8청크 × 120일 · 페이징</a:t>
            </a:r>
            <a:endParaRPr lang="en-US" sz="1350" dirty="0"/>
          </a:p>
        </p:txBody>
      </p:sp>
      <p:sp>
        <p:nvSpPr>
          <p:cNvPr id="51" name="Shape 49"/>
          <p:cNvSpPr/>
          <p:nvPr/>
        </p:nvSpPr>
        <p:spPr>
          <a:xfrm>
            <a:off x="10915293" y="5946998"/>
            <a:ext cx="6145768" cy="9525"/>
          </a:xfrm>
          <a:prstGeom prst="rect">
            <a:avLst/>
          </a:prstGeom>
          <a:solidFill>
            <a:srgbClr val="E9E4DC"/>
          </a:solidFill>
          <a:ln/>
        </p:spPr>
      </p:sp>
      <p:sp>
        <p:nvSpPr>
          <p:cNvPr id="52" name="Text 50"/>
          <p:cNvSpPr/>
          <p:nvPr/>
        </p:nvSpPr>
        <p:spPr>
          <a:xfrm>
            <a:off x="10915293" y="5598383"/>
            <a:ext cx="391716" cy="281940"/>
          </a:xfrm>
          <a:prstGeom prst="rect">
            <a:avLst/>
          </a:prstGeom>
          <a:noFill/>
          <a:ln/>
        </p:spPr>
        <p:txBody>
          <a:bodyPr wrap="square" lIns="25400" tIns="25400" rIns="25400" bIns="25400" rtlCol="0" anchor="t">
            <a:normAutofit fontScale="92500"/>
          </a:bodyPr>
          <a:lstStyle/>
          <a:p>
            <a:pPr marL="0" indent="0" algn="l">
              <a:buNone/>
            </a:pPr>
            <a:r>
              <a:rPr lang="en-US" sz="1350" dirty="0">
                <a:solidFill>
                  <a:srgbClr val="6F6A5F"/>
                </a:solidFill>
                <a:latin typeface="Arial" pitchFamily="34" charset="0"/>
                <a:ea typeface="Arial" pitchFamily="34" charset="-122"/>
                <a:cs typeface="Arial" pitchFamily="34" charset="-120"/>
              </a:rPr>
              <a:t>매핑</a:t>
            </a:r>
            <a:endParaRPr lang="en-US" sz="1350" dirty="0"/>
          </a:p>
        </p:txBody>
      </p:sp>
      <p:sp>
        <p:nvSpPr>
          <p:cNvPr id="53" name="Text 51"/>
          <p:cNvSpPr/>
          <p:nvPr/>
        </p:nvSpPr>
        <p:spPr>
          <a:xfrm>
            <a:off x="14924127" y="5598383"/>
            <a:ext cx="2350627"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Focus 93 ↔ portid · 93/93</a:t>
            </a:r>
            <a:endParaRPr lang="en-US" sz="1350" dirty="0"/>
          </a:p>
        </p:txBody>
      </p:sp>
      <p:sp>
        <p:nvSpPr>
          <p:cNvPr id="54" name="Shape 52"/>
          <p:cNvSpPr/>
          <p:nvPr/>
        </p:nvSpPr>
        <p:spPr>
          <a:xfrm>
            <a:off x="10915293" y="6427057"/>
            <a:ext cx="6145768" cy="9525"/>
          </a:xfrm>
          <a:prstGeom prst="rect">
            <a:avLst/>
          </a:prstGeom>
          <a:solidFill>
            <a:srgbClr val="E9E4DC"/>
          </a:solidFill>
          <a:ln/>
        </p:spPr>
      </p:sp>
      <p:sp>
        <p:nvSpPr>
          <p:cNvPr id="55" name="Text 53"/>
          <p:cNvSpPr/>
          <p:nvPr/>
        </p:nvSpPr>
        <p:spPr>
          <a:xfrm>
            <a:off x="10915293" y="6078442"/>
            <a:ext cx="391716" cy="281940"/>
          </a:xfrm>
          <a:prstGeom prst="rect">
            <a:avLst/>
          </a:prstGeom>
          <a:noFill/>
          <a:ln/>
        </p:spPr>
        <p:txBody>
          <a:bodyPr wrap="square" lIns="25400" tIns="25400" rIns="25400" bIns="25400" rtlCol="0" anchor="t">
            <a:normAutofit fontScale="92500"/>
          </a:bodyPr>
          <a:lstStyle/>
          <a:p>
            <a:pPr marL="0" indent="0" algn="l">
              <a:buNone/>
            </a:pPr>
            <a:r>
              <a:rPr lang="en-US" sz="1350" dirty="0">
                <a:solidFill>
                  <a:srgbClr val="6F6A5F"/>
                </a:solidFill>
                <a:latin typeface="Arial" pitchFamily="34" charset="0"/>
                <a:ea typeface="Arial" pitchFamily="34" charset="-122"/>
                <a:cs typeface="Arial" pitchFamily="34" charset="-120"/>
              </a:rPr>
              <a:t>실적</a:t>
            </a:r>
            <a:endParaRPr lang="en-US" sz="1350" dirty="0"/>
          </a:p>
        </p:txBody>
      </p:sp>
      <p:sp>
        <p:nvSpPr>
          <p:cNvPr id="56" name="Text 54"/>
          <p:cNvSpPr/>
          <p:nvPr/>
        </p:nvSpPr>
        <p:spPr>
          <a:xfrm>
            <a:off x="15627548" y="6078442"/>
            <a:ext cx="1576864" cy="281940"/>
          </a:xfrm>
          <a:prstGeom prst="rect">
            <a:avLst/>
          </a:prstGeom>
          <a:noFill/>
          <a:ln/>
        </p:spPr>
        <p:txBody>
          <a:bodyPr wrap="square" lIns="25400" tIns="25400" rIns="25400" bIns="25400" rtlCol="0" anchor="t">
            <a:normAutofit/>
          </a:bodyPr>
          <a:lstStyle/>
          <a:p>
            <a:pPr marL="0" indent="0" algn="l">
              <a:buNone/>
            </a:pPr>
            <a:r>
              <a:rPr lang="en-US" sz="1350" b="1" dirty="0">
                <a:solidFill>
                  <a:srgbClr val="28666E"/>
                </a:solidFill>
                <a:latin typeface="Arial" pitchFamily="34" charset="0"/>
                <a:ea typeface="Arial" pitchFamily="34" charset="-122"/>
                <a:cs typeface="Arial" pitchFamily="34" charset="-120"/>
              </a:rPr>
              <a:t>10,212행 → 93 PCI</a:t>
            </a:r>
            <a:endParaRPr lang="en-US" sz="1350" dirty="0"/>
          </a:p>
        </p:txBody>
      </p:sp>
      <p:sp>
        <p:nvSpPr>
          <p:cNvPr id="57" name="Text 55"/>
          <p:cNvSpPr/>
          <p:nvPr/>
        </p:nvSpPr>
        <p:spPr>
          <a:xfrm>
            <a:off x="10915293" y="6558503"/>
            <a:ext cx="391716" cy="281940"/>
          </a:xfrm>
          <a:prstGeom prst="rect">
            <a:avLst/>
          </a:prstGeom>
          <a:noFill/>
          <a:ln/>
        </p:spPr>
        <p:txBody>
          <a:bodyPr wrap="square" lIns="25400" tIns="25400" rIns="25400" bIns="25400" rtlCol="0" anchor="t">
            <a:normAutofit fontScale="92500"/>
          </a:bodyPr>
          <a:lstStyle/>
          <a:p>
            <a:pPr marL="0" indent="0" algn="l">
              <a:buNone/>
            </a:pPr>
            <a:r>
              <a:rPr lang="en-US" sz="1350" dirty="0">
                <a:solidFill>
                  <a:srgbClr val="6F6A5F"/>
                </a:solidFill>
                <a:latin typeface="Arial" pitchFamily="34" charset="0"/>
                <a:ea typeface="Arial" pitchFamily="34" charset="-122"/>
                <a:cs typeface="Arial" pitchFamily="34" charset="-120"/>
              </a:rPr>
              <a:t>지연</a:t>
            </a:r>
            <a:endParaRPr lang="en-US" sz="1350" dirty="0"/>
          </a:p>
        </p:txBody>
      </p:sp>
      <p:sp>
        <p:nvSpPr>
          <p:cNvPr id="58" name="Text 56"/>
          <p:cNvSpPr/>
          <p:nvPr/>
        </p:nvSpPr>
        <p:spPr>
          <a:xfrm>
            <a:off x="14453997" y="6558503"/>
            <a:ext cx="2607064" cy="281940"/>
          </a:xfrm>
          <a:prstGeom prst="rect">
            <a:avLst/>
          </a:prstGeom>
          <a:noFill/>
          <a:ln/>
        </p:spPr>
        <p:txBody>
          <a:bodyPr wrap="square" lIns="25400" tIns="25400" rIns="25400" bIns="25400" rtlCol="0" anchor="t">
            <a:normAutofit fontScale="92500"/>
          </a:bodyPr>
          <a:lstStyle/>
          <a:p>
            <a:pPr marL="0" indent="0" algn="r">
              <a:buNone/>
            </a:pPr>
            <a:r>
              <a:rPr lang="en-US" sz="1350" b="1" dirty="0">
                <a:solidFill>
                  <a:srgbClr val="12161D"/>
                </a:solidFill>
                <a:latin typeface="Arial" pitchFamily="34" charset="0"/>
                <a:ea typeface="Arial" pitchFamily="34" charset="-122"/>
                <a:cs typeface="Arial" pitchFamily="34" charset="-120"/>
              </a:rPr>
              <a:t>배치 lag 7~10일 → 국내 실측 보정</a:t>
            </a:r>
            <a:endParaRPr lang="en-US" sz="1350" dirty="0"/>
          </a:p>
        </p:txBody>
      </p:sp>
      <p:sp>
        <p:nvSpPr>
          <p:cNvPr id="59" name="Text 57"/>
          <p:cNvSpPr/>
          <p:nvPr/>
        </p:nvSpPr>
        <p:spPr>
          <a:xfrm>
            <a:off x="10915293" y="8951658"/>
            <a:ext cx="6330142" cy="264795"/>
          </a:xfrm>
          <a:prstGeom prst="rect">
            <a:avLst/>
          </a:prstGeom>
          <a:noFill/>
          <a:ln/>
        </p:spPr>
        <p:txBody>
          <a:bodyPr wrap="square" lIns="25400" tIns="25400" rIns="25400" bIns="25400" rtlCol="0" anchor="t">
            <a:normAutofit lnSpcReduction="10000"/>
          </a:bodyPr>
          <a:lstStyle/>
          <a:p>
            <a:pPr marL="0" indent="0" algn="l">
              <a:lnSpc>
                <a:spcPct val="119000"/>
              </a:lnSpc>
              <a:buNone/>
            </a:pPr>
            <a:r>
              <a:rPr lang="en-US" sz="1275" dirty="0">
                <a:solidFill>
                  <a:srgbClr val="6F6A5F"/>
                </a:solidFill>
                <a:latin typeface="Arial" pitchFamily="34" charset="0"/>
                <a:ea typeface="Arial" pitchFamily="34" charset="-122"/>
                <a:cs typeface="Arial" pitchFamily="34" charset="-120"/>
              </a:rPr>
              <a:t>추정치(PCI·delay_h)는 화면에 </a:t>
            </a:r>
            <a:r>
              <a:rPr lang="en-US" sz="1275" b="1" dirty="0">
                <a:solidFill>
                  <a:srgbClr val="12161D"/>
                </a:solidFill>
                <a:latin typeface="Arial" pitchFamily="34" charset="0"/>
                <a:ea typeface="Arial" pitchFamily="34" charset="-122"/>
                <a:cs typeface="Arial" pitchFamily="34" charset="-120"/>
              </a:rPr>
              <a:t>근거·기간 병기</a:t>
            </a:r>
            <a:r>
              <a:rPr lang="en-US" sz="1275" dirty="0">
                <a:solidFill>
                  <a:srgbClr val="6F6A5F"/>
                </a:solidFill>
                <a:latin typeface="Arial" pitchFamily="34" charset="0"/>
                <a:ea typeface="Arial" pitchFamily="34" charset="-122"/>
                <a:cs typeface="Arial" pitchFamily="34" charset="-120"/>
              </a:rPr>
              <a:t>로 명시</a:t>
            </a:r>
            <a:endParaRPr lang="en-US" sz="1275" dirty="0"/>
          </a:p>
        </p:txBody>
      </p:sp>
      <p:sp>
        <p:nvSpPr>
          <p:cNvPr id="60" name="Shape 58"/>
          <p:cNvSpPr/>
          <p:nvPr/>
        </p:nvSpPr>
        <p:spPr>
          <a:xfrm>
            <a:off x="914400" y="9624060"/>
            <a:ext cx="16459200" cy="9525"/>
          </a:xfrm>
          <a:prstGeom prst="rect">
            <a:avLst/>
          </a:prstGeom>
          <a:solidFill>
            <a:srgbClr val="E9E4DC"/>
          </a:solidFill>
          <a:ln/>
        </p:spPr>
      </p:sp>
      <p:sp>
        <p:nvSpPr>
          <p:cNvPr id="61" name="Text 59"/>
          <p:cNvSpPr/>
          <p:nvPr/>
        </p:nvSpPr>
        <p:spPr>
          <a:xfrm>
            <a:off x="914400" y="9745980"/>
            <a:ext cx="8933247"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방법론 · TWL 물류포털 상세기술서 §3.2 PCI v2 산식 · IMF PortWatch(위성 AIS) · 추정 기반값은 실데이터 축적 시 갱신</a:t>
            </a:r>
            <a:endParaRPr lang="en-US" sz="1275" dirty="0"/>
          </a:p>
        </p:txBody>
      </p:sp>
      <p:sp>
        <p:nvSpPr>
          <p:cNvPr id="62" name="Text 60"/>
          <p:cNvSpPr/>
          <p:nvPr/>
        </p:nvSpPr>
        <p:spPr>
          <a:xfrm>
            <a:off x="17193459" y="979170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15</a:t>
            </a:r>
            <a:endParaRPr lang="en-US" sz="12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확장성 ·</a:t>
            </a:r>
            <a:r>
              <a:rPr lang="en-US" sz="1425" b="1" kern="0" spc="57" dirty="0">
                <a:solidFill>
                  <a:srgbClr val="28666E"/>
                </a:solidFill>
                <a:latin typeface="Arial" pitchFamily="34" charset="0"/>
                <a:ea typeface="Arial" pitchFamily="34" charset="-122"/>
                <a:cs typeface="Arial" pitchFamily="34" charset="-120"/>
              </a:rPr>
              <a:t>단계별 로드맵</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v1 완료 → M1 핵심 → M2 확대 → M3 고도화</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담당자 피드백을 요구사항으로 — 이미 운영 중인 v1 위에 단계적 확장</a:t>
            </a:r>
            <a:endParaRPr lang="en-US" sz="1875" dirty="0"/>
          </a:p>
        </p:txBody>
      </p:sp>
      <p:sp>
        <p:nvSpPr>
          <p:cNvPr id="5" name="Shape 3"/>
          <p:cNvSpPr/>
          <p:nvPr/>
        </p:nvSpPr>
        <p:spPr>
          <a:xfrm>
            <a:off x="914400"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6" name="Text 4"/>
          <p:cNvSpPr/>
          <p:nvPr/>
        </p:nvSpPr>
        <p:spPr>
          <a:xfrm>
            <a:off x="1245870" y="2620458"/>
            <a:ext cx="457676"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28666E"/>
                </a:solidFill>
                <a:latin typeface="Arial" pitchFamily="34" charset="0"/>
                <a:ea typeface="Arial" pitchFamily="34" charset="-122"/>
                <a:cs typeface="Arial" pitchFamily="34" charset="-120"/>
              </a:rPr>
              <a:t>01</a:t>
            </a:r>
            <a:endParaRPr lang="en-US" sz="2700" dirty="0"/>
          </a:p>
        </p:txBody>
      </p:sp>
      <p:sp>
        <p:nvSpPr>
          <p:cNvPr id="7" name="Shape 5"/>
          <p:cNvSpPr/>
          <p:nvPr/>
        </p:nvSpPr>
        <p:spPr>
          <a:xfrm>
            <a:off x="1741646" y="2668083"/>
            <a:ext cx="1031915" cy="300990"/>
          </a:xfrm>
          <a:prstGeom prst="roundRect">
            <a:avLst>
              <a:gd name="adj" fmla="val 50000"/>
            </a:avLst>
          </a:prstGeom>
          <a:solidFill>
            <a:srgbClr val="28666E"/>
          </a:solidFill>
          <a:ln/>
        </p:spPr>
      </p:sp>
      <p:sp>
        <p:nvSpPr>
          <p:cNvPr id="8" name="Text 6"/>
          <p:cNvSpPr/>
          <p:nvPr/>
        </p:nvSpPr>
        <p:spPr>
          <a:xfrm>
            <a:off x="1865471" y="2715708"/>
            <a:ext cx="1059420" cy="224802"/>
          </a:xfrm>
          <a:prstGeom prst="rect">
            <a:avLst/>
          </a:prstGeom>
          <a:noFill/>
          <a:ln/>
        </p:spPr>
        <p:txBody>
          <a:bodyPr wrap="square" lIns="25400" tIns="25400" rIns="25400" bIns="25400" rtlCol="0" anchor="t">
            <a:normAutofit/>
          </a:bodyPr>
          <a:lstStyle/>
          <a:p>
            <a:pPr marL="0" indent="0" algn="l">
              <a:buNone/>
            </a:pPr>
            <a:r>
              <a:rPr lang="en-US" sz="1125" b="1" dirty="0">
                <a:solidFill>
                  <a:srgbClr val="FFFFFF"/>
                </a:solidFill>
                <a:latin typeface="Arial" pitchFamily="34" charset="0"/>
                <a:ea typeface="Arial" pitchFamily="34" charset="-122"/>
                <a:cs typeface="Arial" pitchFamily="34" charset="-120"/>
              </a:rPr>
              <a:t>완료 · 운영중</a:t>
            </a:r>
            <a:endParaRPr lang="en-US" sz="1125" dirty="0"/>
          </a:p>
        </p:txBody>
      </p:sp>
      <p:sp>
        <p:nvSpPr>
          <p:cNvPr id="9" name="Text 7"/>
          <p:cNvSpPr/>
          <p:nvPr/>
        </p:nvSpPr>
        <p:spPr>
          <a:xfrm>
            <a:off x="1245870"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v1 운영</a:t>
            </a:r>
            <a:endParaRPr lang="en-US" sz="2025" dirty="0"/>
          </a:p>
        </p:txBody>
      </p:sp>
      <p:sp>
        <p:nvSpPr>
          <p:cNvPr id="10" name="Text 8"/>
          <p:cNvSpPr/>
          <p:nvPr/>
        </p:nvSpPr>
        <p:spPr>
          <a:xfrm>
            <a:off x="1245870"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8개 화면 실데이터 · 매일 자동수집 3종 · GitHub Pages 배포 — 이미 사내 운영 중.</a:t>
            </a:r>
            <a:endParaRPr lang="en-US" sz="1425" dirty="0"/>
          </a:p>
        </p:txBody>
      </p:sp>
      <p:sp>
        <p:nvSpPr>
          <p:cNvPr id="11" name="Shape 9"/>
          <p:cNvSpPr/>
          <p:nvPr/>
        </p:nvSpPr>
        <p:spPr>
          <a:xfrm>
            <a:off x="5091113"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2" name="Text 10"/>
          <p:cNvSpPr/>
          <p:nvPr/>
        </p:nvSpPr>
        <p:spPr>
          <a:xfrm>
            <a:off x="5422582" y="2620458"/>
            <a:ext cx="457676"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28666E"/>
                </a:solidFill>
                <a:latin typeface="Arial" pitchFamily="34" charset="0"/>
                <a:ea typeface="Arial" pitchFamily="34" charset="-122"/>
                <a:cs typeface="Arial" pitchFamily="34" charset="-120"/>
              </a:rPr>
              <a:t>02</a:t>
            </a:r>
            <a:endParaRPr lang="en-US" sz="2700" dirty="0"/>
          </a:p>
        </p:txBody>
      </p:sp>
      <p:sp>
        <p:nvSpPr>
          <p:cNvPr id="13" name="Shape 11"/>
          <p:cNvSpPr/>
          <p:nvPr/>
        </p:nvSpPr>
        <p:spPr>
          <a:xfrm>
            <a:off x="5918359" y="2668083"/>
            <a:ext cx="836057" cy="300990"/>
          </a:xfrm>
          <a:prstGeom prst="roundRect">
            <a:avLst>
              <a:gd name="adj" fmla="val 50000"/>
            </a:avLst>
          </a:prstGeom>
          <a:solidFill>
            <a:srgbClr val="E7EEEE"/>
          </a:solidFill>
          <a:ln/>
        </p:spPr>
      </p:sp>
      <p:sp>
        <p:nvSpPr>
          <p:cNvPr id="14" name="Text 12"/>
          <p:cNvSpPr/>
          <p:nvPr/>
        </p:nvSpPr>
        <p:spPr>
          <a:xfrm>
            <a:off x="6042184" y="2715708"/>
            <a:ext cx="664607" cy="24384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M1 · 핵심</a:t>
            </a:r>
            <a:endParaRPr lang="en-US" sz="1125" dirty="0"/>
          </a:p>
        </p:txBody>
      </p:sp>
      <p:sp>
        <p:nvSpPr>
          <p:cNvPr id="15" name="Text 13"/>
          <p:cNvSpPr/>
          <p:nvPr/>
        </p:nvSpPr>
        <p:spPr>
          <a:xfrm>
            <a:off x="5422582"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피드백 반영</a:t>
            </a:r>
            <a:endParaRPr lang="en-US" sz="2025" dirty="0"/>
          </a:p>
        </p:txBody>
      </p:sp>
      <p:sp>
        <p:nvSpPr>
          <p:cNvPr id="16" name="Text 14"/>
          <p:cNvSpPr/>
          <p:nvPr/>
        </p:nvSpPr>
        <p:spPr>
          <a:xfrm>
            <a:off x="5422582"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포트 검색(LOCODE 자동완성) · 국내/해외 탭 분리 · 선석 터미널 8곳 확대 · Ship Schedule 3뷰.</a:t>
            </a:r>
            <a:endParaRPr lang="en-US" sz="1425" dirty="0"/>
          </a:p>
        </p:txBody>
      </p:sp>
      <p:sp>
        <p:nvSpPr>
          <p:cNvPr id="17" name="Shape 15"/>
          <p:cNvSpPr/>
          <p:nvPr/>
        </p:nvSpPr>
        <p:spPr>
          <a:xfrm>
            <a:off x="9267825"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18" name="Text 16"/>
          <p:cNvSpPr/>
          <p:nvPr/>
        </p:nvSpPr>
        <p:spPr>
          <a:xfrm>
            <a:off x="9599295" y="2620458"/>
            <a:ext cx="457676"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28666E"/>
                </a:solidFill>
                <a:latin typeface="Arial" pitchFamily="34" charset="0"/>
                <a:ea typeface="Arial" pitchFamily="34" charset="-122"/>
                <a:cs typeface="Arial" pitchFamily="34" charset="-120"/>
              </a:rPr>
              <a:t>03</a:t>
            </a:r>
            <a:endParaRPr lang="en-US" sz="2700" dirty="0"/>
          </a:p>
        </p:txBody>
      </p:sp>
      <p:sp>
        <p:nvSpPr>
          <p:cNvPr id="19" name="Shape 17"/>
          <p:cNvSpPr/>
          <p:nvPr/>
        </p:nvSpPr>
        <p:spPr>
          <a:xfrm>
            <a:off x="10095071" y="2668083"/>
            <a:ext cx="836057" cy="300990"/>
          </a:xfrm>
          <a:prstGeom prst="roundRect">
            <a:avLst>
              <a:gd name="adj" fmla="val 50000"/>
            </a:avLst>
          </a:prstGeom>
          <a:solidFill>
            <a:srgbClr val="E7EEEE"/>
          </a:solidFill>
          <a:ln/>
        </p:spPr>
      </p:sp>
      <p:sp>
        <p:nvSpPr>
          <p:cNvPr id="20" name="Text 18"/>
          <p:cNvSpPr/>
          <p:nvPr/>
        </p:nvSpPr>
        <p:spPr>
          <a:xfrm>
            <a:off x="10218896" y="2715708"/>
            <a:ext cx="664607" cy="243840"/>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M2 · 확대</a:t>
            </a:r>
            <a:endParaRPr lang="en-US" sz="1125" dirty="0"/>
          </a:p>
        </p:txBody>
      </p:sp>
      <p:sp>
        <p:nvSpPr>
          <p:cNvPr id="21" name="Text 19"/>
          <p:cNvSpPr/>
          <p:nvPr/>
        </p:nvSpPr>
        <p:spPr>
          <a:xfrm>
            <a:off x="9599295"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해외 확대</a:t>
            </a:r>
            <a:endParaRPr lang="en-US" sz="2025" dirty="0"/>
          </a:p>
        </p:txBody>
      </p:sp>
      <p:sp>
        <p:nvSpPr>
          <p:cNvPr id="22" name="Text 20"/>
          <p:cNvSpPr/>
          <p:nvPr/>
        </p:nvSpPr>
        <p:spPr>
          <a:xfrm>
            <a:off x="9599295"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해외 터미널 스케줄 · 확인필요 터미널 매핑 · ICON 중복 정리 · 성능 캐시 &lt;3초.</a:t>
            </a:r>
            <a:endParaRPr lang="en-US" sz="1425" dirty="0"/>
          </a:p>
        </p:txBody>
      </p:sp>
      <p:sp>
        <p:nvSpPr>
          <p:cNvPr id="23" name="Shape 21"/>
          <p:cNvSpPr/>
          <p:nvPr/>
        </p:nvSpPr>
        <p:spPr>
          <a:xfrm>
            <a:off x="13444538" y="2308038"/>
            <a:ext cx="3929063" cy="7068384"/>
          </a:xfrm>
          <a:prstGeom prst="roundRect">
            <a:avLst>
              <a:gd name="adj" fmla="val 3879"/>
            </a:avLst>
          </a:prstGeom>
          <a:solidFill>
            <a:srgbClr val="FFFFFF"/>
          </a:solidFill>
          <a:ln w="7620">
            <a:solidFill>
              <a:srgbClr val="ECE7DD"/>
            </a:solidFill>
            <a:prstDash val="solid"/>
          </a:ln>
          <a:effectLst>
            <a:outerShdw blurRad="95250" dist="19050" dir="5400000" algn="bl" rotWithShape="0">
              <a:srgbClr val="12161D">
                <a:alpha val="4000"/>
              </a:srgbClr>
            </a:outerShdw>
          </a:effectLst>
        </p:spPr>
      </p:sp>
      <p:sp>
        <p:nvSpPr>
          <p:cNvPr id="24" name="Text 22"/>
          <p:cNvSpPr/>
          <p:nvPr/>
        </p:nvSpPr>
        <p:spPr>
          <a:xfrm>
            <a:off x="13776008" y="2620458"/>
            <a:ext cx="457676"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28666E"/>
                </a:solidFill>
                <a:latin typeface="Arial" pitchFamily="34" charset="0"/>
                <a:ea typeface="Arial" pitchFamily="34" charset="-122"/>
                <a:cs typeface="Arial" pitchFamily="34" charset="-120"/>
              </a:rPr>
              <a:t>04</a:t>
            </a:r>
            <a:endParaRPr lang="en-US" sz="2700" dirty="0"/>
          </a:p>
        </p:txBody>
      </p:sp>
      <p:sp>
        <p:nvSpPr>
          <p:cNvPr id="25" name="Shape 23"/>
          <p:cNvSpPr/>
          <p:nvPr/>
        </p:nvSpPr>
        <p:spPr>
          <a:xfrm>
            <a:off x="14271784" y="2668083"/>
            <a:ext cx="967502" cy="300990"/>
          </a:xfrm>
          <a:prstGeom prst="roundRect">
            <a:avLst>
              <a:gd name="adj" fmla="val 50000"/>
            </a:avLst>
          </a:prstGeom>
          <a:solidFill>
            <a:srgbClr val="E7EEEE"/>
          </a:solidFill>
          <a:ln/>
        </p:spPr>
      </p:sp>
      <p:sp>
        <p:nvSpPr>
          <p:cNvPr id="26" name="Text 24"/>
          <p:cNvSpPr/>
          <p:nvPr/>
        </p:nvSpPr>
        <p:spPr>
          <a:xfrm>
            <a:off x="14395608" y="2715707"/>
            <a:ext cx="967501" cy="253365"/>
          </a:xfrm>
          <a:prstGeom prst="rect">
            <a:avLst/>
          </a:prstGeom>
          <a:noFill/>
          <a:ln/>
        </p:spPr>
        <p:txBody>
          <a:bodyPr wrap="square" lIns="25400" tIns="25400" rIns="25400" bIns="25400" rtlCol="0" anchor="t">
            <a:normAutofit/>
          </a:bodyPr>
          <a:lstStyle/>
          <a:p>
            <a:pPr marL="0" indent="0" algn="l">
              <a:buNone/>
            </a:pPr>
            <a:r>
              <a:rPr lang="en-US" sz="1125" b="1" dirty="0">
                <a:solidFill>
                  <a:srgbClr val="28666E"/>
                </a:solidFill>
                <a:latin typeface="Arial" pitchFamily="34" charset="0"/>
                <a:ea typeface="Arial" pitchFamily="34" charset="-122"/>
                <a:cs typeface="Arial" pitchFamily="34" charset="-120"/>
              </a:rPr>
              <a:t>M3 · 고도화</a:t>
            </a:r>
            <a:endParaRPr lang="en-US" sz="1125" dirty="0"/>
          </a:p>
        </p:txBody>
      </p:sp>
      <p:sp>
        <p:nvSpPr>
          <p:cNvPr id="27" name="Text 25"/>
          <p:cNvSpPr/>
          <p:nvPr/>
        </p:nvSpPr>
        <p:spPr>
          <a:xfrm>
            <a:off x="13776008" y="3169098"/>
            <a:ext cx="3592735" cy="411480"/>
          </a:xfrm>
          <a:prstGeom prst="rect">
            <a:avLst/>
          </a:prstGeom>
          <a:noFill/>
          <a:ln/>
        </p:spPr>
        <p:txBody>
          <a:bodyPr wrap="square" lIns="25400" tIns="25400" rIns="25400" bIns="25400" rtlCol="0" anchor="t">
            <a:normAutofit/>
          </a:bodyPr>
          <a:lstStyle/>
          <a:p>
            <a:pPr marL="0" indent="0" algn="l">
              <a:buNone/>
            </a:pPr>
            <a:r>
              <a:rPr lang="en-US" sz="2025" b="1" dirty="0">
                <a:solidFill>
                  <a:srgbClr val="12161D"/>
                </a:solidFill>
                <a:latin typeface="Arial" pitchFamily="34" charset="0"/>
                <a:ea typeface="Arial" pitchFamily="34" charset="-122"/>
                <a:cs typeface="Arial" pitchFamily="34" charset="-120"/>
              </a:rPr>
              <a:t>지능화</a:t>
            </a:r>
            <a:endParaRPr lang="en-US" sz="2025" dirty="0"/>
          </a:p>
        </p:txBody>
      </p:sp>
      <p:sp>
        <p:nvSpPr>
          <p:cNvPr id="28" name="Text 26"/>
          <p:cNvSpPr/>
          <p:nvPr/>
        </p:nvSpPr>
        <p:spPr>
          <a:xfrm>
            <a:off x="13776008" y="3656779"/>
            <a:ext cx="3364106" cy="5445323"/>
          </a:xfrm>
          <a:prstGeom prst="rect">
            <a:avLst/>
          </a:prstGeom>
          <a:noFill/>
          <a:ln/>
        </p:spPr>
        <p:txBody>
          <a:bodyPr wrap="square" lIns="25400" tIns="25400" rIns="25400" bIns="25400" rtlCol="0" anchor="t">
            <a:normAutofit/>
          </a:bodyPr>
          <a:lstStyle/>
          <a:p>
            <a:pPr marL="0" indent="0" algn="l">
              <a:lnSpc>
                <a:spcPct val="127232"/>
              </a:lnSpc>
              <a:buNone/>
            </a:pPr>
            <a:r>
              <a:rPr lang="en-US" sz="1425" dirty="0">
                <a:solidFill>
                  <a:srgbClr val="6F6A5F"/>
                </a:solidFill>
                <a:latin typeface="Arial" pitchFamily="34" charset="0"/>
                <a:ea typeface="Arial" pitchFamily="34" charset="-122"/>
                <a:cs typeface="Arial" pitchFamily="34" charset="-120"/>
              </a:rPr>
              <a:t>v3 지표(UNCTAD 선석점유율·Erlang C·CPPI) · React 컷오버 · 벤치마크(surff·tradlinx).</a:t>
            </a:r>
            <a:endParaRPr lang="en-US" sz="1425" dirty="0"/>
          </a:p>
        </p:txBody>
      </p:sp>
      <p:sp>
        <p:nvSpPr>
          <p:cNvPr id="29" name="Shape 27"/>
          <p:cNvSpPr/>
          <p:nvPr/>
        </p:nvSpPr>
        <p:spPr>
          <a:xfrm>
            <a:off x="914400" y="9605010"/>
            <a:ext cx="16459200" cy="9525"/>
          </a:xfrm>
          <a:prstGeom prst="rect">
            <a:avLst/>
          </a:prstGeom>
          <a:solidFill>
            <a:srgbClr val="E9E4DC"/>
          </a:solidFill>
          <a:ln/>
        </p:spPr>
      </p:sp>
      <p:sp>
        <p:nvSpPr>
          <p:cNvPr id="30" name="Text 28"/>
          <p:cNvSpPr/>
          <p:nvPr/>
        </p:nvSpPr>
        <p:spPr>
          <a:xfrm>
            <a:off x="914400" y="9726930"/>
            <a:ext cx="9137166"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출처 · SRS §7 마일스톤(M1~M3) · 개발이력 §6 남은 과제 · v3 방법론(UNCTAD·Erlang C·CPPI) 실데이터 사전 검증 완료</a:t>
            </a:r>
            <a:endParaRPr lang="en-US" sz="1275" dirty="0"/>
          </a:p>
        </p:txBody>
      </p:sp>
      <p:sp>
        <p:nvSpPr>
          <p:cNvPr id="31" name="Text 29"/>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16</a:t>
            </a:r>
            <a:endParaRPr lang="en-US" sz="12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확장성 ·</a:t>
            </a:r>
            <a:r>
              <a:rPr lang="en-US" sz="1425" b="1" kern="0" spc="57" dirty="0">
                <a:solidFill>
                  <a:srgbClr val="28666E"/>
                </a:solidFill>
                <a:latin typeface="Arial" pitchFamily="34" charset="0"/>
                <a:ea typeface="Arial" pitchFamily="34" charset="-122"/>
                <a:cs typeface="Arial" pitchFamily="34" charset="-120"/>
              </a:rPr>
              <a:t>확장 방향</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국내 컨트롤타워를 발판으로, 해외·지능화로</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규제·데이터 표준 위에 쌓은 파이프라인이 그대로 재사용 가능한 확장 자산</a:t>
            </a:r>
            <a:endParaRPr lang="en-US" sz="1875" dirty="0"/>
          </a:p>
        </p:txBody>
      </p:sp>
      <p:sp>
        <p:nvSpPr>
          <p:cNvPr id="5" name="Shape 3"/>
          <p:cNvSpPr/>
          <p:nvPr/>
        </p:nvSpPr>
        <p:spPr>
          <a:xfrm>
            <a:off x="914400" y="2327140"/>
            <a:ext cx="609600" cy="28575"/>
          </a:xfrm>
          <a:prstGeom prst="rect">
            <a:avLst/>
          </a:prstGeom>
          <a:solidFill>
            <a:srgbClr val="28666E"/>
          </a:solidFill>
          <a:ln/>
        </p:spPr>
      </p:sp>
      <p:sp>
        <p:nvSpPr>
          <p:cNvPr id="6" name="Text 4"/>
          <p:cNvSpPr/>
          <p:nvPr/>
        </p:nvSpPr>
        <p:spPr>
          <a:xfrm>
            <a:off x="914400"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해외 확장</a:t>
            </a:r>
            <a:endParaRPr lang="en-US" sz="1950" dirty="0"/>
          </a:p>
        </p:txBody>
      </p:sp>
      <p:sp>
        <p:nvSpPr>
          <p:cNvPr id="7" name="Text 5"/>
          <p:cNvSpPr/>
          <p:nvPr/>
        </p:nvSpPr>
        <p:spPr>
          <a:xfrm>
            <a:off x="914400" y="30948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Ship Schedule 3뷰 (Route·Vessel·Port)</a:t>
            </a:r>
            <a:endParaRPr lang="en-US" sz="1500" dirty="0"/>
          </a:p>
        </p:txBody>
      </p:sp>
      <p:sp>
        <p:nvSpPr>
          <p:cNvPr id="8" name="Text 6"/>
          <p:cNvSpPr/>
          <p:nvPr/>
        </p:nvSpPr>
        <p:spPr>
          <a:xfrm>
            <a:off x="914400" y="349490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해외 터미널 스케줄 (LOCODE 기반)</a:t>
            </a:r>
            <a:endParaRPr lang="en-US" sz="1500" dirty="0"/>
          </a:p>
        </p:txBody>
      </p:sp>
      <p:sp>
        <p:nvSpPr>
          <p:cNvPr id="9" name="Text 7"/>
          <p:cNvSpPr/>
          <p:nvPr/>
        </p:nvSpPr>
        <p:spPr>
          <a:xfrm>
            <a:off x="914400" y="38949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searates 대비 </a:t>
            </a:r>
            <a:r>
              <a:rPr lang="en-US" sz="1500" b="1" dirty="0">
                <a:solidFill>
                  <a:srgbClr val="4A4A4A"/>
                </a:solidFill>
                <a:latin typeface="Arial" pitchFamily="34" charset="0"/>
                <a:ea typeface="Arial" pitchFamily="34" charset="-122"/>
                <a:cs typeface="Arial" pitchFamily="34" charset="-120"/>
              </a:rPr>
              <a:t>속도 우위 </a:t>
            </a:r>
            <a:r>
              <a:rPr lang="en-US" sz="1500" dirty="0">
                <a:solidFill>
                  <a:srgbClr val="4A4A4A"/>
                </a:solidFill>
                <a:latin typeface="Arial" pitchFamily="34" charset="0"/>
                <a:ea typeface="Arial" pitchFamily="34" charset="-122"/>
                <a:cs typeface="Arial" pitchFamily="34" charset="-120"/>
              </a:rPr>
              <a:t>(캐시 &lt;3초)</a:t>
            </a:r>
            <a:endParaRPr lang="en-US" sz="1500" dirty="0"/>
          </a:p>
        </p:txBody>
      </p:sp>
      <p:sp>
        <p:nvSpPr>
          <p:cNvPr id="10" name="Shape 8"/>
          <p:cNvSpPr/>
          <p:nvPr/>
        </p:nvSpPr>
        <p:spPr>
          <a:xfrm>
            <a:off x="5095875" y="2327140"/>
            <a:ext cx="609600" cy="28575"/>
          </a:xfrm>
          <a:prstGeom prst="rect">
            <a:avLst/>
          </a:prstGeom>
          <a:solidFill>
            <a:srgbClr val="28666E"/>
          </a:solidFill>
          <a:ln/>
        </p:spPr>
      </p:sp>
      <p:sp>
        <p:nvSpPr>
          <p:cNvPr id="11" name="Text 9"/>
          <p:cNvSpPr/>
          <p:nvPr/>
        </p:nvSpPr>
        <p:spPr>
          <a:xfrm>
            <a:off x="5095875"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지능화</a:t>
            </a:r>
            <a:endParaRPr lang="en-US" sz="1950" dirty="0"/>
          </a:p>
        </p:txBody>
      </p:sp>
      <p:sp>
        <p:nvSpPr>
          <p:cNvPr id="12" name="Text 10"/>
          <p:cNvSpPr/>
          <p:nvPr/>
        </p:nvSpPr>
        <p:spPr>
          <a:xfrm>
            <a:off x="5095875" y="30948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ETA 지연 리스크 (로그정규 적합)</a:t>
            </a:r>
            <a:endParaRPr lang="en-US" sz="1500" dirty="0"/>
          </a:p>
        </p:txBody>
      </p:sp>
      <p:sp>
        <p:nvSpPr>
          <p:cNvPr id="13" name="Text 11"/>
          <p:cNvSpPr/>
          <p:nvPr/>
        </p:nvSpPr>
        <p:spPr>
          <a:xfrm>
            <a:off x="5095875" y="349490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경로 몬테카를로 P10/P50/P90</a:t>
            </a:r>
            <a:endParaRPr lang="en-US" sz="1500" dirty="0"/>
          </a:p>
        </p:txBody>
      </p:sp>
      <p:sp>
        <p:nvSpPr>
          <p:cNvPr id="14" name="Text 12"/>
          <p:cNvSpPr/>
          <p:nvPr/>
        </p:nvSpPr>
        <p:spPr>
          <a:xfrm>
            <a:off x="5095875" y="38949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v3 UNCTAD·Erlang C·CPPI 생산성</a:t>
            </a:r>
            <a:endParaRPr lang="en-US" sz="1500" dirty="0"/>
          </a:p>
        </p:txBody>
      </p:sp>
      <p:sp>
        <p:nvSpPr>
          <p:cNvPr id="15" name="Shape 13"/>
          <p:cNvSpPr/>
          <p:nvPr/>
        </p:nvSpPr>
        <p:spPr>
          <a:xfrm>
            <a:off x="9277350" y="2327140"/>
            <a:ext cx="609600" cy="28575"/>
          </a:xfrm>
          <a:prstGeom prst="rect">
            <a:avLst/>
          </a:prstGeom>
          <a:solidFill>
            <a:srgbClr val="28666E"/>
          </a:solidFill>
          <a:ln/>
        </p:spPr>
      </p:sp>
      <p:sp>
        <p:nvSpPr>
          <p:cNvPr id="16" name="Text 14"/>
          <p:cNvSpPr/>
          <p:nvPr/>
        </p:nvSpPr>
        <p:spPr>
          <a:xfrm>
            <a:off x="9277350"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전사·계열사</a:t>
            </a:r>
            <a:endParaRPr lang="en-US" sz="1950" dirty="0"/>
          </a:p>
        </p:txBody>
      </p:sp>
      <p:sp>
        <p:nvSpPr>
          <p:cNvPr id="17" name="Text 15"/>
          <p:cNvSpPr/>
          <p:nvPr/>
        </p:nvSpPr>
        <p:spPr>
          <a:xfrm>
            <a:off x="9277350" y="30948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법인·계열사 본사 배포</a:t>
            </a:r>
            <a:endParaRPr lang="en-US" sz="1500" dirty="0"/>
          </a:p>
        </p:txBody>
      </p:sp>
      <p:sp>
        <p:nvSpPr>
          <p:cNvPr id="18" name="Text 16"/>
          <p:cNvSpPr/>
          <p:nvPr/>
        </p:nvSpPr>
        <p:spPr>
          <a:xfrm>
            <a:off x="9277350" y="349490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국내/해외 탭 통합 운영</a:t>
            </a:r>
            <a:endParaRPr lang="en-US" sz="1500" dirty="0"/>
          </a:p>
        </p:txBody>
      </p:sp>
      <p:sp>
        <p:nvSpPr>
          <p:cNvPr id="19" name="Text 17"/>
          <p:cNvSpPr/>
          <p:nvPr/>
        </p:nvSpPr>
        <p:spPr>
          <a:xfrm>
            <a:off x="9277350" y="38949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역할별 관심 선박 구독·알림</a:t>
            </a:r>
            <a:endParaRPr lang="en-US" sz="1500" dirty="0"/>
          </a:p>
        </p:txBody>
      </p:sp>
      <p:sp>
        <p:nvSpPr>
          <p:cNvPr id="20" name="Shape 18"/>
          <p:cNvSpPr/>
          <p:nvPr/>
        </p:nvSpPr>
        <p:spPr>
          <a:xfrm>
            <a:off x="13458825" y="2327140"/>
            <a:ext cx="609600" cy="28575"/>
          </a:xfrm>
          <a:prstGeom prst="rect">
            <a:avLst/>
          </a:prstGeom>
          <a:solidFill>
            <a:srgbClr val="28666E"/>
          </a:solidFill>
          <a:ln/>
        </p:spPr>
      </p:sp>
      <p:sp>
        <p:nvSpPr>
          <p:cNvPr id="21" name="Text 19"/>
          <p:cNvSpPr/>
          <p:nvPr/>
        </p:nvSpPr>
        <p:spPr>
          <a:xfrm>
            <a:off x="13458825" y="2546215"/>
            <a:ext cx="4306253" cy="396240"/>
          </a:xfrm>
          <a:prstGeom prst="rect">
            <a:avLst/>
          </a:prstGeom>
          <a:noFill/>
          <a:ln/>
        </p:spPr>
        <p:txBody>
          <a:bodyPr wrap="square" lIns="25400" tIns="25400" rIns="25400" bIns="25400" rtlCol="0" anchor="t">
            <a:normAutofit/>
          </a:bodyPr>
          <a:lstStyle/>
          <a:p>
            <a:pPr marL="0" indent="0" algn="l">
              <a:buNone/>
            </a:pPr>
            <a:r>
              <a:rPr lang="en-US" sz="1950" b="1" dirty="0">
                <a:solidFill>
                  <a:srgbClr val="12161D"/>
                </a:solidFill>
                <a:latin typeface="Arial" pitchFamily="34" charset="0"/>
                <a:ea typeface="Arial" pitchFamily="34" charset="-122"/>
                <a:cs typeface="Arial" pitchFamily="34" charset="-120"/>
              </a:rPr>
              <a:t>플랫폼화</a:t>
            </a:r>
            <a:endParaRPr lang="en-US" sz="1950" dirty="0"/>
          </a:p>
        </p:txBody>
      </p:sp>
      <p:sp>
        <p:nvSpPr>
          <p:cNvPr id="22" name="Text 20"/>
          <p:cNvSpPr/>
          <p:nvPr/>
        </p:nvSpPr>
        <p:spPr>
          <a:xfrm>
            <a:off x="13458825" y="30948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React·TS 재사용 DataGrid</a:t>
            </a:r>
            <a:endParaRPr lang="en-US" sz="1500" dirty="0"/>
          </a:p>
        </p:txBody>
      </p:sp>
      <p:sp>
        <p:nvSpPr>
          <p:cNvPr id="23" name="Text 21"/>
          <p:cNvSpPr/>
          <p:nvPr/>
        </p:nvSpPr>
        <p:spPr>
          <a:xfrm>
            <a:off x="13458825" y="349490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파서 플러그인 (추가=설정+파서)</a:t>
            </a:r>
            <a:endParaRPr lang="en-US" sz="1500" dirty="0"/>
          </a:p>
        </p:txBody>
      </p:sp>
      <p:sp>
        <p:nvSpPr>
          <p:cNvPr id="24" name="Text 22"/>
          <p:cNvSpPr/>
          <p:nvPr/>
        </p:nvSpPr>
        <p:spPr>
          <a:xfrm>
            <a:off x="13458825" y="3894955"/>
            <a:ext cx="4306253" cy="304800"/>
          </a:xfrm>
          <a:prstGeom prst="rect">
            <a:avLst/>
          </a:prstGeom>
          <a:noFill/>
          <a:ln/>
        </p:spPr>
        <p:txBody>
          <a:bodyPr wrap="square" lIns="25400" tIns="25400" rIns="25400" bIns="25400" rtlCol="0" anchor="t">
            <a:normAutofit lnSpcReduction="10000"/>
          </a:bodyPr>
          <a:lstStyle/>
          <a:p>
            <a:pPr marL="0" indent="0" algn="l">
              <a:lnSpc>
                <a:spcPct val="120690"/>
              </a:lnSpc>
              <a:buNone/>
            </a:pPr>
            <a:r>
              <a:rPr lang="en-US" sz="1500" dirty="0">
                <a:solidFill>
                  <a:srgbClr val="4A4A4A"/>
                </a:solidFill>
                <a:latin typeface="Arial" pitchFamily="34" charset="0"/>
                <a:ea typeface="Arial" pitchFamily="34" charset="-122"/>
                <a:cs typeface="Arial" pitchFamily="34" charset="-120"/>
              </a:rPr>
              <a:t>통관·컨테이너 트래킹 연계</a:t>
            </a:r>
            <a:endParaRPr lang="en-US" sz="1500" dirty="0"/>
          </a:p>
        </p:txBody>
      </p:sp>
      <p:sp>
        <p:nvSpPr>
          <p:cNvPr id="25" name="Shape 23"/>
          <p:cNvSpPr/>
          <p:nvPr/>
        </p:nvSpPr>
        <p:spPr>
          <a:xfrm>
            <a:off x="914400" y="9605010"/>
            <a:ext cx="16459200" cy="9525"/>
          </a:xfrm>
          <a:prstGeom prst="rect">
            <a:avLst/>
          </a:prstGeom>
          <a:solidFill>
            <a:srgbClr val="E9E4DC"/>
          </a:solidFill>
          <a:ln/>
        </p:spPr>
      </p:sp>
      <p:sp>
        <p:nvSpPr>
          <p:cNvPr id="26" name="Text 24"/>
          <p:cNvSpPr/>
          <p:nvPr/>
        </p:nvSpPr>
        <p:spPr>
          <a:xfrm>
            <a:off x="914400" y="9726930"/>
            <a:ext cx="8543223"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확장 전략 · SRS §3·§6 확장 요건 · 개발이력 §6 남은 과제 — 무료·표준 기반 파이프라인이 재사용 가능한 확장 자산</a:t>
            </a:r>
            <a:endParaRPr lang="en-US" sz="1275" dirty="0"/>
          </a:p>
        </p:txBody>
      </p:sp>
      <p:sp>
        <p:nvSpPr>
          <p:cNvPr id="27" name="Text 25"/>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17</a:t>
            </a:r>
            <a:endParaRPr lang="en-US" sz="12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914400" y="609600"/>
            <a:ext cx="18105120" cy="304800"/>
          </a:xfrm>
          <a:prstGeom prst="rect">
            <a:avLst/>
          </a:prstGeom>
          <a:noFill/>
          <a:ln/>
        </p:spPr>
        <p:txBody>
          <a:bodyPr wrap="square" lIns="25400" tIns="25400" rIns="25400" bIns="25400" rtlCol="0" anchor="t">
            <a:normAutofit/>
          </a:bodyPr>
          <a:lstStyle/>
          <a:p>
            <a:pPr marL="0" indent="0" algn="l">
              <a:buNone/>
            </a:pPr>
            <a:r>
              <a:rPr lang="en-US" sz="1425" b="1" kern="0" spc="57" dirty="0">
                <a:solidFill>
                  <a:srgbClr val="6F6A5F"/>
                </a:solidFill>
                <a:latin typeface="Arial" pitchFamily="34" charset="0"/>
                <a:ea typeface="Arial" pitchFamily="34" charset="-122"/>
                <a:cs typeface="Arial" pitchFamily="34" charset="-120"/>
              </a:rPr>
              <a:t>04 타당성 ·</a:t>
            </a:r>
            <a:r>
              <a:rPr lang="en-US" sz="1425" b="1" kern="0" spc="57" dirty="0">
                <a:solidFill>
                  <a:srgbClr val="28666E"/>
                </a:solidFill>
                <a:latin typeface="Arial" pitchFamily="34" charset="0"/>
                <a:ea typeface="Arial" pitchFamily="34" charset="-122"/>
                <a:cs typeface="Arial" pitchFamily="34" charset="-120"/>
              </a:rPr>
              <a:t>외부 검증</a:t>
            </a:r>
            <a:endParaRPr lang="en-US" sz="1425" dirty="0"/>
          </a:p>
        </p:txBody>
      </p:sp>
      <p:sp>
        <p:nvSpPr>
          <p:cNvPr id="3" name="Text 1"/>
          <p:cNvSpPr/>
          <p:nvPr/>
        </p:nvSpPr>
        <p:spPr>
          <a:xfrm>
            <a:off x="914400" y="971550"/>
            <a:ext cx="18105120" cy="593527"/>
          </a:xfrm>
          <a:prstGeom prst="rect">
            <a:avLst/>
          </a:prstGeom>
          <a:noFill/>
          <a:ln/>
        </p:spPr>
        <p:txBody>
          <a:bodyPr wrap="square" lIns="25400" tIns="25400" rIns="25400" bIns="25400" rtlCol="0" anchor="t">
            <a:normAutofit/>
          </a:bodyPr>
          <a:lstStyle/>
          <a:p>
            <a:pPr marL="0" indent="0" algn="l">
              <a:lnSpc>
                <a:spcPct val="76737"/>
              </a:lnSpc>
              <a:buNone/>
            </a:pPr>
            <a:r>
              <a:rPr lang="en-US" sz="4050" b="1" kern="0" spc="-81" dirty="0">
                <a:solidFill>
                  <a:srgbClr val="12161D"/>
                </a:solidFill>
                <a:latin typeface="Arial" pitchFamily="34" charset="0"/>
                <a:ea typeface="Arial" pitchFamily="34" charset="-122"/>
                <a:cs typeface="Arial" pitchFamily="34" charset="-120"/>
              </a:rPr>
              <a:t>우리 주장이 아니라, 공개 기관 데이터가 뒷받침합니다</a:t>
            </a:r>
            <a:endParaRPr lang="en-US" sz="4050" dirty="0"/>
          </a:p>
        </p:txBody>
      </p:sp>
      <p:sp>
        <p:nvSpPr>
          <p:cNvPr id="4" name="Text 2"/>
          <p:cNvSpPr/>
          <p:nvPr/>
        </p:nvSpPr>
        <p:spPr>
          <a:xfrm>
            <a:off x="914400" y="1641277"/>
            <a:ext cx="1810512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F6A5F"/>
                </a:solidFill>
                <a:latin typeface="Arial" pitchFamily="34" charset="0"/>
                <a:ea typeface="Arial" pitchFamily="34" charset="-122"/>
                <a:cs typeface="Arial" pitchFamily="34" charset="-120"/>
              </a:rPr>
              <a:t>글로벌 공신력 있는 무료 공개 소스로 지표를 실호출·검증</a:t>
            </a:r>
            <a:endParaRPr lang="en-US" sz="1875" dirty="0"/>
          </a:p>
        </p:txBody>
      </p:sp>
      <p:sp>
        <p:nvSpPr>
          <p:cNvPr id="5" name="Shape 3"/>
          <p:cNvSpPr/>
          <p:nvPr/>
        </p:nvSpPr>
        <p:spPr>
          <a:xfrm>
            <a:off x="91440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6" name="Text 4"/>
          <p:cNvSpPr/>
          <p:nvPr/>
        </p:nvSpPr>
        <p:spPr>
          <a:xfrm>
            <a:off x="1226820" y="2601461"/>
            <a:ext cx="3650361"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2161D"/>
                </a:solidFill>
                <a:latin typeface="Arial" pitchFamily="34" charset="0"/>
                <a:ea typeface="Arial" pitchFamily="34" charset="-122"/>
                <a:cs typeface="Arial" pitchFamily="34" charset="-120"/>
              </a:rPr>
              <a:t>IMF PortWatch</a:t>
            </a:r>
            <a:endParaRPr lang="en-US" sz="1800" dirty="0"/>
          </a:p>
        </p:txBody>
      </p:sp>
      <p:sp>
        <p:nvSpPr>
          <p:cNvPr id="7" name="Text 5"/>
          <p:cNvSpPr/>
          <p:nvPr/>
        </p:nvSpPr>
        <p:spPr>
          <a:xfrm>
            <a:off x="1226820" y="28986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위성 AIS 항만 모니터링</a:t>
            </a:r>
            <a:endParaRPr lang="en-US" sz="1350" dirty="0"/>
          </a:p>
        </p:txBody>
      </p:sp>
      <p:sp>
        <p:nvSpPr>
          <p:cNvPr id="8" name="Text 6"/>
          <p:cNvSpPr/>
          <p:nvPr/>
        </p:nvSpPr>
        <p:spPr>
          <a:xfrm>
            <a:off x="1226820" y="8336344"/>
            <a:ext cx="627221"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93</a:t>
            </a:r>
            <a:endParaRPr lang="en-US" sz="3900" dirty="0"/>
          </a:p>
        </p:txBody>
      </p:sp>
      <p:sp>
        <p:nvSpPr>
          <p:cNvPr id="9" name="Text 7"/>
          <p:cNvSpPr/>
          <p:nvPr/>
        </p:nvSpPr>
        <p:spPr>
          <a:xfrm>
            <a:off x="1834991" y="8481124"/>
            <a:ext cx="882968" cy="3810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개 항만</a:t>
            </a:r>
            <a:endParaRPr lang="en-US" sz="1650" dirty="0"/>
          </a:p>
        </p:txBody>
      </p:sp>
      <p:sp>
        <p:nvSpPr>
          <p:cNvPr id="10" name="Text 8"/>
          <p:cNvSpPr/>
          <p:nvPr/>
        </p:nvSpPr>
        <p:spPr>
          <a:xfrm>
            <a:off x="1226820" y="8862124"/>
            <a:ext cx="3650361"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Focus Port 매핑 93/93 · PCI 산출 근거</a:t>
            </a:r>
            <a:endParaRPr lang="en-US" sz="1350" dirty="0"/>
          </a:p>
        </p:txBody>
      </p:sp>
      <p:sp>
        <p:nvSpPr>
          <p:cNvPr id="11" name="Shape 9"/>
          <p:cNvSpPr/>
          <p:nvPr/>
        </p:nvSpPr>
        <p:spPr>
          <a:xfrm>
            <a:off x="508635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2" name="Text 10"/>
          <p:cNvSpPr/>
          <p:nvPr/>
        </p:nvSpPr>
        <p:spPr>
          <a:xfrm>
            <a:off x="5398770" y="2601461"/>
            <a:ext cx="3650361"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2161D"/>
                </a:solidFill>
                <a:latin typeface="Arial" pitchFamily="34" charset="0"/>
                <a:ea typeface="Arial" pitchFamily="34" charset="-122"/>
                <a:cs typeface="Arial" pitchFamily="34" charset="-120"/>
              </a:rPr>
              <a:t>UNCTAD</a:t>
            </a:r>
            <a:endParaRPr lang="en-US" sz="1800" dirty="0"/>
          </a:p>
        </p:txBody>
      </p:sp>
      <p:sp>
        <p:nvSpPr>
          <p:cNvPr id="13" name="Text 11"/>
          <p:cNvSpPr/>
          <p:nvPr/>
        </p:nvSpPr>
        <p:spPr>
          <a:xfrm>
            <a:off x="5398770" y="28986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선석점유율 · Port Performance</a:t>
            </a:r>
            <a:endParaRPr lang="en-US" sz="1350" dirty="0"/>
          </a:p>
        </p:txBody>
      </p:sp>
      <p:sp>
        <p:nvSpPr>
          <p:cNvPr id="14" name="Text 12"/>
          <p:cNvSpPr/>
          <p:nvPr/>
        </p:nvSpPr>
        <p:spPr>
          <a:xfrm>
            <a:off x="5398770" y="8100124"/>
            <a:ext cx="1688580"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ρ=0.86</a:t>
            </a:r>
            <a:endParaRPr lang="en-US" sz="3900" dirty="0"/>
          </a:p>
        </p:txBody>
      </p:sp>
      <p:sp>
        <p:nvSpPr>
          <p:cNvPr id="15" name="Text 13"/>
          <p:cNvSpPr/>
          <p:nvPr/>
        </p:nvSpPr>
        <p:spPr>
          <a:xfrm>
            <a:off x="5398770" y="8622094"/>
            <a:ext cx="3418065" cy="51816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부산 PNIT Erlang C 사전 검증(Wq≈65h) · v3 근거</a:t>
            </a:r>
            <a:endParaRPr lang="en-US" sz="1350" dirty="0"/>
          </a:p>
        </p:txBody>
      </p:sp>
      <p:sp>
        <p:nvSpPr>
          <p:cNvPr id="16" name="Shape 14"/>
          <p:cNvSpPr/>
          <p:nvPr/>
        </p:nvSpPr>
        <p:spPr>
          <a:xfrm>
            <a:off x="925830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17" name="Text 15"/>
          <p:cNvSpPr/>
          <p:nvPr/>
        </p:nvSpPr>
        <p:spPr>
          <a:xfrm>
            <a:off x="9570720" y="2601461"/>
            <a:ext cx="3650361"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2161D"/>
                </a:solidFill>
                <a:latin typeface="Arial" pitchFamily="34" charset="0"/>
                <a:ea typeface="Arial" pitchFamily="34" charset="-122"/>
                <a:cs typeface="Arial" pitchFamily="34" charset="-120"/>
              </a:rPr>
              <a:t>Open-Meteo · AIS</a:t>
            </a:r>
            <a:endParaRPr lang="en-US" sz="1800" dirty="0"/>
          </a:p>
        </p:txBody>
      </p:sp>
      <p:sp>
        <p:nvSpPr>
          <p:cNvPr id="18" name="Text 16"/>
          <p:cNvSpPr/>
          <p:nvPr/>
        </p:nvSpPr>
        <p:spPr>
          <a:xfrm>
            <a:off x="9570720" y="28986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해양기상 · 선박 위치</a:t>
            </a:r>
            <a:endParaRPr lang="en-US" sz="1350" dirty="0"/>
          </a:p>
        </p:txBody>
      </p:sp>
      <p:sp>
        <p:nvSpPr>
          <p:cNvPr id="19" name="Text 17"/>
          <p:cNvSpPr/>
          <p:nvPr/>
        </p:nvSpPr>
        <p:spPr>
          <a:xfrm>
            <a:off x="9570720" y="8340154"/>
            <a:ext cx="902613"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200</a:t>
            </a:r>
            <a:endParaRPr lang="en-US" sz="3900" dirty="0"/>
          </a:p>
        </p:txBody>
      </p:sp>
      <p:sp>
        <p:nvSpPr>
          <p:cNvPr id="20" name="Text 18"/>
          <p:cNvSpPr/>
          <p:nvPr/>
        </p:nvSpPr>
        <p:spPr>
          <a:xfrm>
            <a:off x="10454283" y="8538274"/>
            <a:ext cx="378976"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8666E"/>
                </a:solidFill>
                <a:latin typeface="Arial" pitchFamily="34" charset="0"/>
                <a:ea typeface="Arial" pitchFamily="34" charset="-122"/>
                <a:cs typeface="Arial" pitchFamily="34" charset="-120"/>
              </a:rPr>
              <a:t>OK</a:t>
            </a:r>
            <a:endParaRPr lang="en-US" sz="1650" dirty="0"/>
          </a:p>
        </p:txBody>
      </p:sp>
      <p:sp>
        <p:nvSpPr>
          <p:cNvPr id="21" name="Text 19"/>
          <p:cNvSpPr/>
          <p:nvPr/>
        </p:nvSpPr>
        <p:spPr>
          <a:xfrm>
            <a:off x="9570720" y="8862124"/>
            <a:ext cx="3650361"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무인증 실호출 확인 · 실시간 파고·풍속·선박</a:t>
            </a:r>
            <a:endParaRPr lang="en-US" sz="1350" dirty="0"/>
          </a:p>
        </p:txBody>
      </p:sp>
      <p:sp>
        <p:nvSpPr>
          <p:cNvPr id="22" name="Shape 20"/>
          <p:cNvSpPr/>
          <p:nvPr/>
        </p:nvSpPr>
        <p:spPr>
          <a:xfrm>
            <a:off x="13430250" y="2308091"/>
            <a:ext cx="3943350" cy="7087434"/>
          </a:xfrm>
          <a:prstGeom prst="roundRect">
            <a:avLst>
              <a:gd name="adj" fmla="val 3865"/>
            </a:avLst>
          </a:prstGeom>
          <a:solidFill>
            <a:srgbClr val="FFFFFF"/>
          </a:solidFill>
          <a:ln w="7620">
            <a:solidFill>
              <a:srgbClr val="ECE7DD"/>
            </a:solidFill>
            <a:prstDash val="solid"/>
          </a:ln>
          <a:effectLst>
            <a:outerShdw blurRad="95250" dist="19050" dir="5400000" algn="bl" rotWithShape="0">
              <a:srgbClr val="12161D">
                <a:alpha val="3998"/>
              </a:srgbClr>
            </a:outerShdw>
          </a:effectLst>
        </p:spPr>
      </p:sp>
      <p:sp>
        <p:nvSpPr>
          <p:cNvPr id="23" name="Text 21"/>
          <p:cNvSpPr/>
          <p:nvPr/>
        </p:nvSpPr>
        <p:spPr>
          <a:xfrm>
            <a:off x="13742670" y="2601461"/>
            <a:ext cx="3650361" cy="373380"/>
          </a:xfrm>
          <a:prstGeom prst="rect">
            <a:avLst/>
          </a:prstGeom>
          <a:noFill/>
          <a:ln/>
        </p:spPr>
        <p:txBody>
          <a:bodyPr wrap="square" lIns="25400" tIns="25400" rIns="25400" bIns="25400" rtlCol="0" anchor="t">
            <a:normAutofit/>
          </a:bodyPr>
          <a:lstStyle/>
          <a:p>
            <a:pPr marL="0" indent="0" algn="l">
              <a:buNone/>
            </a:pPr>
            <a:r>
              <a:rPr lang="en-US" sz="1800" b="1" dirty="0">
                <a:solidFill>
                  <a:srgbClr val="12161D"/>
                </a:solidFill>
                <a:latin typeface="Arial" pitchFamily="34" charset="0"/>
                <a:ea typeface="Arial" pitchFamily="34" charset="-122"/>
                <a:cs typeface="Arial" pitchFamily="34" charset="-120"/>
              </a:rPr>
              <a:t>유니패스 · searoute</a:t>
            </a:r>
            <a:endParaRPr lang="en-US" sz="1800" dirty="0"/>
          </a:p>
        </p:txBody>
      </p:sp>
      <p:sp>
        <p:nvSpPr>
          <p:cNvPr id="24" name="Text 22"/>
          <p:cNvSpPr/>
          <p:nvPr/>
        </p:nvSpPr>
        <p:spPr>
          <a:xfrm>
            <a:off x="13742670" y="2974841"/>
            <a:ext cx="3650361" cy="281940"/>
          </a:xfrm>
          <a:prstGeom prst="rect">
            <a:avLst/>
          </a:prstGeom>
          <a:noFill/>
          <a:ln/>
        </p:spPr>
        <p:txBody>
          <a:bodyPr wrap="square" lIns="25400" tIns="25400" rIns="25400" bIns="25400" rtlCol="0" anchor="t">
            <a:normAutofit/>
          </a:bodyPr>
          <a:lstStyle/>
          <a:p>
            <a:pPr marL="0" indent="0" algn="l">
              <a:buNone/>
            </a:pPr>
            <a:r>
              <a:rPr lang="en-US" sz="1350" dirty="0">
                <a:solidFill>
                  <a:srgbClr val="6F6A5F"/>
                </a:solidFill>
                <a:latin typeface="Arial" pitchFamily="34" charset="0"/>
                <a:ea typeface="Arial" pitchFamily="34" charset="-122"/>
                <a:cs typeface="Arial" pitchFamily="34" charset="-120"/>
              </a:rPr>
              <a:t>통관 · 해상 항로</a:t>
            </a:r>
            <a:endParaRPr lang="en-US" sz="1350" dirty="0"/>
          </a:p>
        </p:txBody>
      </p:sp>
      <p:sp>
        <p:nvSpPr>
          <p:cNvPr id="25" name="Text 23"/>
          <p:cNvSpPr/>
          <p:nvPr/>
        </p:nvSpPr>
        <p:spPr>
          <a:xfrm>
            <a:off x="13742670" y="8336344"/>
            <a:ext cx="1363516" cy="483870"/>
          </a:xfrm>
          <a:prstGeom prst="rect">
            <a:avLst/>
          </a:prstGeom>
          <a:noFill/>
          <a:ln/>
        </p:spPr>
        <p:txBody>
          <a:bodyPr wrap="square" lIns="25400" tIns="25400" rIns="25400" bIns="25400" rtlCol="0" anchor="t">
            <a:normAutofit/>
          </a:bodyPr>
          <a:lstStyle/>
          <a:p>
            <a:pPr marL="0" indent="0" algn="l">
              <a:lnSpc>
                <a:spcPct val="63587"/>
              </a:lnSpc>
              <a:buNone/>
            </a:pPr>
            <a:r>
              <a:rPr lang="en-US" sz="3900" b="1" dirty="0">
                <a:solidFill>
                  <a:srgbClr val="28666E"/>
                </a:solidFill>
                <a:latin typeface="Arial" pitchFamily="34" charset="0"/>
                <a:ea typeface="Arial" pitchFamily="34" charset="-122"/>
                <a:cs typeface="Arial" pitchFamily="34" charset="-120"/>
              </a:rPr>
              <a:t>8,556</a:t>
            </a:r>
            <a:endParaRPr lang="en-US" sz="3900" dirty="0"/>
          </a:p>
        </p:txBody>
      </p:sp>
      <p:sp>
        <p:nvSpPr>
          <p:cNvPr id="26" name="Text 24"/>
          <p:cNvSpPr/>
          <p:nvPr/>
        </p:nvSpPr>
        <p:spPr>
          <a:xfrm>
            <a:off x="15039380" y="8481124"/>
            <a:ext cx="587307"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28666E"/>
                </a:solidFill>
                <a:latin typeface="Arial" pitchFamily="34" charset="0"/>
                <a:ea typeface="Arial" pitchFamily="34" charset="-122"/>
                <a:cs typeface="Arial" pitchFamily="34" charset="-120"/>
              </a:rPr>
              <a:t>구간</a:t>
            </a:r>
            <a:endParaRPr lang="en-US" sz="1650" dirty="0"/>
          </a:p>
        </p:txBody>
      </p:sp>
      <p:sp>
        <p:nvSpPr>
          <p:cNvPr id="27" name="Text 25"/>
          <p:cNvSpPr/>
          <p:nvPr/>
        </p:nvSpPr>
        <p:spPr>
          <a:xfrm>
            <a:off x="13742670" y="8862124"/>
            <a:ext cx="3650361" cy="27813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1350" dirty="0">
                <a:solidFill>
                  <a:srgbClr val="6F6A5F"/>
                </a:solidFill>
                <a:latin typeface="Arial" pitchFamily="34" charset="0"/>
                <a:ea typeface="Arial" pitchFamily="34" charset="-122"/>
                <a:cs typeface="Arial" pitchFamily="34" charset="-120"/>
              </a:rPr>
              <a:t>관세청 통관(MBL/HBL/AWB) · 오픈소스 항로</a:t>
            </a:r>
            <a:endParaRPr lang="en-US" sz="1350" dirty="0"/>
          </a:p>
        </p:txBody>
      </p:sp>
      <p:sp>
        <p:nvSpPr>
          <p:cNvPr id="28" name="Shape 26"/>
          <p:cNvSpPr/>
          <p:nvPr/>
        </p:nvSpPr>
        <p:spPr>
          <a:xfrm>
            <a:off x="914400" y="9605010"/>
            <a:ext cx="16459200" cy="9525"/>
          </a:xfrm>
          <a:prstGeom prst="rect">
            <a:avLst/>
          </a:prstGeom>
          <a:solidFill>
            <a:srgbClr val="E9E4DC"/>
          </a:solidFill>
          <a:ln/>
        </p:spPr>
      </p:sp>
      <p:sp>
        <p:nvSpPr>
          <p:cNvPr id="29" name="Text 27"/>
          <p:cNvSpPr/>
          <p:nvPr/>
        </p:nvSpPr>
        <p:spPr>
          <a:xfrm>
            <a:off x="914400" y="9726930"/>
            <a:ext cx="8975420" cy="274320"/>
          </a:xfrm>
          <a:prstGeom prst="rect">
            <a:avLst/>
          </a:prstGeom>
          <a:noFill/>
          <a:ln/>
        </p:spPr>
        <p:txBody>
          <a:bodyPr wrap="square" lIns="25400" tIns="25400" rIns="25400" bIns="25400" rtlCol="0" anchor="t">
            <a:normAutofit/>
          </a:bodyPr>
          <a:lstStyle/>
          <a:p>
            <a:pPr marL="0" indent="0" algn="l">
              <a:buNone/>
            </a:pPr>
            <a:r>
              <a:rPr lang="en-US" sz="1275" dirty="0">
                <a:solidFill>
                  <a:srgbClr val="6F6A5F"/>
                </a:solidFill>
                <a:latin typeface="Arial" pitchFamily="34" charset="0"/>
                <a:ea typeface="Arial" pitchFamily="34" charset="-122"/>
                <a:cs typeface="Arial" pitchFamily="34" charset="-120"/>
              </a:rPr>
              <a:t>시장데이터(IMF) · 방법론(UNCTAD) · 실시간(Open-Meteo·AIS) · 공공(관세청) — 네 갈래 독립 공개 소스가 지표의 근거</a:t>
            </a:r>
            <a:endParaRPr lang="en-US" sz="1275" dirty="0"/>
          </a:p>
        </p:txBody>
      </p:sp>
      <p:sp>
        <p:nvSpPr>
          <p:cNvPr id="30" name="Text 28"/>
          <p:cNvSpPr/>
          <p:nvPr/>
        </p:nvSpPr>
        <p:spPr>
          <a:xfrm>
            <a:off x="17193459" y="9772650"/>
            <a:ext cx="256342"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6F6A5F"/>
                </a:solidFill>
                <a:latin typeface="Arial" pitchFamily="34" charset="0"/>
                <a:ea typeface="Arial" pitchFamily="34" charset="-122"/>
                <a:cs typeface="Arial" pitchFamily="34" charset="-120"/>
              </a:rPr>
              <a:t>18</a:t>
            </a:r>
            <a:endParaRPr lang="en-US" sz="12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2161D"/>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E4A24A"/>
          </a:solidFill>
          <a:ln/>
        </p:spPr>
      </p:sp>
      <p:sp>
        <p:nvSpPr>
          <p:cNvPr id="3" name="Text 1"/>
          <p:cNvSpPr/>
          <p:nvPr/>
        </p:nvSpPr>
        <p:spPr>
          <a:xfrm>
            <a:off x="1143000" y="3064431"/>
            <a:ext cx="17602200" cy="289560"/>
          </a:xfrm>
          <a:prstGeom prst="rect">
            <a:avLst/>
          </a:prstGeom>
          <a:noFill/>
          <a:ln/>
        </p:spPr>
        <p:txBody>
          <a:bodyPr wrap="square" lIns="25400" tIns="25400" rIns="25400" bIns="25400" rtlCol="0" anchor="t">
            <a:normAutofit lnSpcReduction="10000"/>
          </a:bodyPr>
          <a:lstStyle/>
          <a:p>
            <a:pPr marL="0" indent="0" algn="l">
              <a:buNone/>
            </a:pPr>
            <a:r>
              <a:rPr lang="en-US" sz="1650" b="1" kern="0" spc="363" dirty="0">
                <a:solidFill>
                  <a:srgbClr val="E4A24A"/>
                </a:solidFill>
                <a:latin typeface="Arial" pitchFamily="34" charset="0"/>
                <a:ea typeface="Arial" pitchFamily="34" charset="-122"/>
                <a:cs typeface="Arial" pitchFamily="34" charset="-120"/>
              </a:rPr>
              <a:t>WHY NOW</a:t>
            </a:r>
            <a:endParaRPr lang="en-US" sz="1650" dirty="0"/>
          </a:p>
        </p:txBody>
      </p:sp>
      <p:sp>
        <p:nvSpPr>
          <p:cNvPr id="4" name="Text 2"/>
          <p:cNvSpPr/>
          <p:nvPr/>
        </p:nvSpPr>
        <p:spPr>
          <a:xfrm>
            <a:off x="1143000" y="3487341"/>
            <a:ext cx="15716250" cy="607695"/>
          </a:xfrm>
          <a:prstGeom prst="rect">
            <a:avLst/>
          </a:prstGeom>
          <a:noFill/>
          <a:ln/>
        </p:spPr>
        <p:txBody>
          <a:bodyPr wrap="square" lIns="25400" tIns="25400" rIns="25400" bIns="25400" rtlCol="0" anchor="t">
            <a:normAutofit/>
          </a:bodyPr>
          <a:lstStyle/>
          <a:p>
            <a:pPr marL="0" indent="0" algn="l">
              <a:lnSpc>
                <a:spcPct val="81250"/>
              </a:lnSpc>
              <a:buNone/>
            </a:pPr>
            <a:r>
              <a:rPr lang="en-US" sz="3900" b="1" kern="0" spc="-39" dirty="0">
                <a:solidFill>
                  <a:srgbClr val="F5F3EE"/>
                </a:solidFill>
                <a:latin typeface="Arial" pitchFamily="34" charset="0"/>
                <a:ea typeface="Arial" pitchFamily="34" charset="-122"/>
                <a:cs typeface="Arial" pitchFamily="34" charset="-120"/>
              </a:rPr>
              <a:t>정보는 흩어져 있고, 취합은 수작업이며, 데이터는 아직 데모입니다</a:t>
            </a:r>
            <a:endParaRPr lang="en-US" sz="3900" dirty="0"/>
          </a:p>
        </p:txBody>
      </p:sp>
      <p:sp>
        <p:nvSpPr>
          <p:cNvPr id="5" name="Shape 3"/>
          <p:cNvSpPr/>
          <p:nvPr/>
        </p:nvSpPr>
        <p:spPr>
          <a:xfrm>
            <a:off x="1143000" y="4552299"/>
            <a:ext cx="3757613" cy="19050"/>
          </a:xfrm>
          <a:prstGeom prst="rect">
            <a:avLst/>
          </a:prstGeom>
          <a:solidFill>
            <a:srgbClr val="E4A24A"/>
          </a:solidFill>
          <a:ln/>
        </p:spPr>
      </p:sp>
      <p:sp>
        <p:nvSpPr>
          <p:cNvPr id="6" name="Text 4"/>
          <p:cNvSpPr/>
          <p:nvPr/>
        </p:nvSpPr>
        <p:spPr>
          <a:xfrm>
            <a:off x="1143000"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실증된 실데이터</a:t>
            </a:r>
            <a:endParaRPr lang="en-US" sz="1725" dirty="0"/>
          </a:p>
        </p:txBody>
      </p:sp>
      <p:sp>
        <p:nvSpPr>
          <p:cNvPr id="7" name="Text 5"/>
          <p:cNvSpPr/>
          <p:nvPr/>
        </p:nvSpPr>
        <p:spPr>
          <a:xfrm>
            <a:off x="1143000"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8개 화면 · 224건·10,212행 검증 · 이미 운영 중</a:t>
            </a:r>
            <a:endParaRPr lang="en-US" sz="1425" dirty="0"/>
          </a:p>
        </p:txBody>
      </p:sp>
      <p:sp>
        <p:nvSpPr>
          <p:cNvPr id="8" name="Shape 6"/>
          <p:cNvSpPr/>
          <p:nvPr/>
        </p:nvSpPr>
        <p:spPr>
          <a:xfrm>
            <a:off x="5224463" y="4552299"/>
            <a:ext cx="3757613" cy="19050"/>
          </a:xfrm>
          <a:prstGeom prst="rect">
            <a:avLst/>
          </a:prstGeom>
          <a:solidFill>
            <a:srgbClr val="E4A24A"/>
          </a:solidFill>
          <a:ln/>
        </p:spPr>
      </p:sp>
      <p:sp>
        <p:nvSpPr>
          <p:cNvPr id="9" name="Text 7"/>
          <p:cNvSpPr/>
          <p:nvPr/>
        </p:nvSpPr>
        <p:spPr>
          <a:xfrm>
            <a:off x="5224463"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제로 비용</a:t>
            </a:r>
            <a:endParaRPr lang="en-US" sz="1725" dirty="0"/>
          </a:p>
        </p:txBody>
      </p:sp>
      <p:sp>
        <p:nvSpPr>
          <p:cNvPr id="10" name="Text 8"/>
          <p:cNvSpPr/>
          <p:nvPr/>
        </p:nvSpPr>
        <p:spPr>
          <a:xfrm>
            <a:off x="5224463"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무료 오픈API · GitHub Pages — 인프라 월 0원</a:t>
            </a:r>
            <a:endParaRPr lang="en-US" sz="1425" dirty="0"/>
          </a:p>
        </p:txBody>
      </p:sp>
      <p:sp>
        <p:nvSpPr>
          <p:cNvPr id="11" name="Shape 9"/>
          <p:cNvSpPr/>
          <p:nvPr/>
        </p:nvSpPr>
        <p:spPr>
          <a:xfrm>
            <a:off x="9305925" y="4552299"/>
            <a:ext cx="3757613" cy="19050"/>
          </a:xfrm>
          <a:prstGeom prst="rect">
            <a:avLst/>
          </a:prstGeom>
          <a:solidFill>
            <a:srgbClr val="E4A24A"/>
          </a:solidFill>
          <a:ln/>
        </p:spPr>
      </p:sp>
      <p:sp>
        <p:nvSpPr>
          <p:cNvPr id="12" name="Text 10"/>
          <p:cNvSpPr/>
          <p:nvPr/>
        </p:nvSpPr>
        <p:spPr>
          <a:xfrm>
            <a:off x="9305925"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확장 로드맵</a:t>
            </a:r>
            <a:endParaRPr lang="en-US" sz="1725" dirty="0"/>
          </a:p>
        </p:txBody>
      </p:sp>
      <p:sp>
        <p:nvSpPr>
          <p:cNvPr id="13" name="Text 11"/>
          <p:cNvSpPr/>
          <p:nvPr/>
        </p:nvSpPr>
        <p:spPr>
          <a:xfrm>
            <a:off x="9305925"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해외 · Ship Schedule · v3 지표 (M1~M3)</a:t>
            </a:r>
            <a:endParaRPr lang="en-US" sz="1425" dirty="0"/>
          </a:p>
        </p:txBody>
      </p:sp>
      <p:sp>
        <p:nvSpPr>
          <p:cNvPr id="14" name="Shape 12"/>
          <p:cNvSpPr/>
          <p:nvPr/>
        </p:nvSpPr>
        <p:spPr>
          <a:xfrm>
            <a:off x="13387388" y="4552299"/>
            <a:ext cx="3757613" cy="19050"/>
          </a:xfrm>
          <a:prstGeom prst="rect">
            <a:avLst/>
          </a:prstGeom>
          <a:solidFill>
            <a:srgbClr val="E4A24A"/>
          </a:solidFill>
          <a:ln/>
        </p:spPr>
      </p:sp>
      <p:sp>
        <p:nvSpPr>
          <p:cNvPr id="15" name="Text 13"/>
          <p:cNvSpPr/>
          <p:nvPr/>
        </p:nvSpPr>
        <p:spPr>
          <a:xfrm>
            <a:off x="13387388" y="4742799"/>
            <a:ext cx="4133374" cy="350520"/>
          </a:xfrm>
          <a:prstGeom prst="rect">
            <a:avLst/>
          </a:prstGeom>
          <a:noFill/>
          <a:ln/>
        </p:spPr>
        <p:txBody>
          <a:bodyPr wrap="square" lIns="25400" tIns="25400" rIns="25400" bIns="25400" rtlCol="0" anchor="t">
            <a:normAutofit/>
          </a:bodyPr>
          <a:lstStyle/>
          <a:p>
            <a:pPr marL="0" indent="0" algn="l">
              <a:buNone/>
            </a:pPr>
            <a:r>
              <a:rPr lang="en-US" sz="1725" b="1" dirty="0">
                <a:solidFill>
                  <a:srgbClr val="F5F3EE"/>
                </a:solidFill>
                <a:latin typeface="Arial" pitchFamily="34" charset="0"/>
                <a:ea typeface="Arial" pitchFamily="34" charset="-122"/>
                <a:cs typeface="Arial" pitchFamily="34" charset="-120"/>
              </a:rPr>
              <a:t>지금</a:t>
            </a:r>
            <a:endParaRPr lang="en-US" sz="1725" dirty="0"/>
          </a:p>
        </p:txBody>
      </p:sp>
      <p:sp>
        <p:nvSpPr>
          <p:cNvPr id="16" name="Text 14"/>
          <p:cNvSpPr/>
          <p:nvPr/>
        </p:nvSpPr>
        <p:spPr>
          <a:xfrm>
            <a:off x="13387388" y="5150469"/>
            <a:ext cx="4133374" cy="300514"/>
          </a:xfrm>
          <a:prstGeom prst="rect">
            <a:avLst/>
          </a:prstGeom>
          <a:noFill/>
          <a:ln/>
        </p:spPr>
        <p:txBody>
          <a:bodyPr wrap="square" lIns="25400" tIns="25400" rIns="25400" bIns="25400" rtlCol="0" anchor="t">
            <a:normAutofit/>
          </a:bodyPr>
          <a:lstStyle/>
          <a:p>
            <a:pPr marL="0" indent="0" algn="l">
              <a:lnSpc>
                <a:spcPct val="122991"/>
              </a:lnSpc>
              <a:buNone/>
            </a:pPr>
            <a:r>
              <a:rPr lang="en-US" sz="1425" dirty="0">
                <a:solidFill>
                  <a:srgbClr val="C9CCD1"/>
                </a:solidFill>
                <a:latin typeface="Arial" pitchFamily="34" charset="0"/>
                <a:ea typeface="Arial" pitchFamily="34" charset="-122"/>
                <a:cs typeface="Arial" pitchFamily="34" charset="-120"/>
              </a:rPr>
              <a:t>담당자 피드백 확보 · 5일 만에 v1 · 선점 시점</a:t>
            </a:r>
            <a:endParaRPr lang="en-US" sz="1425" dirty="0"/>
          </a:p>
        </p:txBody>
      </p:sp>
      <p:sp>
        <p:nvSpPr>
          <p:cNvPr id="17" name="Text 15"/>
          <p:cNvSpPr/>
          <p:nvPr/>
        </p:nvSpPr>
        <p:spPr>
          <a:xfrm>
            <a:off x="1143000" y="5946283"/>
            <a:ext cx="17602200" cy="563880"/>
          </a:xfrm>
          <a:prstGeom prst="rect">
            <a:avLst/>
          </a:prstGeom>
          <a:noFill/>
          <a:ln/>
        </p:spPr>
        <p:txBody>
          <a:bodyPr wrap="square" lIns="25400" tIns="25400" rIns="25400" bIns="25400" rtlCol="0" anchor="t">
            <a:normAutofit/>
          </a:bodyPr>
          <a:lstStyle/>
          <a:p>
            <a:pPr marL="0" indent="0" algn="l">
              <a:buNone/>
            </a:pPr>
            <a:r>
              <a:rPr lang="en-US" sz="2850" b="1" kern="0" spc="-29" dirty="0">
                <a:solidFill>
                  <a:srgbClr val="F5F3EE"/>
                </a:solidFill>
                <a:latin typeface="Arial" pitchFamily="34" charset="0"/>
                <a:ea typeface="Arial" pitchFamily="34" charset="-122"/>
                <a:cs typeface="Arial" pitchFamily="34" charset="-120"/>
              </a:rPr>
              <a:t>가시성을 넘어, </a:t>
            </a:r>
            <a:r>
              <a:rPr lang="en-US" sz="2850" b="1" kern="0" spc="-29" dirty="0">
                <a:solidFill>
                  <a:srgbClr val="E4A24A"/>
                </a:solidFill>
                <a:latin typeface="Arial" pitchFamily="34" charset="0"/>
                <a:ea typeface="Arial" pitchFamily="34" charset="-122"/>
                <a:cs typeface="Arial" pitchFamily="34" charset="-120"/>
              </a:rPr>
              <a:t>‘실행하는 컨트롤타워’</a:t>
            </a:r>
            <a:r>
              <a:rPr lang="en-US" sz="2850" b="1" kern="0" spc="-29" dirty="0">
                <a:solidFill>
                  <a:srgbClr val="F5F3EE"/>
                </a:solidFill>
                <a:latin typeface="Arial" pitchFamily="34" charset="0"/>
                <a:ea typeface="Arial" pitchFamily="34" charset="-122"/>
                <a:cs typeface="Arial" pitchFamily="34" charset="-120"/>
              </a:rPr>
              <a:t>가 되겠습니다</a:t>
            </a:r>
            <a:endParaRPr lang="en-US" sz="2850" dirty="0"/>
          </a:p>
        </p:txBody>
      </p:sp>
      <p:sp>
        <p:nvSpPr>
          <p:cNvPr id="18" name="Text 16"/>
          <p:cNvSpPr/>
          <p:nvPr/>
        </p:nvSpPr>
        <p:spPr>
          <a:xfrm>
            <a:off x="1143000" y="9479280"/>
            <a:ext cx="4613767" cy="312420"/>
          </a:xfrm>
          <a:prstGeom prst="rect">
            <a:avLst/>
          </a:prstGeom>
          <a:noFill/>
          <a:ln/>
        </p:spPr>
        <p:txBody>
          <a:bodyPr wrap="square" lIns="25400" tIns="25400" rIns="25400" bIns="25400" rtlCol="0" anchor="t">
            <a:normAutofit/>
          </a:bodyPr>
          <a:lstStyle/>
          <a:p>
            <a:pPr marL="0" indent="0" algn="l">
              <a:buNone/>
            </a:pPr>
            <a:r>
              <a:rPr lang="en-US" sz="1500" dirty="0">
                <a:solidFill>
                  <a:srgbClr val="9AA0A6"/>
                </a:solidFill>
                <a:latin typeface="Arial" pitchFamily="34" charset="0"/>
                <a:ea typeface="Arial" pitchFamily="34" charset="-122"/>
                <a:cs typeface="Arial" pitchFamily="34" charset="-120"/>
              </a:rPr>
              <a:t>AI 기반 글로벌 공급망 컨트롤타워 · TWL SmartBPO</a:t>
            </a:r>
            <a:endParaRPr lang="en-US" sz="1500" dirty="0"/>
          </a:p>
        </p:txBody>
      </p:sp>
      <p:sp>
        <p:nvSpPr>
          <p:cNvPr id="19" name="Text 17"/>
          <p:cNvSpPr/>
          <p:nvPr/>
        </p:nvSpPr>
        <p:spPr>
          <a:xfrm>
            <a:off x="15956638" y="9525000"/>
            <a:ext cx="1403314"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F5F3EE"/>
                </a:solidFill>
                <a:latin typeface="Arial" pitchFamily="34" charset="0"/>
                <a:ea typeface="Arial" pitchFamily="34" charset="-122"/>
                <a:cs typeface="Arial" pitchFamily="34" charset="-120"/>
              </a:rPr>
              <a:t>itt@twsc.co.kr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4224</Words>
  <Application>Microsoft Office PowerPoint</Application>
  <PresentationFormat>사용자 지정</PresentationFormat>
  <Paragraphs>473</Paragraphs>
  <Slides>21</Slides>
  <Notes>21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21</vt:i4>
      </vt:variant>
    </vt:vector>
  </HeadingPairs>
  <TitlesOfParts>
    <vt:vector size="24" baseType="lpstr">
      <vt:lpstr>Arial</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36</cp:revision>
  <dcterms:created xsi:type="dcterms:W3CDTF">2026-07-28T06:14:07Z</dcterms:created>
  <dcterms:modified xsi:type="dcterms:W3CDTF">2026-07-29T00:41:07Z</dcterms:modified>
</cp:coreProperties>
</file>