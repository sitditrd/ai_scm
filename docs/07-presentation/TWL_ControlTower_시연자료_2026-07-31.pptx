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태웅로직스 사내 물류 관제 포털 시연. 무료 오픈데이터와 생성형 AI 스케줄러만으로 구축한 점을 강조.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마무리: 키 등록 2건(data.go.kr·유니패스)만으로 화물추적·입출항조회가 즉시 개통됨을 강조하며 로드맵으로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TAEWOONG LOGISTICS · IT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TWL Control Tower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 기반 물류 관제 포털 — 수집 자동화부터 예측 준비까지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97764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3407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411480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sitditrd.github.io/AI_SCM  ·  Netlify 미러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8종 + 로그인/관리자 · 한/영/중 3개 국어
</a:t>
            </a:r>
            <a:pPr indent="0" marL="0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 </a:t>
            </a:r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2026-07-31 · 시연용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 — 무엇이 돌아가고 있나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데이터 소스 무료 · 오픈데이터 기반 · 빌드 없는 정적 웹 + Supabase + AI 스케줄러 3계층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화면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0358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혼잡·선석·선박·화물·경로·스케줄·현황·홈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01568" y="14630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1568" y="160020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3401568" y="2651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터미널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84448" y="30358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 매일 자동 수집 (6개 항만)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54496" y="14630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160020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6254496" y="2651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항만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37376" y="30358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 혼잡지수 일일 산출 (위성 AIS)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07424" y="1463040"/>
            <a:ext cx="2670048" cy="2286000"/>
          </a:xfrm>
          <a:prstGeom prst="roundRect">
            <a:avLst>
              <a:gd name="adj" fmla="val 3200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07424" y="1600200"/>
            <a:ext cx="26700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9107424" y="2651760"/>
            <a:ext cx="2670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스케줄러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90304" y="3035808"/>
            <a:ext cx="2304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수집→적재→지수→운임→기상 무인 운영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114800"/>
            <a:ext cx="11091672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2793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포털이 해결한 문제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10607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터미널 웹사이트 여러 곳을 수작업 취합하던 30~60분 업무를 완전 자동화 — 결과는 개인 엑셀이 아닌 공용 DB·대시보드로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반입마감(CCT) 임박 건 자동 강조로 선적 실패(Roll-over) 리스크 사전 감지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3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 혼잡·운임지수·기상·선박 위치를 한 화면 체계로 통합 — 외부 유료 솔루션 없이 무료 공공·오픈 데이터만 사용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— 수집·저장·표현의 3계층 분리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수집(쓰기)과 웹(읽기)이 Supabase를 사이에 두고 분리 — 웹은 빌드 없는 정적 사이트, 키는 PC에 저장하지 않음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0B2D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계층  ·  AI 스케줄러 5종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7432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16곳 웹 수집 (06:00)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PORT-MIS·PortWatch·SSE 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 API 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생성 후 MCP로 적재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(service key 미보관)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1572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52628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E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1554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계층  ·  Supabase PostgreSQL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7432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 bs_* (일별 이력)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혼잡지수 pi_* + pi_history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운임 freight · 기상 weather_history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테이블 RLS — 외부는 읽기 전용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955280" y="1572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8503920" y="1554480"/>
            <a:ext cx="3429000" cy="777240"/>
          </a:xfrm>
          <a:prstGeom prst="roundRect">
            <a:avLst>
              <a:gd name="adj" fmla="val 9412"/>
            </a:avLst>
          </a:prstGeom>
          <a:solidFill>
            <a:srgbClr val="13407C"/>
          </a:solidFill>
          <a:ln/>
        </p:spPr>
      </p:sp>
      <p:sp>
        <p:nvSpPr>
          <p:cNvPr id="16" name="Text 14"/>
          <p:cNvSpPr/>
          <p:nvPr/>
        </p:nvSpPr>
        <p:spPr>
          <a:xfrm>
            <a:off x="8641080" y="1554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 계층  ·  정적 웹 + Edge Functions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503920" y="251460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32520" y="274320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Pages 주경로 + Netlify 미러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45초 폴링 · 공개키 조회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 프록시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(유니패스·data.go.kr — 키만 등록하면 동작)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7607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push → GitHub Actions → Pages 배포 + Netlify 미러 자동 트리거 — 코드·문서·운영이 전부 형상관리(GitHub) 아래에 있음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1/2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관제 화면 — 항만·선석·선박·기상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화면 45초 자동 갱신 · 미로그인 시 일정 시간 후 로그인 유도(관리자 승인제)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19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Insight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93개 항만 혼잡지수(PCI)를 위성 AIS 원천으로 자체 산출. 게이지·권역 분포·Top10·지도, 국문/영문/LOCODE 포트 검색. 부산·광양·인천은 선석 실측으로 보정.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37360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719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1709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선석배정현황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95160" y="21671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16개 터미널 통합 그리드 — 항만/터미널/상태 필터·컬럼필터·트리 보기·우클릭 퀵뷰, 반입마감 12시간 임박 강조, 조회 결과 Excel 내보내기.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09651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위치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AIS 실시간 지도(4개 항만 전환) + 선명·항차 검색 시 해당 터미널로 자동 확대. PORT-MIS 입출항 실적 조회 섹션 신설(키 등록 즉시 동작).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409651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 기상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95160" y="454456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부산신항·광양·인천 파고·파주기·풍속 실시간 카드(30분 갱신) + 6시간 주기 이력 축적으로 예측 분석 대비.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FEATURES 2/2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화면 — 추적·경로·스케줄·운영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로그인/회원가입(이메일 인증코드)·관리자 승인 · 한/영/중 전환은 우상단 스위처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37360"/>
            <a:ext cx="384048" cy="384048"/>
          </a:xfrm>
          <a:prstGeom prst="ellipse">
            <a:avLst/>
          </a:prstGeom>
          <a:solidFill>
            <a:srgbClr val="13407C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1719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1709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추적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관세청 유니패스 통관 진행 조회(MBL/HBL/AWB) — Edge Function 배포 완료, 키 등록 즉시 실조회. AWB 10사·해상 12사 자동 감지 딥링크는 키 없이도 즉시 사용.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0876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737360"/>
            <a:ext cx="384048" cy="384048"/>
          </a:xfrm>
          <a:prstGeom prst="ellipse">
            <a:avLst/>
          </a:prstGeom>
          <a:solidFill>
            <a:srgbClr val="13407C"/>
          </a:solidFill>
          <a:ln/>
        </p:spPr>
      </p:sp>
      <p:sp>
        <p:nvSpPr>
          <p:cNvPr id="12" name="Text 10"/>
          <p:cNvSpPr/>
          <p:nvPr/>
        </p:nvSpPr>
        <p:spPr>
          <a:xfrm>
            <a:off x="6364224" y="171907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995160" y="170992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분석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995160" y="216712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93개 항만 간 8,556개 사전계산 항로 + 몬테카를로 1만 회로 소요일 분포(P10/P50/P90) 추정. 3중 레이어 항로 지도 시각화.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4114800"/>
            <a:ext cx="384048" cy="384048"/>
          </a:xfrm>
          <a:prstGeom prst="ellipse">
            <a:avLst/>
          </a:prstGeom>
          <a:solidFill>
            <a:srgbClr val="13407C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" y="409651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스케줄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25880" y="454456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Route·Vessel·Port 3-뷰 기획 화면(준비중) — 데이터 소스 확정 시 오픈. 항공 화물편 스케줄은 공공 API로 P1 로드맵에 반영.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3886200"/>
            <a:ext cx="54406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114800"/>
            <a:ext cx="384048" cy="384048"/>
          </a:xfrm>
          <a:prstGeom prst="ellipse">
            <a:avLst/>
          </a:prstGeom>
          <a:solidFill>
            <a:srgbClr val="13407C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409651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95160" y="4087368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현황(관리자)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995160" y="4544568"/>
            <a:ext cx="4434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파이프라인 4종의 적재 여부·최신성 게이지·최근 7일 타임라인·이력을 한 화면에서 점검하는 운영 보드.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스케줄러 5종 — 하루 데이터 흐름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전부 Claude 앱 내장 스케줄러(윈도우 작업 스케줄러 미사용) · 같은 날짜 재실행 안전(멱등) · 앱 실행 중 자동 동작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B21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06:00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수집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58368" y="28529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16곳 웹 수집 → 통합 엑셀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리포트 메일 발송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Cowork 앱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615184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834640" y="1600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6FE0"/>
          </a:solidFill>
          <a:ln/>
        </p:spPr>
      </p:sp>
      <p:sp>
        <p:nvSpPr>
          <p:cNvPr id="13" name="Text 11"/>
          <p:cNvSpPr/>
          <p:nvPr/>
        </p:nvSpPr>
        <p:spPr>
          <a:xfrm>
            <a:off x="2834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834640" y="233172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 적재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2944368" y="28529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엑셀 → SQL 생성 →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Supabase 적재(7일 캐치업)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83464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앱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901184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120640" y="1600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6FE0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08:44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20640" y="233172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 산출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5230368" y="28529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PortWatch → 혼잡지수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일별 이력(pi_history)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12064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앱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87184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06640" y="1600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6FE0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월·금 17:02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406640" y="233172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운임지수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516368" y="28529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KCCI·SCFI·CCFI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발표일 맞춤 수집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0664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앱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473184" y="160020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92640" y="160020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1E6FE0"/>
          </a:solidFill>
          <a:ln/>
        </p:spPr>
      </p:sp>
      <p:sp>
        <p:nvSpPr>
          <p:cNvPr id="34" name="Text 32"/>
          <p:cNvSpPr/>
          <p:nvPr/>
        </p:nvSpPr>
        <p:spPr>
          <a:xfrm>
            <a:off x="9692640" y="1600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6시간 주기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9692640" y="2331720"/>
            <a:ext cx="2103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92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이력</a:t>
            </a:r>
            <a:endParaRPr lang="en-US" sz="1450" dirty="0"/>
          </a:p>
        </p:txBody>
      </p:sp>
      <p:sp>
        <p:nvSpPr>
          <p:cNvPr id="37" name="Text 35"/>
          <p:cNvSpPr/>
          <p:nvPr/>
        </p:nvSpPr>
        <p:spPr>
          <a:xfrm>
            <a:off x="9802368" y="2852928"/>
            <a:ext cx="1883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파고·풍속 축적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(예측 분석용)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9264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앱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526280"/>
            <a:ext cx="11091672" cy="1600200"/>
          </a:xfrm>
          <a:prstGeom prst="roundRect">
            <a:avLst>
              <a:gd name="adj" fmla="val 4571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4663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모델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시각에 AI 세션이 자동 기동 → 수집 스크립트 실행 → SQL 생성 → DB 적재 → 건수 검증 → 결과 보고까지 무인 수행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쓰기 키(service key)를 PC에 저장하지 않는 구조 — 스크립트는 SQL만 만들고 적재는 AI가 안전 경로로 실행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이력은 앱 "예정됨" + 포털 데이터 현황 + DB 적재 로그(bs_collect_log) 3곳에서 교차 확인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SOURCING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 가져오는 3가지 방식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소스 무료 — 공공데이터(data.go.kr)·오픈데이터(IMF·Open-Meteo)·공개 서비스(VesselFinder) 조합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0B2D5B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배치 → DB 적재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이력이 필요한 데이터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 (터미널 16곳 공표)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혼잡지수 PCI (IMF PortWatch 위성 AIS)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운임지수 (KCCI·SCFI·CCFI)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이력 (Open-Meteo)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1520" y="48920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축적 → 추세·예측의 원천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43400" y="15087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16916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1E6FE0"/>
          </a:solidFill>
          <a:ln/>
        </p:spPr>
      </p:sp>
      <p:sp>
        <p:nvSpPr>
          <p:cNvPr id="14" name="Text 12"/>
          <p:cNvSpPr/>
          <p:nvPr/>
        </p:nvSpPr>
        <p:spPr>
          <a:xfrm>
            <a:off x="4636008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실시간 직접 호출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값만 의미 있는 데이터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항만 기상 카드 (Open-Meteo, 30분 갱신)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위치 지도 (VesselFinder AIS 임베드)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26280" y="48920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키·서버 불필요 — 접속 시점 실시간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1508760"/>
            <a:ext cx="3611880" cy="40233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21040" y="1691640"/>
            <a:ext cx="3246120" cy="685800"/>
          </a:xfrm>
          <a:prstGeom prst="roundRect">
            <a:avLst>
              <a:gd name="adj" fmla="val 10667"/>
            </a:avLst>
          </a:prstGeom>
          <a:solidFill>
            <a:srgbClr val="13407C"/>
          </a:solidFill>
          <a:ln/>
        </p:spPr>
      </p:sp>
      <p:sp>
        <p:nvSpPr>
          <p:cNvPr id="21" name="Text 19"/>
          <p:cNvSpPr/>
          <p:nvPr/>
        </p:nvSpPr>
        <p:spPr>
          <a:xfrm>
            <a:off x="8430768" y="1691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Edge Function 프록시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6676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필요한 공공 API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통관 (관세청 유니패스) — 키 대기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PORT-MIS 입출항·공항 화물편 (data.go.kr) — 키 대기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키를 서버 금고(Secrets)에만 저장 — 코드 무노출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21040" y="4892040"/>
            <a:ext cx="3246120" cy="502920"/>
          </a:xfrm>
          <a:prstGeom prst="roundRect">
            <a:avLst>
              <a:gd name="adj" fmla="val 14545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30768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등록 즉시 배포판에서 실조회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원칙: 웹에 노출되는 키는 읽기 전용 공개키뿐 — 쓰기 권한·API 키는 전부 서버측 Secrets (전 테이블 RLS 잠금)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ASSETS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쌓이는 데이터 — 예측 분석으로 가는 길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1(이력 축적) 가동 중 · 수 주 축적 후 Phase 2(예측 모델) 착수 가능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 이력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bs_vessel_calls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340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3,900건+ · 매일 +500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688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접안 지연 실측(ETA vs 작업시작)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1508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84448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혼잡지수 이력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584448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pi_history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84448" y="2340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93개 항만 × 일별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84448" y="2688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 추세·계절성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54496" y="1508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37376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기상 이력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437376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weather_history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37376" y="2340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항만 × 6시간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37376" y="2688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파고·풍속 관측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07424" y="1508760"/>
            <a:ext cx="2670048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16642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운임지수 이력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290304" y="20299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freight_index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90304" y="2340864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 3종 × 발표일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290304" y="2688336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KCCI·SCFI·CCFI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11091672" cy="2331720"/>
          </a:xfrm>
          <a:prstGeom prst="roundRect">
            <a:avLst>
              <a:gd name="adj" fmla="val 3137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39136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Phase 2 — 축적 데이터로 가능한 예측 (후보)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34340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접안 지연 예측 — 이미 운영 중인 터미널별 몬테카를로 지연 모델에 파고·풍속 변수를 결합해 정확도 향상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 추세 예측 — 93개 항만 일별 이력으로 혼잡 상승/하락 조기 감지 (주간 리포트 자동화 연계 가능)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반입마감(CCT) 미스 리스크 스코어 — 선석 이력 + 기상 조건 기반의 건별 위험도 산정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운임-혼잡 상관 분석 — 운임지수와 PCI 이력의 교차 분석으로 운임 변동 맥락 제공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제공 예정 — NLIC 벤치마킹 로드맵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국가물류통합정보센터(NLIC) 전수 조사 기반 · 상세: docs/01-overview/NLIC_벤치마킹_고도화로드맵.md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FAB219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691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준비 완료 (키 등록만 남음)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화물 통관 실조회 (유니패스 키)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PORT-MIS 선박 입출항 실적 (data.go.kr 키)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화면·서버 구현 완료, 키 등록 즉시 개통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69164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1E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636008" y="1691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확보 즉시 개발 (P1)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5146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환율 KPI · 수출입 TEU · 기상특보 티커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제원 팝업 · 항공 화물편 스케줄 탭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월별 물동량 추이 오버레이 (전부 무료·자동승인 API)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508760"/>
            <a:ext cx="3611880" cy="36576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0" y="169164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0B2D5B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16916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수반 (P2)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66760" y="251460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자체 실시간 선박 지도 (AISStream 무료 웹소켓)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PCI 실측 보정 고도화 · 관제 이벤트 타임라인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15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선사 정시 스케줄 (DCSA·Maersk Freemium)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349240"/>
            <a:ext cx="11091672" cy="731520"/>
          </a:xfrm>
          <a:prstGeom prst="roundRect">
            <a:avLst>
              <a:gd name="adj" fmla="val 10000"/>
            </a:avLst>
          </a:prstGeom>
          <a:solidFill>
            <a:srgbClr val="F1F6FD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49240"/>
            <a:ext cx="10652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발견:  </a:t>
            </a:r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NLIC급 공공 포털의 데이터 원천은 대부분 data.go.kr 무료 API — 키 하나(자동승인)로 P1 전체가 열립니다. 개별 선박 실시간 위치만은 공공 미개방이라 무료 AISStream으로 대체 설계.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F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· 보안 · 형상관리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1908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체계: docs/ 표준 트리(개요·요구사항·아키텍처·설계·개발·운영·발표) — 아키텍처·API 명세·운영 런북 완비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0B2D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54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파이프라인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5146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push 한 번으로 GitHub Pages + Netlify 동시 배포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파일만 선별 게시 — 내부 문서·스크립트 사이트 미노출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버스팅으로 변경 즉시 반영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55448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0B2D5B"/>
          </a:solidFill>
          <a:ln/>
        </p:spPr>
      </p:sp>
      <p:sp>
        <p:nvSpPr>
          <p:cNvPr id="10" name="Text 8"/>
          <p:cNvSpPr/>
          <p:nvPr/>
        </p:nvSpPr>
        <p:spPr>
          <a:xfrm>
            <a:off x="4480560" y="1554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모델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5146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테이블 RLS — 외부는 읽기 전용 공개키만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키·SMTP 등 시크릿은 서버 금고에만 (PC·코드 무저장)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인증(bcrypt) + 관리자 승인제 + 이메일 인증코드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0B2D5B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1554480"/>
            <a:ext cx="3337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체계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138160" y="2286000"/>
            <a:ext cx="361188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9E4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51460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런북(RUNBOOK) — 장애 시나리오별 조치 절차 문서화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3곳: 앱 예정됨 · 데이터 현황 보드 · DB 적재 로그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1200" dirty="0">
                <a:solidFill>
                  <a:srgbClr val="1A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 적재 설계 — 재실행·중복 실행에도 데이터 안전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2D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소스·문서·스케줄 정의가 GitHub 저장소 하나로 형상관리 — 다른 PC에서도 git pull 후 즉시 이어받기 가능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D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순서 제안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5" name="Shape 3"/>
          <p:cNvSpPr/>
          <p:nvPr/>
        </p:nvSpPr>
        <p:spPr>
          <a:xfrm>
            <a:off x="932688" y="19385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" y="19202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63040" y="23042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전환(한/영/중) · 운임지수 스트립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10" name="Shape 8"/>
          <p:cNvSpPr/>
          <p:nvPr/>
        </p:nvSpPr>
        <p:spPr>
          <a:xfrm>
            <a:off x="4590288" y="19385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507992" y="19202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1206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Port Insight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120640" y="23042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검색(예: Savannah) → 지도 포커스 · PCI 게이지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373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47888" y="19385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165592" y="19202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78240" y="19019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선석배정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778240" y="23042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필터 · 반입마감 강조 · 우클릭 Excel 내보내기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3375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20" name="Shape 18"/>
          <p:cNvSpPr/>
          <p:nvPr/>
        </p:nvSpPr>
        <p:spPr>
          <a:xfrm>
            <a:off x="932688" y="35387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" y="3520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3502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선박 위치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463040" y="39044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선명 검색 → 터미널 확대 · PORT-MIS 조회(키 안내 화면)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3375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0288" y="35387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507992" y="3520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120640" y="3502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 분석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20640" y="39044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부산 → 로테르담 시뮬레이션 (P50 소요일·항로 지도)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337560"/>
            <a:ext cx="3429000" cy="1371600"/>
          </a:xfrm>
          <a:prstGeom prst="roundRect">
            <a:avLst>
              <a:gd name="adj" fmla="val 5333"/>
            </a:avLst>
          </a:prstGeom>
          <a:solidFill>
            <a:srgbClr val="13407C"/>
          </a:solidFill>
          <a:ln/>
        </p:spPr>
      </p:sp>
      <p:sp>
        <p:nvSpPr>
          <p:cNvPr id="30" name="Shape 28"/>
          <p:cNvSpPr/>
          <p:nvPr/>
        </p:nvSpPr>
        <p:spPr>
          <a:xfrm>
            <a:off x="8247888" y="3538728"/>
            <a:ext cx="384048" cy="384048"/>
          </a:xfrm>
          <a:prstGeom prst="ellipse">
            <a:avLst/>
          </a:prstGeom>
          <a:solidFill>
            <a:srgbClr val="1E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165592" y="3520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778240" y="350215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현황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778240" y="3904488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관리자 로그인 → 파이프라인 신선도·적재 이력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5897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TWL Control Tower  · 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sitditrd.github.io/AI_SCM  ·  문의 itt@twsc.co.kr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TWL Control Tower 시연 자료</dc:title>
  <dc:subject>PptxGenJS Presentation</dc:subject>
  <dc:creator>TAEWOONG LOGISTICS</dc:creator>
  <cp:lastModifiedBy>TAEWOONG LOGISTICS</cp:lastModifiedBy>
  <cp:revision>1</cp:revision>
  <dcterms:created xsi:type="dcterms:W3CDTF">2026-07-31T03:38:47Z</dcterms:created>
  <dcterms:modified xsi:type="dcterms:W3CDTF">2026-07-31T03:38:47Z</dcterms:modified>
</cp:coreProperties>
</file>